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charts/colors1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5744" r:id="rId2"/>
    <p:sldId id="5762" r:id="rId3"/>
    <p:sldId id="5746" r:id="rId4"/>
    <p:sldId id="5782" r:id="rId5"/>
    <p:sldId id="5761" r:id="rId6"/>
    <p:sldId id="5783" r:id="rId7"/>
    <p:sldId id="5777" r:id="rId8"/>
    <p:sldId id="5778" r:id="rId9"/>
    <p:sldId id="5787" r:id="rId10"/>
    <p:sldId id="5785" r:id="rId11"/>
    <p:sldId id="5786" r:id="rId12"/>
    <p:sldId id="5764" r:id="rId13"/>
    <p:sldId id="5774" r:id="rId14"/>
    <p:sldId id="5780" r:id="rId15"/>
    <p:sldId id="5788" r:id="rId16"/>
    <p:sldId id="5784" r:id="rId17"/>
    <p:sldId id="5767" r:id="rId18"/>
    <p:sldId id="5752" r:id="rId19"/>
    <p:sldId id="5757" r:id="rId20"/>
  </p:sldIdLst>
  <p:sldSz cx="12192000" cy="6858000"/>
  <p:notesSz cx="6797675" cy="9926638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BF85"/>
    <a:srgbClr val="FF99FF"/>
    <a:srgbClr val="99CC00"/>
    <a:srgbClr val="FFCCFF"/>
    <a:srgbClr val="FFCCCC"/>
    <a:srgbClr val="99FFCC"/>
    <a:srgbClr val="FF66FF"/>
    <a:srgbClr val="586987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s-PE" b="1"/>
              <a:t>Resultados de Reclamos de Aduanas</a:t>
            </a:r>
          </a:p>
          <a:p>
            <a:pPr>
              <a:defRPr b="1"/>
            </a:pPr>
            <a:r>
              <a:rPr lang="es-PE" b="1"/>
              <a:t>Ene-Dic 2023</a:t>
            </a:r>
          </a:p>
        </c:rich>
      </c:tx>
      <c:layout>
        <c:manualLayout>
          <c:xMode val="edge"/>
          <c:yMode val="edge"/>
          <c:x val="0.35653306494582915"/>
          <c:y val="3.788835166938560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20000"/>
                      <a:lumOff val="80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20000"/>
                      <a:lumOff val="8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20000"/>
                      <a:lumOff val="80000"/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635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1-3CCD-453E-ABA9-FF0DB7543258}"/>
              </c:ext>
            </c:extLst>
          </c:dPt>
          <c:cat>
            <c:strRef>
              <c:f>'RECLAMOS-RTF'!$A$5:$A$11</c:f>
              <c:strCache>
                <c:ptCount val="7"/>
                <c:pt idx="0">
                  <c:v>Infundado</c:v>
                </c:pt>
                <c:pt idx="1">
                  <c:v>Fundado/F.P</c:v>
                </c:pt>
                <c:pt idx="2">
                  <c:v>Nulidad</c:v>
                </c:pt>
                <c:pt idx="3">
                  <c:v>Improcedente</c:v>
                </c:pt>
                <c:pt idx="4">
                  <c:v>Desistimiento</c:v>
                </c:pt>
                <c:pt idx="5">
                  <c:v>Otros</c:v>
                </c:pt>
                <c:pt idx="6">
                  <c:v>Total</c:v>
                </c:pt>
              </c:strCache>
            </c:strRef>
          </c:cat>
          <c:val>
            <c:numRef>
              <c:f>'RECLAMOS-RTF'!$B$5:$B$11</c:f>
              <c:numCache>
                <c:formatCode>General</c:formatCode>
                <c:ptCount val="7"/>
                <c:pt idx="0">
                  <c:v>4740</c:v>
                </c:pt>
                <c:pt idx="1">
                  <c:v>211</c:v>
                </c:pt>
                <c:pt idx="2">
                  <c:v>404</c:v>
                </c:pt>
                <c:pt idx="3">
                  <c:v>8</c:v>
                </c:pt>
                <c:pt idx="4">
                  <c:v>4</c:v>
                </c:pt>
                <c:pt idx="5">
                  <c:v>66</c:v>
                </c:pt>
                <c:pt idx="6">
                  <c:v>5433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CD-453E-ABA9-FF0DB7543258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'RECLAMOS-RTF'!$A$5:$A$11</c:f>
              <c:strCache>
                <c:ptCount val="7"/>
                <c:pt idx="0">
                  <c:v>Infundado</c:v>
                </c:pt>
                <c:pt idx="1">
                  <c:v>Fundado/F.P</c:v>
                </c:pt>
                <c:pt idx="2">
                  <c:v>Nulidad</c:v>
                </c:pt>
                <c:pt idx="3">
                  <c:v>Improcedente</c:v>
                </c:pt>
                <c:pt idx="4">
                  <c:v>Desistimiento</c:v>
                </c:pt>
                <c:pt idx="5">
                  <c:v>Otros</c:v>
                </c:pt>
                <c:pt idx="6">
                  <c:v>Total</c:v>
                </c:pt>
              </c:strCache>
            </c:strRef>
          </c:cat>
          <c:val>
            <c:numRef>
              <c:f>'RECLAMOS-RTF'!$C$5:$C$11</c:f>
              <c:numCache>
                <c:formatCode>0.00%</c:formatCode>
                <c:ptCount val="7"/>
                <c:pt idx="0">
                  <c:v>0.87244616234124794</c:v>
                </c:pt>
                <c:pt idx="1">
                  <c:v>3.8836738450211669E-2</c:v>
                </c:pt>
                <c:pt idx="2">
                  <c:v>7.4360390207988222E-2</c:v>
                </c:pt>
                <c:pt idx="3">
                  <c:v>1.4724829744156083E-3</c:v>
                </c:pt>
                <c:pt idx="4">
                  <c:v>7.3624148720780416E-4</c:v>
                </c:pt>
                <c:pt idx="5">
                  <c:v>1.2147984538928768E-2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CCD-453E-ABA9-FF0DB75432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2598640"/>
        <c:axId val="1422580752"/>
      </c:barChart>
      <c:catAx>
        <c:axId val="1422598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422580752"/>
        <c:crosses val="autoZero"/>
        <c:auto val="1"/>
        <c:lblAlgn val="ctr"/>
        <c:lblOffset val="100"/>
        <c:noMultiLvlLbl val="0"/>
      </c:catAx>
      <c:valAx>
        <c:axId val="14225807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/>
                  <a:t>TOTALES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4225986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12700" cap="flat" cmpd="sng" algn="ctr">
      <a:solidFill>
        <a:schemeClr val="accent2"/>
      </a:solidFill>
      <a:prstDash val="solid"/>
      <a:miter lim="800000"/>
    </a:ln>
    <a:effectLst/>
  </c:spPr>
  <c:txPr>
    <a:bodyPr/>
    <a:lstStyle/>
    <a:p>
      <a:pPr>
        <a:defRPr sz="1400">
          <a:solidFill>
            <a:schemeClr val="dk1"/>
          </a:solidFill>
          <a:latin typeface="+mn-lt"/>
          <a:ea typeface="+mn-ea"/>
          <a:cs typeface="+mn-cs"/>
        </a:defRPr>
      </a:pPr>
      <a:endParaRPr lang="es-PE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CA8B4-C47F-4E03-8EAA-AEC2E933409F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6A85C-24F3-4956-8CAF-0400FEF1FA9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9801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8018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63742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2045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0884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4599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35177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8175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4116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32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6963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7108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0235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9261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6063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36410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1752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3672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9744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717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2E7F3-3903-4E1D-8084-0DC05C837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9DFAA0-BBEA-496B-B217-FE1EC3FC6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098F06-736E-46C7-AC7E-A0DD35FB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1D53AD-021E-420D-A45A-5DE972D7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DC73AE-0F49-420F-9711-F965FF34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678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D202-F60F-418F-B356-03CA7D877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77AA28-DEE3-4FC1-BAE1-E6AFA62A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078544-1F2E-444D-B8E8-0B5B534E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1F83FC-A60B-49E6-9E1C-9B1D745B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E286A2-7561-4B7D-870F-6CB2A625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1493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48F86-2D3F-45D5-85FF-32D590E8B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BDD57E-75F5-4414-AE43-24ACDFE27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F39EB2-DC1A-4B76-A607-540E2AFB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659A66-CE9C-4AE2-A43D-391CFF4B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C4C05F-D418-4BB8-A63F-FADB2BE6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4609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5F591-1D41-441E-AA95-DA0B740C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84C426-4ABF-47B5-96A8-7DD4863F6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581556-4EC1-4E5D-AD7B-E4330322E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E6A027-3C79-48A2-86B5-F99135D1C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8F9C01-F48E-4887-981C-40097F8B7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930058-3E70-4688-9D37-132281FE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8534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40B37-FCF7-4B55-85DF-F62FF1FE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1896B5-9EE8-47E4-91A2-0128335D2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63FB78-B243-4B5C-A4B0-899B095F2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4E062D-1FBD-4740-9591-FF15F6C44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D08BE8A-A2D5-4B6E-9DAB-EB6E6AC7A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0B8163-EA4D-4292-B02E-3B806C4D0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C7E4B2C-AF8F-4065-8F2C-A533637C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7D1464-F0F0-4D16-876F-A49A009F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2300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D1B32-8CD9-4E07-A705-16F56C6A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89AFFA-5546-4BDE-9DCC-0D9185A3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868871-4F2B-468C-A281-03B39AC1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1548AD-0797-49CF-8A32-489DE78F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822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1BBACE8-1FF9-4DCE-BDFF-781E4EDB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8F2886-0965-4D8B-9448-88DEC9E0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7B9FB8-5854-4739-9885-76391E5F2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6904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4540F-ABF6-474A-AB91-401BF041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0BA34A-F3A7-41F0-8235-DB969C0BD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1FD3ED-E203-44F4-A13E-24C419080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4A6CC1-F911-4CB8-B9F6-56532672E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6D7865-4AAB-4623-8FBD-249FC321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940CCF-0F75-4D77-A0C3-8971815E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9410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51275-DE27-4158-AA5F-44F5EE1C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B01499-763F-47B5-BFD1-63E77D563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CFD260-36E3-4D33-9F42-DC51279BB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2EBD3E-F528-4CA4-A32B-F0A72B35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27CDEF-92F2-40A0-BAE5-D2BD8022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DBC24D-381D-41F8-9D66-8C221CD7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3146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31BD0-76AA-4609-B77F-1A62E9CA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FDD779-50D6-40E5-BA33-7FF26DCF0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0CB4A4-EFE8-421F-935D-F071B90D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4501A0-A46C-4082-8991-E174E9FB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5DF1E6-391E-412D-BC62-BE28257C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9135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A5389C-24F0-40B8-B3A4-5B618437A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265058-8B96-46CE-A8EE-7F30DCB57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C2B80-5F54-469C-B95C-236E218A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E4A53C-1617-402F-AEA5-31668F35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2DE16E-D827-4A85-B9BC-4058637C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67156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8D7D316-AA24-4AA3-98FC-FDF5882A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133841"/>
            <a:ext cx="10224477" cy="1323807"/>
          </a:xfrm>
          <a:prstGeom prst="rect">
            <a:avLst/>
          </a:prstGeom>
        </p:spPr>
        <p:txBody>
          <a:bodyPr/>
          <a:lstStyle>
            <a:lvl1pPr>
              <a:defRPr sz="4263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631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4291EF-15E9-414F-95EC-8F59D36B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4EA333-6386-4D76-AC88-517C11CF8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108574-E514-4EEB-B046-9A3DB5F39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9FD26-0981-4205-871D-895179B88314}" type="datetimeFigureOut">
              <a:rPr lang="es-419" smtClean="0"/>
              <a:t>29/2/2024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92D44A-6FF1-4AA9-8628-83F79F65C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E3C7ED-7510-4B32-96A0-A10D7CC1A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005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D2D66F62-5EF4-E640-8F00-37B5AB567BFE}"/>
              </a:ext>
            </a:extLst>
          </p:cNvPr>
          <p:cNvSpPr txBox="1">
            <a:spLocks noChangeArrowheads="1"/>
          </p:cNvSpPr>
          <p:nvPr/>
        </p:nvSpPr>
        <p:spPr>
          <a:xfrm>
            <a:off x="861147" y="3517621"/>
            <a:ext cx="10191750" cy="938981"/>
          </a:xfrm>
          <a:prstGeom prst="rect">
            <a:avLst/>
          </a:prstGeom>
        </p:spPr>
        <p:txBody>
          <a:bodyPr/>
          <a:lstStyle/>
          <a:p>
            <a:pPr algn="ctr" defTabSz="1217947">
              <a:defRPr/>
            </a:pPr>
            <a:r>
              <a:rPr lang="es-PE" sz="3600" b="1" dirty="0">
                <a:latin typeface="Arial"/>
                <a:ea typeface="+mj-ea"/>
                <a:cs typeface="Arial"/>
              </a:rPr>
              <a:t>GERENCIA DE ANÁLISIS DE FONDO ADUANAS</a:t>
            </a:r>
          </a:p>
          <a:p>
            <a:pPr algn="ctr" defTabSz="1217947">
              <a:defRPr/>
            </a:pPr>
            <a:endParaRPr lang="es-PE" sz="2400" b="1" dirty="0">
              <a:latin typeface="Arial"/>
              <a:ea typeface="+mj-ea"/>
              <a:cs typeface="Arial"/>
            </a:endParaRPr>
          </a:p>
        </p:txBody>
      </p:sp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6326" y="267539"/>
            <a:ext cx="2060746" cy="57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919B8A05-1ED3-443D-A7BD-4492F8B9CE89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2178278"/>
            <a:ext cx="10763250" cy="938981"/>
          </a:xfrm>
          <a:prstGeom prst="rect">
            <a:avLst/>
          </a:prstGeom>
        </p:spPr>
        <p:txBody>
          <a:bodyPr/>
          <a:lstStyle/>
          <a:p>
            <a:pPr algn="ctr" defTabSz="1217947">
              <a:defRPr/>
            </a:pPr>
            <a:r>
              <a:rPr lang="es-PE" sz="3500" b="1" dirty="0">
                <a:latin typeface="Arial"/>
                <a:ea typeface="+mj-ea"/>
                <a:cs typeface="Arial"/>
              </a:rPr>
              <a:t>INTENDENCIA NACIONAL DE IMPUGNACIONES</a:t>
            </a:r>
          </a:p>
          <a:p>
            <a:pPr algn="ctr" defTabSz="1217947">
              <a:defRPr/>
            </a:pPr>
            <a:endParaRPr lang="es-PE" sz="2400" b="1" dirty="0">
              <a:latin typeface="Arial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9534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STOCK DE DOCUMENTOS– 2024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56F964CE-6A15-CC82-91F5-317A16FEDABD}"/>
              </a:ext>
            </a:extLst>
          </p:cNvPr>
          <p:cNvSpPr/>
          <p:nvPr/>
        </p:nvSpPr>
        <p:spPr>
          <a:xfrm>
            <a:off x="4662483" y="3079275"/>
            <a:ext cx="927907" cy="880323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TOTAL</a:t>
            </a:r>
            <a:endParaRPr lang="es-PE" sz="16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1B5B194-953F-4A69-9AA8-4D95C62A4561}"/>
              </a:ext>
            </a:extLst>
          </p:cNvPr>
          <p:cNvSpPr txBox="1"/>
          <p:nvPr/>
        </p:nvSpPr>
        <p:spPr>
          <a:xfrm>
            <a:off x="995362" y="5668686"/>
            <a:ext cx="3187700" cy="43088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chemeClr val="tx1"/>
                </a:solidFill>
              </a:rPr>
              <a:t>Fuente SIGERI al </a:t>
            </a:r>
            <a:r>
              <a:rPr lang="es-ES" sz="1000" b="1" dirty="0">
                <a:solidFill>
                  <a:schemeClr val="tx1"/>
                </a:solidFill>
              </a:rPr>
              <a:t>01.02.2024</a:t>
            </a:r>
          </a:p>
          <a:p>
            <a:endParaRPr lang="es-ES" sz="12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42F9C33F-9E22-4CEF-FF21-529EBFB9B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985693"/>
              </p:ext>
            </p:extLst>
          </p:nvPr>
        </p:nvGraphicFramePr>
        <p:xfrm>
          <a:off x="538331" y="1398059"/>
          <a:ext cx="3190996" cy="1291141"/>
        </p:xfrm>
        <a:graphic>
          <a:graphicData uri="http://schemas.openxmlformats.org/drawingml/2006/table">
            <a:tbl>
              <a:tblPr/>
              <a:tblGrid>
                <a:gridCol w="1626299">
                  <a:extLst>
                    <a:ext uri="{9D8B030D-6E8A-4147-A177-3AD203B41FA5}">
                      <a16:colId xmlns:a16="http://schemas.microsoft.com/office/drawing/2014/main" val="303441847"/>
                    </a:ext>
                  </a:extLst>
                </a:gridCol>
                <a:gridCol w="1564697">
                  <a:extLst>
                    <a:ext uri="{9D8B030D-6E8A-4147-A177-3AD203B41FA5}">
                      <a16:colId xmlns:a16="http://schemas.microsoft.com/office/drawing/2014/main" val="1716151770"/>
                    </a:ext>
                  </a:extLst>
                </a:gridCol>
              </a:tblGrid>
              <a:tr h="34945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DCCI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00985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521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27070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251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716666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772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87893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E5EFB618-4604-09BB-AFE3-37F61C5C0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231943"/>
              </p:ext>
            </p:extLst>
          </p:nvPr>
        </p:nvGraphicFramePr>
        <p:xfrm>
          <a:off x="538331" y="2890995"/>
          <a:ext cx="3187700" cy="1167236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92525400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867454367"/>
                    </a:ext>
                  </a:extLst>
                </a:gridCol>
              </a:tblGrid>
              <a:tr h="28829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DCCII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929919"/>
                  </a:ext>
                </a:extLst>
              </a:tr>
              <a:tr h="302366">
                <a:tc>
                  <a:txBody>
                    <a:bodyPr/>
                    <a:lstStyle/>
                    <a:p>
                      <a:r>
                        <a:rPr lang="es-PE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FONDO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251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334386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r>
                        <a:rPr lang="es-P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ADMISIBILIDAD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4B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280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438467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531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4B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674559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1E47780-28B5-BC8F-2D32-D418E13A9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38509"/>
              </p:ext>
            </p:extLst>
          </p:nvPr>
        </p:nvGraphicFramePr>
        <p:xfrm>
          <a:off x="538331" y="4244714"/>
          <a:ext cx="3187700" cy="115316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33698083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249015919"/>
                    </a:ext>
                  </a:extLst>
                </a:gridCol>
              </a:tblGrid>
              <a:tr h="28829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DCP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60316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FONDO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616474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r>
                        <a:rPr lang="es-P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ADMISIBILIDAD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4B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42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527589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549735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C33A2A62-036F-C383-8520-446B907B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373147"/>
              </p:ext>
            </p:extLst>
          </p:nvPr>
        </p:nvGraphicFramePr>
        <p:xfrm>
          <a:off x="6787861" y="5370088"/>
          <a:ext cx="2419350" cy="76560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806450">
                  <a:extLst>
                    <a:ext uri="{9D8B030D-6E8A-4147-A177-3AD203B41FA5}">
                      <a16:colId xmlns:a16="http://schemas.microsoft.com/office/drawing/2014/main" val="4025633932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3397563117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1535915550"/>
                    </a:ext>
                  </a:extLst>
                </a:gridCol>
              </a:tblGrid>
              <a:tr h="25520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INGRESADOS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304820"/>
                  </a:ext>
                </a:extLst>
              </a:tr>
              <a:tr h="255202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DCCI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DCCII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DCP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4528736"/>
                  </a:ext>
                </a:extLst>
              </a:tr>
              <a:tr h="255202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s-PE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s-PE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PE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386828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D214831-1EEE-0E2C-6FB1-F3E198B65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349664"/>
              </p:ext>
            </p:extLst>
          </p:nvPr>
        </p:nvGraphicFramePr>
        <p:xfrm>
          <a:off x="4453080" y="1523209"/>
          <a:ext cx="7237416" cy="50419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603118">
                  <a:extLst>
                    <a:ext uri="{9D8B030D-6E8A-4147-A177-3AD203B41FA5}">
                      <a16:colId xmlns:a16="http://schemas.microsoft.com/office/drawing/2014/main" val="687687978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546401759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2745900932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3051670821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4199922304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2317794277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2127776071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2171024288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207245972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323295596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1727774328"/>
                    </a:ext>
                  </a:extLst>
                </a:gridCol>
                <a:gridCol w="603118">
                  <a:extLst>
                    <a:ext uri="{9D8B030D-6E8A-4147-A177-3AD203B41FA5}">
                      <a16:colId xmlns:a16="http://schemas.microsoft.com/office/drawing/2014/main" val="1512223914"/>
                    </a:ext>
                  </a:extLst>
                </a:gridCol>
              </a:tblGrid>
              <a:tr h="0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FONDO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FONDO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FONDO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FONDO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24197109"/>
                  </a:ext>
                </a:extLst>
              </a:tr>
              <a:tr h="138191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DICIEMBRE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NOVIEMBRE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OCTUBRE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SETIEMBRE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AGOSTO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JULIO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JUNIO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MAYO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ABRIL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MARZO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FEBRERO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283563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633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801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640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878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878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1149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1148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1187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1199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1849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1072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05486867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8D9CD9-846E-CA12-4993-7367F43B1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523266"/>
              </p:ext>
            </p:extLst>
          </p:nvPr>
        </p:nvGraphicFramePr>
        <p:xfrm>
          <a:off x="4453078" y="2273937"/>
          <a:ext cx="7237416" cy="5588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636217">
                  <a:extLst>
                    <a:ext uri="{9D8B030D-6E8A-4147-A177-3AD203B41FA5}">
                      <a16:colId xmlns:a16="http://schemas.microsoft.com/office/drawing/2014/main" val="2142693837"/>
                    </a:ext>
                  </a:extLst>
                </a:gridCol>
                <a:gridCol w="636217">
                  <a:extLst>
                    <a:ext uri="{9D8B030D-6E8A-4147-A177-3AD203B41FA5}">
                      <a16:colId xmlns:a16="http://schemas.microsoft.com/office/drawing/2014/main" val="1370211318"/>
                    </a:ext>
                  </a:extLst>
                </a:gridCol>
                <a:gridCol w="564001">
                  <a:extLst>
                    <a:ext uri="{9D8B030D-6E8A-4147-A177-3AD203B41FA5}">
                      <a16:colId xmlns:a16="http://schemas.microsoft.com/office/drawing/2014/main" val="2054814922"/>
                    </a:ext>
                  </a:extLst>
                </a:gridCol>
                <a:gridCol w="600109">
                  <a:extLst>
                    <a:ext uri="{9D8B030D-6E8A-4147-A177-3AD203B41FA5}">
                      <a16:colId xmlns:a16="http://schemas.microsoft.com/office/drawing/2014/main" val="3975625084"/>
                    </a:ext>
                  </a:extLst>
                </a:gridCol>
                <a:gridCol w="600109">
                  <a:extLst>
                    <a:ext uri="{9D8B030D-6E8A-4147-A177-3AD203B41FA5}">
                      <a16:colId xmlns:a16="http://schemas.microsoft.com/office/drawing/2014/main" val="3554692956"/>
                    </a:ext>
                  </a:extLst>
                </a:gridCol>
                <a:gridCol w="600109">
                  <a:extLst>
                    <a:ext uri="{9D8B030D-6E8A-4147-A177-3AD203B41FA5}">
                      <a16:colId xmlns:a16="http://schemas.microsoft.com/office/drawing/2014/main" val="197205624"/>
                    </a:ext>
                  </a:extLst>
                </a:gridCol>
                <a:gridCol w="600109">
                  <a:extLst>
                    <a:ext uri="{9D8B030D-6E8A-4147-A177-3AD203B41FA5}">
                      <a16:colId xmlns:a16="http://schemas.microsoft.com/office/drawing/2014/main" val="2401651185"/>
                    </a:ext>
                  </a:extLst>
                </a:gridCol>
                <a:gridCol w="600109">
                  <a:extLst>
                    <a:ext uri="{9D8B030D-6E8A-4147-A177-3AD203B41FA5}">
                      <a16:colId xmlns:a16="http://schemas.microsoft.com/office/drawing/2014/main" val="873600576"/>
                    </a:ext>
                  </a:extLst>
                </a:gridCol>
                <a:gridCol w="600109">
                  <a:extLst>
                    <a:ext uri="{9D8B030D-6E8A-4147-A177-3AD203B41FA5}">
                      <a16:colId xmlns:a16="http://schemas.microsoft.com/office/drawing/2014/main" val="1535469484"/>
                    </a:ext>
                  </a:extLst>
                </a:gridCol>
                <a:gridCol w="600109">
                  <a:extLst>
                    <a:ext uri="{9D8B030D-6E8A-4147-A177-3AD203B41FA5}">
                      <a16:colId xmlns:a16="http://schemas.microsoft.com/office/drawing/2014/main" val="1437924823"/>
                    </a:ext>
                  </a:extLst>
                </a:gridCol>
                <a:gridCol w="600109">
                  <a:extLst>
                    <a:ext uri="{9D8B030D-6E8A-4147-A177-3AD203B41FA5}">
                      <a16:colId xmlns:a16="http://schemas.microsoft.com/office/drawing/2014/main" val="992196290"/>
                    </a:ext>
                  </a:extLst>
                </a:gridCol>
                <a:gridCol w="600109">
                  <a:extLst>
                    <a:ext uri="{9D8B030D-6E8A-4147-A177-3AD203B41FA5}">
                      <a16:colId xmlns:a16="http://schemas.microsoft.com/office/drawing/2014/main" val="4189063994"/>
                    </a:ext>
                  </a:extLst>
                </a:gridCol>
              </a:tblGrid>
              <a:tr h="190500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ADMISIBILIDAD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ADMISIBILIDAD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ADMISIBILIDAD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ADMISIBILIDAD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925347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DICIEMBRE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NOVIEMBRE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OCTUBRE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SETIEMBRE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AGOSTO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JULIO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JUNIO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MAYO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ABRIL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MARZO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FEBRERO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78423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 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9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368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es-PE" sz="9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277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271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448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0" u="none" strike="noStrike">
                          <a:solidFill>
                            <a:srgbClr val="000000"/>
                          </a:solidFill>
                          <a:effectLst/>
                        </a:rPr>
                        <a:t>808</a:t>
                      </a:r>
                      <a:endParaRPr lang="es-PE" sz="9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1334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9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1853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1900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619631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5348961-3E42-D777-9E0B-39E48E615938}"/>
              </a:ext>
            </a:extLst>
          </p:cNvPr>
          <p:cNvSpPr txBox="1"/>
          <p:nvPr/>
        </p:nvSpPr>
        <p:spPr>
          <a:xfrm>
            <a:off x="7268874" y="1046149"/>
            <a:ext cx="1457325" cy="36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2023</a:t>
            </a:r>
            <a:endParaRPr lang="es-PE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8BA90EE-AAFF-1CB0-5F16-DB7D138D89F2}"/>
              </a:ext>
            </a:extLst>
          </p:cNvPr>
          <p:cNvSpPr txBox="1"/>
          <p:nvPr/>
        </p:nvSpPr>
        <p:spPr>
          <a:xfrm>
            <a:off x="7296806" y="3081268"/>
            <a:ext cx="1457325" cy="36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2024</a:t>
            </a:r>
            <a:endParaRPr lang="es-PE" b="1" dirty="0"/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C92AC8BE-E273-CB5B-F901-4896BFC3E34F}"/>
              </a:ext>
            </a:extLst>
          </p:cNvPr>
          <p:cNvSpPr/>
          <p:nvPr/>
        </p:nvSpPr>
        <p:spPr>
          <a:xfrm>
            <a:off x="3938730" y="1460126"/>
            <a:ext cx="514350" cy="3937746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b="1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9E072081-596E-D3DB-9CDC-DBA31EFB6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89151"/>
              </p:ext>
            </p:extLst>
          </p:nvPr>
        </p:nvGraphicFramePr>
        <p:xfrm>
          <a:off x="7428739" y="3573288"/>
          <a:ext cx="1193458" cy="52832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96729">
                  <a:extLst>
                    <a:ext uri="{9D8B030D-6E8A-4147-A177-3AD203B41FA5}">
                      <a16:colId xmlns:a16="http://schemas.microsoft.com/office/drawing/2014/main" val="687687978"/>
                    </a:ext>
                  </a:extLst>
                </a:gridCol>
                <a:gridCol w="596729">
                  <a:extLst>
                    <a:ext uri="{9D8B030D-6E8A-4147-A177-3AD203B41FA5}">
                      <a16:colId xmlns:a16="http://schemas.microsoft.com/office/drawing/2014/main" val="54640175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FONDO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FONDO</a:t>
                      </a:r>
                      <a:endParaRPr lang="es-PE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24197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FEBRERO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283563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799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05486867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7ACC4C65-AE12-CAAA-27F1-6FAE490D2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415187"/>
              </p:ext>
            </p:extLst>
          </p:nvPr>
        </p:nvGraphicFramePr>
        <p:xfrm>
          <a:off x="7396276" y="4386854"/>
          <a:ext cx="1258384" cy="5588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629192">
                  <a:extLst>
                    <a:ext uri="{9D8B030D-6E8A-4147-A177-3AD203B41FA5}">
                      <a16:colId xmlns:a16="http://schemas.microsoft.com/office/drawing/2014/main" val="2142693837"/>
                    </a:ext>
                  </a:extLst>
                </a:gridCol>
                <a:gridCol w="629192">
                  <a:extLst>
                    <a:ext uri="{9D8B030D-6E8A-4147-A177-3AD203B41FA5}">
                      <a16:colId xmlns:a16="http://schemas.microsoft.com/office/drawing/2014/main" val="1370211318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9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ADMISIBILIDAD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ADMISIBILIDAD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925347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FEBRERO</a:t>
                      </a:r>
                      <a:endParaRPr lang="es-PE" sz="9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78423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573</a:t>
                      </a:r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PE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86196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238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PRODUCTIVIDAD RECLAMOS – 2023 - 2024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C8A378-12BC-4544-B033-50EA62648EBF}"/>
              </a:ext>
            </a:extLst>
          </p:cNvPr>
          <p:cNvSpPr txBox="1"/>
          <p:nvPr/>
        </p:nvSpPr>
        <p:spPr>
          <a:xfrm>
            <a:off x="533400" y="6007727"/>
            <a:ext cx="66766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dirty="0">
                <a:effectLst/>
                <a:latin typeface="+mj-lt"/>
                <a:ea typeface="Calibri" panose="020F0502020204030204" pitchFamily="34" charset="0"/>
              </a:rPr>
              <a:t> </a:t>
            </a:r>
          </a:p>
          <a:p>
            <a:r>
              <a:rPr lang="es-PE" sz="1200" dirty="0">
                <a:effectLst/>
                <a:latin typeface="+mj-lt"/>
                <a:ea typeface="Calibri" panose="020F0502020204030204" pitchFamily="34" charset="0"/>
              </a:rPr>
              <a:t>	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469929E-FDC0-9B34-9F7F-FC6CEAFB7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389491"/>
              </p:ext>
            </p:extLst>
          </p:nvPr>
        </p:nvGraphicFramePr>
        <p:xfrm>
          <a:off x="533400" y="1212483"/>
          <a:ext cx="10915650" cy="4531076"/>
        </p:xfrm>
        <a:graphic>
          <a:graphicData uri="http://schemas.openxmlformats.org/drawingml/2006/table">
            <a:tbl>
              <a:tblPr/>
              <a:tblGrid>
                <a:gridCol w="2282017">
                  <a:extLst>
                    <a:ext uri="{9D8B030D-6E8A-4147-A177-3AD203B41FA5}">
                      <a16:colId xmlns:a16="http://schemas.microsoft.com/office/drawing/2014/main" val="2917298904"/>
                    </a:ext>
                  </a:extLst>
                </a:gridCol>
                <a:gridCol w="608538">
                  <a:extLst>
                    <a:ext uri="{9D8B030D-6E8A-4147-A177-3AD203B41FA5}">
                      <a16:colId xmlns:a16="http://schemas.microsoft.com/office/drawing/2014/main" val="1721117994"/>
                    </a:ext>
                  </a:extLst>
                </a:gridCol>
                <a:gridCol w="551488">
                  <a:extLst>
                    <a:ext uri="{9D8B030D-6E8A-4147-A177-3AD203B41FA5}">
                      <a16:colId xmlns:a16="http://schemas.microsoft.com/office/drawing/2014/main" val="3766073853"/>
                    </a:ext>
                  </a:extLst>
                </a:gridCol>
                <a:gridCol w="589521">
                  <a:extLst>
                    <a:ext uri="{9D8B030D-6E8A-4147-A177-3AD203B41FA5}">
                      <a16:colId xmlns:a16="http://schemas.microsoft.com/office/drawing/2014/main" val="1567370949"/>
                    </a:ext>
                  </a:extLst>
                </a:gridCol>
                <a:gridCol w="665588">
                  <a:extLst>
                    <a:ext uri="{9D8B030D-6E8A-4147-A177-3AD203B41FA5}">
                      <a16:colId xmlns:a16="http://schemas.microsoft.com/office/drawing/2014/main" val="2476321728"/>
                    </a:ext>
                  </a:extLst>
                </a:gridCol>
                <a:gridCol w="608538">
                  <a:extLst>
                    <a:ext uri="{9D8B030D-6E8A-4147-A177-3AD203B41FA5}">
                      <a16:colId xmlns:a16="http://schemas.microsoft.com/office/drawing/2014/main" val="273347508"/>
                    </a:ext>
                  </a:extLst>
                </a:gridCol>
                <a:gridCol w="551488">
                  <a:extLst>
                    <a:ext uri="{9D8B030D-6E8A-4147-A177-3AD203B41FA5}">
                      <a16:colId xmlns:a16="http://schemas.microsoft.com/office/drawing/2014/main" val="3870614027"/>
                    </a:ext>
                  </a:extLst>
                </a:gridCol>
                <a:gridCol w="532471">
                  <a:extLst>
                    <a:ext uri="{9D8B030D-6E8A-4147-A177-3AD203B41FA5}">
                      <a16:colId xmlns:a16="http://schemas.microsoft.com/office/drawing/2014/main" val="1875747922"/>
                    </a:ext>
                  </a:extLst>
                </a:gridCol>
                <a:gridCol w="608538">
                  <a:extLst>
                    <a:ext uri="{9D8B030D-6E8A-4147-A177-3AD203B41FA5}">
                      <a16:colId xmlns:a16="http://schemas.microsoft.com/office/drawing/2014/main" val="1209249387"/>
                    </a:ext>
                  </a:extLst>
                </a:gridCol>
                <a:gridCol w="646573">
                  <a:extLst>
                    <a:ext uri="{9D8B030D-6E8A-4147-A177-3AD203B41FA5}">
                      <a16:colId xmlns:a16="http://schemas.microsoft.com/office/drawing/2014/main" val="3458326233"/>
                    </a:ext>
                  </a:extLst>
                </a:gridCol>
                <a:gridCol w="665588">
                  <a:extLst>
                    <a:ext uri="{9D8B030D-6E8A-4147-A177-3AD203B41FA5}">
                      <a16:colId xmlns:a16="http://schemas.microsoft.com/office/drawing/2014/main" val="3027673746"/>
                    </a:ext>
                  </a:extLst>
                </a:gridCol>
                <a:gridCol w="608538">
                  <a:extLst>
                    <a:ext uri="{9D8B030D-6E8A-4147-A177-3AD203B41FA5}">
                      <a16:colId xmlns:a16="http://schemas.microsoft.com/office/drawing/2014/main" val="1238173908"/>
                    </a:ext>
                  </a:extLst>
                </a:gridCol>
                <a:gridCol w="665588">
                  <a:extLst>
                    <a:ext uri="{9D8B030D-6E8A-4147-A177-3AD203B41FA5}">
                      <a16:colId xmlns:a16="http://schemas.microsoft.com/office/drawing/2014/main" val="1801178834"/>
                    </a:ext>
                  </a:extLst>
                </a:gridCol>
                <a:gridCol w="665588">
                  <a:extLst>
                    <a:ext uri="{9D8B030D-6E8A-4147-A177-3AD203B41FA5}">
                      <a16:colId xmlns:a16="http://schemas.microsoft.com/office/drawing/2014/main" val="1532683247"/>
                    </a:ext>
                  </a:extLst>
                </a:gridCol>
                <a:gridCol w="665588">
                  <a:extLst>
                    <a:ext uri="{9D8B030D-6E8A-4147-A177-3AD203B41FA5}">
                      <a16:colId xmlns:a16="http://schemas.microsoft.com/office/drawing/2014/main" val="2549877228"/>
                    </a:ext>
                  </a:extLst>
                </a:gridCol>
              </a:tblGrid>
              <a:tr h="276128">
                <a:tc>
                  <a:txBody>
                    <a:bodyPr/>
                    <a:lstStyle/>
                    <a:p>
                      <a:pPr algn="ctr" fontAlgn="b"/>
                      <a:endParaRPr lang="es-P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s-P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92368"/>
                  </a:ext>
                </a:extLst>
              </a:tr>
              <a:tr h="552257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DIVISIÓN DE CONTROL CONCURRENTE-I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ABR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SET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  <a:endParaRPr lang="es-PE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  <a:endParaRPr lang="es-PE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38303"/>
                  </a:ext>
                </a:extLst>
              </a:tr>
              <a:tr h="276128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Reclamos resueltos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401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368 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368 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285</a:t>
                      </a:r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059873"/>
                  </a:ext>
                </a:extLst>
              </a:tr>
              <a:tr h="276128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Resolutor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16.7</a:t>
                      </a:r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83133"/>
                  </a:ext>
                </a:extLst>
              </a:tr>
              <a:tr h="300121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Producción Promedio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18.96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14.24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17.07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432342"/>
                  </a:ext>
                </a:extLst>
              </a:tr>
              <a:tr h="552257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DIVISIÓN DE CONTROL CONCURRENTE-II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ABR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SET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  <a:endParaRPr lang="es-PE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  <a:endParaRPr lang="es-PE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192784"/>
                  </a:ext>
                </a:extLst>
              </a:tr>
              <a:tr h="276128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Reclamos resueltos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107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104 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79</a:t>
                      </a:r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604498"/>
                  </a:ext>
                </a:extLst>
              </a:tr>
              <a:tr h="276128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Resolutor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8.7</a:t>
                      </a:r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411869"/>
                  </a:ext>
                </a:extLst>
              </a:tr>
              <a:tr h="300121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Producción Promedio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9.72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9.08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569207"/>
                  </a:ext>
                </a:extLst>
              </a:tr>
              <a:tr h="59330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DIVISIÓN DE CONTROL POSTERIOR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ABR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SET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  <a:endParaRPr lang="es-PE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  <a:endParaRPr lang="es-PE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65080"/>
                  </a:ext>
                </a:extLst>
              </a:tr>
              <a:tr h="276128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Reclamos resueltos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37*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636613"/>
                  </a:ext>
                </a:extLst>
              </a:tr>
              <a:tr h="276128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Resolutor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6.36</a:t>
                      </a:r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743521"/>
                  </a:ext>
                </a:extLst>
              </a:tr>
              <a:tr h="300121">
                <a:tc>
                  <a:txBody>
                    <a:bodyPr/>
                    <a:lstStyle/>
                    <a:p>
                      <a:pPr algn="l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Producción Promedio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3.63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4.75 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6.90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7.24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2.99</a:t>
                      </a:r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709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528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PRODUCTIVIDAD ENERO 2024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DCBF7E6-D327-F7EC-950D-E13591629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072185"/>
              </p:ext>
            </p:extLst>
          </p:nvPr>
        </p:nvGraphicFramePr>
        <p:xfrm>
          <a:off x="292043" y="1040573"/>
          <a:ext cx="11657648" cy="5518046"/>
        </p:xfrm>
        <a:graphic>
          <a:graphicData uri="http://schemas.openxmlformats.org/drawingml/2006/table">
            <a:tbl>
              <a:tblPr firstRow="1" firstCol="1" bandRow="1"/>
              <a:tblGrid>
                <a:gridCol w="1543430">
                  <a:extLst>
                    <a:ext uri="{9D8B030D-6E8A-4147-A177-3AD203B41FA5}">
                      <a16:colId xmlns:a16="http://schemas.microsoft.com/office/drawing/2014/main" val="925094151"/>
                    </a:ext>
                  </a:extLst>
                </a:gridCol>
                <a:gridCol w="843202">
                  <a:extLst>
                    <a:ext uri="{9D8B030D-6E8A-4147-A177-3AD203B41FA5}">
                      <a16:colId xmlns:a16="http://schemas.microsoft.com/office/drawing/2014/main" val="477222435"/>
                    </a:ext>
                  </a:extLst>
                </a:gridCol>
                <a:gridCol w="1304558">
                  <a:extLst>
                    <a:ext uri="{9D8B030D-6E8A-4147-A177-3AD203B41FA5}">
                      <a16:colId xmlns:a16="http://schemas.microsoft.com/office/drawing/2014/main" val="2282184332"/>
                    </a:ext>
                  </a:extLst>
                </a:gridCol>
                <a:gridCol w="1324782">
                  <a:extLst>
                    <a:ext uri="{9D8B030D-6E8A-4147-A177-3AD203B41FA5}">
                      <a16:colId xmlns:a16="http://schemas.microsoft.com/office/drawing/2014/main" val="889253127"/>
                    </a:ext>
                  </a:extLst>
                </a:gridCol>
                <a:gridCol w="930382">
                  <a:extLst>
                    <a:ext uri="{9D8B030D-6E8A-4147-A177-3AD203B41FA5}">
                      <a16:colId xmlns:a16="http://schemas.microsoft.com/office/drawing/2014/main" val="3618495769"/>
                    </a:ext>
                  </a:extLst>
                </a:gridCol>
                <a:gridCol w="1173092">
                  <a:extLst>
                    <a:ext uri="{9D8B030D-6E8A-4147-A177-3AD203B41FA5}">
                      <a16:colId xmlns:a16="http://schemas.microsoft.com/office/drawing/2014/main" val="3676107308"/>
                    </a:ext>
                  </a:extLst>
                </a:gridCol>
                <a:gridCol w="1304558">
                  <a:extLst>
                    <a:ext uri="{9D8B030D-6E8A-4147-A177-3AD203B41FA5}">
                      <a16:colId xmlns:a16="http://schemas.microsoft.com/office/drawing/2014/main" val="343955240"/>
                    </a:ext>
                  </a:extLst>
                </a:gridCol>
                <a:gridCol w="687896">
                  <a:extLst>
                    <a:ext uri="{9D8B030D-6E8A-4147-A177-3AD203B41FA5}">
                      <a16:colId xmlns:a16="http://schemas.microsoft.com/office/drawing/2014/main" val="1609030641"/>
                    </a:ext>
                  </a:extLst>
                </a:gridCol>
                <a:gridCol w="1576552">
                  <a:extLst>
                    <a:ext uri="{9D8B030D-6E8A-4147-A177-3AD203B41FA5}">
                      <a16:colId xmlns:a16="http://schemas.microsoft.com/office/drawing/2014/main" val="1343854734"/>
                    </a:ext>
                  </a:extLst>
                </a:gridCol>
                <a:gridCol w="969196">
                  <a:extLst>
                    <a:ext uri="{9D8B030D-6E8A-4147-A177-3AD203B41FA5}">
                      <a16:colId xmlns:a16="http://schemas.microsoft.com/office/drawing/2014/main" val="2417700680"/>
                    </a:ext>
                  </a:extLst>
                </a:gridCol>
              </a:tblGrid>
              <a:tr h="208115">
                <a:tc gridSpan="10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PRODUCCIÓN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PRODUCCIÓN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88204"/>
                  </a:ext>
                </a:extLst>
              </a:tr>
              <a:tr h="208115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UUOO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DCCI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DCCII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DCP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72310"/>
                  </a:ext>
                </a:extLst>
              </a:tr>
              <a:tr h="745424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MATERIA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FONDO</a:t>
                      </a:r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MEJORA RD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ADMISIBILIDAD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FONDO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MEJORA LC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ADMISIBILIDAD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FONDO</a:t>
                      </a:r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MEJORA (IAMC)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ADMISIBILIDAD APELACIÓN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160857"/>
                  </a:ext>
                </a:extLst>
              </a:tr>
              <a:tr h="3201763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PRODUCTO RESUELTO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285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Requerimiento</a:t>
                      </a:r>
                    </a:p>
                    <a:p>
                      <a:pPr algn="ctr"/>
                      <a:r>
                        <a:rPr lang="es-ES" sz="15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Memorándum</a:t>
                      </a:r>
                    </a:p>
                    <a:p>
                      <a:pPr algn="ctr"/>
                      <a:r>
                        <a:rPr lang="es-ES" sz="15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Consulta</a:t>
                      </a:r>
                      <a:endParaRPr lang="es-PE" sz="15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</a:t>
                      </a:r>
                      <a:endParaRPr lang="es-PE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05 expedientes evaluados y 02 requerimientos </a:t>
                      </a:r>
                      <a:endParaRPr lang="es-PE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s-PE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22694"/>
                  </a:ext>
                </a:extLst>
              </a:tr>
              <a:tr h="447254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RESOLUTOR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16.7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800" b="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8.7</a:t>
                      </a: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6.36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962428"/>
                  </a:ext>
                </a:extLst>
              </a:tr>
              <a:tr h="707375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PRODUCCIÓN PROMEDIO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17.07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800" b="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9.08</a:t>
                      </a: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2.99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006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531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PROGRAMACIÓN Y PRODUCCIÓN–2023-2024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7E33EA2-46EF-ABF8-49D0-CE5EFB4E084E}"/>
              </a:ext>
            </a:extLst>
          </p:cNvPr>
          <p:cNvSpPr txBox="1"/>
          <p:nvPr/>
        </p:nvSpPr>
        <p:spPr>
          <a:xfrm>
            <a:off x="699223" y="5361724"/>
            <a:ext cx="105155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>
                <a:latin typeface="+mj-lt"/>
                <a:ea typeface="Calibri" panose="020F0502020204030204" pitchFamily="34" charset="0"/>
              </a:rPr>
              <a:t>.</a:t>
            </a:r>
            <a:endParaRPr lang="es-PE" sz="1600" b="1" dirty="0">
              <a:solidFill>
                <a:srgbClr val="000000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FC2ABA1-B454-A51E-4921-26238E396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141428"/>
              </p:ext>
            </p:extLst>
          </p:nvPr>
        </p:nvGraphicFramePr>
        <p:xfrm>
          <a:off x="1200152" y="1511051"/>
          <a:ext cx="5972172" cy="3341121"/>
        </p:xfrm>
        <a:graphic>
          <a:graphicData uri="http://schemas.openxmlformats.org/drawingml/2006/table">
            <a:tbl>
              <a:tblPr/>
              <a:tblGrid>
                <a:gridCol w="623825">
                  <a:extLst>
                    <a:ext uri="{9D8B030D-6E8A-4147-A177-3AD203B41FA5}">
                      <a16:colId xmlns:a16="http://schemas.microsoft.com/office/drawing/2014/main" val="1618482016"/>
                    </a:ext>
                  </a:extLst>
                </a:gridCol>
                <a:gridCol w="589170">
                  <a:extLst>
                    <a:ext uri="{9D8B030D-6E8A-4147-A177-3AD203B41FA5}">
                      <a16:colId xmlns:a16="http://schemas.microsoft.com/office/drawing/2014/main" val="1856879478"/>
                    </a:ext>
                  </a:extLst>
                </a:gridCol>
                <a:gridCol w="496749">
                  <a:extLst>
                    <a:ext uri="{9D8B030D-6E8A-4147-A177-3AD203B41FA5}">
                      <a16:colId xmlns:a16="http://schemas.microsoft.com/office/drawing/2014/main" val="3149995394"/>
                    </a:ext>
                  </a:extLst>
                </a:gridCol>
                <a:gridCol w="612274">
                  <a:extLst>
                    <a:ext uri="{9D8B030D-6E8A-4147-A177-3AD203B41FA5}">
                      <a16:colId xmlns:a16="http://schemas.microsoft.com/office/drawing/2014/main" val="814693575"/>
                    </a:ext>
                  </a:extLst>
                </a:gridCol>
                <a:gridCol w="473645">
                  <a:extLst>
                    <a:ext uri="{9D8B030D-6E8A-4147-A177-3AD203B41FA5}">
                      <a16:colId xmlns:a16="http://schemas.microsoft.com/office/drawing/2014/main" val="1074761190"/>
                    </a:ext>
                  </a:extLst>
                </a:gridCol>
                <a:gridCol w="600720">
                  <a:extLst>
                    <a:ext uri="{9D8B030D-6E8A-4147-A177-3AD203B41FA5}">
                      <a16:colId xmlns:a16="http://schemas.microsoft.com/office/drawing/2014/main" val="3692527559"/>
                    </a:ext>
                  </a:extLst>
                </a:gridCol>
                <a:gridCol w="496749">
                  <a:extLst>
                    <a:ext uri="{9D8B030D-6E8A-4147-A177-3AD203B41FA5}">
                      <a16:colId xmlns:a16="http://schemas.microsoft.com/office/drawing/2014/main" val="4061206135"/>
                    </a:ext>
                  </a:extLst>
                </a:gridCol>
                <a:gridCol w="600720">
                  <a:extLst>
                    <a:ext uri="{9D8B030D-6E8A-4147-A177-3AD203B41FA5}">
                      <a16:colId xmlns:a16="http://schemas.microsoft.com/office/drawing/2014/main" val="693005033"/>
                    </a:ext>
                  </a:extLst>
                </a:gridCol>
                <a:gridCol w="739160">
                  <a:extLst>
                    <a:ext uri="{9D8B030D-6E8A-4147-A177-3AD203B41FA5}">
                      <a16:colId xmlns:a16="http://schemas.microsoft.com/office/drawing/2014/main" val="2232056816"/>
                    </a:ext>
                  </a:extLst>
                </a:gridCol>
                <a:gridCol w="739160">
                  <a:extLst>
                    <a:ext uri="{9D8B030D-6E8A-4147-A177-3AD203B41FA5}">
                      <a16:colId xmlns:a16="http://schemas.microsoft.com/office/drawing/2014/main" val="2387940828"/>
                    </a:ext>
                  </a:extLst>
                </a:gridCol>
              </a:tblGrid>
              <a:tr h="333598">
                <a:tc rowSpan="2">
                  <a:txBody>
                    <a:bodyPr/>
                    <a:lstStyle/>
                    <a:p>
                      <a:pPr algn="ctr" fontAlgn="b"/>
                      <a:endParaRPr lang="es-PE" sz="1450" b="0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2023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2024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447104"/>
                  </a:ext>
                </a:extLst>
              </a:tr>
              <a:tr h="53977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OCTUBRE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FEBRERO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194752"/>
                  </a:ext>
                </a:extLst>
              </a:tr>
              <a:tr h="1054588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UUOO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945064"/>
                  </a:ext>
                </a:extLst>
              </a:tr>
              <a:tr h="53977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150 (*)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150 (*)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314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285</a:t>
                      </a:r>
                      <a:endParaRPr lang="es-PE" sz="145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300</a:t>
                      </a:r>
                      <a:endParaRPr lang="es-PE" sz="145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564924"/>
                  </a:ext>
                </a:extLst>
              </a:tr>
              <a:tr h="333598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79</a:t>
                      </a:r>
                      <a:endParaRPr lang="es-PE" sz="145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8</a:t>
                      </a:r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038957"/>
                  </a:ext>
                </a:extLst>
              </a:tr>
              <a:tr h="53977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14 (*)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15 (*)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20*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  <a:endParaRPr lang="es-PE" sz="145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  <a:endParaRPr lang="es-PE" sz="145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731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960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PROGRAMACIÓN ENERO 2024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DCBF7E6-D327-F7EC-950D-E13591629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224205"/>
              </p:ext>
            </p:extLst>
          </p:nvPr>
        </p:nvGraphicFramePr>
        <p:xfrm>
          <a:off x="292044" y="1205009"/>
          <a:ext cx="11185307" cy="4859999"/>
        </p:xfrm>
        <a:graphic>
          <a:graphicData uri="http://schemas.openxmlformats.org/drawingml/2006/table">
            <a:tbl>
              <a:tblPr firstRow="1" firstCol="1" bandRow="1"/>
              <a:tblGrid>
                <a:gridCol w="1253029">
                  <a:extLst>
                    <a:ext uri="{9D8B030D-6E8A-4147-A177-3AD203B41FA5}">
                      <a16:colId xmlns:a16="http://schemas.microsoft.com/office/drawing/2014/main" val="925094151"/>
                    </a:ext>
                  </a:extLst>
                </a:gridCol>
                <a:gridCol w="798786">
                  <a:extLst>
                    <a:ext uri="{9D8B030D-6E8A-4147-A177-3AD203B41FA5}">
                      <a16:colId xmlns:a16="http://schemas.microsoft.com/office/drawing/2014/main" val="477222435"/>
                    </a:ext>
                  </a:extLst>
                </a:gridCol>
                <a:gridCol w="1198180">
                  <a:extLst>
                    <a:ext uri="{9D8B030D-6E8A-4147-A177-3AD203B41FA5}">
                      <a16:colId xmlns:a16="http://schemas.microsoft.com/office/drawing/2014/main" val="2282184332"/>
                    </a:ext>
                  </a:extLst>
                </a:gridCol>
                <a:gridCol w="1282262">
                  <a:extLst>
                    <a:ext uri="{9D8B030D-6E8A-4147-A177-3AD203B41FA5}">
                      <a16:colId xmlns:a16="http://schemas.microsoft.com/office/drawing/2014/main" val="889253127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3618495769"/>
                    </a:ext>
                  </a:extLst>
                </a:gridCol>
                <a:gridCol w="1093076">
                  <a:extLst>
                    <a:ext uri="{9D8B030D-6E8A-4147-A177-3AD203B41FA5}">
                      <a16:colId xmlns:a16="http://schemas.microsoft.com/office/drawing/2014/main" val="3676107308"/>
                    </a:ext>
                  </a:extLst>
                </a:gridCol>
                <a:gridCol w="1261242">
                  <a:extLst>
                    <a:ext uri="{9D8B030D-6E8A-4147-A177-3AD203B41FA5}">
                      <a16:colId xmlns:a16="http://schemas.microsoft.com/office/drawing/2014/main" val="343955240"/>
                    </a:ext>
                  </a:extLst>
                </a:gridCol>
                <a:gridCol w="903889">
                  <a:extLst>
                    <a:ext uri="{9D8B030D-6E8A-4147-A177-3AD203B41FA5}">
                      <a16:colId xmlns:a16="http://schemas.microsoft.com/office/drawing/2014/main" val="1609030641"/>
                    </a:ext>
                  </a:extLst>
                </a:gridCol>
                <a:gridCol w="1135065">
                  <a:extLst>
                    <a:ext uri="{9D8B030D-6E8A-4147-A177-3AD203B41FA5}">
                      <a16:colId xmlns:a16="http://schemas.microsoft.com/office/drawing/2014/main" val="1343854734"/>
                    </a:ext>
                  </a:extLst>
                </a:gridCol>
                <a:gridCol w="1324358">
                  <a:extLst>
                    <a:ext uri="{9D8B030D-6E8A-4147-A177-3AD203B41FA5}">
                      <a16:colId xmlns:a16="http://schemas.microsoft.com/office/drawing/2014/main" val="2417700680"/>
                    </a:ext>
                  </a:extLst>
                </a:gridCol>
              </a:tblGrid>
              <a:tr h="320373">
                <a:tc gridSpan="10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PROGRAMACIÓN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PRODUCCIÓN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88204"/>
                  </a:ext>
                </a:extLst>
              </a:tr>
              <a:tr h="288336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UUOO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DCCI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DCCII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DCP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72310"/>
                  </a:ext>
                </a:extLst>
              </a:tr>
              <a:tr h="1215380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MATERIA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FONDO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MEJORA RTF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ADMISIBILIDAD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FONDO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MEJORA LC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ADMISIBILIDAD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FONDO</a:t>
                      </a:r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MEJORA (IAMC)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ADMISIBILIDAD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160857"/>
                  </a:ext>
                </a:extLst>
              </a:tr>
              <a:tr h="1153341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PRODUCTO RESUELTO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es-PE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8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es-PE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es-P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Actualización LC (resultado de reclamo)</a:t>
                      </a:r>
                      <a:endParaRPr kumimoji="0" lang="es-PE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kumimoji="0" lang="es-PE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8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es-PE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endParaRPr lang="es-P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22694"/>
                  </a:ext>
                </a:extLst>
              </a:tr>
              <a:tr h="729228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RESOLUTOR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962428"/>
                  </a:ext>
                </a:extLst>
              </a:tr>
              <a:tr h="1153341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PRODUCCIÓN PROMEDIO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006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808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PRODUCTIVIDAD POR SUPERVISIÓN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4C93D83-6B0B-8FEB-B248-752214186839}"/>
              </a:ext>
            </a:extLst>
          </p:cNvPr>
          <p:cNvSpPr/>
          <p:nvPr/>
        </p:nvSpPr>
        <p:spPr>
          <a:xfrm>
            <a:off x="657226" y="1839595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</a:t>
            </a:r>
            <a:endParaRPr lang="es-PE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132D901-11E2-23E5-F84C-B50BE13D7D0E}"/>
              </a:ext>
            </a:extLst>
          </p:cNvPr>
          <p:cNvSpPr/>
          <p:nvPr/>
        </p:nvSpPr>
        <p:spPr>
          <a:xfrm>
            <a:off x="723902" y="3816590"/>
            <a:ext cx="1028700" cy="638174"/>
          </a:xfrm>
          <a:prstGeom prst="rightArrow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DCCII</a:t>
            </a:r>
            <a:endParaRPr lang="es-PE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B46D489-2A56-01B0-EB9C-D57AAAD377E8}"/>
              </a:ext>
            </a:extLst>
          </p:cNvPr>
          <p:cNvSpPr/>
          <p:nvPr/>
        </p:nvSpPr>
        <p:spPr>
          <a:xfrm>
            <a:off x="742950" y="5464379"/>
            <a:ext cx="1028700" cy="638174"/>
          </a:xfrm>
          <a:prstGeom prst="rightArrow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DCP</a:t>
            </a:r>
            <a:endParaRPr lang="es-PE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0ADA2C1-AAD1-1A2B-5E48-C4B607DCD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188070"/>
              </p:ext>
            </p:extLst>
          </p:nvPr>
        </p:nvGraphicFramePr>
        <p:xfrm>
          <a:off x="2393298" y="3270180"/>
          <a:ext cx="8636654" cy="1400897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55080">
                  <a:extLst>
                    <a:ext uri="{9D8B030D-6E8A-4147-A177-3AD203B41FA5}">
                      <a16:colId xmlns:a16="http://schemas.microsoft.com/office/drawing/2014/main" val="3257801786"/>
                    </a:ext>
                  </a:extLst>
                </a:gridCol>
                <a:gridCol w="2136188">
                  <a:extLst>
                    <a:ext uri="{9D8B030D-6E8A-4147-A177-3AD203B41FA5}">
                      <a16:colId xmlns:a16="http://schemas.microsoft.com/office/drawing/2014/main" val="1776142972"/>
                    </a:ext>
                  </a:extLst>
                </a:gridCol>
                <a:gridCol w="1096282">
                  <a:extLst>
                    <a:ext uri="{9D8B030D-6E8A-4147-A177-3AD203B41FA5}">
                      <a16:colId xmlns:a16="http://schemas.microsoft.com/office/drawing/2014/main" val="153233266"/>
                    </a:ext>
                  </a:extLst>
                </a:gridCol>
                <a:gridCol w="1192082">
                  <a:extLst>
                    <a:ext uri="{9D8B030D-6E8A-4147-A177-3AD203B41FA5}">
                      <a16:colId xmlns:a16="http://schemas.microsoft.com/office/drawing/2014/main" val="1566383420"/>
                    </a:ext>
                  </a:extLst>
                </a:gridCol>
                <a:gridCol w="1378511">
                  <a:extLst>
                    <a:ext uri="{9D8B030D-6E8A-4147-A177-3AD203B41FA5}">
                      <a16:colId xmlns:a16="http://schemas.microsoft.com/office/drawing/2014/main" val="2882639219"/>
                    </a:ext>
                  </a:extLst>
                </a:gridCol>
                <a:gridCol w="1378511">
                  <a:extLst>
                    <a:ext uri="{9D8B030D-6E8A-4147-A177-3AD203B41FA5}">
                      <a16:colId xmlns:a16="http://schemas.microsoft.com/office/drawing/2014/main" val="2536285859"/>
                    </a:ext>
                  </a:extLst>
                </a:gridCol>
              </a:tblGrid>
              <a:tr h="424874">
                <a:tc>
                  <a:txBody>
                    <a:bodyPr/>
                    <a:lstStyle/>
                    <a:p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</a:rPr>
                        <a:t>Supervisión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</a:rPr>
                        <a:t>Resolución aplicada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</a:rPr>
                        <a:t>Resolutor efectivo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</a:rPr>
                        <a:t>Producción promedio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8347544"/>
                  </a:ext>
                </a:extLst>
              </a:tr>
              <a:tr h="410828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</a:rPr>
                        <a:t>7U7201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rgbClr val="000000"/>
                          </a:solidFill>
                          <a:effectLst/>
                        </a:rPr>
                        <a:t>Yessenia Salcedo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MEDIO/ALTO</a:t>
                      </a: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8.94</a:t>
                      </a:r>
                      <a:endParaRPr lang="es-PE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60037749"/>
                  </a:ext>
                </a:extLst>
              </a:tr>
              <a:tr h="502389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</a:rPr>
                        <a:t>7U7202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PE" sz="1800" kern="1200" dirty="0">
                          <a:solidFill>
                            <a:schemeClr val="tx1"/>
                          </a:solidFill>
                          <a:effectLst/>
                        </a:rPr>
                        <a:t>Allison Castro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MEDIO/ALTO</a:t>
                      </a: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9.38</a:t>
                      </a:r>
                      <a:endParaRPr lang="es-PE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660552211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D7F5025-96FD-A7EE-5367-617ABB232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47603"/>
              </p:ext>
            </p:extLst>
          </p:nvPr>
        </p:nvGraphicFramePr>
        <p:xfrm>
          <a:off x="2393298" y="4800995"/>
          <a:ext cx="8636651" cy="1153306"/>
        </p:xfrm>
        <a:graphic>
          <a:graphicData uri="http://schemas.openxmlformats.org/drawingml/2006/table">
            <a:tbl>
              <a:tblPr firstRow="1" firstCol="1" bandRow="1"/>
              <a:tblGrid>
                <a:gridCol w="1584015">
                  <a:extLst>
                    <a:ext uri="{9D8B030D-6E8A-4147-A177-3AD203B41FA5}">
                      <a16:colId xmlns:a16="http://schemas.microsoft.com/office/drawing/2014/main" val="1791917023"/>
                    </a:ext>
                  </a:extLst>
                </a:gridCol>
                <a:gridCol w="1998876">
                  <a:extLst>
                    <a:ext uri="{9D8B030D-6E8A-4147-A177-3AD203B41FA5}">
                      <a16:colId xmlns:a16="http://schemas.microsoft.com/office/drawing/2014/main" val="778085126"/>
                    </a:ext>
                  </a:extLst>
                </a:gridCol>
                <a:gridCol w="1093724">
                  <a:extLst>
                    <a:ext uri="{9D8B030D-6E8A-4147-A177-3AD203B41FA5}">
                      <a16:colId xmlns:a16="http://schemas.microsoft.com/office/drawing/2014/main" val="3808763990"/>
                    </a:ext>
                  </a:extLst>
                </a:gridCol>
                <a:gridCol w="1169154">
                  <a:extLst>
                    <a:ext uri="{9D8B030D-6E8A-4147-A177-3AD203B41FA5}">
                      <a16:colId xmlns:a16="http://schemas.microsoft.com/office/drawing/2014/main" val="2363829853"/>
                    </a:ext>
                  </a:extLst>
                </a:gridCol>
                <a:gridCol w="1395441">
                  <a:extLst>
                    <a:ext uri="{9D8B030D-6E8A-4147-A177-3AD203B41FA5}">
                      <a16:colId xmlns:a16="http://schemas.microsoft.com/office/drawing/2014/main" val="3525508578"/>
                    </a:ext>
                  </a:extLst>
                </a:gridCol>
                <a:gridCol w="1395441">
                  <a:extLst>
                    <a:ext uri="{9D8B030D-6E8A-4147-A177-3AD203B41FA5}">
                      <a16:colId xmlns:a16="http://schemas.microsoft.com/office/drawing/2014/main" val="3174711922"/>
                    </a:ext>
                  </a:extLst>
                </a:gridCol>
              </a:tblGrid>
              <a:tr h="604666">
                <a:tc>
                  <a:txBody>
                    <a:bodyPr/>
                    <a:lstStyle/>
                    <a:p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aplicada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Resolutor efectivo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Producción promedio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27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Ellsworth Carpio</a:t>
                      </a:r>
                    </a:p>
                    <a:p>
                      <a:pPr algn="ctr"/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6.36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 ALTA</a:t>
                      </a:r>
                    </a:p>
                    <a:p>
                      <a:pPr algn="l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 MEDIA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2.99</a:t>
                      </a:r>
                      <a:endParaRPr lang="es-PE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18158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9B5AFAD-2AB6-6CDE-A9C3-4DCFAEE25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201899"/>
              </p:ext>
            </p:extLst>
          </p:nvPr>
        </p:nvGraphicFramePr>
        <p:xfrm>
          <a:off x="2393298" y="1177101"/>
          <a:ext cx="8636653" cy="1963161"/>
        </p:xfrm>
        <a:graphic>
          <a:graphicData uri="http://schemas.openxmlformats.org/drawingml/2006/table">
            <a:tbl>
              <a:tblPr firstRow="1" firstCol="1" bandRow="1"/>
              <a:tblGrid>
                <a:gridCol w="1469809">
                  <a:extLst>
                    <a:ext uri="{9D8B030D-6E8A-4147-A177-3AD203B41FA5}">
                      <a16:colId xmlns:a16="http://schemas.microsoft.com/office/drawing/2014/main" val="2785956031"/>
                    </a:ext>
                  </a:extLst>
                </a:gridCol>
                <a:gridCol w="2101353">
                  <a:extLst>
                    <a:ext uri="{9D8B030D-6E8A-4147-A177-3AD203B41FA5}">
                      <a16:colId xmlns:a16="http://schemas.microsoft.com/office/drawing/2014/main" val="1033099074"/>
                    </a:ext>
                  </a:extLst>
                </a:gridCol>
                <a:gridCol w="1056369">
                  <a:extLst>
                    <a:ext uri="{9D8B030D-6E8A-4147-A177-3AD203B41FA5}">
                      <a16:colId xmlns:a16="http://schemas.microsoft.com/office/drawing/2014/main" val="1980848825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176937328"/>
                    </a:ext>
                  </a:extLst>
                </a:gridCol>
                <a:gridCol w="1421631">
                  <a:extLst>
                    <a:ext uri="{9D8B030D-6E8A-4147-A177-3AD203B41FA5}">
                      <a16:colId xmlns:a16="http://schemas.microsoft.com/office/drawing/2014/main" val="1472209076"/>
                    </a:ext>
                  </a:extLst>
                </a:gridCol>
                <a:gridCol w="1421631">
                  <a:extLst>
                    <a:ext uri="{9D8B030D-6E8A-4147-A177-3AD203B41FA5}">
                      <a16:colId xmlns:a16="http://schemas.microsoft.com/office/drawing/2014/main" val="1870332436"/>
                    </a:ext>
                  </a:extLst>
                </a:gridCol>
              </a:tblGrid>
              <a:tr h="855786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aplicada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Resolutor efectivo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Producción promedio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48822"/>
                  </a:ext>
                </a:extLst>
              </a:tr>
              <a:tr h="361856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Roberto Vera Tudela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</a:t>
                      </a: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P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MEDIO/ALTO</a:t>
                      </a: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s-PE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7.08</a:t>
                      </a: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2714"/>
                  </a:ext>
                </a:extLst>
              </a:tr>
              <a:tr h="317626">
                <a:tc>
                  <a:txBody>
                    <a:bodyPr/>
                    <a:lstStyle/>
                    <a:p>
                      <a:pPr algn="ctr"/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Vanesa Chávez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P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MEDIO/ALTO</a:t>
                      </a: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s-PE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8.49</a:t>
                      </a: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718254"/>
                  </a:ext>
                </a:extLst>
              </a:tr>
              <a:tr h="427893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Angelita Santillan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s-PE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.6</a:t>
                      </a: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P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MEDIO/ALTO</a:t>
                      </a: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s-PE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5.89</a:t>
                      </a: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51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513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PROYECTADO Y NO APLICADO 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4C93D83-6B0B-8FEB-B248-752214186839}"/>
              </a:ext>
            </a:extLst>
          </p:cNvPr>
          <p:cNvSpPr/>
          <p:nvPr/>
        </p:nvSpPr>
        <p:spPr>
          <a:xfrm>
            <a:off x="657226" y="1839595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</a:t>
            </a:r>
            <a:endParaRPr lang="es-PE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132D901-11E2-23E5-F84C-B50BE13D7D0E}"/>
              </a:ext>
            </a:extLst>
          </p:cNvPr>
          <p:cNvSpPr/>
          <p:nvPr/>
        </p:nvSpPr>
        <p:spPr>
          <a:xfrm>
            <a:off x="723902" y="3816590"/>
            <a:ext cx="1028700" cy="638174"/>
          </a:xfrm>
          <a:prstGeom prst="rightArrow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DCCII</a:t>
            </a:r>
            <a:endParaRPr lang="es-PE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B46D489-2A56-01B0-EB9C-D57AAAD377E8}"/>
              </a:ext>
            </a:extLst>
          </p:cNvPr>
          <p:cNvSpPr/>
          <p:nvPr/>
        </p:nvSpPr>
        <p:spPr>
          <a:xfrm>
            <a:off x="742950" y="5464379"/>
            <a:ext cx="1028700" cy="638174"/>
          </a:xfrm>
          <a:prstGeom prst="rightArrow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DCP</a:t>
            </a:r>
            <a:endParaRPr lang="es-PE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D983311-D5D2-D4A1-1B19-7BD4F56B9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08898"/>
              </p:ext>
            </p:extLst>
          </p:nvPr>
        </p:nvGraphicFramePr>
        <p:xfrm>
          <a:off x="2349855" y="1022519"/>
          <a:ext cx="8896212" cy="2724808"/>
        </p:xfrm>
        <a:graphic>
          <a:graphicData uri="http://schemas.openxmlformats.org/drawingml/2006/table">
            <a:tbl>
              <a:tblPr firstRow="1" firstCol="1" bandRow="1"/>
              <a:tblGrid>
                <a:gridCol w="1346317">
                  <a:extLst>
                    <a:ext uri="{9D8B030D-6E8A-4147-A177-3AD203B41FA5}">
                      <a16:colId xmlns:a16="http://schemas.microsoft.com/office/drawing/2014/main" val="2785956031"/>
                    </a:ext>
                  </a:extLst>
                </a:gridCol>
                <a:gridCol w="1921438">
                  <a:extLst>
                    <a:ext uri="{9D8B030D-6E8A-4147-A177-3AD203B41FA5}">
                      <a16:colId xmlns:a16="http://schemas.microsoft.com/office/drawing/2014/main" val="1033099074"/>
                    </a:ext>
                  </a:extLst>
                </a:gridCol>
                <a:gridCol w="1659424">
                  <a:extLst>
                    <a:ext uri="{9D8B030D-6E8A-4147-A177-3AD203B41FA5}">
                      <a16:colId xmlns:a16="http://schemas.microsoft.com/office/drawing/2014/main" val="1980848825"/>
                    </a:ext>
                  </a:extLst>
                </a:gridCol>
                <a:gridCol w="1174213">
                  <a:extLst>
                    <a:ext uri="{9D8B030D-6E8A-4147-A177-3AD203B41FA5}">
                      <a16:colId xmlns:a16="http://schemas.microsoft.com/office/drawing/2014/main" val="176937328"/>
                    </a:ext>
                  </a:extLst>
                </a:gridCol>
                <a:gridCol w="1397410">
                  <a:extLst>
                    <a:ext uri="{9D8B030D-6E8A-4147-A177-3AD203B41FA5}">
                      <a16:colId xmlns:a16="http://schemas.microsoft.com/office/drawing/2014/main" val="1870332436"/>
                    </a:ext>
                  </a:extLst>
                </a:gridCol>
                <a:gridCol w="1397410">
                  <a:extLst>
                    <a:ext uri="{9D8B030D-6E8A-4147-A177-3AD203B41FA5}">
                      <a16:colId xmlns:a16="http://schemas.microsoft.com/office/drawing/2014/main" val="617388905"/>
                    </a:ext>
                  </a:extLst>
                </a:gridCol>
              </a:tblGrid>
              <a:tr h="634181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proyectada 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aplicada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PE" sz="16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Motivo 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b="1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48822"/>
                  </a:ext>
                </a:extLst>
              </a:tr>
              <a:tr h="610872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Roberto Vera Tudela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ITOP (registro garantía 160) </a:t>
                      </a:r>
                      <a:endParaRPr lang="es-PE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100" b="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2714"/>
                  </a:ext>
                </a:extLst>
              </a:tr>
              <a:tr h="924847">
                <a:tc>
                  <a:txBody>
                    <a:bodyPr/>
                    <a:lstStyle/>
                    <a:p>
                      <a:pPr algn="ctr"/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Vanesa Chávez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s-PE" sz="140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s-PE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718254"/>
                  </a:ext>
                </a:extLst>
              </a:tr>
              <a:tr h="554908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Angelita Santillan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TLC, 2 valores en evaluación</a:t>
                      </a:r>
                      <a:endParaRPr lang="es-PE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ALTA, 2 CM</a:t>
                      </a:r>
                      <a:endParaRPr lang="es-PE" sz="140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51865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F7A7C28-D61E-7992-8D2D-1107C7240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37422"/>
              </p:ext>
            </p:extLst>
          </p:nvPr>
        </p:nvGraphicFramePr>
        <p:xfrm>
          <a:off x="2345422" y="3868422"/>
          <a:ext cx="8896213" cy="1424076"/>
        </p:xfrm>
        <a:graphic>
          <a:graphicData uri="http://schemas.openxmlformats.org/drawingml/2006/table">
            <a:tbl>
              <a:tblPr firstRow="1" firstCol="1" bandRow="1"/>
              <a:tblGrid>
                <a:gridCol w="1354219">
                  <a:extLst>
                    <a:ext uri="{9D8B030D-6E8A-4147-A177-3AD203B41FA5}">
                      <a16:colId xmlns:a16="http://schemas.microsoft.com/office/drawing/2014/main" val="3257801786"/>
                    </a:ext>
                  </a:extLst>
                </a:gridCol>
                <a:gridCol w="2336350">
                  <a:extLst>
                    <a:ext uri="{9D8B030D-6E8A-4147-A177-3AD203B41FA5}">
                      <a16:colId xmlns:a16="http://schemas.microsoft.com/office/drawing/2014/main" val="1776142972"/>
                    </a:ext>
                  </a:extLst>
                </a:gridCol>
                <a:gridCol w="1126594">
                  <a:extLst>
                    <a:ext uri="{9D8B030D-6E8A-4147-A177-3AD203B41FA5}">
                      <a16:colId xmlns:a16="http://schemas.microsoft.com/office/drawing/2014/main" val="153233266"/>
                    </a:ext>
                  </a:extLst>
                </a:gridCol>
                <a:gridCol w="1204292">
                  <a:extLst>
                    <a:ext uri="{9D8B030D-6E8A-4147-A177-3AD203B41FA5}">
                      <a16:colId xmlns:a16="http://schemas.microsoft.com/office/drawing/2014/main" val="1566383420"/>
                    </a:ext>
                  </a:extLst>
                </a:gridCol>
                <a:gridCol w="1437379">
                  <a:extLst>
                    <a:ext uri="{9D8B030D-6E8A-4147-A177-3AD203B41FA5}">
                      <a16:colId xmlns:a16="http://schemas.microsoft.com/office/drawing/2014/main" val="2536285859"/>
                    </a:ext>
                  </a:extLst>
                </a:gridCol>
                <a:gridCol w="1437379">
                  <a:extLst>
                    <a:ext uri="{9D8B030D-6E8A-4147-A177-3AD203B41FA5}">
                      <a16:colId xmlns:a16="http://schemas.microsoft.com/office/drawing/2014/main" val="2628142879"/>
                    </a:ext>
                  </a:extLst>
                </a:gridCol>
              </a:tblGrid>
              <a:tr h="480075">
                <a:tc>
                  <a:txBody>
                    <a:bodyPr/>
                    <a:lstStyle/>
                    <a:p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proyectada 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aplicada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PE" sz="16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Motivo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b="1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47544"/>
                  </a:ext>
                </a:extLst>
              </a:tr>
              <a:tr h="468198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Yessenia Salcedo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es-PE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Devolución a Admisibilidad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MEDIO/ALTA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37749"/>
                  </a:ext>
                </a:extLst>
              </a:tr>
              <a:tr h="468198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Allison Castro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</a:t>
                      </a:r>
                      <a:endParaRPr lang="es-PE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Devolución a Admisibilidad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MEDIO/ALTA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552211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ED00117-3C55-7947-AD48-A563CEB4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945818"/>
              </p:ext>
            </p:extLst>
          </p:nvPr>
        </p:nvGraphicFramePr>
        <p:xfrm>
          <a:off x="2345422" y="5413593"/>
          <a:ext cx="8896211" cy="1194372"/>
        </p:xfrm>
        <a:graphic>
          <a:graphicData uri="http://schemas.openxmlformats.org/drawingml/2006/table">
            <a:tbl>
              <a:tblPr firstRow="1" firstCol="1" bandRow="1"/>
              <a:tblGrid>
                <a:gridCol w="1364730">
                  <a:extLst>
                    <a:ext uri="{9D8B030D-6E8A-4147-A177-3AD203B41FA5}">
                      <a16:colId xmlns:a16="http://schemas.microsoft.com/office/drawing/2014/main" val="1791917023"/>
                    </a:ext>
                  </a:extLst>
                </a:gridCol>
                <a:gridCol w="2325838">
                  <a:extLst>
                    <a:ext uri="{9D8B030D-6E8A-4147-A177-3AD203B41FA5}">
                      <a16:colId xmlns:a16="http://schemas.microsoft.com/office/drawing/2014/main" val="778085126"/>
                    </a:ext>
                  </a:extLst>
                </a:gridCol>
                <a:gridCol w="1126594">
                  <a:extLst>
                    <a:ext uri="{9D8B030D-6E8A-4147-A177-3AD203B41FA5}">
                      <a16:colId xmlns:a16="http://schemas.microsoft.com/office/drawing/2014/main" val="3808763990"/>
                    </a:ext>
                  </a:extLst>
                </a:gridCol>
                <a:gridCol w="1204291">
                  <a:extLst>
                    <a:ext uri="{9D8B030D-6E8A-4147-A177-3AD203B41FA5}">
                      <a16:colId xmlns:a16="http://schemas.microsoft.com/office/drawing/2014/main" val="2363829853"/>
                    </a:ext>
                  </a:extLst>
                </a:gridCol>
                <a:gridCol w="1437379">
                  <a:extLst>
                    <a:ext uri="{9D8B030D-6E8A-4147-A177-3AD203B41FA5}">
                      <a16:colId xmlns:a16="http://schemas.microsoft.com/office/drawing/2014/main" val="3174711922"/>
                    </a:ext>
                  </a:extLst>
                </a:gridCol>
                <a:gridCol w="1437379">
                  <a:extLst>
                    <a:ext uri="{9D8B030D-6E8A-4147-A177-3AD203B41FA5}">
                      <a16:colId xmlns:a16="http://schemas.microsoft.com/office/drawing/2014/main" val="2946329490"/>
                    </a:ext>
                  </a:extLst>
                </a:gridCol>
              </a:tblGrid>
              <a:tr h="604666">
                <a:tc>
                  <a:txBody>
                    <a:bodyPr/>
                    <a:lstStyle/>
                    <a:p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proyectada 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aplicada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PE" sz="16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Motivo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b="1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27267"/>
                  </a:ext>
                </a:extLst>
              </a:tr>
              <a:tr h="589706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Ellsworth Carpio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</a:t>
                      </a:r>
                      <a:endParaRPr lang="es-PE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400" b="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18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90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PRODUCCIÓN POR RESOLUTOR-DCCI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06BF35C-A620-14C5-709B-343B3BA7C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348338"/>
              </p:ext>
            </p:extLst>
          </p:nvPr>
        </p:nvGraphicFramePr>
        <p:xfrm>
          <a:off x="1157969" y="1181294"/>
          <a:ext cx="8226890" cy="4944470"/>
        </p:xfrm>
        <a:graphic>
          <a:graphicData uri="http://schemas.openxmlformats.org/drawingml/2006/table">
            <a:tbl>
              <a:tblPr firstRow="1" firstCol="1" bandRow="1"/>
              <a:tblGrid>
                <a:gridCol w="1401112">
                  <a:extLst>
                    <a:ext uri="{9D8B030D-6E8A-4147-A177-3AD203B41FA5}">
                      <a16:colId xmlns:a16="http://schemas.microsoft.com/office/drawing/2014/main" val="2775420412"/>
                    </a:ext>
                  </a:extLst>
                </a:gridCol>
                <a:gridCol w="1493959">
                  <a:extLst>
                    <a:ext uri="{9D8B030D-6E8A-4147-A177-3AD203B41FA5}">
                      <a16:colId xmlns:a16="http://schemas.microsoft.com/office/drawing/2014/main" val="1302868493"/>
                    </a:ext>
                  </a:extLst>
                </a:gridCol>
                <a:gridCol w="1193749">
                  <a:extLst>
                    <a:ext uri="{9D8B030D-6E8A-4147-A177-3AD203B41FA5}">
                      <a16:colId xmlns:a16="http://schemas.microsoft.com/office/drawing/2014/main" val="2619335631"/>
                    </a:ext>
                  </a:extLst>
                </a:gridCol>
                <a:gridCol w="2253856">
                  <a:extLst>
                    <a:ext uri="{9D8B030D-6E8A-4147-A177-3AD203B41FA5}">
                      <a16:colId xmlns:a16="http://schemas.microsoft.com/office/drawing/2014/main" val="3518194475"/>
                    </a:ext>
                  </a:extLst>
                </a:gridCol>
                <a:gridCol w="942107">
                  <a:extLst>
                    <a:ext uri="{9D8B030D-6E8A-4147-A177-3AD203B41FA5}">
                      <a16:colId xmlns:a16="http://schemas.microsoft.com/office/drawing/2014/main" val="2121101367"/>
                    </a:ext>
                  </a:extLst>
                </a:gridCol>
                <a:gridCol w="942107">
                  <a:extLst>
                    <a:ext uri="{9D8B030D-6E8A-4147-A177-3AD203B41FA5}">
                      <a16:colId xmlns:a16="http://schemas.microsoft.com/office/drawing/2014/main" val="2184007081"/>
                    </a:ext>
                  </a:extLst>
                </a:gridCol>
              </a:tblGrid>
              <a:tr h="667188"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UUOO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SUPERVISIONES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REGISTRO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FUNCIONARIO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CARGO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 PROMEDIO MENSUAL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739676"/>
                  </a:ext>
                </a:extLst>
              </a:tr>
              <a:tr h="166797">
                <a:tc rowSpan="25"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7U7100 DIVISION DE CONTROL CONCURRENTE I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5877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Roberto Vera Tudela Gallesi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33111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2900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Carolina Cavero Carrion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28024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4469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Maria Hurtado Custodio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05233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5534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Celso Sanchez Garrido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427210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3284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 Diaz Jurado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885504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3085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Edgar Cosio Jara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908171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8351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Debra Araoz Laines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649333"/>
                  </a:ext>
                </a:extLst>
              </a:tr>
              <a:tr h="25392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5565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Victoria Santa Cruz Martinez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526119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4644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Cesar Linares </a:t>
                      </a:r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Alcantara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3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912357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7580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Vanesa Chavez Silva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75679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2968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Maria Chire Tunque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672239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4949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Javier Oyarse Cruz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470116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4504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Hugo Jimenez Suclla 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379770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8319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Carla </a:t>
                      </a:r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Vilcapaza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Amaro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214071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3977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William Godoy Escalante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332093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7324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Zaira Carbajal Jara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309015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5569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Gladys Santillan Valdivia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749343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7625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Teresita Quezada Villar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612033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7330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Tania Rosales Ochoa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642436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4770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Maritza Mollinedo Catunta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291206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2858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Julio Castañeda Calderon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839985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7611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Azhir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Sandoval Guevara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887700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7661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Luis </a:t>
                      </a:r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Cordova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Meza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128652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7674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Andres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Angulo </a:t>
                      </a:r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Farfan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68020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5556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Jorge </a:t>
                      </a:r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Sanchez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Torres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609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915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PRODUCCIÓN POR RESOLUTOR-DCCII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E864E31-624B-DBA5-F636-0330773E3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54648"/>
              </p:ext>
            </p:extLst>
          </p:nvPr>
        </p:nvGraphicFramePr>
        <p:xfrm>
          <a:off x="1201409" y="1383544"/>
          <a:ext cx="8597395" cy="4283456"/>
        </p:xfrm>
        <a:graphic>
          <a:graphicData uri="http://schemas.openxmlformats.org/drawingml/2006/table">
            <a:tbl>
              <a:tblPr/>
              <a:tblGrid>
                <a:gridCol w="1089162">
                  <a:extLst>
                    <a:ext uri="{9D8B030D-6E8A-4147-A177-3AD203B41FA5}">
                      <a16:colId xmlns:a16="http://schemas.microsoft.com/office/drawing/2014/main" val="2857257721"/>
                    </a:ext>
                  </a:extLst>
                </a:gridCol>
                <a:gridCol w="1089162">
                  <a:extLst>
                    <a:ext uri="{9D8B030D-6E8A-4147-A177-3AD203B41FA5}">
                      <a16:colId xmlns:a16="http://schemas.microsoft.com/office/drawing/2014/main" val="4161489616"/>
                    </a:ext>
                  </a:extLst>
                </a:gridCol>
                <a:gridCol w="1584051">
                  <a:extLst>
                    <a:ext uri="{9D8B030D-6E8A-4147-A177-3AD203B41FA5}">
                      <a16:colId xmlns:a16="http://schemas.microsoft.com/office/drawing/2014/main" val="1630339697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1004286328"/>
                    </a:ext>
                  </a:extLst>
                </a:gridCol>
                <a:gridCol w="1205995">
                  <a:extLst>
                    <a:ext uri="{9D8B030D-6E8A-4147-A177-3AD203B41FA5}">
                      <a16:colId xmlns:a16="http://schemas.microsoft.com/office/drawing/2014/main" val="390426895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81816914"/>
                    </a:ext>
                  </a:extLst>
                </a:gridCol>
              </a:tblGrid>
              <a:tr h="683285"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UUOO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SUPERVISIONES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REGISTRO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FUNCIONARIO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CARGO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PRODUCCIÓN PROMEDIO MENSUAL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95547"/>
                  </a:ext>
                </a:extLst>
              </a:tr>
              <a:tr h="188207">
                <a:tc rowSpan="15"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7U7200 DIVISION DE CONTROL CONCURRENTE II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 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7587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Yessenia Salcedo Diaz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Supervisor 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105208"/>
                  </a:ext>
                </a:extLst>
              </a:tr>
              <a:tr h="18820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7342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Juan Cuya Velarde (*)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316586"/>
                  </a:ext>
                </a:extLst>
              </a:tr>
              <a:tr h="31771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4644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Carlos Malaga Portocarrero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784360"/>
                  </a:ext>
                </a:extLst>
              </a:tr>
              <a:tr h="18820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4569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Jose Linarez Amacifuen 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276232"/>
                  </a:ext>
                </a:extLst>
              </a:tr>
              <a:tr h="18820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AO21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Renierd Rios Gomez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432791"/>
                  </a:ext>
                </a:extLst>
              </a:tr>
              <a:tr h="31771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7211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Roberto Rivarola Hidalgo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2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078045"/>
                  </a:ext>
                </a:extLst>
              </a:tr>
              <a:tr h="18820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7624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Poul Valdivia Charca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2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7867095"/>
                  </a:ext>
                </a:extLst>
              </a:tr>
              <a:tr h="31771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5844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Richard Vela Nuñez 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600010"/>
                  </a:ext>
                </a:extLst>
              </a:tr>
              <a:tr h="18820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7575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Allison Castro 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Supervisor 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248280"/>
                  </a:ext>
                </a:extLst>
              </a:tr>
              <a:tr h="18820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2423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Cecilia Acosta Salazar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4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725865"/>
                  </a:ext>
                </a:extLst>
              </a:tr>
              <a:tr h="31771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7326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Lydia Arestegui Pereyra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536542"/>
                  </a:ext>
                </a:extLst>
              </a:tr>
              <a:tr h="18820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AT75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Victoria Flores Alvitez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15262"/>
                  </a:ext>
                </a:extLst>
              </a:tr>
              <a:tr h="31771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7151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Lourdes Pretel Noblecilla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490926"/>
                  </a:ext>
                </a:extLst>
              </a:tr>
              <a:tr h="18820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5749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Wilder Ulloa Ascencio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5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996281"/>
                  </a:ext>
                </a:extLst>
              </a:tr>
              <a:tr h="31771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AX34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Enrique Villanueva Hurtado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998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626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PRODUCCIÓN POR RESOLUTOR-DCP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B7C2AC0-86A4-ABEE-06F2-450F63287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822686"/>
              </p:ext>
            </p:extLst>
          </p:nvPr>
        </p:nvGraphicFramePr>
        <p:xfrm>
          <a:off x="2120740" y="1522201"/>
          <a:ext cx="6911134" cy="3309346"/>
        </p:xfrm>
        <a:graphic>
          <a:graphicData uri="http://schemas.openxmlformats.org/drawingml/2006/table">
            <a:tbl>
              <a:tblPr firstRow="1" firstCol="1" bandRow="1"/>
              <a:tblGrid>
                <a:gridCol w="1185506">
                  <a:extLst>
                    <a:ext uri="{9D8B030D-6E8A-4147-A177-3AD203B41FA5}">
                      <a16:colId xmlns:a16="http://schemas.microsoft.com/office/drawing/2014/main" val="850406056"/>
                    </a:ext>
                  </a:extLst>
                </a:gridCol>
                <a:gridCol w="1075569">
                  <a:extLst>
                    <a:ext uri="{9D8B030D-6E8A-4147-A177-3AD203B41FA5}">
                      <a16:colId xmlns:a16="http://schemas.microsoft.com/office/drawing/2014/main" val="973022981"/>
                    </a:ext>
                  </a:extLst>
                </a:gridCol>
                <a:gridCol w="916110">
                  <a:extLst>
                    <a:ext uri="{9D8B030D-6E8A-4147-A177-3AD203B41FA5}">
                      <a16:colId xmlns:a16="http://schemas.microsoft.com/office/drawing/2014/main" val="2347363923"/>
                    </a:ext>
                  </a:extLst>
                </a:gridCol>
                <a:gridCol w="1802019">
                  <a:extLst>
                    <a:ext uri="{9D8B030D-6E8A-4147-A177-3AD203B41FA5}">
                      <a16:colId xmlns:a16="http://schemas.microsoft.com/office/drawing/2014/main" val="2396742907"/>
                    </a:ext>
                  </a:extLst>
                </a:gridCol>
                <a:gridCol w="1006766">
                  <a:extLst>
                    <a:ext uri="{9D8B030D-6E8A-4147-A177-3AD203B41FA5}">
                      <a16:colId xmlns:a16="http://schemas.microsoft.com/office/drawing/2014/main" val="4024969280"/>
                    </a:ext>
                  </a:extLst>
                </a:gridCol>
                <a:gridCol w="925164">
                  <a:extLst>
                    <a:ext uri="{9D8B030D-6E8A-4147-A177-3AD203B41FA5}">
                      <a16:colId xmlns:a16="http://schemas.microsoft.com/office/drawing/2014/main" val="2141008519"/>
                    </a:ext>
                  </a:extLst>
                </a:gridCol>
              </a:tblGrid>
              <a:tr h="498978"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UUOO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SUPERVISIONES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REGISTRO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FUNCIONARIO 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CARGO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 PROMEDIO MENSUAL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397411"/>
                  </a:ext>
                </a:extLst>
              </a:tr>
              <a:tr h="305922">
                <a:tc rowSpan="8"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7U7300 DIVISION DE CONTROL POSTERIOR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 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2834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Ellsworth Carpio Charres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70691"/>
                  </a:ext>
                </a:extLst>
              </a:tr>
              <a:tr h="35777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2694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Gustavo Bernuy Nuñez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85655"/>
                  </a:ext>
                </a:extLst>
              </a:tr>
              <a:tr h="35777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4700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Carlos Mauro Sampen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96521"/>
                  </a:ext>
                </a:extLst>
              </a:tr>
              <a:tr h="35777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5730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Marco Tregear Jimenez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 (*)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223805"/>
                  </a:ext>
                </a:extLst>
              </a:tr>
              <a:tr h="35777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7660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Marco Fournier Castillo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154502"/>
                  </a:ext>
                </a:extLst>
              </a:tr>
              <a:tr h="35777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7148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Jesus Garcia Rodriguez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2(**)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29415"/>
                  </a:ext>
                </a:extLst>
              </a:tr>
              <a:tr h="35777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4594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Carlos Lopez Cornelio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215880"/>
                  </a:ext>
                </a:extLst>
              </a:tr>
              <a:tr h="357778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4990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Cecilia Pantoja Urizar Garfias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1(***)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747884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00623682-AC33-0453-18DA-41D7A43664FC}"/>
              </a:ext>
            </a:extLst>
          </p:cNvPr>
          <p:cNvSpPr txBox="1"/>
          <p:nvPr/>
        </p:nvSpPr>
        <p:spPr>
          <a:xfrm>
            <a:off x="1436516" y="5159004"/>
            <a:ext cx="859330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dirty="0"/>
              <a:t>(*) Profesional a partir del 22.01.2024 fue trasladado a la División de Admisibilidad y Programación para prestar apoyo.</a:t>
            </a:r>
          </a:p>
          <a:p>
            <a:pPr algn="just"/>
            <a:r>
              <a:rPr lang="es-ES" sz="1100" dirty="0"/>
              <a:t>(**) Profesional proyecto 2 de 3 casos programado debido a que tuvo que rehacer 1 caso complejo, luego de reunión sostenida con la División de Fiscalización Posterior- INCA. ( área determinadora de deuda)</a:t>
            </a:r>
          </a:p>
          <a:p>
            <a:pPr algn="just"/>
            <a:r>
              <a:rPr lang="es-ES" sz="1100" dirty="0"/>
              <a:t>(***) Profesional paralelamente está resolviendo reclamo de alta complejita,  que involucra 1000 CRMF (Régimen de Reposición de Mercancía en Franquicia), por un monto de S/. 19.4 millones.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563388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STOCK VENCIDOS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4C93D83-6B0B-8FEB-B248-752214186839}"/>
              </a:ext>
            </a:extLst>
          </p:cNvPr>
          <p:cNvSpPr/>
          <p:nvPr/>
        </p:nvSpPr>
        <p:spPr>
          <a:xfrm>
            <a:off x="1285875" y="1397465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</a:t>
            </a:r>
            <a:endParaRPr lang="es-PE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132D901-11E2-23E5-F84C-B50BE13D7D0E}"/>
              </a:ext>
            </a:extLst>
          </p:cNvPr>
          <p:cNvSpPr/>
          <p:nvPr/>
        </p:nvSpPr>
        <p:spPr>
          <a:xfrm>
            <a:off x="1285875" y="3163517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DCCII</a:t>
            </a:r>
            <a:endParaRPr lang="es-PE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B46D489-2A56-01B0-EB9C-D57AAAD377E8}"/>
              </a:ext>
            </a:extLst>
          </p:cNvPr>
          <p:cNvSpPr/>
          <p:nvPr/>
        </p:nvSpPr>
        <p:spPr>
          <a:xfrm>
            <a:off x="1285875" y="4929570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DCP</a:t>
            </a:r>
            <a:endParaRPr lang="es-P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315DDD-5468-DE29-D6F6-5BBFA86E57E4}"/>
              </a:ext>
            </a:extLst>
          </p:cNvPr>
          <p:cNvSpPr txBox="1"/>
          <p:nvPr/>
        </p:nvSpPr>
        <p:spPr>
          <a:xfrm>
            <a:off x="1285874" y="6238635"/>
            <a:ext cx="31242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b="1" dirty="0">
                <a:latin typeface="Calibri Light" panose="020F0302020204030204" pitchFamily="34" charset="0"/>
                <a:ea typeface="Calibri" panose="020F0502020204030204" pitchFamily="34" charset="0"/>
              </a:rPr>
              <a:t>Fuente</a:t>
            </a:r>
            <a:r>
              <a:rPr lang="es-PE" sz="1200" dirty="0">
                <a:latin typeface="Calibri Light" panose="020F0302020204030204" pitchFamily="34" charset="0"/>
                <a:ea typeface="Calibri" panose="020F0502020204030204" pitchFamily="34" charset="0"/>
              </a:rPr>
              <a:t>: Módulo SIGERI al 08.01.2024</a:t>
            </a:r>
          </a:p>
        </p:txBody>
      </p:sp>
      <p:sp>
        <p:nvSpPr>
          <p:cNvPr id="3" name="Bocadillo nube: nube 2">
            <a:extLst>
              <a:ext uri="{FF2B5EF4-FFF2-40B4-BE49-F238E27FC236}">
                <a16:creationId xmlns:a16="http://schemas.microsoft.com/office/drawing/2014/main" id="{2CDF9045-FFEB-A6E3-8A64-92964C7B93F3}"/>
              </a:ext>
            </a:extLst>
          </p:cNvPr>
          <p:cNvSpPr/>
          <p:nvPr/>
        </p:nvSpPr>
        <p:spPr>
          <a:xfrm>
            <a:off x="9321799" y="1034932"/>
            <a:ext cx="2300202" cy="1076003"/>
          </a:xfrm>
          <a:prstGeom prst="cloudCallout">
            <a:avLst>
              <a:gd name="adj1" fmla="val -63383"/>
              <a:gd name="adj2" fmla="val -190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12 total (11/17/15/10/12/17/07)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4" name="Bocadillo nube: nube 3">
            <a:extLst>
              <a:ext uri="{FF2B5EF4-FFF2-40B4-BE49-F238E27FC236}">
                <a16:creationId xmlns:a16="http://schemas.microsoft.com/office/drawing/2014/main" id="{30F3CF21-67BC-6869-D144-28C16A383425}"/>
              </a:ext>
            </a:extLst>
          </p:cNvPr>
          <p:cNvSpPr/>
          <p:nvPr/>
        </p:nvSpPr>
        <p:spPr>
          <a:xfrm>
            <a:off x="9321799" y="2833275"/>
            <a:ext cx="2300202" cy="1076003"/>
          </a:xfrm>
          <a:prstGeom prst="cloudCallout">
            <a:avLst>
              <a:gd name="adj1" fmla="val -63383"/>
              <a:gd name="adj2" fmla="val -190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FF0000"/>
                </a:solidFill>
              </a:rPr>
              <a:t>09 total (08/5/16/17/5/40/15)</a:t>
            </a:r>
            <a:endParaRPr lang="es-PE" sz="1400" dirty="0">
              <a:solidFill>
                <a:srgbClr val="FF0000"/>
              </a:solidFill>
            </a:endParaRPr>
          </a:p>
        </p:txBody>
      </p:sp>
      <p:sp>
        <p:nvSpPr>
          <p:cNvPr id="5" name="Bocadillo nube: nube 4">
            <a:extLst>
              <a:ext uri="{FF2B5EF4-FFF2-40B4-BE49-F238E27FC236}">
                <a16:creationId xmlns:a16="http://schemas.microsoft.com/office/drawing/2014/main" id="{9E55A7AD-D2BB-78A2-7C74-0EE92587C86C}"/>
              </a:ext>
            </a:extLst>
          </p:cNvPr>
          <p:cNvSpPr/>
          <p:nvPr/>
        </p:nvSpPr>
        <p:spPr>
          <a:xfrm>
            <a:off x="9321799" y="4710655"/>
            <a:ext cx="2193925" cy="1076003"/>
          </a:xfrm>
          <a:prstGeom prst="cloudCallout">
            <a:avLst>
              <a:gd name="adj1" fmla="val -63383"/>
              <a:gd name="adj2" fmla="val -190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0 total (1/1/3/3/5/0)</a:t>
            </a:r>
            <a:endParaRPr lang="es-PE" sz="14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A1E3C9B-1922-2F33-DB7C-BE5BC2DDB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176349"/>
              </p:ext>
            </p:extLst>
          </p:nvPr>
        </p:nvGraphicFramePr>
        <p:xfrm>
          <a:off x="2946400" y="1116590"/>
          <a:ext cx="5988049" cy="1164424"/>
        </p:xfrm>
        <a:graphic>
          <a:graphicData uri="http://schemas.openxmlformats.org/drawingml/2006/table">
            <a:tbl>
              <a:tblPr firstRow="1" firstCol="1" bandRow="1"/>
              <a:tblGrid>
                <a:gridCol w="1003584">
                  <a:extLst>
                    <a:ext uri="{9D8B030D-6E8A-4147-A177-3AD203B41FA5}">
                      <a16:colId xmlns:a16="http://schemas.microsoft.com/office/drawing/2014/main" val="3074884351"/>
                    </a:ext>
                  </a:extLst>
                </a:gridCol>
                <a:gridCol w="1321384">
                  <a:extLst>
                    <a:ext uri="{9D8B030D-6E8A-4147-A177-3AD203B41FA5}">
                      <a16:colId xmlns:a16="http://schemas.microsoft.com/office/drawing/2014/main" val="1526047758"/>
                    </a:ext>
                  </a:extLst>
                </a:gridCol>
                <a:gridCol w="1655913">
                  <a:extLst>
                    <a:ext uri="{9D8B030D-6E8A-4147-A177-3AD203B41FA5}">
                      <a16:colId xmlns:a16="http://schemas.microsoft.com/office/drawing/2014/main" val="436782002"/>
                    </a:ext>
                  </a:extLst>
                </a:gridCol>
                <a:gridCol w="1003584">
                  <a:extLst>
                    <a:ext uri="{9D8B030D-6E8A-4147-A177-3AD203B41FA5}">
                      <a16:colId xmlns:a16="http://schemas.microsoft.com/office/drawing/2014/main" val="2134817539"/>
                    </a:ext>
                  </a:extLst>
                </a:gridCol>
                <a:gridCol w="1003584">
                  <a:extLst>
                    <a:ext uri="{9D8B030D-6E8A-4147-A177-3AD203B41FA5}">
                      <a16:colId xmlns:a16="http://schemas.microsoft.com/office/drawing/2014/main" val="3157735613"/>
                    </a:ext>
                  </a:extLst>
                </a:gridCol>
              </a:tblGrid>
              <a:tr h="547964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UUOO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VENCIDO +9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9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8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7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845465"/>
                  </a:ext>
                </a:extLst>
              </a:tr>
              <a:tr h="308230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DCCI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6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1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3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44557"/>
                  </a:ext>
                </a:extLst>
              </a:tr>
              <a:tr h="308230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DAP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2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556671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21873085-0F54-8216-09FC-126BB2787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058777"/>
              </p:ext>
            </p:extLst>
          </p:nvPr>
        </p:nvGraphicFramePr>
        <p:xfrm>
          <a:off x="2946402" y="2856991"/>
          <a:ext cx="5988047" cy="1164421"/>
        </p:xfrm>
        <a:graphic>
          <a:graphicData uri="http://schemas.openxmlformats.org/drawingml/2006/table">
            <a:tbl>
              <a:tblPr firstRow="1" firstCol="1" bandRow="1"/>
              <a:tblGrid>
                <a:gridCol w="1003583">
                  <a:extLst>
                    <a:ext uri="{9D8B030D-6E8A-4147-A177-3AD203B41FA5}">
                      <a16:colId xmlns:a16="http://schemas.microsoft.com/office/drawing/2014/main" val="3114367696"/>
                    </a:ext>
                  </a:extLst>
                </a:gridCol>
                <a:gridCol w="1321385">
                  <a:extLst>
                    <a:ext uri="{9D8B030D-6E8A-4147-A177-3AD203B41FA5}">
                      <a16:colId xmlns:a16="http://schemas.microsoft.com/office/drawing/2014/main" val="4084865074"/>
                    </a:ext>
                  </a:extLst>
                </a:gridCol>
                <a:gridCol w="1655913">
                  <a:extLst>
                    <a:ext uri="{9D8B030D-6E8A-4147-A177-3AD203B41FA5}">
                      <a16:colId xmlns:a16="http://schemas.microsoft.com/office/drawing/2014/main" val="1706993894"/>
                    </a:ext>
                  </a:extLst>
                </a:gridCol>
                <a:gridCol w="1003583">
                  <a:extLst>
                    <a:ext uri="{9D8B030D-6E8A-4147-A177-3AD203B41FA5}">
                      <a16:colId xmlns:a16="http://schemas.microsoft.com/office/drawing/2014/main" val="871379910"/>
                    </a:ext>
                  </a:extLst>
                </a:gridCol>
                <a:gridCol w="1003583">
                  <a:extLst>
                    <a:ext uri="{9D8B030D-6E8A-4147-A177-3AD203B41FA5}">
                      <a16:colId xmlns:a16="http://schemas.microsoft.com/office/drawing/2014/main" val="1362448182"/>
                    </a:ext>
                  </a:extLst>
                </a:gridCol>
              </a:tblGrid>
              <a:tr h="527759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UUOO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VENCIDO +9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9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8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7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099436"/>
                  </a:ext>
                </a:extLst>
              </a:tr>
              <a:tr h="318331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DCCII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8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419138"/>
                  </a:ext>
                </a:extLst>
              </a:tr>
              <a:tr h="318331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DAP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3</a:t>
                      </a:r>
                      <a:endParaRPr lang="es-PE" sz="1800" b="1" dirty="0">
                        <a:solidFill>
                          <a:srgbClr val="FF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1</a:t>
                      </a:r>
                      <a:endParaRPr lang="es-PE" sz="1800" b="1" dirty="0">
                        <a:solidFill>
                          <a:srgbClr val="FF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1</a:t>
                      </a:r>
                      <a:endParaRPr lang="es-PE" sz="1800" b="1" dirty="0">
                        <a:solidFill>
                          <a:srgbClr val="FF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2</a:t>
                      </a:r>
                      <a:endParaRPr lang="es-PE" sz="1800" b="1" dirty="0">
                        <a:solidFill>
                          <a:srgbClr val="FF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642096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7C375469-0EF9-D038-F02C-458E309B4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781807"/>
              </p:ext>
            </p:extLst>
          </p:nvPr>
        </p:nvGraphicFramePr>
        <p:xfrm>
          <a:off x="2946400" y="4622237"/>
          <a:ext cx="5988047" cy="1164421"/>
        </p:xfrm>
        <a:graphic>
          <a:graphicData uri="http://schemas.openxmlformats.org/drawingml/2006/table">
            <a:tbl>
              <a:tblPr firstRow="1" firstCol="1" bandRow="1"/>
              <a:tblGrid>
                <a:gridCol w="1003583">
                  <a:extLst>
                    <a:ext uri="{9D8B030D-6E8A-4147-A177-3AD203B41FA5}">
                      <a16:colId xmlns:a16="http://schemas.microsoft.com/office/drawing/2014/main" val="3114367696"/>
                    </a:ext>
                  </a:extLst>
                </a:gridCol>
                <a:gridCol w="1321385">
                  <a:extLst>
                    <a:ext uri="{9D8B030D-6E8A-4147-A177-3AD203B41FA5}">
                      <a16:colId xmlns:a16="http://schemas.microsoft.com/office/drawing/2014/main" val="4084865074"/>
                    </a:ext>
                  </a:extLst>
                </a:gridCol>
                <a:gridCol w="1655913">
                  <a:extLst>
                    <a:ext uri="{9D8B030D-6E8A-4147-A177-3AD203B41FA5}">
                      <a16:colId xmlns:a16="http://schemas.microsoft.com/office/drawing/2014/main" val="1706993894"/>
                    </a:ext>
                  </a:extLst>
                </a:gridCol>
                <a:gridCol w="1003583">
                  <a:extLst>
                    <a:ext uri="{9D8B030D-6E8A-4147-A177-3AD203B41FA5}">
                      <a16:colId xmlns:a16="http://schemas.microsoft.com/office/drawing/2014/main" val="871379910"/>
                    </a:ext>
                  </a:extLst>
                </a:gridCol>
                <a:gridCol w="1003583">
                  <a:extLst>
                    <a:ext uri="{9D8B030D-6E8A-4147-A177-3AD203B41FA5}">
                      <a16:colId xmlns:a16="http://schemas.microsoft.com/office/drawing/2014/main" val="1362448182"/>
                    </a:ext>
                  </a:extLst>
                </a:gridCol>
              </a:tblGrid>
              <a:tr h="527759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UUOO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VENCIDO +9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9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8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7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099436"/>
                  </a:ext>
                </a:extLst>
              </a:tr>
              <a:tr h="318331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DCP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419138"/>
                  </a:ext>
                </a:extLst>
              </a:tr>
              <a:tr h="318331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DAP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800" b="1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 0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642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213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NO GESTIONABLE Y REINGRESADOS 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4C93D83-6B0B-8FEB-B248-752214186839}"/>
              </a:ext>
            </a:extLst>
          </p:cNvPr>
          <p:cNvSpPr/>
          <p:nvPr/>
        </p:nvSpPr>
        <p:spPr>
          <a:xfrm>
            <a:off x="1285875" y="1397465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</a:t>
            </a:r>
            <a:endParaRPr lang="es-PE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132D901-11E2-23E5-F84C-B50BE13D7D0E}"/>
              </a:ext>
            </a:extLst>
          </p:cNvPr>
          <p:cNvSpPr/>
          <p:nvPr/>
        </p:nvSpPr>
        <p:spPr>
          <a:xfrm>
            <a:off x="1285875" y="3163517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DCCII</a:t>
            </a:r>
            <a:endParaRPr lang="es-PE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B46D489-2A56-01B0-EB9C-D57AAAD377E8}"/>
              </a:ext>
            </a:extLst>
          </p:cNvPr>
          <p:cNvSpPr/>
          <p:nvPr/>
        </p:nvSpPr>
        <p:spPr>
          <a:xfrm>
            <a:off x="1285875" y="4929570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DCP</a:t>
            </a:r>
            <a:endParaRPr lang="es-PE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D48A263-D39C-6FFA-07AD-924DAA71C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35223"/>
              </p:ext>
            </p:extLst>
          </p:nvPr>
        </p:nvGraphicFramePr>
        <p:xfrm>
          <a:off x="2766026" y="1152524"/>
          <a:ext cx="3190996" cy="1291141"/>
        </p:xfrm>
        <a:graphic>
          <a:graphicData uri="http://schemas.openxmlformats.org/drawingml/2006/table">
            <a:tbl>
              <a:tblPr/>
              <a:tblGrid>
                <a:gridCol w="1626299">
                  <a:extLst>
                    <a:ext uri="{9D8B030D-6E8A-4147-A177-3AD203B41FA5}">
                      <a16:colId xmlns:a16="http://schemas.microsoft.com/office/drawing/2014/main" val="303441847"/>
                    </a:ext>
                  </a:extLst>
                </a:gridCol>
                <a:gridCol w="1564697">
                  <a:extLst>
                    <a:ext uri="{9D8B030D-6E8A-4147-A177-3AD203B41FA5}">
                      <a16:colId xmlns:a16="http://schemas.microsoft.com/office/drawing/2014/main" val="1716151770"/>
                    </a:ext>
                  </a:extLst>
                </a:gridCol>
              </a:tblGrid>
              <a:tr h="34945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DCCI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00985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GESTIONABLE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27070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251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716666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EINGRESADOS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87893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D8D1F39-161B-98DA-5982-C2CD772C4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788664"/>
              </p:ext>
            </p:extLst>
          </p:nvPr>
        </p:nvGraphicFramePr>
        <p:xfrm>
          <a:off x="2766026" y="2837033"/>
          <a:ext cx="3190996" cy="1291141"/>
        </p:xfrm>
        <a:graphic>
          <a:graphicData uri="http://schemas.openxmlformats.org/drawingml/2006/table">
            <a:tbl>
              <a:tblPr/>
              <a:tblGrid>
                <a:gridCol w="1626299">
                  <a:extLst>
                    <a:ext uri="{9D8B030D-6E8A-4147-A177-3AD203B41FA5}">
                      <a16:colId xmlns:a16="http://schemas.microsoft.com/office/drawing/2014/main" val="303441847"/>
                    </a:ext>
                  </a:extLst>
                </a:gridCol>
                <a:gridCol w="1564697">
                  <a:extLst>
                    <a:ext uri="{9D8B030D-6E8A-4147-A177-3AD203B41FA5}">
                      <a16:colId xmlns:a16="http://schemas.microsoft.com/office/drawing/2014/main" val="1716151770"/>
                    </a:ext>
                  </a:extLst>
                </a:gridCol>
              </a:tblGrid>
              <a:tr h="34945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DCCII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00985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GESTIONABLE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27070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716666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EINGRESADOS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87893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F487CDF-AEF2-6A89-6E62-3C2229D25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276128"/>
              </p:ext>
            </p:extLst>
          </p:nvPr>
        </p:nvGraphicFramePr>
        <p:xfrm>
          <a:off x="2766026" y="4603086"/>
          <a:ext cx="3190996" cy="1291141"/>
        </p:xfrm>
        <a:graphic>
          <a:graphicData uri="http://schemas.openxmlformats.org/drawingml/2006/table">
            <a:tbl>
              <a:tblPr/>
              <a:tblGrid>
                <a:gridCol w="1626299">
                  <a:extLst>
                    <a:ext uri="{9D8B030D-6E8A-4147-A177-3AD203B41FA5}">
                      <a16:colId xmlns:a16="http://schemas.microsoft.com/office/drawing/2014/main" val="303441847"/>
                    </a:ext>
                  </a:extLst>
                </a:gridCol>
                <a:gridCol w="1564697">
                  <a:extLst>
                    <a:ext uri="{9D8B030D-6E8A-4147-A177-3AD203B41FA5}">
                      <a16:colId xmlns:a16="http://schemas.microsoft.com/office/drawing/2014/main" val="1716151770"/>
                    </a:ext>
                  </a:extLst>
                </a:gridCol>
              </a:tblGrid>
              <a:tr h="34945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DCP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00985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GESTIONABLE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 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27070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716666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EINGRESADOS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87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625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ITOP REPORTADOS–2023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55D1268-DC29-7290-F4BC-4E91D0CD9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755822"/>
              </p:ext>
            </p:extLst>
          </p:nvPr>
        </p:nvGraphicFramePr>
        <p:xfrm>
          <a:off x="2634280" y="1205009"/>
          <a:ext cx="5731653" cy="5251104"/>
        </p:xfrm>
        <a:graphic>
          <a:graphicData uri="http://schemas.openxmlformats.org/drawingml/2006/table">
            <a:tbl>
              <a:tblPr firstRow="1" firstCol="1" bandRow="1"/>
              <a:tblGrid>
                <a:gridCol w="982265">
                  <a:extLst>
                    <a:ext uri="{9D8B030D-6E8A-4147-A177-3AD203B41FA5}">
                      <a16:colId xmlns:a16="http://schemas.microsoft.com/office/drawing/2014/main" val="1329933936"/>
                    </a:ext>
                  </a:extLst>
                </a:gridCol>
                <a:gridCol w="1288433">
                  <a:extLst>
                    <a:ext uri="{9D8B030D-6E8A-4147-A177-3AD203B41FA5}">
                      <a16:colId xmlns:a16="http://schemas.microsoft.com/office/drawing/2014/main" val="63170076"/>
                    </a:ext>
                  </a:extLst>
                </a:gridCol>
                <a:gridCol w="3460955">
                  <a:extLst>
                    <a:ext uri="{9D8B030D-6E8A-4147-A177-3AD203B41FA5}">
                      <a16:colId xmlns:a16="http://schemas.microsoft.com/office/drawing/2014/main" val="3005957556"/>
                    </a:ext>
                  </a:extLst>
                </a:gridCol>
              </a:tblGrid>
              <a:tr h="190431">
                <a:tc gridSpan="3">
                  <a:txBody>
                    <a:bodyPr/>
                    <a:lstStyle/>
                    <a:p>
                      <a:pPr algn="ctr"/>
                      <a:r>
                        <a:rPr lang="es-PE" sz="1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ITOP REPORTADOS</a:t>
                      </a:r>
                      <a:endParaRPr lang="es-P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85700418"/>
                  </a:ext>
                </a:extLst>
              </a:tr>
              <a:tr h="190431">
                <a:tc>
                  <a:txBody>
                    <a:bodyPr/>
                    <a:lstStyle/>
                    <a:p>
                      <a:r>
                        <a:rPr lang="es-PE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s-PE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ICIEMBRE</a:t>
                      </a:r>
                      <a:endParaRPr lang="es-P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46492"/>
                  </a:ext>
                </a:extLst>
              </a:tr>
              <a:tr h="371524">
                <a:tc>
                  <a:txBody>
                    <a:bodyPr/>
                    <a:lstStyle/>
                    <a:p>
                      <a:r>
                        <a:rPr lang="es-PE" sz="1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N°</a:t>
                      </a:r>
                      <a:r>
                        <a:rPr lang="es-PE" sz="1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ITOP</a:t>
                      </a:r>
                      <a:endParaRPr lang="es-P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s-P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ASUNTO</a:t>
                      </a:r>
                      <a:endParaRPr lang="es-P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s-P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214133"/>
                  </a:ext>
                </a:extLst>
              </a:tr>
              <a:tr h="353681">
                <a:tc>
                  <a:txBody>
                    <a:bodyPr/>
                    <a:lstStyle/>
                    <a:p>
                      <a:r>
                        <a:rPr lang="es-PE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DCCI</a:t>
                      </a:r>
                      <a:endParaRPr lang="es-P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u="non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04</a:t>
                      </a:r>
                      <a:endParaRPr lang="es-PE" sz="1000" b="1" u="non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00" u="non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I-789346 Falta cargar el número de la RD</a:t>
                      </a:r>
                    </a:p>
                    <a:p>
                      <a:pPr algn="l"/>
                      <a:r>
                        <a:rPr lang="es-PE" sz="1000" u="non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I-783476 Cerrar el expediente SIGERI 4090340005043</a:t>
                      </a:r>
                    </a:p>
                    <a:p>
                      <a:pPr algn="l"/>
                      <a:r>
                        <a:rPr lang="es-PE" sz="1000" u="non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I-791115 </a:t>
                      </a:r>
                      <a:r>
                        <a:rPr lang="es-ES" sz="1000" u="non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Recurso con resultado Fondo sin archivo de la RD cargada en SIGERI</a:t>
                      </a:r>
                      <a:endParaRPr lang="es-PE" sz="1000" u="non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s-PE" sz="1000" u="non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I-783476 Cerrar el expediente SIGERI</a:t>
                      </a:r>
                    </a:p>
                    <a:p>
                      <a:pPr algn="l"/>
                      <a:r>
                        <a:rPr lang="es-PE" sz="1000" u="non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I-791115 </a:t>
                      </a:r>
                      <a:r>
                        <a:rPr lang="es-ES" sz="1000" u="non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Recurso con resultado Fondo sin archivo de la RD cargada en SIGERI</a:t>
                      </a:r>
                      <a:endParaRPr lang="es-PE" sz="1000" u="non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909416"/>
                  </a:ext>
                </a:extLst>
              </a:tr>
              <a:tr h="2003605">
                <a:tc>
                  <a:txBody>
                    <a:bodyPr/>
                    <a:lstStyle/>
                    <a:p>
                      <a:r>
                        <a:rPr lang="es-PE" sz="1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DCCII</a:t>
                      </a:r>
                      <a:endParaRPr lang="es-P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  <a:p>
                      <a:endParaRPr lang="es-P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I-825629/I-825639</a:t>
                      </a:r>
                      <a:endParaRPr lang="es-PE" sz="10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s-ES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RECTIFICAR fecha de emisión de RD del SIGERI EXP 8460340000007 (LC 046-2022-000586) // RECTIFICAR fecha de emisión de RD del SIGERI 4090340001031 (LC 046-2022-003031)</a:t>
                      </a:r>
                    </a:p>
                    <a:p>
                      <a:pPr algn="l"/>
                      <a:r>
                        <a:rPr lang="nn-NO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I-820995 /I-821042/I-821094/ I-821134/I-821235/I-821256/I-821277/I-821299/I-821313/I-821323/I-804315/I-821443/I-817572/ I-818516 /I-804390 /I- 818698/I-818833/I-818988 /I-821476 /I-829466 /I-819558/I-821542/I-821513/I-819882/I-814484/I-821575</a:t>
                      </a:r>
                    </a:p>
                    <a:p>
                      <a:pPr algn="l"/>
                      <a:r>
                        <a:rPr lang="es-ES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Actualización de reclamo y resultado en reclamo en módulo SIGAD, liquidaciones de Cobranza</a:t>
                      </a:r>
                      <a:endParaRPr lang="es-P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347665"/>
                  </a:ext>
                </a:extLst>
              </a:tr>
              <a:tr h="1237882">
                <a:tc>
                  <a:txBody>
                    <a:bodyPr/>
                    <a:lstStyle/>
                    <a:p>
                      <a:r>
                        <a:rPr lang="es-PE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DCP</a:t>
                      </a:r>
                      <a:endParaRPr lang="es-P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PE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I-802787</a:t>
                      </a:r>
                    </a:p>
                    <a:p>
                      <a:r>
                        <a:rPr lang="es-PE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I-805464 </a:t>
                      </a:r>
                    </a:p>
                    <a:p>
                      <a:r>
                        <a:rPr lang="es-PE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I-802448</a:t>
                      </a:r>
                    </a:p>
                    <a:p>
                      <a:r>
                        <a:rPr lang="es-PE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Actualizar resultad de reclamo L/C, cerrar expedientes SIGERI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787184"/>
                  </a:ext>
                </a:extLst>
              </a:tr>
              <a:tr h="190431">
                <a:tc>
                  <a:txBody>
                    <a:bodyPr/>
                    <a:lstStyle/>
                    <a:p>
                      <a:r>
                        <a:rPr lang="es-PE" sz="1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s-P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</a:t>
                      </a:r>
                      <a:endParaRPr lang="es-PE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P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371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671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12" y="338454"/>
            <a:ext cx="10515600" cy="849097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RESULTADOS DE RECLAMO - 2024</a:t>
            </a:r>
            <a:b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C1F8767-F3D1-FC7C-4DC5-DC221001C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181306"/>
              </p:ext>
            </p:extLst>
          </p:nvPr>
        </p:nvGraphicFramePr>
        <p:xfrm>
          <a:off x="1517649" y="1391061"/>
          <a:ext cx="8636001" cy="4381089"/>
        </p:xfrm>
        <a:graphic>
          <a:graphicData uri="http://schemas.openxmlformats.org/drawingml/2006/table">
            <a:tbl>
              <a:tblPr/>
              <a:tblGrid>
                <a:gridCol w="1292226">
                  <a:extLst>
                    <a:ext uri="{9D8B030D-6E8A-4147-A177-3AD203B41FA5}">
                      <a16:colId xmlns:a16="http://schemas.microsoft.com/office/drawing/2014/main" val="1830478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76110479"/>
                    </a:ext>
                  </a:extLst>
                </a:gridCol>
                <a:gridCol w="797200">
                  <a:extLst>
                    <a:ext uri="{9D8B030D-6E8A-4147-A177-3AD203B41FA5}">
                      <a16:colId xmlns:a16="http://schemas.microsoft.com/office/drawing/2014/main" val="2657161292"/>
                    </a:ext>
                  </a:extLst>
                </a:gridCol>
                <a:gridCol w="1126435">
                  <a:extLst>
                    <a:ext uri="{9D8B030D-6E8A-4147-A177-3AD203B41FA5}">
                      <a16:colId xmlns:a16="http://schemas.microsoft.com/office/drawing/2014/main" val="2571861186"/>
                    </a:ext>
                  </a:extLst>
                </a:gridCol>
                <a:gridCol w="1126435">
                  <a:extLst>
                    <a:ext uri="{9D8B030D-6E8A-4147-A177-3AD203B41FA5}">
                      <a16:colId xmlns:a16="http://schemas.microsoft.com/office/drawing/2014/main" val="3123508407"/>
                    </a:ext>
                  </a:extLst>
                </a:gridCol>
                <a:gridCol w="1126435">
                  <a:extLst>
                    <a:ext uri="{9D8B030D-6E8A-4147-A177-3AD203B41FA5}">
                      <a16:colId xmlns:a16="http://schemas.microsoft.com/office/drawing/2014/main" val="1761037411"/>
                    </a:ext>
                  </a:extLst>
                </a:gridCol>
                <a:gridCol w="1126435">
                  <a:extLst>
                    <a:ext uri="{9D8B030D-6E8A-4147-A177-3AD203B41FA5}">
                      <a16:colId xmlns:a16="http://schemas.microsoft.com/office/drawing/2014/main" val="4069715718"/>
                    </a:ext>
                  </a:extLst>
                </a:gridCol>
                <a:gridCol w="1126435">
                  <a:extLst>
                    <a:ext uri="{9D8B030D-6E8A-4147-A177-3AD203B41FA5}">
                      <a16:colId xmlns:a16="http://schemas.microsoft.com/office/drawing/2014/main" val="345460417"/>
                    </a:ext>
                  </a:extLst>
                </a:gridCol>
              </a:tblGrid>
              <a:tr h="28569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PE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PE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E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FEBRERO</a:t>
                      </a:r>
                      <a:endParaRPr lang="es-PE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952588"/>
                  </a:ext>
                </a:extLst>
              </a:tr>
              <a:tr h="356963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TOTAL</a:t>
                      </a:r>
                      <a:endParaRPr lang="es-PE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435629"/>
                  </a:ext>
                </a:extLst>
              </a:tr>
              <a:tr h="55394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Infundado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509009"/>
                  </a:ext>
                </a:extLst>
              </a:tr>
              <a:tr h="7045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Fundado / F.P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245537"/>
                  </a:ext>
                </a:extLst>
              </a:tr>
              <a:tr h="35696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Nulidad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495558"/>
                  </a:ext>
                </a:extLst>
              </a:tr>
              <a:tr h="7045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Improcedente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323000"/>
                  </a:ext>
                </a:extLst>
              </a:tr>
              <a:tr h="7045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Desistimiento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965810"/>
                  </a:ext>
                </a:extLst>
              </a:tr>
              <a:tr h="35696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Otros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8893"/>
                  </a:ext>
                </a:extLst>
              </a:tr>
              <a:tr h="35696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7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 19*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7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681814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5E16A48C-8B1C-F8A5-D904-505421AB5B23}"/>
              </a:ext>
            </a:extLst>
          </p:cNvPr>
          <p:cNvSpPr txBox="1"/>
          <p:nvPr/>
        </p:nvSpPr>
        <p:spPr>
          <a:xfrm>
            <a:off x="908049" y="6086475"/>
            <a:ext cx="863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(*) La DCP resolvió reclamos por un monto de S/ 10.9 millones.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33940854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12" y="338454"/>
            <a:ext cx="10515600" cy="849097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OPORTUNIDAD DE MEJORA</a:t>
            </a:r>
            <a:b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B31EA813-B8F6-C57D-8F96-0686A481EB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7856105"/>
              </p:ext>
            </p:extLst>
          </p:nvPr>
        </p:nvGraphicFramePr>
        <p:xfrm>
          <a:off x="567336" y="1187962"/>
          <a:ext cx="10239375" cy="3243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45F0F7F-91F6-E1DE-93C2-205FAFF61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72776"/>
              </p:ext>
            </p:extLst>
          </p:nvPr>
        </p:nvGraphicFramePr>
        <p:xfrm>
          <a:off x="4163023" y="4719380"/>
          <a:ext cx="3048000" cy="190131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94356">
                  <a:extLst>
                    <a:ext uri="{9D8B030D-6E8A-4147-A177-3AD203B41FA5}">
                      <a16:colId xmlns:a16="http://schemas.microsoft.com/office/drawing/2014/main" val="4122274139"/>
                    </a:ext>
                  </a:extLst>
                </a:gridCol>
                <a:gridCol w="876822">
                  <a:extLst>
                    <a:ext uri="{9D8B030D-6E8A-4147-A177-3AD203B41FA5}">
                      <a16:colId xmlns:a16="http://schemas.microsoft.com/office/drawing/2014/main" val="1382003201"/>
                    </a:ext>
                  </a:extLst>
                </a:gridCol>
                <a:gridCol w="876822">
                  <a:extLst>
                    <a:ext uri="{9D8B030D-6E8A-4147-A177-3AD203B41FA5}">
                      <a16:colId xmlns:a16="http://schemas.microsoft.com/office/drawing/2014/main" val="587845490"/>
                    </a:ext>
                  </a:extLst>
                </a:gridCol>
              </a:tblGrid>
              <a:tr h="1896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ESTADO</a:t>
                      </a:r>
                      <a:endParaRPr lang="es-PE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Total</a:t>
                      </a:r>
                      <a:endParaRPr lang="es-PE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Porcentaje</a:t>
                      </a:r>
                      <a:endParaRPr lang="es-PE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498888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Infundado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4740</a:t>
                      </a:r>
                      <a:endParaRPr lang="es-PE" sz="12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87.24%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27574320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Fundado/F.P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211</a:t>
                      </a:r>
                      <a:endParaRPr lang="es-PE" sz="12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3.88%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17111707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Nulidad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404</a:t>
                      </a:r>
                      <a:endParaRPr lang="es-PE" sz="12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7.44%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59762901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Improcedente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s-PE" sz="12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0.15%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319216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Desistimiento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PE" sz="12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0.07%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6137711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Otros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66</a:t>
                      </a:r>
                      <a:endParaRPr lang="es-PE" sz="12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1.21%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2302321"/>
                  </a:ext>
                </a:extLst>
              </a:tr>
              <a:tr h="210672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Total</a:t>
                      </a:r>
                      <a:endParaRPr lang="es-PE" sz="12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5433</a:t>
                      </a:r>
                      <a:endParaRPr lang="es-PE" sz="12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100.00%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1610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800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772892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DESAFIOS/PROPUESTAS 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24E81CA-E15C-F5EE-DC7A-2237FDCAE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187338"/>
              </p:ext>
            </p:extLst>
          </p:nvPr>
        </p:nvGraphicFramePr>
        <p:xfrm>
          <a:off x="338927" y="788611"/>
          <a:ext cx="11514146" cy="6648022"/>
        </p:xfrm>
        <a:graphic>
          <a:graphicData uri="http://schemas.openxmlformats.org/drawingml/2006/table">
            <a:tbl>
              <a:tblPr firstRow="1" firstCol="1" bandRow="1"/>
              <a:tblGrid>
                <a:gridCol w="3028182">
                  <a:extLst>
                    <a:ext uri="{9D8B030D-6E8A-4147-A177-3AD203B41FA5}">
                      <a16:colId xmlns:a16="http://schemas.microsoft.com/office/drawing/2014/main" val="4249395483"/>
                    </a:ext>
                  </a:extLst>
                </a:gridCol>
                <a:gridCol w="4460839">
                  <a:extLst>
                    <a:ext uri="{9D8B030D-6E8A-4147-A177-3AD203B41FA5}">
                      <a16:colId xmlns:a16="http://schemas.microsoft.com/office/drawing/2014/main" val="972088636"/>
                    </a:ext>
                  </a:extLst>
                </a:gridCol>
                <a:gridCol w="4025125">
                  <a:extLst>
                    <a:ext uri="{9D8B030D-6E8A-4147-A177-3AD203B41FA5}">
                      <a16:colId xmlns:a16="http://schemas.microsoft.com/office/drawing/2014/main" val="2022867340"/>
                    </a:ext>
                  </a:extLst>
                </a:gridCol>
              </a:tblGrid>
              <a:tr h="177965"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PROBLEMAS/DESAFIO.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SOLUCIONES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PROPUESTA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55915"/>
                  </a:ext>
                </a:extLst>
              </a:tr>
              <a:tr h="526783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INDICADOR TLT 6 MESES – META 98%. Revisión de ficha 2024 e Indicadores internos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Apoyo al proceso de admisibilidad (bandeja única)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Tiempo de atención: c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ontrolar admisibilidad de reclamo (30 días hábiles), bandejas CERO y apelaciones (15 días calendarios para pedir actuados). Excluir el OEA de la ficha si lo monitorea PNGCA.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051180"/>
                  </a:ext>
                </a:extLst>
              </a:tr>
              <a:tr h="526783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Propuesta de mejora DCCI RD y RTF. Registro, Criterios, Instructivos y otros. DCCII LC actualización y remisión de actuados. DCP retroalimentación INCA  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Noviembre: RTF 2022 y 2023, y actualización de LC 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Mejorar resultados y retroalimentación interna. 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781516"/>
                  </a:ext>
                </a:extLst>
              </a:tr>
              <a:tr h="701191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Mejora del proceso de recursos impugnatorios: apoyo admisibilidad de reclamos y apelaciones. MAPEO DE PROCESO Y CAPACITACIÓN.  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 setiembre a noviembre o hasta que terminen carga asignada (resultado).</a:t>
                      </a: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Tiempo de atención: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en todas las actividades de la admisibilidad de reclamos y apelaciones. </a:t>
                      </a:r>
                    </a:p>
                    <a:p>
                      <a:r>
                        <a:rPr lang="es-ES" sz="1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PROPUESTA: 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Diseño del flujo de información. Control de gestión de la información del proceso: Tania, Linda, Allison y Alberto. 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611657"/>
                  </a:ext>
                </a:extLst>
              </a:tr>
              <a:tr h="352374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BANDEJA CERO: Pasivo admisibilidad  reclamos y apelaciones (CHASKY/SIGERI).  </a:t>
                      </a:r>
                    </a:p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BANDEJA DE INGRESADOS 25 pendientes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Revisión diaria a cargo de las asistentes y maratones.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BANDEJA CERO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de admisibilidad (E-</a:t>
                      </a:r>
                      <a:r>
                        <a:rPr lang="es-ES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chaski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, SIGERI ingresado y no asignado y físico). </a:t>
                      </a: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Campaña de I TOP y SIGED </a:t>
                      </a:r>
                      <a:endParaRPr lang="es-PE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611654"/>
                  </a:ext>
                </a:extLst>
              </a:tr>
              <a:tr h="1050009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SIGERI. Casuística reportada en lámina 12 y por correo el 05.10. Principalmente no actualiza resultado del reclamo en el sistema de liquidaciones de cobranza. ITOP mensual para la actualización. Lima y provincia.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Se están generando inventario por mes y generando ITOP cuando no se evidencia el registro en el sistema. Cabe precisar que en los casos en que si hay registro el sistema adecua la información a códigos y estructura del módulo de LC lo que difiere del módulo SIGERI.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Se remitieron I TOP a INSI para registro.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DCCI, DCCII y DCP (en proceso enero – julio 2023).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478686"/>
                  </a:ext>
                </a:extLst>
              </a:tr>
              <a:tr h="352374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Flujo de reclamos (</a:t>
                      </a:r>
                      <a:r>
                        <a:rPr lang="es-PE" sz="12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Chasky</a:t>
                      </a:r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en vez de SIGED). Tiempo de atención en la etapa de Admisibilidad. 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Demora en la atención de los SIGERI, siendo que E-Chasky llega primero. 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Tiempo de atención</a:t>
                      </a:r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: 30 días hábiles.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48042"/>
                  </a:ext>
                </a:extLst>
              </a:tr>
              <a:tr h="804053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Actuados físicos: falta flujo, falta de remisión oportuna y derivación tardía de expedientes.  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Apoyo de Sara búsqueda de actuados y generar </a:t>
                      </a:r>
                      <a:r>
                        <a:rPr lang="es-PE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Chasky</a:t>
                      </a:r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(indicador).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- Divisiones de Fondo apoyan a la DAP en revisión de admisibilidad de reclamo y apelaciones.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r>
                        <a:rPr lang="es-419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- Se solicitó la implementación de alertas TLT 6 m. a fondo y DAP.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Coordinación con IAMC. </a:t>
                      </a:r>
                      <a:r>
                        <a:rPr lang="es-P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Conformar equipo y atender oportunamente. Permitirá mejorar el control de las áreas de origen y las áreas de reclamo fondo. 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71763"/>
                  </a:ext>
                </a:extLst>
              </a:tr>
              <a:tr h="526783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Admisibilidad: devolución por evaluación incorrecta y remisión de </a:t>
                      </a:r>
                      <a:r>
                        <a:rPr lang="es-PE" sz="12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exp</a:t>
                      </a:r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.  (RD </a:t>
                      </a:r>
                      <a:r>
                        <a:rPr lang="es-PE" sz="12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complem</a:t>
                      </a:r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) 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Coordinación previa con la DAP para reconfirmar la devolución del SIGERI, y remisión de correo electrónico para seguimiento y atención inmediata (límite del vencimiento). 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Segunda etapa: calidad</a:t>
                      </a:r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de la admisibilidad (0 retornos) y </a:t>
                      </a:r>
                      <a:r>
                        <a:rPr lang="es-P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oportunidad</a:t>
                      </a:r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(30 días hábiles).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274022"/>
                  </a:ext>
                </a:extLst>
              </a:tr>
              <a:tr h="526783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Reporte SIGERI: no registra seguimiento, estado, ni copia a partes involucradas (baja)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Mucha coordinación, comunicación y creación de registros manuales.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Pendiente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810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00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REQUERIMIENTO</a:t>
            </a:r>
            <a:r>
              <a:rPr lang="es-ES" sz="3600" b="1" dirty="0"/>
              <a:t>: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REPORTES DE GESTIÓN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6DFF1E-FD88-4ACA-93F2-AF985B10E39F}"/>
              </a:ext>
            </a:extLst>
          </p:cNvPr>
          <p:cNvSpPr txBox="1"/>
          <p:nvPr/>
        </p:nvSpPr>
        <p:spPr>
          <a:xfrm>
            <a:off x="56284" y="1001498"/>
            <a:ext cx="12040466" cy="5352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Reporte de expedientes TLT (125) OEA (3 meses) y fictas (2 meses). Reporte a Admisibilidad. Atención monitoreo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indicador (125d-2d) y pendiente el reporte indicador OEA (3m- 2d). 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Resultado de reclamos (infundado, fundado, nulos </a:t>
            </a:r>
            <a:r>
              <a:rPr lang="es-ES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etc</a:t>
            </a: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y montos. Pendiente vinculación modulo LC. </a:t>
            </a:r>
            <a:endParaRPr lang="es-PE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Resultados de apelaciones – RTF(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Dependencia /</a:t>
            </a:r>
            <a:r>
              <a:rPr lang="es-PE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/fecha de ingreso/ usuario/resolución vinculada/ </a:t>
            </a: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 /DAM vinculada/Liquidación de Cobranza - montos). 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Pendiente </a:t>
            </a: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informe (periodicidad).</a:t>
            </a:r>
            <a:endParaRPr lang="es-PE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SIGERI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Vinculaciones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actualiza resultado de reclamo en el módulo de LC, 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no registra seguimiento o trazabilidad, estado, ni copia a las partes involucradas cuando ha sido revertido, admisibilidad errada, baja de expedientes y no permite derivar a las áreas generadoras (control manual).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Reportes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inconsistencia entre reporte de consulta y el reporte manual.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Acumulación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no te permite acumular expedientes de reclamo.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Alertas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requerimientos pendiente cuando ya están atendidos y se solicita alerta de reporte de vencimiento de expedientes a cada resolutor.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Estandarización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carga de 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documentos digitalizados.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284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01" y="3287432"/>
            <a:ext cx="10515600" cy="636373"/>
          </a:xfrm>
        </p:spPr>
        <p:txBody>
          <a:bodyPr>
            <a:noAutofit/>
          </a:bodyPr>
          <a:lstStyle/>
          <a:p>
            <a:pPr algn="ctr"/>
            <a:r>
              <a:rPr lang="es-ES" sz="3800" b="1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endParaRPr lang="es-PE" sz="3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77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3A6AE8B7E4A2449C903AFD2456BD74" ma:contentTypeVersion="4" ma:contentTypeDescription="Crear nuevo documento." ma:contentTypeScope="" ma:versionID="ddec260070336827ee8c328f02272273">
  <xsd:schema xmlns:xsd="http://www.w3.org/2001/XMLSchema" xmlns:xs="http://www.w3.org/2001/XMLSchema" xmlns:p="http://schemas.microsoft.com/office/2006/metadata/properties" xmlns:ns2="c4795172-acc8-41fc-abdb-af5ed44f61af" targetNamespace="http://schemas.microsoft.com/office/2006/metadata/properties" ma:root="true" ma:fieldsID="590a657cbc5fcb450edb0ba38c295f5b" ns2:_="">
    <xsd:import namespace="c4795172-acc8-41fc-abdb-af5ed44f6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795172-acc8-41fc-abdb-af5ed44f6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B900CF-4F68-4156-A808-6F20C2A49B0E}"/>
</file>

<file path=customXml/itemProps2.xml><?xml version="1.0" encoding="utf-8"?>
<ds:datastoreItem xmlns:ds="http://schemas.openxmlformats.org/officeDocument/2006/customXml" ds:itemID="{6B0D26F6-400B-4B3C-A15C-C745120042D1}"/>
</file>

<file path=customXml/itemProps3.xml><?xml version="1.0" encoding="utf-8"?>
<ds:datastoreItem xmlns:ds="http://schemas.openxmlformats.org/officeDocument/2006/customXml" ds:itemID="{9F86063B-084C-49A6-8374-DB8F7A6F3F17}"/>
</file>

<file path=docProps/app.xml><?xml version="1.0" encoding="utf-8"?>
<Properties xmlns="http://schemas.openxmlformats.org/officeDocument/2006/extended-properties" xmlns:vt="http://schemas.openxmlformats.org/officeDocument/2006/docPropsVTypes">
  <TotalTime>19821</TotalTime>
  <Words>2417</Words>
  <Application>Microsoft Office PowerPoint</Application>
  <PresentationFormat>Panorámica</PresentationFormat>
  <Paragraphs>996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STOCK DE DOCUMENTOS– 2024</vt:lpstr>
      <vt:lpstr>PRODUCTIVIDAD RECLAMOS – 2023 - 2024</vt:lpstr>
      <vt:lpstr>PRODUCTIVIDAD ENERO 2024</vt:lpstr>
      <vt:lpstr>PROGRAMACIÓN Y PRODUCCIÓN–2023-2024</vt:lpstr>
      <vt:lpstr>PROGRAMACIÓN ENERO 2024</vt:lpstr>
      <vt:lpstr>PRODUCTIVIDAD POR SUPERVISIÓN</vt:lpstr>
      <vt:lpstr>PROYECTADO Y NO APLICADO </vt:lpstr>
      <vt:lpstr>PRODUCCIÓN POR RESOLUTOR-DCCI</vt:lpstr>
      <vt:lpstr>PRODUCCIÓN POR RESOLUTOR-DCCII</vt:lpstr>
      <vt:lpstr>PRODUCCIÓN POR RESOLUTOR-DCP</vt:lpstr>
      <vt:lpstr>STOCK VENCIDOS</vt:lpstr>
      <vt:lpstr>NO GESTIONABLE Y REINGRESADOS </vt:lpstr>
      <vt:lpstr>ITOP REPORTADOS–2023</vt:lpstr>
      <vt:lpstr>RESULTADOS DE RECLAMO - 2024 </vt:lpstr>
      <vt:lpstr>OPORTUNIDAD DE MEJORA </vt:lpstr>
      <vt:lpstr>DESAFIOS/PROPUESTAS </vt:lpstr>
      <vt:lpstr>REQUERIMIENTO: REPORTES DE GESTIÓN</vt:lpstr>
      <vt:lpstr>GRACIAS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Rondon Malaga Johanna Karelle</dc:creator>
  <cp:lastModifiedBy>Gonzales Estrada Sara Stephany</cp:lastModifiedBy>
  <cp:revision>447</cp:revision>
  <cp:lastPrinted>2023-01-10T23:55:26Z</cp:lastPrinted>
  <dcterms:created xsi:type="dcterms:W3CDTF">2022-11-02T14:55:38Z</dcterms:created>
  <dcterms:modified xsi:type="dcterms:W3CDTF">2024-02-29T23:19:59Z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0x010100863A6AE8B7E4A2449C903AFD2456BD74</vt:lpwstr>
  </property>
</Properties>
</file>