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entation.xml" ContentType="application/vnd.openxmlformats-officedocument.presentationml.presentation.main+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1.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charts/style2.xml" ContentType="application/vnd.ms-office.chartstyle+xml"/>
  <Override PartName="/ppt/charts/chart2.xml" ContentType="application/vnd.openxmlformats-officedocument.drawingml.chart+xml"/>
  <Override PartName="/ppt/theme/themeOverride1.xml" ContentType="application/vnd.openxmlformats-officedocument.themeOverride+xml"/>
  <Override PartName="/ppt/charts/colors1.xml" ContentType="application/vnd.ms-office.chartcolorstyle+xml"/>
  <Override PartName="/ppt/charts/style1.xml" ContentType="application/vnd.ms-office.chartstyle+xml"/>
  <Override PartName="/ppt/charts/chart1.xml" ContentType="application/vnd.openxmlformats-officedocument.drawingml.chart+xml"/>
  <Override PartName="/ppt/theme/themeOverride2.xml" ContentType="application/vnd.openxmlformats-officedocument.themeOverr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charts/colors2.xml" ContentType="application/vnd.ms-office.chartcolorstyl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5744" r:id="rId2"/>
    <p:sldId id="5762" r:id="rId3"/>
    <p:sldId id="5746" r:id="rId4"/>
    <p:sldId id="5782" r:id="rId5"/>
    <p:sldId id="5761" r:id="rId6"/>
    <p:sldId id="5777" r:id="rId7"/>
    <p:sldId id="5778" r:id="rId8"/>
    <p:sldId id="5787" r:id="rId9"/>
    <p:sldId id="5785" r:id="rId10"/>
    <p:sldId id="5786" r:id="rId11"/>
    <p:sldId id="5764" r:id="rId12"/>
    <p:sldId id="5774" r:id="rId13"/>
    <p:sldId id="5780" r:id="rId14"/>
    <p:sldId id="5788" r:id="rId15"/>
    <p:sldId id="5790" r:id="rId16"/>
    <p:sldId id="5793" r:id="rId17"/>
    <p:sldId id="5789" r:id="rId18"/>
    <p:sldId id="5791" r:id="rId19"/>
    <p:sldId id="5784" r:id="rId20"/>
    <p:sldId id="5792" r:id="rId21"/>
    <p:sldId id="5767" r:id="rId22"/>
    <p:sldId id="5752" r:id="rId23"/>
    <p:sldId id="5757" r:id="rId24"/>
  </p:sldIdLst>
  <p:sldSz cx="12192000" cy="6858000"/>
  <p:notesSz cx="6797675" cy="9926638"/>
  <p:defaultText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FF99FF"/>
    <a:srgbClr val="FF66FF"/>
    <a:srgbClr val="2FBF85"/>
    <a:srgbClr val="99CC00"/>
    <a:srgbClr val="FFCCCC"/>
    <a:srgbClr val="99FFCC"/>
    <a:srgbClr val="586987"/>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Estilo claro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1E171933-4619-4E11-9A3F-F7608DF75F80}" styleName="Estilo medio 1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Estilo medio 4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327F97BB-C833-4FB7-BDE5-3F7075034690}" styleName="Estilo temático 2 - Énfasis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Estilo temático 2 - Énfasis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Estilo temático 2 - Énfasis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Estilo temático 2 - Énfasis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84E427A-3D55-4303-BF80-6455036E1DE7}" styleName="Estilo temático 1 - Énfasis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C4B1156A-380E-4F78-BDF5-A606A8083BF9}" styleName="Estilo medio 4 - Énfasis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Estilo medio 4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Estilo temático 1 - Énfasis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D083AE6-46FA-4A59-8FB0-9F97EB10719F}" styleName="Estilo claro 3 - Acento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E8B1032C-EA38-4F05-BA0D-38AFFFC7BED3}" styleName="Estilo claro 3 - Acento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0E3FDE45-AF77-4B5C-9715-49D594BDF05E}" styleName="Estilo claro 1 - Acento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E929F9F4-4A8F-4326-A1B4-22849713DDAB}" styleName="Estilo oscuro 1 - Énfasis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Estilo oscuro 1 - Énfasis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BC89EF96-8CEA-46FF-86C4-4CE0E7609802}" styleName="Estilo claro 3 - Acento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7" d="100"/>
          <a:sy n="67" d="100"/>
        </p:scale>
        <p:origin x="644"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ustomXml" Target="../customXml/item2.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openxmlformats.org/officeDocument/2006/relationships/customXml" Target="../customXml/item1.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r>
              <a:rPr lang="es-PE" b="1"/>
              <a:t>Resultados de Reclamos de Aduanas</a:t>
            </a:r>
          </a:p>
          <a:p>
            <a:pPr>
              <a:defRPr b="1"/>
            </a:pPr>
            <a:r>
              <a:rPr lang="es-PE" b="1"/>
              <a:t>Ene-Dic 2023</a:t>
            </a:r>
          </a:p>
        </c:rich>
      </c:tx>
      <c:layout>
        <c:manualLayout>
          <c:xMode val="edge"/>
          <c:yMode val="edge"/>
          <c:x val="0.35653306494582915"/>
          <c:y val="3.7888351669385606E-3"/>
        </c:manualLayout>
      </c:layout>
      <c:overlay val="0"/>
      <c:spPr>
        <a:noFill/>
        <a:ln>
          <a:noFill/>
        </a:ln>
        <a:effectLst/>
      </c:spPr>
      <c:txPr>
        <a:bodyPr rot="0" spcFirstLastPara="1" vertOverflow="ellipsis" vert="horz" wrap="square" anchor="ctr" anchorCtr="1"/>
        <a:lstStyle/>
        <a:p>
          <a:pPr>
            <a:defRPr sz="1680" b="1" i="0" u="none" strike="noStrike" kern="1200" spc="0" baseline="0">
              <a:solidFill>
                <a:schemeClr val="dk1"/>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2">
                <a:lumMod val="60000"/>
                <a:lumOff val="40000"/>
              </a:schemeClr>
            </a:solidFill>
            <a:ln>
              <a:noFill/>
            </a:ln>
            <a:effectLst/>
          </c:spPr>
          <c:invertIfNegative val="0"/>
          <c:dPt>
            <c:idx val="6"/>
            <c:invertIfNegative val="0"/>
            <c:bubble3D val="0"/>
            <c:spPr>
              <a:gradFill flip="none" rotWithShape="1">
                <a:gsLst>
                  <a:gs pos="0">
                    <a:schemeClr val="accent6">
                      <a:lumMod val="20000"/>
                      <a:lumOff val="80000"/>
                      <a:shade val="30000"/>
                      <a:satMod val="115000"/>
                    </a:schemeClr>
                  </a:gs>
                  <a:gs pos="50000">
                    <a:schemeClr val="accent6">
                      <a:lumMod val="20000"/>
                      <a:lumOff val="80000"/>
                      <a:shade val="67500"/>
                      <a:satMod val="115000"/>
                    </a:schemeClr>
                  </a:gs>
                  <a:gs pos="100000">
                    <a:schemeClr val="accent6">
                      <a:lumMod val="20000"/>
                      <a:lumOff val="80000"/>
                      <a:shade val="100000"/>
                      <a:satMod val="115000"/>
                    </a:schemeClr>
                  </a:gs>
                </a:gsLst>
                <a:path path="circle">
                  <a:fillToRect t="100000" r="100000"/>
                </a:path>
                <a:tileRect l="-100000" b="-100000"/>
              </a:gradFill>
              <a:ln w="6350" cap="flat" cmpd="sng" algn="ctr">
                <a:solidFill>
                  <a:schemeClr val="accent6"/>
                </a:solidFill>
                <a:prstDash val="solid"/>
                <a:miter lim="800000"/>
              </a:ln>
              <a:effectLst/>
            </c:spPr>
            <c:extLst>
              <c:ext xmlns:c16="http://schemas.microsoft.com/office/drawing/2014/chart" uri="{C3380CC4-5D6E-409C-BE32-E72D297353CC}">
                <c16:uniqueId val="{00000001-3CCD-453E-ABA9-FF0DB7543258}"/>
              </c:ext>
            </c:extLst>
          </c:dPt>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'RECLAMOS-RTF'!$B$5:$B$11</c:f>
              <c:numCache>
                <c:formatCode>General</c:formatCode>
                <c:ptCount val="7"/>
                <c:pt idx="0">
                  <c:v>4740</c:v>
                </c:pt>
                <c:pt idx="1">
                  <c:v>211</c:v>
                </c:pt>
                <c:pt idx="2">
                  <c:v>404</c:v>
                </c:pt>
                <c:pt idx="3">
                  <c:v>8</c:v>
                </c:pt>
                <c:pt idx="4">
                  <c:v>4</c:v>
                </c:pt>
                <c:pt idx="5">
                  <c:v>66</c:v>
                </c:pt>
                <c:pt idx="6">
                  <c:v>5433</c:v>
                </c:pt>
              </c:numCache>
            </c:numRef>
          </c:val>
          <c:extLst>
            <c:ext xmlns:c16="http://schemas.microsoft.com/office/drawing/2014/chart" uri="{C3380CC4-5D6E-409C-BE32-E72D297353CC}">
              <c16:uniqueId val="{00000002-3CCD-453E-ABA9-FF0DB7543258}"/>
            </c:ext>
          </c:extLst>
        </c:ser>
        <c:ser>
          <c:idx val="1"/>
          <c:order val="1"/>
          <c:spPr>
            <a:solidFill>
              <a:schemeClr val="accent2"/>
            </a:solidFill>
            <a:ln>
              <a:noFill/>
            </a:ln>
            <a:effectLst/>
          </c:spPr>
          <c:invertIfNegative val="0"/>
          <c:cat>
            <c:strRef>
              <c:f>'RECLAMOS-RTF'!$A$5:$A$11</c:f>
              <c:strCache>
                <c:ptCount val="7"/>
                <c:pt idx="0">
                  <c:v>Infundado</c:v>
                </c:pt>
                <c:pt idx="1">
                  <c:v>Fundado/F.P</c:v>
                </c:pt>
                <c:pt idx="2">
                  <c:v>Nulidad</c:v>
                </c:pt>
                <c:pt idx="3">
                  <c:v>Improcedente</c:v>
                </c:pt>
                <c:pt idx="4">
                  <c:v>Desistimiento</c:v>
                </c:pt>
                <c:pt idx="5">
                  <c:v>Otros</c:v>
                </c:pt>
                <c:pt idx="6">
                  <c:v>Total</c:v>
                </c:pt>
              </c:strCache>
            </c:strRef>
          </c:cat>
          <c:val>
            <c:numRef>
              <c:f>'RECLAMOS-RTF'!$C$5:$C$11</c:f>
              <c:numCache>
                <c:formatCode>0.00%</c:formatCode>
                <c:ptCount val="7"/>
                <c:pt idx="0">
                  <c:v>0.87244616234124794</c:v>
                </c:pt>
                <c:pt idx="1">
                  <c:v>3.8836738450211669E-2</c:v>
                </c:pt>
                <c:pt idx="2">
                  <c:v>7.4360390207988222E-2</c:v>
                </c:pt>
                <c:pt idx="3">
                  <c:v>1.4724829744156083E-3</c:v>
                </c:pt>
                <c:pt idx="4">
                  <c:v>7.3624148720780416E-4</c:v>
                </c:pt>
                <c:pt idx="5">
                  <c:v>1.2147984538928768E-2</c:v>
                </c:pt>
                <c:pt idx="6">
                  <c:v>1</c:v>
                </c:pt>
              </c:numCache>
            </c:numRef>
          </c:val>
          <c:extLst>
            <c:ext xmlns:c16="http://schemas.microsoft.com/office/drawing/2014/chart" uri="{C3380CC4-5D6E-409C-BE32-E72D297353CC}">
              <c16:uniqueId val="{00000003-3CCD-453E-ABA9-FF0DB7543258}"/>
            </c:ext>
          </c:extLst>
        </c:ser>
        <c:dLbls>
          <c:showLegendKey val="0"/>
          <c:showVal val="0"/>
          <c:showCatName val="0"/>
          <c:showSerName val="0"/>
          <c:showPercent val="0"/>
          <c:showBubbleSize val="0"/>
        </c:dLbls>
        <c:gapWidth val="150"/>
        <c:axId val="1422598640"/>
        <c:axId val="1422580752"/>
      </c:barChart>
      <c:catAx>
        <c:axId val="142259864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80752"/>
        <c:crosses val="autoZero"/>
        <c:auto val="1"/>
        <c:lblAlgn val="ctr"/>
        <c:lblOffset val="100"/>
        <c:noMultiLvlLbl val="0"/>
      </c:catAx>
      <c:valAx>
        <c:axId val="1422580752"/>
        <c:scaling>
          <c:orientation val="minMax"/>
        </c:scaling>
        <c:delete val="0"/>
        <c:axPos val="l"/>
        <c:majorGridlines>
          <c:spPr>
            <a:ln w="6350" cap="flat" cmpd="sng" algn="ctr">
              <a:solidFill>
                <a:schemeClr val="accent2"/>
              </a:solidFill>
              <a:prstDash val="solid"/>
              <a:miter lim="800000"/>
            </a:ln>
            <a:effectLst/>
          </c:spPr>
        </c:majorGridlines>
        <c:title>
          <c:tx>
            <c:rich>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r>
                  <a:rPr lang="es-PE"/>
                  <a:t>TOTALES</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dk1"/>
                </a:solidFill>
                <a:latin typeface="+mn-lt"/>
                <a:ea typeface="+mn-ea"/>
                <a:cs typeface="+mn-cs"/>
              </a:defRPr>
            </a:pPr>
            <a:endParaRPr lang="es-PE"/>
          </a:p>
        </c:txPr>
        <c:crossAx val="1422598640"/>
        <c:crosses val="autoZero"/>
        <c:crossBetween val="between"/>
      </c:valAx>
      <c:dTable>
        <c:showHorzBorder val="1"/>
        <c:showVertBorder val="1"/>
        <c:showOutline val="1"/>
        <c:showKeys val="1"/>
        <c:spPr>
          <a:noFill/>
          <a:ln w="6350" cap="flat" cmpd="sng" algn="ctr">
            <a:solidFill>
              <a:srgbClr val="ED7D31"/>
            </a:solidFill>
            <a:prstDash val="solid"/>
            <a:miter lim="800000"/>
          </a:ln>
          <a:effectLst/>
        </c:spPr>
        <c:txPr>
          <a:bodyPr rot="0" spcFirstLastPara="1" vertOverflow="ellipsis" vert="horz" wrap="square" anchor="ctr" anchorCtr="1"/>
          <a:lstStyle/>
          <a:p>
            <a:pPr rtl="0">
              <a:defRPr sz="14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2"/>
      </a:solidFill>
      <a:prstDash val="solid"/>
      <a:miter lim="800000"/>
    </a:ln>
    <a:effectLst/>
  </c:spPr>
  <c:txPr>
    <a:bodyPr/>
    <a:lstStyle/>
    <a:p>
      <a:pPr>
        <a:defRPr sz="1400">
          <a:solidFill>
            <a:schemeClr val="dk1"/>
          </a:solidFill>
          <a:latin typeface="+mn-lt"/>
          <a:ea typeface="+mn-ea"/>
          <a:cs typeface="+mn-cs"/>
        </a:defRPr>
      </a:pPr>
      <a:endParaRPr lang="es-PE"/>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r>
              <a:rPr lang="es-PE"/>
              <a:t>Resultados de Reclamos de Aduanas</a:t>
            </a:r>
          </a:p>
          <a:p>
            <a:pPr>
              <a:defRPr/>
            </a:pPr>
            <a:r>
              <a:rPr lang="es-PE"/>
              <a:t>Ene-Feb 2024</a:t>
            </a:r>
          </a:p>
        </c:rich>
      </c:tx>
      <c:overlay val="0"/>
      <c:spPr>
        <a:noFill/>
        <a:ln>
          <a:noFill/>
        </a:ln>
        <a:effectLst/>
      </c:spPr>
      <c:txPr>
        <a:bodyPr rot="0" spcFirstLastPara="1" vertOverflow="ellipsis" vert="horz" wrap="square" anchor="ctr" anchorCtr="1"/>
        <a:lstStyle/>
        <a:p>
          <a:pPr>
            <a:defRPr sz="1440" b="1" i="0" u="none" strike="noStrike" kern="1200" spc="0" baseline="0">
              <a:solidFill>
                <a:sysClr val="windowText" lastClr="000000"/>
              </a:solidFill>
              <a:latin typeface="+mn-lt"/>
              <a:ea typeface="+mn-ea"/>
              <a:cs typeface="+mn-cs"/>
            </a:defRPr>
          </a:pPr>
          <a:endParaRPr lang="es-PE"/>
        </a:p>
      </c:txPr>
    </c:title>
    <c:autoTitleDeleted val="0"/>
    <c:plotArea>
      <c:layout/>
      <c:barChart>
        <c:barDir val="col"/>
        <c:grouping val="clustered"/>
        <c:varyColors val="0"/>
        <c:ser>
          <c:idx val="0"/>
          <c:order val="0"/>
          <c:spPr>
            <a:solidFill>
              <a:schemeClr val="accent6"/>
            </a:solidFill>
            <a:ln w="19050" cap="flat" cmpd="sng" algn="ctr">
              <a:solidFill>
                <a:schemeClr val="lt1"/>
              </a:solidFill>
              <a:prstDash val="solid"/>
              <a:miter lim="800000"/>
            </a:ln>
            <a:effectLst/>
          </c:spPr>
          <c:invertIfNegative val="0"/>
          <c:cat>
            <c:strRef>
              <c:f>RESULTADOS!$C$22:$C$28</c:f>
              <c:strCache>
                <c:ptCount val="7"/>
                <c:pt idx="0">
                  <c:v>Infundado</c:v>
                </c:pt>
                <c:pt idx="1">
                  <c:v>Fundado / F.P</c:v>
                </c:pt>
                <c:pt idx="2">
                  <c:v>Nulidad</c:v>
                </c:pt>
                <c:pt idx="3">
                  <c:v>Improcedente</c:v>
                </c:pt>
                <c:pt idx="4">
                  <c:v>Desistimiento </c:v>
                </c:pt>
                <c:pt idx="5">
                  <c:v>Otros </c:v>
                </c:pt>
                <c:pt idx="6">
                  <c:v>TOTAL</c:v>
                </c:pt>
              </c:strCache>
            </c:strRef>
          </c:cat>
          <c:val>
            <c:numRef>
              <c:f>RESULTADOS!$D$22:$D$28</c:f>
              <c:numCache>
                <c:formatCode>General</c:formatCode>
                <c:ptCount val="7"/>
                <c:pt idx="0">
                  <c:v>675</c:v>
                </c:pt>
                <c:pt idx="1">
                  <c:v>25</c:v>
                </c:pt>
                <c:pt idx="2">
                  <c:v>30</c:v>
                </c:pt>
                <c:pt idx="3">
                  <c:v>0</c:v>
                </c:pt>
                <c:pt idx="4">
                  <c:v>1</c:v>
                </c:pt>
                <c:pt idx="5">
                  <c:v>16</c:v>
                </c:pt>
                <c:pt idx="6">
                  <c:v>747</c:v>
                </c:pt>
              </c:numCache>
            </c:numRef>
          </c:val>
          <c:extLst>
            <c:ext xmlns:c16="http://schemas.microsoft.com/office/drawing/2014/chart" uri="{C3380CC4-5D6E-409C-BE32-E72D297353CC}">
              <c16:uniqueId val="{00000000-EA2D-4E71-A7B5-FF1A9872F383}"/>
            </c:ext>
          </c:extLst>
        </c:ser>
        <c:ser>
          <c:idx val="1"/>
          <c:order val="1"/>
          <c:spPr>
            <a:solidFill>
              <a:schemeClr val="accent5"/>
            </a:solidFill>
            <a:ln>
              <a:noFill/>
            </a:ln>
            <a:effectLst/>
          </c:spPr>
          <c:invertIfNegative val="0"/>
          <c:cat>
            <c:strRef>
              <c:f>RESULTADOS!$C$22:$C$28</c:f>
              <c:strCache>
                <c:ptCount val="7"/>
                <c:pt idx="0">
                  <c:v>Infundado</c:v>
                </c:pt>
                <c:pt idx="1">
                  <c:v>Fundado / F.P</c:v>
                </c:pt>
                <c:pt idx="2">
                  <c:v>Nulidad</c:v>
                </c:pt>
                <c:pt idx="3">
                  <c:v>Improcedente</c:v>
                </c:pt>
                <c:pt idx="4">
                  <c:v>Desistimiento </c:v>
                </c:pt>
                <c:pt idx="5">
                  <c:v>Otros </c:v>
                </c:pt>
                <c:pt idx="6">
                  <c:v>TOTAL</c:v>
                </c:pt>
              </c:strCache>
            </c:strRef>
          </c:cat>
          <c:val>
            <c:numRef>
              <c:f>RESULTADOS!$E$22:$E$28</c:f>
              <c:numCache>
                <c:formatCode>0.00%</c:formatCode>
                <c:ptCount val="7"/>
                <c:pt idx="0">
                  <c:v>0.90361445783132532</c:v>
                </c:pt>
                <c:pt idx="1">
                  <c:v>3.3467202141900937E-2</c:v>
                </c:pt>
                <c:pt idx="2">
                  <c:v>4.0160642570281124E-2</c:v>
                </c:pt>
                <c:pt idx="3">
                  <c:v>0</c:v>
                </c:pt>
                <c:pt idx="4">
                  <c:v>1.3386880856760374E-3</c:v>
                </c:pt>
                <c:pt idx="5">
                  <c:v>2.1419009370816599E-2</c:v>
                </c:pt>
                <c:pt idx="6">
                  <c:v>1</c:v>
                </c:pt>
              </c:numCache>
            </c:numRef>
          </c:val>
          <c:extLst>
            <c:ext xmlns:c16="http://schemas.microsoft.com/office/drawing/2014/chart" uri="{C3380CC4-5D6E-409C-BE32-E72D297353CC}">
              <c16:uniqueId val="{00000001-EA2D-4E71-A7B5-FF1A9872F383}"/>
            </c:ext>
          </c:extLst>
        </c:ser>
        <c:dLbls>
          <c:showLegendKey val="0"/>
          <c:showVal val="0"/>
          <c:showCatName val="0"/>
          <c:showSerName val="0"/>
          <c:showPercent val="0"/>
          <c:showBubbleSize val="0"/>
        </c:dLbls>
        <c:gapWidth val="150"/>
        <c:axId val="592604288"/>
        <c:axId val="592581824"/>
      </c:barChart>
      <c:catAx>
        <c:axId val="5926042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s-PE"/>
          </a:p>
        </c:txPr>
        <c:crossAx val="592581824"/>
        <c:crosses val="autoZero"/>
        <c:auto val="1"/>
        <c:lblAlgn val="ctr"/>
        <c:lblOffset val="100"/>
        <c:noMultiLvlLbl val="0"/>
      </c:catAx>
      <c:valAx>
        <c:axId val="592581824"/>
        <c:scaling>
          <c:orientation val="minMax"/>
        </c:scaling>
        <c:delete val="0"/>
        <c:axPos val="l"/>
        <c:majorGridlines>
          <c:spPr>
            <a:ln w="6350" cap="flat" cmpd="sng" algn="ctr">
              <a:solidFill>
                <a:schemeClr val="accent6"/>
              </a:solidFill>
              <a:prstDash val="solid"/>
              <a:miter lim="800000"/>
            </a:ln>
            <a:effectLst/>
          </c:spPr>
        </c:majorGridlines>
        <c:title>
          <c:tx>
            <c:rich>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r>
                  <a:rPr lang="es-PE" b="0"/>
                  <a:t>TOTALES</a:t>
                </a:r>
              </a:p>
            </c:rich>
          </c:tx>
          <c:overlay val="0"/>
          <c:spPr>
            <a:noFill/>
            <a:ln>
              <a:noFill/>
            </a:ln>
            <a:effectLst/>
          </c:spPr>
          <c:txPr>
            <a:bodyPr rot="-5400000" spcFirstLastPara="1" vertOverflow="ellipsis" vert="horz" wrap="square" anchor="ctr" anchorCtr="1"/>
            <a:lstStyle/>
            <a:p>
              <a:pPr>
                <a:defRPr sz="1200" b="0" i="0" u="none" strike="noStrike" kern="1200" baseline="0">
                  <a:solidFill>
                    <a:sysClr val="windowText" lastClr="000000"/>
                  </a:solidFill>
                  <a:latin typeface="+mn-lt"/>
                  <a:ea typeface="+mn-ea"/>
                  <a:cs typeface="+mn-cs"/>
                </a:defRPr>
              </a:pPr>
              <a:endParaRPr lang="es-P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s-PE"/>
          </a:p>
        </c:txPr>
        <c:crossAx val="592604288"/>
        <c:crosses val="autoZero"/>
        <c:crossBetween val="between"/>
      </c:valAx>
      <c:dTable>
        <c:showHorzBorder val="1"/>
        <c:showVertBorder val="1"/>
        <c:showOutline val="1"/>
        <c:showKeys val="1"/>
        <c:spPr>
          <a:noFill/>
          <a:ln w="6350" cap="flat" cmpd="sng" algn="ctr">
            <a:solidFill>
              <a:schemeClr val="accent6"/>
            </a:solidFill>
            <a:prstDash val="solid"/>
            <a:miter lim="800000"/>
          </a:ln>
          <a:effectLst/>
        </c:spPr>
        <c:txPr>
          <a:bodyPr rot="0" spcFirstLastPara="1" vertOverflow="ellipsis" vert="horz" wrap="square" anchor="ctr" anchorCtr="1"/>
          <a:lstStyle/>
          <a:p>
            <a:pPr rtl="0">
              <a:defRPr sz="1200" b="1" i="0" u="none" strike="noStrike" kern="1200" baseline="0">
                <a:solidFill>
                  <a:sysClr val="windowText" lastClr="000000"/>
                </a:solidFill>
                <a:latin typeface="+mn-lt"/>
                <a:ea typeface="+mn-ea"/>
                <a:cs typeface="+mn-cs"/>
              </a:defRPr>
            </a:pPr>
            <a:endParaRPr lang="es-PE"/>
          </a:p>
        </c:txPr>
      </c:dTable>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lt1"/>
    </a:solidFill>
    <a:ln w="12700" cap="flat" cmpd="sng" algn="ctr">
      <a:solidFill>
        <a:schemeClr val="accent6"/>
      </a:solidFill>
      <a:prstDash val="solid"/>
      <a:miter lim="800000"/>
    </a:ln>
    <a:effectLst/>
  </c:spPr>
  <c:txPr>
    <a:bodyPr/>
    <a:lstStyle/>
    <a:p>
      <a:pPr>
        <a:defRPr sz="1200" b="1">
          <a:solidFill>
            <a:sysClr val="windowText" lastClr="000000"/>
          </a:solidFill>
          <a:latin typeface="+mn-lt"/>
          <a:ea typeface="+mn-ea"/>
          <a:cs typeface="+mn-cs"/>
        </a:defRPr>
      </a:pPr>
      <a:endParaRPr lang="es-PE"/>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s-419"/>
          </a:p>
        </p:txBody>
      </p:sp>
      <p:sp>
        <p:nvSpPr>
          <p:cNvPr id="3" name="Marcador de fecha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404CA8B4-C47F-4E03-8EAA-AEC2E933409F}" type="datetimeFigureOut">
              <a:rPr lang="es-419" smtClean="0"/>
              <a:t>6/3/2024</a:t>
            </a:fld>
            <a:endParaRPr lang="es-419"/>
          </a:p>
        </p:txBody>
      </p:sp>
      <p:sp>
        <p:nvSpPr>
          <p:cNvPr id="4" name="Marcador de imagen de diapositiva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s-419"/>
          </a:p>
        </p:txBody>
      </p:sp>
      <p:sp>
        <p:nvSpPr>
          <p:cNvPr id="5" name="Marcador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6" name="Marcador de pie de página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s-419"/>
          </a:p>
        </p:txBody>
      </p:sp>
      <p:sp>
        <p:nvSpPr>
          <p:cNvPr id="7" name="Marcador de número de diapositiva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E516A85C-24F3-4956-8CAF-0400FEF1FA9B}" type="slidenum">
              <a:rPr lang="es-419" smtClean="0"/>
              <a:t>‹Nº›</a:t>
            </a:fld>
            <a:endParaRPr lang="es-419"/>
          </a:p>
        </p:txBody>
      </p:sp>
    </p:spTree>
    <p:extLst>
      <p:ext uri="{BB962C8B-B14F-4D97-AF65-F5344CB8AC3E}">
        <p14:creationId xmlns:p14="http://schemas.microsoft.com/office/powerpoint/2010/main" val="3198014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Tree>
    <p:extLst>
      <p:ext uri="{BB962C8B-B14F-4D97-AF65-F5344CB8AC3E}">
        <p14:creationId xmlns:p14="http://schemas.microsoft.com/office/powerpoint/2010/main" val="5380187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4637427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5720458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8608844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845993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998175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674116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9325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7969637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5171086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1002357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4392610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8160639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7836410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7288594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3129722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163905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24722469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17524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413782157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13536721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3059744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PE"/>
          </a:p>
        </p:txBody>
      </p:sp>
      <p:sp>
        <p:nvSpPr>
          <p:cNvPr id="4" name="Marcador de encabezado 3">
            <a:extLst>
              <a:ext uri="{FF2B5EF4-FFF2-40B4-BE49-F238E27FC236}">
                <a16:creationId xmlns:a16="http://schemas.microsoft.com/office/drawing/2014/main" id="{1F0EBD03-D921-43CE-8153-F6D6722FCB00}"/>
              </a:ext>
            </a:extLst>
          </p:cNvPr>
          <p:cNvSpPr>
            <a:spLocks noGrp="1"/>
          </p:cNvSpPr>
          <p:nvPr>
            <p:ph type="hdr" sz="quarter"/>
          </p:nvPr>
        </p:nvSpPr>
        <p:spPr/>
        <p:txBody>
          <a:bodyPr/>
          <a:lstStyle/>
          <a:p>
            <a:endParaRPr lang="es-PE"/>
          </a:p>
        </p:txBody>
      </p:sp>
    </p:spTree>
    <p:extLst>
      <p:ext uri="{BB962C8B-B14F-4D97-AF65-F5344CB8AC3E}">
        <p14:creationId xmlns:p14="http://schemas.microsoft.com/office/powerpoint/2010/main" val="5071775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DA2E7F3-3903-4E1D-8084-0DC05C8375E7}"/>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209DFAA0-BBEA-496B-B217-FE1EC3FC6F6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54098F06-736E-46C7-AC7E-A0DD35FB243F}"/>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481D53AD-021E-420D-A45A-5DE972D76032}"/>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7DC73AE-0F49-420F-9711-F965FF344AE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296786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3DCD202-F60F-418F-B356-03CA7D8770D6}"/>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0177AA28-DEE3-4FC1-BAE1-E6AFA62A67F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CE078544-1F2E-444D-B8E8-0B5B534EB17A}"/>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9D1F83FC-A60B-49E6-9E1C-9B1D745BCAC6}"/>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24E286A2-7561-4B7D-870F-6CB2A62559D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149384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A48F86-2D3F-45D5-85FF-32D590E8B45F}"/>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94BDD57E-75F5-4414-AE43-24ACDFE27C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EF39EB2-DC1A-4B76-A607-540E2AFB0DA1}"/>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5C659A66-CE9C-4AE2-A43D-391CFF4BB353}"/>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78C4C05F-D418-4BB8-A63F-FADB2BE6219A}"/>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146092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5F591-1D41-441E-AA95-DA0B740C62D5}"/>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5084C426-4ABF-47B5-96A8-7DD4863F6E98}"/>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contenido 3">
            <a:extLst>
              <a:ext uri="{FF2B5EF4-FFF2-40B4-BE49-F238E27FC236}">
                <a16:creationId xmlns:a16="http://schemas.microsoft.com/office/drawing/2014/main" id="{9D581556-4EC1-4E5D-AD7B-E4330322EABE}"/>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fecha 4">
            <a:extLst>
              <a:ext uri="{FF2B5EF4-FFF2-40B4-BE49-F238E27FC236}">
                <a16:creationId xmlns:a16="http://schemas.microsoft.com/office/drawing/2014/main" id="{D8E6A027-3C79-48A2-86B5-F99135D1CB3B}"/>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6" name="Marcador de pie de página 5">
            <a:extLst>
              <a:ext uri="{FF2B5EF4-FFF2-40B4-BE49-F238E27FC236}">
                <a16:creationId xmlns:a16="http://schemas.microsoft.com/office/drawing/2014/main" id="{3A8F9C01-F48E-4887-981C-40097F8B77FF}"/>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CE930058-3E70-4688-9D37-132281FE19F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785347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440B37-FCF7-4B55-85DF-F62FF1FE84AE}"/>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AC1896B5-9EE8-47E4-91A2-0128335D29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663FB78-B243-4B5C-A4B0-899B095F2C1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5" name="Marcador de texto 4">
            <a:extLst>
              <a:ext uri="{FF2B5EF4-FFF2-40B4-BE49-F238E27FC236}">
                <a16:creationId xmlns:a16="http://schemas.microsoft.com/office/drawing/2014/main" id="{BC4E062D-1FBD-4740-9591-FF15F6C44B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D08BE8A-A2D5-4B6E-9DAB-EB6E6AC7A1F5}"/>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7" name="Marcador de fecha 6">
            <a:extLst>
              <a:ext uri="{FF2B5EF4-FFF2-40B4-BE49-F238E27FC236}">
                <a16:creationId xmlns:a16="http://schemas.microsoft.com/office/drawing/2014/main" id="{F20B8163-EA4D-4292-B02E-3B806C4D0FC6}"/>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8" name="Marcador de pie de página 7">
            <a:extLst>
              <a:ext uri="{FF2B5EF4-FFF2-40B4-BE49-F238E27FC236}">
                <a16:creationId xmlns:a16="http://schemas.microsoft.com/office/drawing/2014/main" id="{AC7E4B2C-AF8F-4065-8F2C-A533637C5C20}"/>
              </a:ext>
            </a:extLst>
          </p:cNvPr>
          <p:cNvSpPr>
            <a:spLocks noGrp="1"/>
          </p:cNvSpPr>
          <p:nvPr>
            <p:ph type="ftr" sz="quarter" idx="11"/>
          </p:nvPr>
        </p:nvSpPr>
        <p:spPr/>
        <p:txBody>
          <a:bodyPr/>
          <a:lstStyle/>
          <a:p>
            <a:endParaRPr lang="es-419"/>
          </a:p>
        </p:txBody>
      </p:sp>
      <p:sp>
        <p:nvSpPr>
          <p:cNvPr id="9" name="Marcador de número de diapositiva 8">
            <a:extLst>
              <a:ext uri="{FF2B5EF4-FFF2-40B4-BE49-F238E27FC236}">
                <a16:creationId xmlns:a16="http://schemas.microsoft.com/office/drawing/2014/main" id="{487D1464-F0F0-4D16-876F-A49A009F2D8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39230045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7D1B32-8CD9-4E07-A705-16F56C6A82AA}"/>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fecha 2">
            <a:extLst>
              <a:ext uri="{FF2B5EF4-FFF2-40B4-BE49-F238E27FC236}">
                <a16:creationId xmlns:a16="http://schemas.microsoft.com/office/drawing/2014/main" id="{BB89AFFA-5546-4BDE-9DCC-0D9185A3EA3A}"/>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4" name="Marcador de pie de página 3">
            <a:extLst>
              <a:ext uri="{FF2B5EF4-FFF2-40B4-BE49-F238E27FC236}">
                <a16:creationId xmlns:a16="http://schemas.microsoft.com/office/drawing/2014/main" id="{D1868871-4F2B-468C-A281-03B39AC18DB5}"/>
              </a:ext>
            </a:extLst>
          </p:cNvPr>
          <p:cNvSpPr>
            <a:spLocks noGrp="1"/>
          </p:cNvSpPr>
          <p:nvPr>
            <p:ph type="ftr" sz="quarter" idx="11"/>
          </p:nvPr>
        </p:nvSpPr>
        <p:spPr/>
        <p:txBody>
          <a:bodyPr/>
          <a:lstStyle/>
          <a:p>
            <a:endParaRPr lang="es-419"/>
          </a:p>
        </p:txBody>
      </p:sp>
      <p:sp>
        <p:nvSpPr>
          <p:cNvPr id="5" name="Marcador de número de diapositiva 4">
            <a:extLst>
              <a:ext uri="{FF2B5EF4-FFF2-40B4-BE49-F238E27FC236}">
                <a16:creationId xmlns:a16="http://schemas.microsoft.com/office/drawing/2014/main" id="{F11548AD-0797-49CF-8A32-489DE78F23B0}"/>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98229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1BBACE8-1FF9-4DCE-BDFF-781E4EDB7229}"/>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3" name="Marcador de pie de página 2">
            <a:extLst>
              <a:ext uri="{FF2B5EF4-FFF2-40B4-BE49-F238E27FC236}">
                <a16:creationId xmlns:a16="http://schemas.microsoft.com/office/drawing/2014/main" id="{3F8F2886-0965-4D8B-9448-88DEC9E044D9}"/>
              </a:ext>
            </a:extLst>
          </p:cNvPr>
          <p:cNvSpPr>
            <a:spLocks noGrp="1"/>
          </p:cNvSpPr>
          <p:nvPr>
            <p:ph type="ftr" sz="quarter" idx="11"/>
          </p:nvPr>
        </p:nvSpPr>
        <p:spPr/>
        <p:txBody>
          <a:bodyPr/>
          <a:lstStyle/>
          <a:p>
            <a:endParaRPr lang="es-419"/>
          </a:p>
        </p:txBody>
      </p:sp>
      <p:sp>
        <p:nvSpPr>
          <p:cNvPr id="4" name="Marcador de número de diapositiva 3">
            <a:extLst>
              <a:ext uri="{FF2B5EF4-FFF2-40B4-BE49-F238E27FC236}">
                <a16:creationId xmlns:a16="http://schemas.microsoft.com/office/drawing/2014/main" id="{D57B9FB8-5854-4739-9885-76391E5F2741}"/>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869049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D4540F-ABF6-474A-AB91-401BF0417940}"/>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contenido 2">
            <a:extLst>
              <a:ext uri="{FF2B5EF4-FFF2-40B4-BE49-F238E27FC236}">
                <a16:creationId xmlns:a16="http://schemas.microsoft.com/office/drawing/2014/main" id="{750BA34A-F3A7-41F0-8235-DB969C0BD3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texto 3">
            <a:extLst>
              <a:ext uri="{FF2B5EF4-FFF2-40B4-BE49-F238E27FC236}">
                <a16:creationId xmlns:a16="http://schemas.microsoft.com/office/drawing/2014/main" id="{141FD3ED-E203-44F4-A13E-24C4190802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34A6CC1-F911-4CB8-B9F6-56532672E168}"/>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6" name="Marcador de pie de página 5">
            <a:extLst>
              <a:ext uri="{FF2B5EF4-FFF2-40B4-BE49-F238E27FC236}">
                <a16:creationId xmlns:a16="http://schemas.microsoft.com/office/drawing/2014/main" id="{A36D7865-4AAB-4623-8FBD-249FC3217532}"/>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12940CCF-0F75-4D77-A0C3-8971815EEB2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5941051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151275-DE27-4158-AA5F-44F5EE1C370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419"/>
          </a:p>
        </p:txBody>
      </p:sp>
      <p:sp>
        <p:nvSpPr>
          <p:cNvPr id="3" name="Marcador de posición de imagen 2">
            <a:extLst>
              <a:ext uri="{FF2B5EF4-FFF2-40B4-BE49-F238E27FC236}">
                <a16:creationId xmlns:a16="http://schemas.microsoft.com/office/drawing/2014/main" id="{7FB01499-763F-47B5-BFD1-63E77D563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419"/>
          </a:p>
        </p:txBody>
      </p:sp>
      <p:sp>
        <p:nvSpPr>
          <p:cNvPr id="4" name="Marcador de texto 3">
            <a:extLst>
              <a:ext uri="{FF2B5EF4-FFF2-40B4-BE49-F238E27FC236}">
                <a16:creationId xmlns:a16="http://schemas.microsoft.com/office/drawing/2014/main" id="{D9CFD260-36E3-4D33-9F42-DC51279BBE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D2EBD3E-F528-4CA4-A32B-F0A72B359747}"/>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6" name="Marcador de pie de página 5">
            <a:extLst>
              <a:ext uri="{FF2B5EF4-FFF2-40B4-BE49-F238E27FC236}">
                <a16:creationId xmlns:a16="http://schemas.microsoft.com/office/drawing/2014/main" id="{C627CDEF-92F2-40A0-BAE5-D2BD80227C19}"/>
              </a:ext>
            </a:extLst>
          </p:cNvPr>
          <p:cNvSpPr>
            <a:spLocks noGrp="1"/>
          </p:cNvSpPr>
          <p:nvPr>
            <p:ph type="ftr" sz="quarter" idx="11"/>
          </p:nvPr>
        </p:nvSpPr>
        <p:spPr/>
        <p:txBody>
          <a:bodyPr/>
          <a:lstStyle/>
          <a:p>
            <a:endParaRPr lang="es-419"/>
          </a:p>
        </p:txBody>
      </p:sp>
      <p:sp>
        <p:nvSpPr>
          <p:cNvPr id="7" name="Marcador de número de diapositiva 6">
            <a:extLst>
              <a:ext uri="{FF2B5EF4-FFF2-40B4-BE49-F238E27FC236}">
                <a16:creationId xmlns:a16="http://schemas.microsoft.com/office/drawing/2014/main" id="{58DBC24D-381D-41F8-9D66-8C221CD78554}"/>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1731469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D31BD0-76AA-4609-B77F-1A62E9CA2C7F}"/>
              </a:ext>
            </a:extLst>
          </p:cNvPr>
          <p:cNvSpPr>
            <a:spLocks noGrp="1"/>
          </p:cNvSpPr>
          <p:nvPr>
            <p:ph type="title"/>
          </p:nvPr>
        </p:nvSpPr>
        <p:spPr/>
        <p:txBody>
          <a:bodyPr/>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95FDD779-50D6-40E5-BA33-7FF26DCF0DC6}"/>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FC0CB4A4-EFE8-421F-935D-F071B90D42D2}"/>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3E4501A0-A46C-4082-8991-E174E9FBA5E1}"/>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9D5DF1E6-391E-412D-BC62-BE28257C204C}"/>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42913536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12A5389C-24F0-40B8-B3A4-5B618437AC7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419"/>
          </a:p>
        </p:txBody>
      </p:sp>
      <p:sp>
        <p:nvSpPr>
          <p:cNvPr id="3" name="Marcador de texto vertical 2">
            <a:extLst>
              <a:ext uri="{FF2B5EF4-FFF2-40B4-BE49-F238E27FC236}">
                <a16:creationId xmlns:a16="http://schemas.microsoft.com/office/drawing/2014/main" id="{80265058-8B96-46CE-A8EE-7F30DCB57C72}"/>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A04C2B80-5F54-469C-B95C-236E218AE644}"/>
              </a:ext>
            </a:extLst>
          </p:cNvPr>
          <p:cNvSpPr>
            <a:spLocks noGrp="1"/>
          </p:cNvSpPr>
          <p:nvPr>
            <p:ph type="dt" sz="half" idx="10"/>
          </p:nvPr>
        </p:nvSpPr>
        <p:spPr/>
        <p:txBody>
          <a:body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04E4A53C-1617-402F-AEA5-31668F35D65F}"/>
              </a:ext>
            </a:extLst>
          </p:cNvPr>
          <p:cNvSpPr>
            <a:spLocks noGrp="1"/>
          </p:cNvSpPr>
          <p:nvPr>
            <p:ph type="ftr" sz="quarter" idx="11"/>
          </p:nvPr>
        </p:nvSpPr>
        <p:spPr/>
        <p:txBody>
          <a:bodyPr/>
          <a:lstStyle/>
          <a:p>
            <a:endParaRPr lang="es-419"/>
          </a:p>
        </p:txBody>
      </p:sp>
      <p:sp>
        <p:nvSpPr>
          <p:cNvPr id="6" name="Marcador de número de diapositiva 5">
            <a:extLst>
              <a:ext uri="{FF2B5EF4-FFF2-40B4-BE49-F238E27FC236}">
                <a16:creationId xmlns:a16="http://schemas.microsoft.com/office/drawing/2014/main" id="{D42DE16E-D827-4A85-B9BC-4058637C5C98}"/>
              </a:ext>
            </a:extLst>
          </p:cNvPr>
          <p:cNvSpPr>
            <a:spLocks noGrp="1"/>
          </p:cNvSpPr>
          <p:nvPr>
            <p:ph type="sldNum" sz="quarter" idx="12"/>
          </p:nvPr>
        </p:nvSpPr>
        <p:spPr/>
        <p:txBody>
          <a:bodyPr/>
          <a:lstStyle/>
          <a:p>
            <a:fld id="{E82787B5-27E6-4680-BFC4-A185ECDA7C5B}" type="slidenum">
              <a:rPr lang="es-419" smtClean="0"/>
              <a:t>‹Nº›</a:t>
            </a:fld>
            <a:endParaRPr lang="es-419"/>
          </a:p>
        </p:txBody>
      </p:sp>
    </p:spTree>
    <p:extLst>
      <p:ext uri="{BB962C8B-B14F-4D97-AF65-F5344CB8AC3E}">
        <p14:creationId xmlns:p14="http://schemas.microsoft.com/office/powerpoint/2010/main" val="76715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Solo el título">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38D7D316-AA24-4AA3-98FC-FDF5882A2030}"/>
              </a:ext>
            </a:extLst>
          </p:cNvPr>
          <p:cNvSpPr>
            <a:spLocks noGrp="1"/>
          </p:cNvSpPr>
          <p:nvPr>
            <p:ph type="title"/>
          </p:nvPr>
        </p:nvSpPr>
        <p:spPr>
          <a:xfrm>
            <a:off x="838204" y="133841"/>
            <a:ext cx="10224477" cy="1323807"/>
          </a:xfrm>
          <a:prstGeom prst="rect">
            <a:avLst/>
          </a:prstGeom>
        </p:spPr>
        <p:txBody>
          <a:bodyPr/>
          <a:lstStyle>
            <a:lvl1pPr>
              <a:defRPr sz="4263" b="1">
                <a:solidFill>
                  <a:schemeClr val="accent5">
                    <a:lumMod val="75000"/>
                  </a:schemeClr>
                </a:solidFill>
              </a:defRPr>
            </a:lvl1pPr>
          </a:lstStyle>
          <a:p>
            <a:r>
              <a:rPr lang="es-ES"/>
              <a:t>Haga clic para modificar el estilo de título del patrón</a:t>
            </a:r>
            <a:endParaRPr lang="es-PE"/>
          </a:p>
        </p:txBody>
      </p:sp>
    </p:spTree>
    <p:extLst>
      <p:ext uri="{BB962C8B-B14F-4D97-AF65-F5344CB8AC3E}">
        <p14:creationId xmlns:p14="http://schemas.microsoft.com/office/powerpoint/2010/main" val="22663104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04291EF-15E9-414F-95EC-8F59D36B1C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419"/>
          </a:p>
        </p:txBody>
      </p:sp>
      <p:sp>
        <p:nvSpPr>
          <p:cNvPr id="3" name="Marcador de texto 2">
            <a:extLst>
              <a:ext uri="{FF2B5EF4-FFF2-40B4-BE49-F238E27FC236}">
                <a16:creationId xmlns:a16="http://schemas.microsoft.com/office/drawing/2014/main" id="{4A4EA333-6386-4D76-AC88-517C11CF86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419"/>
          </a:p>
        </p:txBody>
      </p:sp>
      <p:sp>
        <p:nvSpPr>
          <p:cNvPr id="4" name="Marcador de fecha 3">
            <a:extLst>
              <a:ext uri="{FF2B5EF4-FFF2-40B4-BE49-F238E27FC236}">
                <a16:creationId xmlns:a16="http://schemas.microsoft.com/office/drawing/2014/main" id="{17108574-E514-4EEB-B046-9A3DB5F397B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29FD26-0981-4205-871D-895179B88314}" type="datetimeFigureOut">
              <a:rPr lang="es-419" smtClean="0"/>
              <a:t>6/3/2024</a:t>
            </a:fld>
            <a:endParaRPr lang="es-419"/>
          </a:p>
        </p:txBody>
      </p:sp>
      <p:sp>
        <p:nvSpPr>
          <p:cNvPr id="5" name="Marcador de pie de página 4">
            <a:extLst>
              <a:ext uri="{FF2B5EF4-FFF2-40B4-BE49-F238E27FC236}">
                <a16:creationId xmlns:a16="http://schemas.microsoft.com/office/drawing/2014/main" id="{0F92D44A-6FF1-4AA9-8628-83F79F65C5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419"/>
          </a:p>
        </p:txBody>
      </p:sp>
      <p:sp>
        <p:nvSpPr>
          <p:cNvPr id="6" name="Marcador de número de diapositiva 5">
            <a:extLst>
              <a:ext uri="{FF2B5EF4-FFF2-40B4-BE49-F238E27FC236}">
                <a16:creationId xmlns:a16="http://schemas.microsoft.com/office/drawing/2014/main" id="{90E3C7ED-7510-4B32-96A0-A10D7CC1A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2787B5-27E6-4680-BFC4-A185ECDA7C5B}" type="slidenum">
              <a:rPr lang="es-419" smtClean="0"/>
              <a:t>‹Nº›</a:t>
            </a:fld>
            <a:endParaRPr lang="es-419"/>
          </a:p>
        </p:txBody>
      </p:sp>
    </p:spTree>
    <p:extLst>
      <p:ext uri="{BB962C8B-B14F-4D97-AF65-F5344CB8AC3E}">
        <p14:creationId xmlns:p14="http://schemas.microsoft.com/office/powerpoint/2010/main" val="370057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419"/>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2D66F62-5EF4-E640-8F00-37B5AB567BFE}"/>
              </a:ext>
            </a:extLst>
          </p:cNvPr>
          <p:cNvSpPr txBox="1">
            <a:spLocks noChangeArrowheads="1"/>
          </p:cNvSpPr>
          <p:nvPr/>
        </p:nvSpPr>
        <p:spPr>
          <a:xfrm>
            <a:off x="861147" y="3517621"/>
            <a:ext cx="10191750" cy="938981"/>
          </a:xfrm>
          <a:prstGeom prst="rect">
            <a:avLst/>
          </a:prstGeom>
        </p:spPr>
        <p:txBody>
          <a:bodyPr/>
          <a:lstStyle/>
          <a:p>
            <a:pPr algn="ctr" defTabSz="1217947">
              <a:defRPr/>
            </a:pPr>
            <a:r>
              <a:rPr lang="es-PE" sz="3600" b="1" dirty="0">
                <a:latin typeface="Arial"/>
                <a:ea typeface="+mj-ea"/>
                <a:cs typeface="Arial"/>
              </a:rPr>
              <a:t>GERENCIA DE ANÁLISIS DE FONDO ADUANAS</a:t>
            </a:r>
          </a:p>
          <a:p>
            <a:pPr algn="ctr" defTabSz="1217947">
              <a:defRPr/>
            </a:pPr>
            <a:endParaRPr lang="es-PE" sz="2400" b="1" dirty="0">
              <a:latin typeface="Arial"/>
              <a:ea typeface="+mj-ea"/>
              <a:cs typeface="Arial"/>
            </a:endParaRPr>
          </a:p>
        </p:txBody>
      </p:sp>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9796326" y="267539"/>
            <a:ext cx="2060746" cy="572573"/>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6" name="Rectangle 2">
            <a:extLst>
              <a:ext uri="{FF2B5EF4-FFF2-40B4-BE49-F238E27FC236}">
                <a16:creationId xmlns:a16="http://schemas.microsoft.com/office/drawing/2014/main" id="{919B8A05-1ED3-443D-A7BD-4492F8B9CE89}"/>
              </a:ext>
            </a:extLst>
          </p:cNvPr>
          <p:cNvSpPr txBox="1">
            <a:spLocks noChangeArrowheads="1"/>
          </p:cNvSpPr>
          <p:nvPr/>
        </p:nvSpPr>
        <p:spPr>
          <a:xfrm>
            <a:off x="714375" y="2178278"/>
            <a:ext cx="10763250" cy="938981"/>
          </a:xfrm>
          <a:prstGeom prst="rect">
            <a:avLst/>
          </a:prstGeom>
        </p:spPr>
        <p:txBody>
          <a:bodyPr/>
          <a:lstStyle/>
          <a:p>
            <a:pPr algn="ctr" defTabSz="1217947">
              <a:defRPr/>
            </a:pPr>
            <a:r>
              <a:rPr lang="es-PE" sz="3500" b="1" dirty="0">
                <a:latin typeface="Arial"/>
                <a:ea typeface="+mj-ea"/>
                <a:cs typeface="Arial"/>
              </a:rPr>
              <a:t>INTENDENCIA NACIONAL DE IMPUGNACIONES</a:t>
            </a:r>
          </a:p>
          <a:p>
            <a:pPr algn="ctr" defTabSz="1217947">
              <a:defRPr/>
            </a:pPr>
            <a:endParaRPr lang="es-PE" sz="2400" b="1" dirty="0">
              <a:latin typeface="Arial"/>
              <a:ea typeface="+mj-ea"/>
              <a:cs typeface="Arial"/>
            </a:endParaRPr>
          </a:p>
        </p:txBody>
      </p:sp>
    </p:spTree>
    <p:extLst>
      <p:ext uri="{BB962C8B-B14F-4D97-AF65-F5344CB8AC3E}">
        <p14:creationId xmlns:p14="http://schemas.microsoft.com/office/powerpoint/2010/main" val="40695348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DE DOCUMENTOS– 2024</a:t>
            </a:r>
            <a:endParaRPr lang="es-PE" sz="2800" b="1" dirty="0">
              <a:latin typeface="Arial" panose="020B0604020202020204" pitchFamily="34" charset="0"/>
              <a:cs typeface="Arial" panose="020B0604020202020204" pitchFamily="34" charset="0"/>
            </a:endParaRPr>
          </a:p>
        </p:txBody>
      </p:sp>
      <p:sp>
        <p:nvSpPr>
          <p:cNvPr id="10" name="Flecha: a la derecha 9">
            <a:extLst>
              <a:ext uri="{FF2B5EF4-FFF2-40B4-BE49-F238E27FC236}">
                <a16:creationId xmlns:a16="http://schemas.microsoft.com/office/drawing/2014/main" id="{56F964CE-6A15-CC82-91F5-317A16FEDABD}"/>
              </a:ext>
            </a:extLst>
          </p:cNvPr>
          <p:cNvSpPr/>
          <p:nvPr/>
        </p:nvSpPr>
        <p:spPr>
          <a:xfrm>
            <a:off x="4582029" y="3101390"/>
            <a:ext cx="927907" cy="880323"/>
          </a:xfrm>
          <a:prstGeom prst="rightArrow">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s-ES" sz="1600" b="1" dirty="0"/>
              <a:t>TOTAL</a:t>
            </a:r>
            <a:endParaRPr lang="es-PE" sz="1600" b="1" dirty="0"/>
          </a:p>
        </p:txBody>
      </p:sp>
      <p:sp>
        <p:nvSpPr>
          <p:cNvPr id="14" name="CuadroTexto 13">
            <a:extLst>
              <a:ext uri="{FF2B5EF4-FFF2-40B4-BE49-F238E27FC236}">
                <a16:creationId xmlns:a16="http://schemas.microsoft.com/office/drawing/2014/main" id="{21B5B194-953F-4A69-9AA8-4D95C62A4561}"/>
              </a:ext>
            </a:extLst>
          </p:cNvPr>
          <p:cNvSpPr txBox="1"/>
          <p:nvPr/>
        </p:nvSpPr>
        <p:spPr>
          <a:xfrm>
            <a:off x="995362" y="5668686"/>
            <a:ext cx="3187700" cy="430887"/>
          </a:xfrm>
          <a:prstGeom prst="rect">
            <a:avLst/>
          </a:prstGeom>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r>
              <a:rPr lang="es-ES" sz="1000" dirty="0">
                <a:solidFill>
                  <a:schemeClr val="tx1"/>
                </a:solidFill>
              </a:rPr>
              <a:t>Fuente SIGERI al </a:t>
            </a:r>
            <a:r>
              <a:rPr lang="es-ES" sz="1000" b="1" dirty="0">
                <a:solidFill>
                  <a:schemeClr val="tx1"/>
                </a:solidFill>
              </a:rPr>
              <a:t>01.02.2024</a:t>
            </a:r>
          </a:p>
          <a:p>
            <a:endParaRPr lang="es-ES" sz="1200" dirty="0"/>
          </a:p>
        </p:txBody>
      </p:sp>
      <p:graphicFrame>
        <p:nvGraphicFramePr>
          <p:cNvPr id="8" name="Tabla 7">
            <a:extLst>
              <a:ext uri="{FF2B5EF4-FFF2-40B4-BE49-F238E27FC236}">
                <a16:creationId xmlns:a16="http://schemas.microsoft.com/office/drawing/2014/main" id="{42F9C33F-9E22-4CEF-FF21-529EBFB9BABA}"/>
              </a:ext>
            </a:extLst>
          </p:cNvPr>
          <p:cNvGraphicFramePr>
            <a:graphicFrameLocks noGrp="1"/>
          </p:cNvGraphicFramePr>
          <p:nvPr>
            <p:extLst>
              <p:ext uri="{D42A27DB-BD31-4B8C-83A1-F6EECF244321}">
                <p14:modId xmlns:p14="http://schemas.microsoft.com/office/powerpoint/2010/main" val="3718810131"/>
              </p:ext>
            </p:extLst>
          </p:nvPr>
        </p:nvGraphicFramePr>
        <p:xfrm>
          <a:off x="538331" y="1398061"/>
          <a:ext cx="3400400" cy="1376279"/>
        </p:xfrm>
        <a:graphic>
          <a:graphicData uri="http://schemas.openxmlformats.org/drawingml/2006/table">
            <a:tbl>
              <a:tblPr/>
              <a:tblGrid>
                <a:gridCol w="1385719">
                  <a:extLst>
                    <a:ext uri="{9D8B030D-6E8A-4147-A177-3AD203B41FA5}">
                      <a16:colId xmlns:a16="http://schemas.microsoft.com/office/drawing/2014/main" val="303441847"/>
                    </a:ext>
                  </a:extLst>
                </a:gridCol>
                <a:gridCol w="314481">
                  <a:extLst>
                    <a:ext uri="{9D8B030D-6E8A-4147-A177-3AD203B41FA5}">
                      <a16:colId xmlns:a16="http://schemas.microsoft.com/office/drawing/2014/main" val="1716151770"/>
                    </a:ext>
                  </a:extLst>
                </a:gridCol>
                <a:gridCol w="581416">
                  <a:extLst>
                    <a:ext uri="{9D8B030D-6E8A-4147-A177-3AD203B41FA5}">
                      <a16:colId xmlns:a16="http://schemas.microsoft.com/office/drawing/2014/main" val="757411442"/>
                    </a:ext>
                  </a:extLst>
                </a:gridCol>
                <a:gridCol w="1118784">
                  <a:extLst>
                    <a:ext uri="{9D8B030D-6E8A-4147-A177-3AD203B41FA5}">
                      <a16:colId xmlns:a16="http://schemas.microsoft.com/office/drawing/2014/main" val="3639645170"/>
                    </a:ext>
                  </a:extLst>
                </a:gridCol>
              </a:tblGrid>
              <a:tr h="339555">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ES" sz="1400" b="1" i="0" u="none" strike="noStrike" dirty="0">
                          <a:solidFill>
                            <a:srgbClr val="000000"/>
                          </a:solidFill>
                          <a:effectLst/>
                          <a:latin typeface="+mn-lt"/>
                        </a:rPr>
                        <a:t>            SIGERI</a:t>
                      </a: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pPr algn="ctr" fontAlgn="ctr"/>
                      <a:endParaRPr lang="es-PE" sz="1400" b="1" i="0" u="none" strike="noStrike" dirty="0">
                        <a:solidFill>
                          <a:srgbClr val="000000"/>
                        </a:solidFill>
                        <a:effectLst/>
                        <a:latin typeface="+mn-lt"/>
                      </a:endParaRP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extLst>
                  <a:ext uri="{0D108BD9-81ED-4DB2-BD59-A6C34878D82A}">
                    <a16:rowId xmlns:a16="http://schemas.microsoft.com/office/drawing/2014/main" val="3528009855"/>
                  </a:ext>
                </a:extLst>
              </a:tr>
              <a:tr h="305002">
                <a:tc>
                  <a:txBody>
                    <a:bodyPr/>
                    <a:lstStyle/>
                    <a:p>
                      <a:pPr algn="l" fontAlgn="ctr"/>
                      <a:r>
                        <a:rPr lang="es-PE" sz="1400" b="1" i="0" u="none" strike="noStrike" dirty="0">
                          <a:solidFill>
                            <a:srgbClr val="000000"/>
                          </a:solidFill>
                          <a:effectLst/>
                          <a:latin typeface="+mn-lt"/>
                        </a:rPr>
                        <a:t>FONDO</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353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355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426720">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gridSpan="2">
                  <a:txBody>
                    <a:bodyPr/>
                    <a:lstStyle/>
                    <a:p>
                      <a:pPr algn="ctr" fontAlgn="ctr"/>
                      <a:r>
                        <a:rPr lang="es-ES" sz="1400" b="1" i="0" u="none" strike="noStrike" dirty="0">
                          <a:solidFill>
                            <a:schemeClr val="tx1"/>
                          </a:solidFill>
                          <a:effectLst/>
                          <a:latin typeface="+mn-lt"/>
                        </a:rPr>
                        <a:t>348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348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05002">
                <a:tc>
                  <a:txBody>
                    <a:bodyPr/>
                    <a:lstStyle/>
                    <a:p>
                      <a:pPr algn="l" fontAlgn="ctr"/>
                      <a:r>
                        <a:rPr lang="es-PE" sz="1400" b="1" i="0" u="none" strike="noStrike" dirty="0">
                          <a:solidFill>
                            <a:srgbClr val="000000"/>
                          </a:solidFill>
                          <a:effectLst/>
                          <a:latin typeface="+mn-lt"/>
                        </a:rPr>
                        <a:t>TOTAL</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gridSpan="2">
                  <a:txBody>
                    <a:bodyPr/>
                    <a:lstStyle/>
                    <a:p>
                      <a:pPr algn="ctr" fontAlgn="ctr"/>
                      <a:r>
                        <a:rPr lang="es-ES" sz="1400" b="1" i="0" u="none" strike="noStrike" dirty="0">
                          <a:solidFill>
                            <a:schemeClr val="tx1"/>
                          </a:solidFill>
                          <a:effectLst/>
                          <a:latin typeface="+mn-lt"/>
                        </a:rPr>
                        <a:t>701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hMerge="1">
                  <a:txBody>
                    <a:bodyPr/>
                    <a:lstStyle/>
                    <a:p>
                      <a:endParaRPr lang="es-PE"/>
                    </a:p>
                  </a:txBody>
                  <a:tcPr/>
                </a:tc>
                <a:tc>
                  <a:txBody>
                    <a:bodyPr/>
                    <a:lstStyle/>
                    <a:p>
                      <a:pPr algn="ctr" fontAlgn="ctr"/>
                      <a:r>
                        <a:rPr lang="es-ES" sz="1400" b="1" i="0" u="none" strike="noStrike" dirty="0">
                          <a:solidFill>
                            <a:schemeClr val="tx1"/>
                          </a:solidFill>
                          <a:effectLst/>
                          <a:latin typeface="+mn-lt"/>
                        </a:rPr>
                        <a:t>703</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11" name="Tabla 10">
            <a:extLst>
              <a:ext uri="{FF2B5EF4-FFF2-40B4-BE49-F238E27FC236}">
                <a16:creationId xmlns:a16="http://schemas.microsoft.com/office/drawing/2014/main" id="{E5EFB618-4604-09BB-AFE3-37F61C5C02EF}"/>
              </a:ext>
            </a:extLst>
          </p:cNvPr>
          <p:cNvGraphicFramePr>
            <a:graphicFrameLocks noGrp="1"/>
          </p:cNvGraphicFramePr>
          <p:nvPr>
            <p:extLst>
              <p:ext uri="{D42A27DB-BD31-4B8C-83A1-F6EECF244321}">
                <p14:modId xmlns:p14="http://schemas.microsoft.com/office/powerpoint/2010/main" val="4012084137"/>
              </p:ext>
            </p:extLst>
          </p:nvPr>
        </p:nvGraphicFramePr>
        <p:xfrm>
          <a:off x="538331" y="2890995"/>
          <a:ext cx="3385972" cy="1301115"/>
        </p:xfrm>
        <a:graphic>
          <a:graphicData uri="http://schemas.openxmlformats.org/drawingml/2006/table">
            <a:tbl>
              <a:tblPr/>
              <a:tblGrid>
                <a:gridCol w="1395244">
                  <a:extLst>
                    <a:ext uri="{9D8B030D-6E8A-4147-A177-3AD203B41FA5}">
                      <a16:colId xmlns:a16="http://schemas.microsoft.com/office/drawing/2014/main" val="2925254002"/>
                    </a:ext>
                  </a:extLst>
                </a:gridCol>
                <a:gridCol w="297742">
                  <a:extLst>
                    <a:ext uri="{9D8B030D-6E8A-4147-A177-3AD203B41FA5}">
                      <a16:colId xmlns:a16="http://schemas.microsoft.com/office/drawing/2014/main" val="867454367"/>
                    </a:ext>
                  </a:extLst>
                </a:gridCol>
                <a:gridCol w="607134">
                  <a:extLst>
                    <a:ext uri="{9D8B030D-6E8A-4147-A177-3AD203B41FA5}">
                      <a16:colId xmlns:a16="http://schemas.microsoft.com/office/drawing/2014/main" val="761343323"/>
                    </a:ext>
                  </a:extLst>
                </a:gridCol>
                <a:gridCol w="1085852">
                  <a:extLst>
                    <a:ext uri="{9D8B030D-6E8A-4147-A177-3AD203B41FA5}">
                      <a16:colId xmlns:a16="http://schemas.microsoft.com/office/drawing/2014/main" val="2116818572"/>
                    </a:ext>
                  </a:extLst>
                </a:gridCol>
              </a:tblGrid>
              <a:tr h="287285">
                <a:tc gridSpan="2">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hMerge="1">
                  <a:txBody>
                    <a:bodyPr/>
                    <a:lstStyle/>
                    <a:p>
                      <a:endParaRPr lang="es-PE"/>
                    </a:p>
                  </a:txBody>
                  <a:tcPr/>
                </a:tc>
                <a:tc gridSpan="2">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99FF"/>
                    </a:solidFill>
                  </a:tcPr>
                </a:tc>
                <a:extLst>
                  <a:ext uri="{0D108BD9-81ED-4DB2-BD59-A6C34878D82A}">
                    <a16:rowId xmlns:a16="http://schemas.microsoft.com/office/drawing/2014/main" val="2471929919"/>
                  </a:ext>
                </a:extLst>
              </a:tr>
              <a:tr h="301312">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224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252</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3243334386"/>
                  </a:ext>
                </a:extLst>
              </a:tr>
              <a:tr h="425233">
                <a:tc>
                  <a:txBody>
                    <a:bodyPr/>
                    <a:lstStyle/>
                    <a:p>
                      <a:r>
                        <a:rPr lang="es-PE" sz="1400" b="1" i="0" u="none" strike="noStrike" dirty="0">
                          <a:solidFill>
                            <a:srgbClr val="000000"/>
                          </a:solidFill>
                          <a:effectLst/>
                          <a:latin typeface="+mn-lt"/>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177</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11438467"/>
                  </a:ext>
                </a:extLst>
              </a:tr>
              <a:tr h="287285">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66FF"/>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401</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4B083"/>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429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4B083"/>
                      </a:solidFill>
                      <a:prstDash val="solid"/>
                      <a:round/>
                      <a:headEnd type="none" w="med" len="med"/>
                      <a:tailEnd type="none" w="med" len="med"/>
                    </a:lnL>
                    <a:lnR w="12700" cap="flat" cmpd="sng" algn="ctr">
                      <a:solidFill>
                        <a:srgbClr val="FF66FF"/>
                      </a:solidFill>
                      <a:prstDash val="solid"/>
                      <a:round/>
                      <a:headEnd type="none" w="med" len="med"/>
                      <a:tailEnd type="none" w="med" len="med"/>
                    </a:lnR>
                    <a:lnT w="12700" cap="flat" cmpd="sng" algn="ctr">
                      <a:solidFill>
                        <a:srgbClr val="FF66FF"/>
                      </a:solidFill>
                      <a:prstDash val="solid"/>
                      <a:round/>
                      <a:headEnd type="none" w="med" len="med"/>
                      <a:tailEnd type="none" w="med" len="med"/>
                    </a:lnT>
                    <a:lnB w="12700" cap="flat" cmpd="sng" algn="ctr">
                      <a:solidFill>
                        <a:srgbClr val="FF66FF"/>
                      </a:solidFill>
                      <a:prstDash val="solid"/>
                      <a:round/>
                      <a:headEnd type="none" w="med" len="med"/>
                      <a:tailEnd type="none" w="med" len="med"/>
                    </a:lnB>
                    <a:solidFill>
                      <a:srgbClr val="FFCCFF"/>
                    </a:solidFill>
                  </a:tcPr>
                </a:tc>
                <a:extLst>
                  <a:ext uri="{0D108BD9-81ED-4DB2-BD59-A6C34878D82A}">
                    <a16:rowId xmlns:a16="http://schemas.microsoft.com/office/drawing/2014/main" val="2508674559"/>
                  </a:ext>
                </a:extLst>
              </a:tr>
            </a:tbl>
          </a:graphicData>
        </a:graphic>
      </p:graphicFrame>
      <p:graphicFrame>
        <p:nvGraphicFramePr>
          <p:cNvPr id="12" name="Tabla 11">
            <a:extLst>
              <a:ext uri="{FF2B5EF4-FFF2-40B4-BE49-F238E27FC236}">
                <a16:creationId xmlns:a16="http://schemas.microsoft.com/office/drawing/2014/main" id="{11E47780-28B5-BC8F-2D32-D418E13A98E3}"/>
              </a:ext>
            </a:extLst>
          </p:cNvPr>
          <p:cNvGraphicFramePr>
            <a:graphicFrameLocks noGrp="1"/>
          </p:cNvGraphicFramePr>
          <p:nvPr>
            <p:extLst>
              <p:ext uri="{D42A27DB-BD31-4B8C-83A1-F6EECF244321}">
                <p14:modId xmlns:p14="http://schemas.microsoft.com/office/powerpoint/2010/main" val="1094749287"/>
              </p:ext>
            </p:extLst>
          </p:nvPr>
        </p:nvGraphicFramePr>
        <p:xfrm>
          <a:off x="538330" y="4359468"/>
          <a:ext cx="3385972" cy="1302601"/>
        </p:xfrm>
        <a:graphic>
          <a:graphicData uri="http://schemas.openxmlformats.org/drawingml/2006/table">
            <a:tbl>
              <a:tblPr/>
              <a:tblGrid>
                <a:gridCol w="1338094">
                  <a:extLst>
                    <a:ext uri="{9D8B030D-6E8A-4147-A177-3AD203B41FA5}">
                      <a16:colId xmlns:a16="http://schemas.microsoft.com/office/drawing/2014/main" val="33698083"/>
                    </a:ext>
                  </a:extLst>
                </a:gridCol>
                <a:gridCol w="354892">
                  <a:extLst>
                    <a:ext uri="{9D8B030D-6E8A-4147-A177-3AD203B41FA5}">
                      <a16:colId xmlns:a16="http://schemas.microsoft.com/office/drawing/2014/main" val="1249015919"/>
                    </a:ext>
                  </a:extLst>
                </a:gridCol>
                <a:gridCol w="579418">
                  <a:extLst>
                    <a:ext uri="{9D8B030D-6E8A-4147-A177-3AD203B41FA5}">
                      <a16:colId xmlns:a16="http://schemas.microsoft.com/office/drawing/2014/main" val="2046074599"/>
                    </a:ext>
                  </a:extLst>
                </a:gridCol>
                <a:gridCol w="1113568">
                  <a:extLst>
                    <a:ext uri="{9D8B030D-6E8A-4147-A177-3AD203B41FA5}">
                      <a16:colId xmlns:a16="http://schemas.microsoft.com/office/drawing/2014/main" val="2207642921"/>
                    </a:ext>
                  </a:extLst>
                </a:gridCol>
              </a:tblGrid>
              <a:tr h="288619">
                <a:tc gridSpan="2">
                  <a:txBody>
                    <a:bodyPr/>
                    <a:lstStyle/>
                    <a:p>
                      <a:pPr algn="ctr"/>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hMerge="1">
                  <a:txBody>
                    <a:bodyPr/>
                    <a:lstStyle/>
                    <a:p>
                      <a:endParaRPr lang="es-PE"/>
                    </a:p>
                  </a:txBody>
                  <a:tcPr/>
                </a:tc>
                <a:tc gridSpan="2">
                  <a:txBody>
                    <a:bodyPr/>
                    <a:lstStyle/>
                    <a:p>
                      <a:pPr algn="ctr"/>
                      <a:r>
                        <a:rPr lang="es-ES" sz="1400" b="1" dirty="0">
                          <a:effectLst/>
                          <a:latin typeface="Calibri" panose="020F0502020204030204" pitchFamily="34" charset="0"/>
                          <a:ea typeface="Calibri" panose="020F0502020204030204" pitchFamily="34" charset="0"/>
                          <a:cs typeface="Times New Roman" panose="02020603050405020304" pitchFamily="18" charset="0"/>
                        </a:rPr>
                        <a:t>          SIGERI</a:t>
                      </a:r>
                      <a:endParaRPr lang="es-PE"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tc hMerge="1">
                  <a:txBody>
                    <a:bodyPr/>
                    <a:lstStyle/>
                    <a:p>
                      <a:pPr algn="ct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ED7D31"/>
                      </a:solidFill>
                      <a:prstDash val="solid"/>
                      <a:round/>
                      <a:headEnd type="none" w="med" len="med"/>
                      <a:tailEnd type="none" w="med" len="med"/>
                    </a:lnL>
                    <a:lnR w="12700" cap="flat" cmpd="sng" algn="ctr">
                      <a:solidFill>
                        <a:srgbClr val="ED7D31"/>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00B050"/>
                    </a:solidFill>
                  </a:tcPr>
                </a:tc>
                <a:extLst>
                  <a:ext uri="{0D108BD9-81ED-4DB2-BD59-A6C34878D82A}">
                    <a16:rowId xmlns:a16="http://schemas.microsoft.com/office/drawing/2014/main" val="168360316"/>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FONDO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30</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29</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1942616474"/>
                  </a:ext>
                </a:extLst>
              </a:tr>
              <a:tr h="436744">
                <a:tc>
                  <a:txBody>
                    <a:bodyPr/>
                    <a:lstStyle/>
                    <a:p>
                      <a:r>
                        <a:rPr lang="es-PE" sz="1400" b="1" dirty="0">
                          <a:effectLst/>
                          <a:latin typeface="Calibri" panose="020F0502020204030204" pitchFamily="34" charset="0"/>
                          <a:ea typeface="Calibri" panose="020F0502020204030204" pitchFamily="34" charset="0"/>
                          <a:cs typeface="Times New Roman" panose="02020603050405020304" pitchFamily="18" charset="0"/>
                        </a:rPr>
                        <a:t>ADMISIBILIDAD</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F4B083"/>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1274527589"/>
                  </a:ext>
                </a:extLst>
              </a:tr>
              <a:tr h="288619">
                <a:tc>
                  <a:txBody>
                    <a:bodyPr/>
                    <a:lstStyle/>
                    <a:p>
                      <a:r>
                        <a:rPr lang="es-PE" sz="14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TOTAL</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gridSpan="2">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55</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tc hMerge="1">
                  <a:txBody>
                    <a:bodyPr/>
                    <a:lstStyle/>
                    <a:p>
                      <a:endParaRPr lang="es-PE"/>
                    </a:p>
                  </a:txBody>
                  <a:tcPr/>
                </a:tc>
                <a:tc>
                  <a:txBody>
                    <a:bodyPr/>
                    <a:lstStyle/>
                    <a:p>
                      <a:pPr algn="ctr"/>
                      <a:r>
                        <a:rPr lang="es-ES"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54</a:t>
                      </a:r>
                      <a:endParaRPr lang="es-PE" sz="14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0" anchor="ctr">
                    <a:lnL w="12700" cap="flat" cmpd="sng" algn="ctr">
                      <a:solidFill>
                        <a:srgbClr val="00B050"/>
                      </a:solidFill>
                      <a:prstDash val="solid"/>
                      <a:round/>
                      <a:headEnd type="none" w="med" len="med"/>
                      <a:tailEnd type="none" w="med" len="med"/>
                    </a:lnL>
                    <a:lnR w="12700" cap="flat" cmpd="sng" algn="ctr">
                      <a:solidFill>
                        <a:srgbClr val="00B050"/>
                      </a:solidFill>
                      <a:prstDash val="solid"/>
                      <a:round/>
                      <a:headEnd type="none" w="med" len="med"/>
                      <a:tailEnd type="none" w="med" len="med"/>
                    </a:lnR>
                    <a:lnT w="12700" cap="flat" cmpd="sng" algn="ctr">
                      <a:solidFill>
                        <a:srgbClr val="00B050"/>
                      </a:solidFill>
                      <a:prstDash val="solid"/>
                      <a:round/>
                      <a:headEnd type="none" w="med" len="med"/>
                      <a:tailEnd type="none" w="med" len="med"/>
                    </a:lnT>
                    <a:lnB w="12700" cap="flat" cmpd="sng" algn="ctr">
                      <a:solidFill>
                        <a:srgbClr val="00B050"/>
                      </a:solidFill>
                      <a:prstDash val="solid"/>
                      <a:round/>
                      <a:headEnd type="none" w="med" len="med"/>
                      <a:tailEnd type="none" w="med" len="med"/>
                    </a:lnB>
                    <a:solidFill>
                      <a:srgbClr val="A8D08D"/>
                    </a:solidFill>
                  </a:tcPr>
                </a:tc>
                <a:extLst>
                  <a:ext uri="{0D108BD9-81ED-4DB2-BD59-A6C34878D82A}">
                    <a16:rowId xmlns:a16="http://schemas.microsoft.com/office/drawing/2014/main" val="3466549735"/>
                  </a:ext>
                </a:extLst>
              </a:tr>
            </a:tbl>
          </a:graphicData>
        </a:graphic>
      </p:graphicFrame>
      <p:graphicFrame>
        <p:nvGraphicFramePr>
          <p:cNvPr id="17" name="Tabla 16">
            <a:extLst>
              <a:ext uri="{FF2B5EF4-FFF2-40B4-BE49-F238E27FC236}">
                <a16:creationId xmlns:a16="http://schemas.microsoft.com/office/drawing/2014/main" id="{C33A2A62-036F-C383-8520-446B907B93C7}"/>
              </a:ext>
            </a:extLst>
          </p:cNvPr>
          <p:cNvGraphicFramePr>
            <a:graphicFrameLocks noGrp="1"/>
          </p:cNvGraphicFramePr>
          <p:nvPr>
            <p:extLst>
              <p:ext uri="{D42A27DB-BD31-4B8C-83A1-F6EECF244321}">
                <p14:modId xmlns:p14="http://schemas.microsoft.com/office/powerpoint/2010/main" val="1459504871"/>
              </p:ext>
            </p:extLst>
          </p:nvPr>
        </p:nvGraphicFramePr>
        <p:xfrm>
          <a:off x="6787861" y="5370088"/>
          <a:ext cx="2419350" cy="765606"/>
        </p:xfrm>
        <a:graphic>
          <a:graphicData uri="http://schemas.openxmlformats.org/drawingml/2006/table">
            <a:tbl>
              <a:tblPr>
                <a:tableStyleId>{D7AC3CCA-C797-4891-BE02-D94E43425B78}</a:tableStyleId>
              </a:tblPr>
              <a:tblGrid>
                <a:gridCol w="806450">
                  <a:extLst>
                    <a:ext uri="{9D8B030D-6E8A-4147-A177-3AD203B41FA5}">
                      <a16:colId xmlns:a16="http://schemas.microsoft.com/office/drawing/2014/main" val="4025633932"/>
                    </a:ext>
                  </a:extLst>
                </a:gridCol>
                <a:gridCol w="806450">
                  <a:extLst>
                    <a:ext uri="{9D8B030D-6E8A-4147-A177-3AD203B41FA5}">
                      <a16:colId xmlns:a16="http://schemas.microsoft.com/office/drawing/2014/main" val="3397563117"/>
                    </a:ext>
                  </a:extLst>
                </a:gridCol>
                <a:gridCol w="806450">
                  <a:extLst>
                    <a:ext uri="{9D8B030D-6E8A-4147-A177-3AD203B41FA5}">
                      <a16:colId xmlns:a16="http://schemas.microsoft.com/office/drawing/2014/main" val="1535915550"/>
                    </a:ext>
                  </a:extLst>
                </a:gridCol>
              </a:tblGrid>
              <a:tr h="255202">
                <a:tc gridSpan="3">
                  <a:txBody>
                    <a:bodyPr/>
                    <a:lstStyle/>
                    <a:p>
                      <a:pPr algn="ctr" fontAlgn="ctr"/>
                      <a:r>
                        <a:rPr lang="es-PE" sz="1400" b="1" u="none" strike="noStrike" dirty="0">
                          <a:solidFill>
                            <a:srgbClr val="000000"/>
                          </a:solidFill>
                          <a:effectLst/>
                        </a:rPr>
                        <a:t>INGRESADOS</a:t>
                      </a:r>
                      <a:endParaRPr lang="es-PE" sz="14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1959304820"/>
                  </a:ext>
                </a:extLst>
              </a:tr>
              <a:tr h="255202">
                <a:tc>
                  <a:txBody>
                    <a:bodyPr/>
                    <a:lstStyle/>
                    <a:p>
                      <a:pPr algn="ctr" fontAlgn="ctr"/>
                      <a:r>
                        <a:rPr lang="es-PE" sz="1400" b="1" u="none" strike="noStrike" dirty="0">
                          <a:solidFill>
                            <a:srgbClr val="000000"/>
                          </a:solidFill>
                          <a:effectLst/>
                        </a:rPr>
                        <a:t>DCCI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DCCII</a:t>
                      </a:r>
                      <a:endParaRPr lang="es-PE" sz="14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400" b="1" u="none" strike="noStrike" dirty="0">
                          <a:solidFill>
                            <a:srgbClr val="000000"/>
                          </a:solidFill>
                          <a:effectLst/>
                        </a:rPr>
                        <a:t>DCP</a:t>
                      </a:r>
                      <a:endParaRPr lang="es-PE" sz="14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794528736"/>
                  </a:ext>
                </a:extLst>
              </a:tr>
              <a:tr h="255202">
                <a:tc>
                  <a:txBody>
                    <a:bodyPr/>
                    <a:lstStyle/>
                    <a:p>
                      <a:pPr algn="ctr" fontAlgn="b"/>
                      <a:r>
                        <a:rPr lang="es-ES" sz="1400" b="0" i="0" u="none" strike="noStrike" dirty="0">
                          <a:solidFill>
                            <a:schemeClr val="tx1"/>
                          </a:solidFill>
                          <a:effectLst/>
                          <a:latin typeface="Calibri" panose="020F0502020204030204" pitchFamily="34" charset="0"/>
                        </a:rPr>
                        <a:t>7</a:t>
                      </a:r>
                      <a:endParaRPr lang="es-PE" sz="1400" b="0" i="0" u="none" strike="noStrike" dirty="0">
                        <a:solidFill>
                          <a:schemeClr val="tx1"/>
                        </a:solidFill>
                        <a:effectLst/>
                        <a:latin typeface="Calibri" panose="020F0502020204030204" pitchFamily="34" charset="0"/>
                      </a:endParaRPr>
                    </a:p>
                  </a:txBody>
                  <a:tcPr marL="0" marR="0" marT="0" marB="0" anchor="b"/>
                </a:tc>
                <a:tc>
                  <a:txBody>
                    <a:bodyPr/>
                    <a:lstStyle/>
                    <a:p>
                      <a:pPr algn="ctr" fontAlgn="b"/>
                      <a:r>
                        <a:rPr lang="es-ES" sz="1400" b="0" i="0" u="none" strike="noStrike" dirty="0">
                          <a:solidFill>
                            <a:schemeClr val="tx1"/>
                          </a:solidFill>
                          <a:effectLst/>
                          <a:latin typeface="Calibri" panose="020F0502020204030204" pitchFamily="34" charset="0"/>
                        </a:rPr>
                        <a:t>11</a:t>
                      </a:r>
                    </a:p>
                  </a:txBody>
                  <a:tcPr marL="0" marR="0" marT="0" marB="0" anchor="b"/>
                </a:tc>
                <a:tc>
                  <a:txBody>
                    <a:bodyPr/>
                    <a:lstStyle/>
                    <a:p>
                      <a:pPr algn="ctr" fontAlgn="ctr"/>
                      <a:r>
                        <a:rPr lang="es-ES" sz="1400" b="0" i="0" u="none" strike="noStrike" dirty="0">
                          <a:solidFill>
                            <a:schemeClr val="tx1"/>
                          </a:solidFill>
                          <a:effectLst/>
                          <a:latin typeface="Calibri" panose="020F0502020204030204" pitchFamily="34" charset="0"/>
                        </a:rPr>
                        <a:t>0</a:t>
                      </a:r>
                      <a:endParaRPr lang="es-PE" sz="1400" b="0" i="0" u="none" strike="noStrike" dirty="0">
                        <a:solidFill>
                          <a:schemeClr val="tx1"/>
                        </a:solidFill>
                        <a:effectLst/>
                        <a:latin typeface="Calibri" panose="020F0502020204030204" pitchFamily="34" charset="0"/>
                      </a:endParaRPr>
                    </a:p>
                  </a:txBody>
                  <a:tcPr marL="0" marR="0" marT="0" marB="0" anchor="ctr"/>
                </a:tc>
                <a:extLst>
                  <a:ext uri="{0D108BD9-81ED-4DB2-BD59-A6C34878D82A}">
                    <a16:rowId xmlns:a16="http://schemas.microsoft.com/office/drawing/2014/main" val="293386828"/>
                  </a:ext>
                </a:extLst>
              </a:tr>
            </a:tbl>
          </a:graphicData>
        </a:graphic>
      </p:graphicFrame>
      <p:graphicFrame>
        <p:nvGraphicFramePr>
          <p:cNvPr id="4" name="Tabla 3">
            <a:extLst>
              <a:ext uri="{FF2B5EF4-FFF2-40B4-BE49-F238E27FC236}">
                <a16:creationId xmlns:a16="http://schemas.microsoft.com/office/drawing/2014/main" id="{CD214831-1EEE-0E2C-6FB1-F3E198B65B13}"/>
              </a:ext>
            </a:extLst>
          </p:cNvPr>
          <p:cNvGraphicFramePr>
            <a:graphicFrameLocks noGrp="1"/>
          </p:cNvGraphicFramePr>
          <p:nvPr>
            <p:extLst>
              <p:ext uri="{D42A27DB-BD31-4B8C-83A1-F6EECF244321}">
                <p14:modId xmlns:p14="http://schemas.microsoft.com/office/powerpoint/2010/main" val="906349664"/>
              </p:ext>
            </p:extLst>
          </p:nvPr>
        </p:nvGraphicFramePr>
        <p:xfrm>
          <a:off x="4453080" y="1523209"/>
          <a:ext cx="7237416" cy="504190"/>
        </p:xfrm>
        <a:graphic>
          <a:graphicData uri="http://schemas.openxmlformats.org/drawingml/2006/table">
            <a:tbl>
              <a:tblPr>
                <a:tableStyleId>{22838BEF-8BB2-4498-84A7-C5851F593DF1}</a:tableStyleId>
              </a:tblPr>
              <a:tblGrid>
                <a:gridCol w="603118">
                  <a:extLst>
                    <a:ext uri="{9D8B030D-6E8A-4147-A177-3AD203B41FA5}">
                      <a16:colId xmlns:a16="http://schemas.microsoft.com/office/drawing/2014/main" val="687687978"/>
                    </a:ext>
                  </a:extLst>
                </a:gridCol>
                <a:gridCol w="603118">
                  <a:extLst>
                    <a:ext uri="{9D8B030D-6E8A-4147-A177-3AD203B41FA5}">
                      <a16:colId xmlns:a16="http://schemas.microsoft.com/office/drawing/2014/main" val="546401759"/>
                    </a:ext>
                  </a:extLst>
                </a:gridCol>
                <a:gridCol w="603118">
                  <a:extLst>
                    <a:ext uri="{9D8B030D-6E8A-4147-A177-3AD203B41FA5}">
                      <a16:colId xmlns:a16="http://schemas.microsoft.com/office/drawing/2014/main" val="2745900932"/>
                    </a:ext>
                  </a:extLst>
                </a:gridCol>
                <a:gridCol w="603118">
                  <a:extLst>
                    <a:ext uri="{9D8B030D-6E8A-4147-A177-3AD203B41FA5}">
                      <a16:colId xmlns:a16="http://schemas.microsoft.com/office/drawing/2014/main" val="3051670821"/>
                    </a:ext>
                  </a:extLst>
                </a:gridCol>
                <a:gridCol w="603118">
                  <a:extLst>
                    <a:ext uri="{9D8B030D-6E8A-4147-A177-3AD203B41FA5}">
                      <a16:colId xmlns:a16="http://schemas.microsoft.com/office/drawing/2014/main" val="4199922304"/>
                    </a:ext>
                  </a:extLst>
                </a:gridCol>
                <a:gridCol w="603118">
                  <a:extLst>
                    <a:ext uri="{9D8B030D-6E8A-4147-A177-3AD203B41FA5}">
                      <a16:colId xmlns:a16="http://schemas.microsoft.com/office/drawing/2014/main" val="2317794277"/>
                    </a:ext>
                  </a:extLst>
                </a:gridCol>
                <a:gridCol w="603118">
                  <a:extLst>
                    <a:ext uri="{9D8B030D-6E8A-4147-A177-3AD203B41FA5}">
                      <a16:colId xmlns:a16="http://schemas.microsoft.com/office/drawing/2014/main" val="2127776071"/>
                    </a:ext>
                  </a:extLst>
                </a:gridCol>
                <a:gridCol w="603118">
                  <a:extLst>
                    <a:ext uri="{9D8B030D-6E8A-4147-A177-3AD203B41FA5}">
                      <a16:colId xmlns:a16="http://schemas.microsoft.com/office/drawing/2014/main" val="2171024288"/>
                    </a:ext>
                  </a:extLst>
                </a:gridCol>
                <a:gridCol w="603118">
                  <a:extLst>
                    <a:ext uri="{9D8B030D-6E8A-4147-A177-3AD203B41FA5}">
                      <a16:colId xmlns:a16="http://schemas.microsoft.com/office/drawing/2014/main" val="207245972"/>
                    </a:ext>
                  </a:extLst>
                </a:gridCol>
                <a:gridCol w="603118">
                  <a:extLst>
                    <a:ext uri="{9D8B030D-6E8A-4147-A177-3AD203B41FA5}">
                      <a16:colId xmlns:a16="http://schemas.microsoft.com/office/drawing/2014/main" val="323295596"/>
                    </a:ext>
                  </a:extLst>
                </a:gridCol>
                <a:gridCol w="603118">
                  <a:extLst>
                    <a:ext uri="{9D8B030D-6E8A-4147-A177-3AD203B41FA5}">
                      <a16:colId xmlns:a16="http://schemas.microsoft.com/office/drawing/2014/main" val="1727774328"/>
                    </a:ext>
                  </a:extLst>
                </a:gridCol>
                <a:gridCol w="603118">
                  <a:extLst>
                    <a:ext uri="{9D8B030D-6E8A-4147-A177-3AD203B41FA5}">
                      <a16:colId xmlns:a16="http://schemas.microsoft.com/office/drawing/2014/main" val="1512223914"/>
                    </a:ext>
                  </a:extLst>
                </a:gridCol>
              </a:tblGrid>
              <a:tr h="0">
                <a:tc gridSpan="12">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FONDO</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FONDO</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fontAlgn="ct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24197109"/>
                  </a:ext>
                </a:extLst>
              </a:tr>
              <a:tr h="138191">
                <a:tc>
                  <a:txBody>
                    <a:bodyPr/>
                    <a:lstStyle/>
                    <a:p>
                      <a:pPr algn="ctr" fontAlgn="ctr"/>
                      <a:r>
                        <a:rPr lang="es-ES" sz="1000" b="1" i="0" u="none" strike="noStrike" dirty="0">
                          <a:solidFill>
                            <a:srgbClr val="000000"/>
                          </a:solidFill>
                          <a:effectLst/>
                          <a:latin typeface="Calibri" panose="020F0502020204030204" pitchFamily="34" charset="0"/>
                        </a:rPr>
                        <a:t>DICIEMBRE</a:t>
                      </a:r>
                      <a:endParaRPr lang="es-PE" sz="10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00" b="1" i="0" u="none" strike="noStrike" dirty="0">
                          <a:solidFill>
                            <a:srgbClr val="000000"/>
                          </a:solidFill>
                          <a:effectLst/>
                          <a:latin typeface="Calibri" panose="020F0502020204030204" pitchFamily="34" charset="0"/>
                        </a:rPr>
                        <a:t>NOVIEMBRE</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1" i="0" u="none" strike="noStrike" dirty="0">
                          <a:solidFill>
                            <a:srgbClr val="000000"/>
                          </a:solidFill>
                          <a:effectLst/>
                          <a:latin typeface="Calibri" panose="020F0502020204030204" pitchFamily="34" charset="0"/>
                        </a:rPr>
                        <a:t>OCTUBRE</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00" b="1" u="none" strike="noStrike" dirty="0">
                          <a:solidFill>
                            <a:srgbClr val="000000"/>
                          </a:solidFill>
                          <a:effectLst/>
                        </a:rPr>
                        <a:t>SETIEMBRE</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AGOSTO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JULIO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JUNIO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MAYO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ABRIL</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MARZO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1" u="none" strike="noStrike" dirty="0">
                          <a:solidFill>
                            <a:srgbClr val="000000"/>
                          </a:solidFill>
                          <a:effectLst/>
                        </a:rPr>
                        <a:t>FEBRERO</a:t>
                      </a:r>
                      <a:endParaRPr lang="es-PE" sz="10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1" i="0" u="none" strike="noStrike" dirty="0">
                          <a:solidFill>
                            <a:srgbClr val="000000"/>
                          </a:solidFill>
                          <a:effectLst/>
                          <a:latin typeface="Calibri" panose="020F0502020204030204" pitchFamily="34" charset="0"/>
                        </a:rPr>
                        <a:t>ENERO</a:t>
                      </a: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28356373"/>
                  </a:ext>
                </a:extLst>
              </a:tr>
              <a:tr h="184150">
                <a:tc>
                  <a:txBody>
                    <a:bodyPr/>
                    <a:lstStyle/>
                    <a:p>
                      <a:pPr algn="ctr" fontAlgn="b"/>
                      <a:r>
                        <a:rPr lang="es-ES" sz="1050" b="0" i="0" u="none" strike="noStrike" dirty="0">
                          <a:solidFill>
                            <a:srgbClr val="000000"/>
                          </a:solidFill>
                          <a:effectLst/>
                          <a:latin typeface="Calibri" panose="020F0502020204030204" pitchFamily="34" charset="0"/>
                        </a:rPr>
                        <a:t>633</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801</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800</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PE" sz="1050" b="0" u="none" strike="noStrike" dirty="0">
                          <a:solidFill>
                            <a:srgbClr val="000000"/>
                          </a:solidFill>
                          <a:effectLst/>
                        </a:rPr>
                        <a:t> 640</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u="none" strike="noStrike" dirty="0">
                          <a:solidFill>
                            <a:srgbClr val="000000"/>
                          </a:solidFill>
                          <a:effectLst/>
                        </a:rPr>
                        <a:t>878</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ctr"/>
                      <a:r>
                        <a:rPr lang="es-PE" sz="1050" b="0" u="none" strike="noStrike" dirty="0">
                          <a:solidFill>
                            <a:srgbClr val="000000"/>
                          </a:solidFill>
                          <a:effectLst/>
                        </a:rPr>
                        <a:t>878</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1149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1148</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1187</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1199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1050" b="0" u="none" strike="noStrike" dirty="0">
                          <a:solidFill>
                            <a:srgbClr val="000000"/>
                          </a:solidFill>
                          <a:effectLst/>
                        </a:rPr>
                        <a:t>1849</a:t>
                      </a:r>
                      <a:endParaRPr lang="es-PE" sz="10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50" b="0" i="0" u="none" strike="noStrike">
                          <a:solidFill>
                            <a:srgbClr val="000000"/>
                          </a:solidFill>
                          <a:effectLst/>
                          <a:latin typeface="Calibri" panose="020F0502020204030204" pitchFamily="34" charset="0"/>
                        </a:rPr>
                        <a:t>1072</a:t>
                      </a:r>
                      <a:endParaRPr lang="es-PE" sz="105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705486867"/>
                  </a:ext>
                </a:extLst>
              </a:tr>
            </a:tbl>
          </a:graphicData>
        </a:graphic>
      </p:graphicFrame>
      <p:graphicFrame>
        <p:nvGraphicFramePr>
          <p:cNvPr id="5" name="Tabla 4">
            <a:extLst>
              <a:ext uri="{FF2B5EF4-FFF2-40B4-BE49-F238E27FC236}">
                <a16:creationId xmlns:a16="http://schemas.microsoft.com/office/drawing/2014/main" id="{918D9CD9-846E-CA12-4993-7367F43B10C0}"/>
              </a:ext>
            </a:extLst>
          </p:cNvPr>
          <p:cNvGraphicFramePr>
            <a:graphicFrameLocks noGrp="1"/>
          </p:cNvGraphicFramePr>
          <p:nvPr>
            <p:extLst>
              <p:ext uri="{D42A27DB-BD31-4B8C-83A1-F6EECF244321}">
                <p14:modId xmlns:p14="http://schemas.microsoft.com/office/powerpoint/2010/main" val="3129523266"/>
              </p:ext>
            </p:extLst>
          </p:nvPr>
        </p:nvGraphicFramePr>
        <p:xfrm>
          <a:off x="4453078" y="2273937"/>
          <a:ext cx="7237416" cy="558800"/>
        </p:xfrm>
        <a:graphic>
          <a:graphicData uri="http://schemas.openxmlformats.org/drawingml/2006/table">
            <a:tbl>
              <a:tblPr>
                <a:tableStyleId>{8A107856-5554-42FB-B03E-39F5DBC370BA}</a:tableStyleId>
              </a:tblPr>
              <a:tblGrid>
                <a:gridCol w="636217">
                  <a:extLst>
                    <a:ext uri="{9D8B030D-6E8A-4147-A177-3AD203B41FA5}">
                      <a16:colId xmlns:a16="http://schemas.microsoft.com/office/drawing/2014/main" val="2142693837"/>
                    </a:ext>
                  </a:extLst>
                </a:gridCol>
                <a:gridCol w="636217">
                  <a:extLst>
                    <a:ext uri="{9D8B030D-6E8A-4147-A177-3AD203B41FA5}">
                      <a16:colId xmlns:a16="http://schemas.microsoft.com/office/drawing/2014/main" val="1370211318"/>
                    </a:ext>
                  </a:extLst>
                </a:gridCol>
                <a:gridCol w="564001">
                  <a:extLst>
                    <a:ext uri="{9D8B030D-6E8A-4147-A177-3AD203B41FA5}">
                      <a16:colId xmlns:a16="http://schemas.microsoft.com/office/drawing/2014/main" val="2054814922"/>
                    </a:ext>
                  </a:extLst>
                </a:gridCol>
                <a:gridCol w="600109">
                  <a:extLst>
                    <a:ext uri="{9D8B030D-6E8A-4147-A177-3AD203B41FA5}">
                      <a16:colId xmlns:a16="http://schemas.microsoft.com/office/drawing/2014/main" val="3975625084"/>
                    </a:ext>
                  </a:extLst>
                </a:gridCol>
                <a:gridCol w="600109">
                  <a:extLst>
                    <a:ext uri="{9D8B030D-6E8A-4147-A177-3AD203B41FA5}">
                      <a16:colId xmlns:a16="http://schemas.microsoft.com/office/drawing/2014/main" val="3554692956"/>
                    </a:ext>
                  </a:extLst>
                </a:gridCol>
                <a:gridCol w="600109">
                  <a:extLst>
                    <a:ext uri="{9D8B030D-6E8A-4147-A177-3AD203B41FA5}">
                      <a16:colId xmlns:a16="http://schemas.microsoft.com/office/drawing/2014/main" val="197205624"/>
                    </a:ext>
                  </a:extLst>
                </a:gridCol>
                <a:gridCol w="600109">
                  <a:extLst>
                    <a:ext uri="{9D8B030D-6E8A-4147-A177-3AD203B41FA5}">
                      <a16:colId xmlns:a16="http://schemas.microsoft.com/office/drawing/2014/main" val="2401651185"/>
                    </a:ext>
                  </a:extLst>
                </a:gridCol>
                <a:gridCol w="600109">
                  <a:extLst>
                    <a:ext uri="{9D8B030D-6E8A-4147-A177-3AD203B41FA5}">
                      <a16:colId xmlns:a16="http://schemas.microsoft.com/office/drawing/2014/main" val="873600576"/>
                    </a:ext>
                  </a:extLst>
                </a:gridCol>
                <a:gridCol w="600109">
                  <a:extLst>
                    <a:ext uri="{9D8B030D-6E8A-4147-A177-3AD203B41FA5}">
                      <a16:colId xmlns:a16="http://schemas.microsoft.com/office/drawing/2014/main" val="1535469484"/>
                    </a:ext>
                  </a:extLst>
                </a:gridCol>
                <a:gridCol w="600109">
                  <a:extLst>
                    <a:ext uri="{9D8B030D-6E8A-4147-A177-3AD203B41FA5}">
                      <a16:colId xmlns:a16="http://schemas.microsoft.com/office/drawing/2014/main" val="1437924823"/>
                    </a:ext>
                  </a:extLst>
                </a:gridCol>
                <a:gridCol w="600109">
                  <a:extLst>
                    <a:ext uri="{9D8B030D-6E8A-4147-A177-3AD203B41FA5}">
                      <a16:colId xmlns:a16="http://schemas.microsoft.com/office/drawing/2014/main" val="992196290"/>
                    </a:ext>
                  </a:extLst>
                </a:gridCol>
                <a:gridCol w="600109">
                  <a:extLst>
                    <a:ext uri="{9D8B030D-6E8A-4147-A177-3AD203B41FA5}">
                      <a16:colId xmlns:a16="http://schemas.microsoft.com/office/drawing/2014/main" val="4189063994"/>
                    </a:ext>
                  </a:extLst>
                </a:gridCol>
              </a:tblGrid>
              <a:tr h="190500">
                <a:tc gridSpan="12">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1200" b="1" u="none" strike="noStrike" dirty="0">
                          <a:solidFill>
                            <a:srgbClr val="000000"/>
                          </a:solidFill>
                          <a:effectLst/>
                        </a:rPr>
                        <a:t>ADMISIBILIDAD</a:t>
                      </a:r>
                      <a:endParaRPr lang="es-PE" sz="1200" b="1" i="0" u="none" strike="noStrike" dirty="0">
                        <a:solidFill>
                          <a:srgbClr val="000000"/>
                        </a:solidFill>
                        <a:effectLst/>
                        <a:latin typeface="Calibri" panose="020F0502020204030204" pitchFamily="34" charset="0"/>
                      </a:endParaRPr>
                    </a:p>
                  </a:txBody>
                  <a:tcPr marL="0" marR="0" marT="0" marB="0" anchor="ct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pPr algn="ctr" fontAlgn="ct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92534710"/>
                  </a:ext>
                </a:extLst>
              </a:tr>
              <a:tr h="184150">
                <a:tc>
                  <a:txBody>
                    <a:bodyPr/>
                    <a:lstStyle/>
                    <a:p>
                      <a:pPr algn="ctr" fontAlgn="ctr"/>
                      <a:r>
                        <a:rPr lang="es-ES" sz="950" b="1" i="0" u="none" strike="noStrike" dirty="0">
                          <a:solidFill>
                            <a:srgbClr val="000000"/>
                          </a:solidFill>
                          <a:effectLst/>
                          <a:latin typeface="Calibri" panose="020F0502020204030204" pitchFamily="34" charset="0"/>
                        </a:rPr>
                        <a:t>DICIEMBRE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NOVIEMBRE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OCTUBRE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SETIEMBRE</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AGOSTO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JULIO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JUNIO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MAYO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ABRIL</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MARZO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1" u="none" strike="noStrike" dirty="0">
                          <a:solidFill>
                            <a:srgbClr val="000000"/>
                          </a:solidFill>
                          <a:effectLst/>
                        </a:rPr>
                        <a:t>FEBRERO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ENERO</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27842348"/>
                  </a:ext>
                </a:extLst>
              </a:tr>
              <a:tr h="184150">
                <a:tc>
                  <a:txBody>
                    <a:bodyPr/>
                    <a:lstStyle/>
                    <a:p>
                      <a:pPr algn="ctr" fontAlgn="b"/>
                      <a:r>
                        <a:rPr lang="es-ES" sz="950" b="0" i="0" u="none" strike="noStrike" dirty="0">
                          <a:solidFill>
                            <a:srgbClr val="000000"/>
                          </a:solidFill>
                          <a:effectLst/>
                          <a:latin typeface="Calibri" panose="020F0502020204030204" pitchFamily="34" charset="0"/>
                        </a:rPr>
                        <a:t>511</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493</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435 </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PE" sz="950" b="0" u="none" strike="noStrike" dirty="0">
                          <a:solidFill>
                            <a:srgbClr val="000000"/>
                          </a:solidFill>
                          <a:effectLst/>
                        </a:rPr>
                        <a:t> 368</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u="none" strike="noStrike" dirty="0">
                          <a:solidFill>
                            <a:srgbClr val="000000"/>
                          </a:solidFill>
                          <a:effectLst/>
                        </a:rPr>
                        <a:t>3</a:t>
                      </a:r>
                      <a:r>
                        <a:rPr lang="es-PE" sz="950" b="0" u="none" strike="noStrike" dirty="0">
                          <a:solidFill>
                            <a:srgbClr val="000000"/>
                          </a:solidFill>
                          <a:effectLst/>
                        </a:rPr>
                        <a:t>27</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ctr"/>
                      <a:r>
                        <a:rPr lang="es-PE" sz="950" b="0" u="none" strike="noStrike" dirty="0">
                          <a:solidFill>
                            <a:srgbClr val="000000"/>
                          </a:solidFill>
                          <a:effectLst/>
                        </a:rPr>
                        <a:t>277</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271</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448</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a:solidFill>
                            <a:srgbClr val="000000"/>
                          </a:solidFill>
                          <a:effectLst/>
                        </a:rPr>
                        <a:t>808</a:t>
                      </a:r>
                      <a:endParaRPr lang="es-PE" sz="950" b="0" i="0" u="none" strike="noStrike">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1334</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PE" sz="950" b="0" u="none" strike="noStrike" dirty="0">
                          <a:solidFill>
                            <a:srgbClr val="000000"/>
                          </a:solidFill>
                          <a:effectLst/>
                        </a:rPr>
                        <a:t>1853</a:t>
                      </a:r>
                      <a:endParaRPr lang="es-PE" sz="950" b="0"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0" i="0" u="none" strike="noStrike" dirty="0">
                          <a:solidFill>
                            <a:srgbClr val="000000"/>
                          </a:solidFill>
                          <a:effectLst/>
                          <a:latin typeface="Calibri" panose="020F0502020204030204" pitchFamily="34" charset="0"/>
                        </a:rPr>
                        <a:t>1900</a:t>
                      </a:r>
                      <a:endParaRPr lang="es-PE" sz="950" b="0"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186196319"/>
                  </a:ext>
                </a:extLst>
              </a:tr>
            </a:tbl>
          </a:graphicData>
        </a:graphic>
      </p:graphicFrame>
      <p:sp>
        <p:nvSpPr>
          <p:cNvPr id="6" name="CuadroTexto 5">
            <a:extLst>
              <a:ext uri="{FF2B5EF4-FFF2-40B4-BE49-F238E27FC236}">
                <a16:creationId xmlns:a16="http://schemas.microsoft.com/office/drawing/2014/main" id="{85348961-3E42-D777-9E0B-39E48E615938}"/>
              </a:ext>
            </a:extLst>
          </p:cNvPr>
          <p:cNvSpPr txBox="1"/>
          <p:nvPr/>
        </p:nvSpPr>
        <p:spPr>
          <a:xfrm>
            <a:off x="7268874" y="1046149"/>
            <a:ext cx="1457325" cy="369327"/>
          </a:xfrm>
          <a:prstGeom prst="rect">
            <a:avLst/>
          </a:prstGeom>
          <a:noFill/>
        </p:spPr>
        <p:txBody>
          <a:bodyPr wrap="square" rtlCol="0">
            <a:spAutoFit/>
          </a:bodyPr>
          <a:lstStyle/>
          <a:p>
            <a:pPr algn="ctr"/>
            <a:r>
              <a:rPr lang="es-ES" b="1" dirty="0"/>
              <a:t>2023</a:t>
            </a:r>
            <a:endParaRPr lang="es-PE" b="1" dirty="0"/>
          </a:p>
        </p:txBody>
      </p:sp>
      <p:sp>
        <p:nvSpPr>
          <p:cNvPr id="7" name="CuadroTexto 6">
            <a:extLst>
              <a:ext uri="{FF2B5EF4-FFF2-40B4-BE49-F238E27FC236}">
                <a16:creationId xmlns:a16="http://schemas.microsoft.com/office/drawing/2014/main" id="{18BA90EE-AAFF-1CB0-5F16-DB7D138D89F2}"/>
              </a:ext>
            </a:extLst>
          </p:cNvPr>
          <p:cNvSpPr txBox="1"/>
          <p:nvPr/>
        </p:nvSpPr>
        <p:spPr>
          <a:xfrm>
            <a:off x="7296806" y="3081268"/>
            <a:ext cx="1457325" cy="369327"/>
          </a:xfrm>
          <a:prstGeom prst="rect">
            <a:avLst/>
          </a:prstGeom>
          <a:noFill/>
        </p:spPr>
        <p:txBody>
          <a:bodyPr wrap="square" rtlCol="0">
            <a:spAutoFit/>
          </a:bodyPr>
          <a:lstStyle/>
          <a:p>
            <a:pPr algn="ctr"/>
            <a:r>
              <a:rPr lang="es-ES" b="1" dirty="0"/>
              <a:t>2024</a:t>
            </a:r>
            <a:endParaRPr lang="es-PE" b="1" dirty="0"/>
          </a:p>
        </p:txBody>
      </p:sp>
      <p:sp>
        <p:nvSpPr>
          <p:cNvPr id="19" name="Cerrar llave 18">
            <a:extLst>
              <a:ext uri="{FF2B5EF4-FFF2-40B4-BE49-F238E27FC236}">
                <a16:creationId xmlns:a16="http://schemas.microsoft.com/office/drawing/2014/main" id="{C92AC8BE-E273-CB5B-F901-4896BFC3E34F}"/>
              </a:ext>
            </a:extLst>
          </p:cNvPr>
          <p:cNvSpPr/>
          <p:nvPr/>
        </p:nvSpPr>
        <p:spPr>
          <a:xfrm>
            <a:off x="4014930" y="1460125"/>
            <a:ext cx="514350" cy="4093467"/>
          </a:xfrm>
          <a:prstGeom prst="rightBrace">
            <a:avLst>
              <a:gd name="adj1" fmla="val 8333"/>
              <a:gd name="adj2" fmla="val 50465"/>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s-PE" b="1" dirty="0"/>
          </a:p>
        </p:txBody>
      </p:sp>
      <p:graphicFrame>
        <p:nvGraphicFramePr>
          <p:cNvPr id="20" name="Tabla 19">
            <a:extLst>
              <a:ext uri="{FF2B5EF4-FFF2-40B4-BE49-F238E27FC236}">
                <a16:creationId xmlns:a16="http://schemas.microsoft.com/office/drawing/2014/main" id="{9E072081-596E-D3DB-9CDC-DBA31EFB64A1}"/>
              </a:ext>
            </a:extLst>
          </p:cNvPr>
          <p:cNvGraphicFramePr>
            <a:graphicFrameLocks noGrp="1"/>
          </p:cNvGraphicFramePr>
          <p:nvPr>
            <p:extLst>
              <p:ext uri="{D42A27DB-BD31-4B8C-83A1-F6EECF244321}">
                <p14:modId xmlns:p14="http://schemas.microsoft.com/office/powerpoint/2010/main" val="447348175"/>
              </p:ext>
            </p:extLst>
          </p:nvPr>
        </p:nvGraphicFramePr>
        <p:xfrm>
          <a:off x="7428738" y="3573288"/>
          <a:ext cx="1225922" cy="528320"/>
        </p:xfrm>
        <a:graphic>
          <a:graphicData uri="http://schemas.openxmlformats.org/drawingml/2006/table">
            <a:tbl>
              <a:tblPr>
                <a:tableStyleId>{22838BEF-8BB2-4498-84A7-C5851F593DF1}</a:tableStyleId>
              </a:tblPr>
              <a:tblGrid>
                <a:gridCol w="612961">
                  <a:extLst>
                    <a:ext uri="{9D8B030D-6E8A-4147-A177-3AD203B41FA5}">
                      <a16:colId xmlns:a16="http://schemas.microsoft.com/office/drawing/2014/main" val="546401759"/>
                    </a:ext>
                  </a:extLst>
                </a:gridCol>
                <a:gridCol w="612961">
                  <a:extLst>
                    <a:ext uri="{9D8B030D-6E8A-4147-A177-3AD203B41FA5}">
                      <a16:colId xmlns:a16="http://schemas.microsoft.com/office/drawing/2014/main" val="2583310273"/>
                    </a:ext>
                  </a:extLst>
                </a:gridCol>
              </a:tblGrid>
              <a:tr h="0">
                <a:tc gridSpan="2">
                  <a:txBody>
                    <a:bodyPr/>
                    <a:lstStyle/>
                    <a:p>
                      <a:pPr algn="ctr" fontAlgn="ctr"/>
                      <a:r>
                        <a:rPr lang="es-PE" sz="1050" b="1" u="none" strike="noStrike" dirty="0">
                          <a:solidFill>
                            <a:srgbClr val="000000"/>
                          </a:solidFill>
                          <a:effectLst/>
                        </a:rPr>
                        <a:t>FONDO</a:t>
                      </a:r>
                      <a:endParaRPr lang="es-PE" sz="10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endParaRPr lang="es-PE" sz="10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2024197109"/>
                  </a:ext>
                </a:extLst>
              </a:tr>
              <a:tr h="184150">
                <a:tc>
                  <a:txBody>
                    <a:bodyPr/>
                    <a:lstStyle/>
                    <a:p>
                      <a:pPr algn="ctr" fontAlgn="ctr"/>
                      <a:r>
                        <a:rPr lang="es-ES" sz="900" b="1" i="0" u="none" strike="noStrike" dirty="0">
                          <a:solidFill>
                            <a:srgbClr val="000000"/>
                          </a:solidFill>
                          <a:effectLst/>
                          <a:latin typeface="Calibri" panose="020F0502020204030204" pitchFamily="34" charset="0"/>
                        </a:rPr>
                        <a:t>FEBRERO</a:t>
                      </a:r>
                      <a:endParaRPr lang="es-PE" sz="90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1000" b="1" i="0" u="none" strike="noStrike" dirty="0">
                          <a:solidFill>
                            <a:srgbClr val="000000"/>
                          </a:solidFill>
                          <a:effectLst/>
                          <a:latin typeface="Calibri" panose="020F0502020204030204" pitchFamily="34" charset="0"/>
                        </a:rPr>
                        <a:t>ENERO</a:t>
                      </a:r>
                      <a:endParaRPr lang="es-PE" sz="100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028356373"/>
                  </a:ext>
                </a:extLst>
              </a:tr>
              <a:tr h="184150">
                <a:tc>
                  <a:txBody>
                    <a:bodyPr/>
                    <a:lstStyle/>
                    <a:p>
                      <a:pPr algn="ctr" fontAlgn="b"/>
                      <a:r>
                        <a:rPr lang="es-ES" sz="1050" b="0" i="0" u="none" strike="noStrike" dirty="0">
                          <a:solidFill>
                            <a:srgbClr val="000000"/>
                          </a:solidFill>
                          <a:effectLst/>
                          <a:latin typeface="Calibri" panose="020F0502020204030204" pitchFamily="34" charset="0"/>
                        </a:rPr>
                        <a:t>607</a:t>
                      </a:r>
                      <a:endParaRPr lang="es-PE" sz="10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1050" b="0" i="0" u="none" strike="noStrike" dirty="0">
                          <a:solidFill>
                            <a:srgbClr val="000000"/>
                          </a:solidFill>
                          <a:effectLst/>
                          <a:latin typeface="Calibri" panose="020F0502020204030204" pitchFamily="34" charset="0"/>
                        </a:rPr>
                        <a:t>799</a:t>
                      </a:r>
                      <a:endParaRPr lang="es-PE" sz="105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705486867"/>
                  </a:ext>
                </a:extLst>
              </a:tr>
            </a:tbl>
          </a:graphicData>
        </a:graphic>
      </p:graphicFrame>
      <p:graphicFrame>
        <p:nvGraphicFramePr>
          <p:cNvPr id="21" name="Tabla 20">
            <a:extLst>
              <a:ext uri="{FF2B5EF4-FFF2-40B4-BE49-F238E27FC236}">
                <a16:creationId xmlns:a16="http://schemas.microsoft.com/office/drawing/2014/main" id="{7ACC4C65-AE12-CAAA-27F1-6FAE490D2AAA}"/>
              </a:ext>
            </a:extLst>
          </p:cNvPr>
          <p:cNvGraphicFramePr>
            <a:graphicFrameLocks noGrp="1"/>
          </p:cNvGraphicFramePr>
          <p:nvPr>
            <p:extLst>
              <p:ext uri="{D42A27DB-BD31-4B8C-83A1-F6EECF244321}">
                <p14:modId xmlns:p14="http://schemas.microsoft.com/office/powerpoint/2010/main" val="320400377"/>
              </p:ext>
            </p:extLst>
          </p:nvPr>
        </p:nvGraphicFramePr>
        <p:xfrm>
          <a:off x="7396276" y="4386854"/>
          <a:ext cx="1258384" cy="639171"/>
        </p:xfrm>
        <a:graphic>
          <a:graphicData uri="http://schemas.openxmlformats.org/drawingml/2006/table">
            <a:tbl>
              <a:tblPr>
                <a:tableStyleId>{8A107856-5554-42FB-B03E-39F5DBC370BA}</a:tableStyleId>
              </a:tblPr>
              <a:tblGrid>
                <a:gridCol w="629192">
                  <a:extLst>
                    <a:ext uri="{9D8B030D-6E8A-4147-A177-3AD203B41FA5}">
                      <a16:colId xmlns:a16="http://schemas.microsoft.com/office/drawing/2014/main" val="4253138498"/>
                    </a:ext>
                  </a:extLst>
                </a:gridCol>
                <a:gridCol w="629192">
                  <a:extLst>
                    <a:ext uri="{9D8B030D-6E8A-4147-A177-3AD203B41FA5}">
                      <a16:colId xmlns:a16="http://schemas.microsoft.com/office/drawing/2014/main" val="2142693837"/>
                    </a:ext>
                  </a:extLst>
                </a:gridCol>
              </a:tblGrid>
              <a:tr h="270871">
                <a:tc gridSpan="2">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tc hMerge="1">
                  <a:txBody>
                    <a:bodyPr/>
                    <a:lstStyle/>
                    <a:p>
                      <a:pPr algn="ctr" fontAlgn="ctr"/>
                      <a:r>
                        <a:rPr lang="es-PE" sz="950" b="1" u="none" strike="noStrike" dirty="0">
                          <a:solidFill>
                            <a:srgbClr val="000000"/>
                          </a:solidFill>
                          <a:effectLst/>
                        </a:rPr>
                        <a:t>ADMISIBILIDAD</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1592534710"/>
                  </a:ext>
                </a:extLst>
              </a:tr>
              <a:tr h="184150">
                <a:tc>
                  <a:txBody>
                    <a:bodyPr/>
                    <a:lstStyle/>
                    <a:p>
                      <a:pPr algn="ctr" fontAlgn="ctr"/>
                      <a:r>
                        <a:rPr lang="es-ES" sz="950" b="1" i="0" u="none" strike="noStrike" dirty="0">
                          <a:solidFill>
                            <a:srgbClr val="000000"/>
                          </a:solidFill>
                          <a:effectLst/>
                          <a:latin typeface="Calibri" panose="020F0502020204030204" pitchFamily="34" charset="0"/>
                        </a:rPr>
                        <a:t>FEBRERO</a:t>
                      </a:r>
                      <a:endParaRPr lang="es-PE" sz="950" b="1" i="0" u="none" strike="noStrike" dirty="0">
                        <a:solidFill>
                          <a:srgbClr val="000000"/>
                        </a:solidFill>
                        <a:effectLst/>
                        <a:latin typeface="Calibri" panose="020F0502020204030204" pitchFamily="34" charset="0"/>
                      </a:endParaRPr>
                    </a:p>
                  </a:txBody>
                  <a:tcPr marL="0" marR="0" marT="0" marB="0" anchor="ctr"/>
                </a:tc>
                <a:tc>
                  <a:txBody>
                    <a:bodyPr/>
                    <a:lstStyle/>
                    <a:p>
                      <a:pPr algn="ctr" fontAlgn="ctr"/>
                      <a:r>
                        <a:rPr lang="es-ES" sz="950" b="1" i="0" u="none" strike="noStrike" dirty="0">
                          <a:solidFill>
                            <a:srgbClr val="000000"/>
                          </a:solidFill>
                          <a:effectLst/>
                          <a:latin typeface="Calibri" panose="020F0502020204030204" pitchFamily="34" charset="0"/>
                        </a:rPr>
                        <a:t>ENERO</a:t>
                      </a:r>
                      <a:endParaRPr lang="es-PE" sz="950" b="1" i="0" u="none" strike="noStrike" dirty="0">
                        <a:solidFill>
                          <a:srgbClr val="000000"/>
                        </a:solidFill>
                        <a:effectLst/>
                        <a:latin typeface="Calibri" panose="020F0502020204030204" pitchFamily="34" charset="0"/>
                      </a:endParaRPr>
                    </a:p>
                  </a:txBody>
                  <a:tcPr marL="0" marR="0" marT="0" marB="0" anchor="ctr"/>
                </a:tc>
                <a:extLst>
                  <a:ext uri="{0D108BD9-81ED-4DB2-BD59-A6C34878D82A}">
                    <a16:rowId xmlns:a16="http://schemas.microsoft.com/office/drawing/2014/main" val="3627842348"/>
                  </a:ext>
                </a:extLst>
              </a:tr>
              <a:tr h="184150">
                <a:tc>
                  <a:txBody>
                    <a:bodyPr/>
                    <a:lstStyle/>
                    <a:p>
                      <a:pPr algn="ctr" fontAlgn="b"/>
                      <a:r>
                        <a:rPr lang="es-ES" sz="950" b="0" i="0" u="none" strike="noStrike" dirty="0">
                          <a:solidFill>
                            <a:srgbClr val="000000"/>
                          </a:solidFill>
                          <a:effectLst/>
                          <a:latin typeface="Calibri" panose="020F0502020204030204" pitchFamily="34" charset="0"/>
                        </a:rPr>
                        <a:t>550</a:t>
                      </a:r>
                      <a:endParaRPr lang="es-PE" sz="950" b="0" i="0" u="none" strike="noStrike" dirty="0">
                        <a:solidFill>
                          <a:srgbClr val="000000"/>
                        </a:solidFill>
                        <a:effectLst/>
                        <a:latin typeface="Calibri" panose="020F0502020204030204" pitchFamily="34" charset="0"/>
                      </a:endParaRPr>
                    </a:p>
                  </a:txBody>
                  <a:tcPr marL="0" marR="0" marT="0" marB="0" anchor="b"/>
                </a:tc>
                <a:tc>
                  <a:txBody>
                    <a:bodyPr/>
                    <a:lstStyle/>
                    <a:p>
                      <a:pPr algn="ctr" fontAlgn="b"/>
                      <a:r>
                        <a:rPr lang="es-ES" sz="950" b="0" i="0" u="none" strike="noStrike" dirty="0">
                          <a:solidFill>
                            <a:srgbClr val="000000"/>
                          </a:solidFill>
                          <a:effectLst/>
                          <a:latin typeface="Calibri" panose="020F0502020204030204" pitchFamily="34" charset="0"/>
                        </a:rPr>
                        <a:t>573</a:t>
                      </a:r>
                      <a:endParaRPr lang="es-PE" sz="95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86196319"/>
                  </a:ext>
                </a:extLst>
              </a:tr>
            </a:tbl>
          </a:graphicData>
        </a:graphic>
      </p:graphicFrame>
    </p:spTree>
    <p:extLst>
      <p:ext uri="{BB962C8B-B14F-4D97-AF65-F5344CB8AC3E}">
        <p14:creationId xmlns:p14="http://schemas.microsoft.com/office/powerpoint/2010/main" val="37762388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RECLAMOS – 2023 - 2024</a:t>
            </a:r>
            <a:endParaRPr lang="es-PE" sz="2800" b="1" dirty="0">
              <a:latin typeface="Arial" panose="020B0604020202020204" pitchFamily="34" charset="0"/>
              <a:cs typeface="Arial" panose="020B0604020202020204" pitchFamily="34" charset="0"/>
            </a:endParaRPr>
          </a:p>
        </p:txBody>
      </p:sp>
      <p:sp>
        <p:nvSpPr>
          <p:cNvPr id="6" name="CuadroTexto 5">
            <a:extLst>
              <a:ext uri="{FF2B5EF4-FFF2-40B4-BE49-F238E27FC236}">
                <a16:creationId xmlns:a16="http://schemas.microsoft.com/office/drawing/2014/main" id="{8FC8A378-12BC-4544-B033-50EA62648EBF}"/>
              </a:ext>
            </a:extLst>
          </p:cNvPr>
          <p:cNvSpPr txBox="1"/>
          <p:nvPr/>
        </p:nvSpPr>
        <p:spPr>
          <a:xfrm>
            <a:off x="533400" y="6007727"/>
            <a:ext cx="6676697" cy="461665"/>
          </a:xfrm>
          <a:prstGeom prst="rect">
            <a:avLst/>
          </a:prstGeom>
          <a:noFill/>
        </p:spPr>
        <p:txBody>
          <a:bodyPr wrap="square">
            <a:spAutoFit/>
          </a:bodyPr>
          <a:lstStyle/>
          <a:p>
            <a:r>
              <a:rPr lang="es-PE" sz="1200" dirty="0">
                <a:effectLst/>
                <a:latin typeface="+mj-lt"/>
                <a:ea typeface="Calibri" panose="020F0502020204030204" pitchFamily="34" charset="0"/>
              </a:rPr>
              <a:t> </a:t>
            </a:r>
          </a:p>
          <a:p>
            <a:r>
              <a:rPr lang="es-PE" sz="1200" dirty="0">
                <a:effectLst/>
                <a:latin typeface="+mj-lt"/>
                <a:ea typeface="Calibri" panose="020F0502020204030204" pitchFamily="34" charset="0"/>
              </a:rPr>
              <a:t>	</a:t>
            </a:r>
          </a:p>
        </p:txBody>
      </p:sp>
      <p:graphicFrame>
        <p:nvGraphicFramePr>
          <p:cNvPr id="2" name="Tabla 1">
            <a:extLst>
              <a:ext uri="{FF2B5EF4-FFF2-40B4-BE49-F238E27FC236}">
                <a16:creationId xmlns:a16="http://schemas.microsoft.com/office/drawing/2014/main" id="{F469929E-FDC0-9B34-9F7F-FC6CEAFB71B9}"/>
              </a:ext>
            </a:extLst>
          </p:cNvPr>
          <p:cNvGraphicFramePr>
            <a:graphicFrameLocks noGrp="1"/>
          </p:cNvGraphicFramePr>
          <p:nvPr>
            <p:extLst>
              <p:ext uri="{D42A27DB-BD31-4B8C-83A1-F6EECF244321}">
                <p14:modId xmlns:p14="http://schemas.microsoft.com/office/powerpoint/2010/main" val="1777904602"/>
              </p:ext>
            </p:extLst>
          </p:nvPr>
        </p:nvGraphicFramePr>
        <p:xfrm>
          <a:off x="533400" y="1212483"/>
          <a:ext cx="10915650" cy="4531076"/>
        </p:xfrm>
        <a:graphic>
          <a:graphicData uri="http://schemas.openxmlformats.org/drawingml/2006/table">
            <a:tbl>
              <a:tblPr/>
              <a:tblGrid>
                <a:gridCol w="2282017">
                  <a:extLst>
                    <a:ext uri="{9D8B030D-6E8A-4147-A177-3AD203B41FA5}">
                      <a16:colId xmlns:a16="http://schemas.microsoft.com/office/drawing/2014/main" val="2917298904"/>
                    </a:ext>
                  </a:extLst>
                </a:gridCol>
                <a:gridCol w="608538">
                  <a:extLst>
                    <a:ext uri="{9D8B030D-6E8A-4147-A177-3AD203B41FA5}">
                      <a16:colId xmlns:a16="http://schemas.microsoft.com/office/drawing/2014/main" val="1721117994"/>
                    </a:ext>
                  </a:extLst>
                </a:gridCol>
                <a:gridCol w="551488">
                  <a:extLst>
                    <a:ext uri="{9D8B030D-6E8A-4147-A177-3AD203B41FA5}">
                      <a16:colId xmlns:a16="http://schemas.microsoft.com/office/drawing/2014/main" val="3766073853"/>
                    </a:ext>
                  </a:extLst>
                </a:gridCol>
                <a:gridCol w="589521">
                  <a:extLst>
                    <a:ext uri="{9D8B030D-6E8A-4147-A177-3AD203B41FA5}">
                      <a16:colId xmlns:a16="http://schemas.microsoft.com/office/drawing/2014/main" val="1567370949"/>
                    </a:ext>
                  </a:extLst>
                </a:gridCol>
                <a:gridCol w="665588">
                  <a:extLst>
                    <a:ext uri="{9D8B030D-6E8A-4147-A177-3AD203B41FA5}">
                      <a16:colId xmlns:a16="http://schemas.microsoft.com/office/drawing/2014/main" val="2476321728"/>
                    </a:ext>
                  </a:extLst>
                </a:gridCol>
                <a:gridCol w="608538">
                  <a:extLst>
                    <a:ext uri="{9D8B030D-6E8A-4147-A177-3AD203B41FA5}">
                      <a16:colId xmlns:a16="http://schemas.microsoft.com/office/drawing/2014/main" val="273347508"/>
                    </a:ext>
                  </a:extLst>
                </a:gridCol>
                <a:gridCol w="551488">
                  <a:extLst>
                    <a:ext uri="{9D8B030D-6E8A-4147-A177-3AD203B41FA5}">
                      <a16:colId xmlns:a16="http://schemas.microsoft.com/office/drawing/2014/main" val="3870614027"/>
                    </a:ext>
                  </a:extLst>
                </a:gridCol>
                <a:gridCol w="532471">
                  <a:extLst>
                    <a:ext uri="{9D8B030D-6E8A-4147-A177-3AD203B41FA5}">
                      <a16:colId xmlns:a16="http://schemas.microsoft.com/office/drawing/2014/main" val="1875747922"/>
                    </a:ext>
                  </a:extLst>
                </a:gridCol>
                <a:gridCol w="608538">
                  <a:extLst>
                    <a:ext uri="{9D8B030D-6E8A-4147-A177-3AD203B41FA5}">
                      <a16:colId xmlns:a16="http://schemas.microsoft.com/office/drawing/2014/main" val="1209249387"/>
                    </a:ext>
                  </a:extLst>
                </a:gridCol>
                <a:gridCol w="646573">
                  <a:extLst>
                    <a:ext uri="{9D8B030D-6E8A-4147-A177-3AD203B41FA5}">
                      <a16:colId xmlns:a16="http://schemas.microsoft.com/office/drawing/2014/main" val="3458326233"/>
                    </a:ext>
                  </a:extLst>
                </a:gridCol>
                <a:gridCol w="665588">
                  <a:extLst>
                    <a:ext uri="{9D8B030D-6E8A-4147-A177-3AD203B41FA5}">
                      <a16:colId xmlns:a16="http://schemas.microsoft.com/office/drawing/2014/main" val="3027673746"/>
                    </a:ext>
                  </a:extLst>
                </a:gridCol>
                <a:gridCol w="608538">
                  <a:extLst>
                    <a:ext uri="{9D8B030D-6E8A-4147-A177-3AD203B41FA5}">
                      <a16:colId xmlns:a16="http://schemas.microsoft.com/office/drawing/2014/main" val="1238173908"/>
                    </a:ext>
                  </a:extLst>
                </a:gridCol>
                <a:gridCol w="665588">
                  <a:extLst>
                    <a:ext uri="{9D8B030D-6E8A-4147-A177-3AD203B41FA5}">
                      <a16:colId xmlns:a16="http://schemas.microsoft.com/office/drawing/2014/main" val="1801178834"/>
                    </a:ext>
                  </a:extLst>
                </a:gridCol>
                <a:gridCol w="665588">
                  <a:extLst>
                    <a:ext uri="{9D8B030D-6E8A-4147-A177-3AD203B41FA5}">
                      <a16:colId xmlns:a16="http://schemas.microsoft.com/office/drawing/2014/main" val="1532683247"/>
                    </a:ext>
                  </a:extLst>
                </a:gridCol>
                <a:gridCol w="665588">
                  <a:extLst>
                    <a:ext uri="{9D8B030D-6E8A-4147-A177-3AD203B41FA5}">
                      <a16:colId xmlns:a16="http://schemas.microsoft.com/office/drawing/2014/main" val="2549877228"/>
                    </a:ext>
                  </a:extLst>
                </a:gridCol>
              </a:tblGrid>
              <a:tr h="276128">
                <a:tc>
                  <a:txBody>
                    <a:bodyPr/>
                    <a:lstStyle/>
                    <a:p>
                      <a:pPr algn="ctr" fontAlgn="b"/>
                      <a:endParaRPr lang="es-PE" sz="1800" b="1" i="0" u="none" strike="noStrike">
                        <a:solidFill>
                          <a:srgbClr val="000000"/>
                        </a:solidFill>
                        <a:effectLst/>
                        <a:latin typeface="Calibri" panose="020F0502020204030204" pitchFamily="34" charset="0"/>
                      </a:endParaRPr>
                    </a:p>
                  </a:txBody>
                  <a:tcPr marL="0" marR="0" marT="0" marB="0" anchor="b">
                    <a:lnL>
                      <a:noFill/>
                    </a:lnL>
                    <a:lnR w="12700" cap="flat" cmpd="sng" algn="ctr">
                      <a:solidFill>
                        <a:srgbClr val="000000"/>
                      </a:solidFill>
                      <a:prstDash val="solid"/>
                      <a:round/>
                      <a:headEnd type="none" w="med" len="med"/>
                      <a:tailEnd type="none" w="med" len="med"/>
                    </a:lnR>
                    <a:lnT>
                      <a:noFill/>
                    </a:lnT>
                    <a:lnB>
                      <a:noFill/>
                    </a:lnB>
                  </a:tcPr>
                </a:tc>
                <a:tc gridSpan="12">
                  <a:txBody>
                    <a:bodyPr/>
                    <a:lstStyle/>
                    <a:p>
                      <a:pPr algn="ctr" fontAlgn="b"/>
                      <a:r>
                        <a:rPr lang="es-PE" sz="1800" b="1" i="0" u="none" strike="noStrike" dirty="0">
                          <a:solidFill>
                            <a:srgbClr val="000000"/>
                          </a:solidFill>
                          <a:effectLst/>
                          <a:latin typeface="Calibri" panose="020F0502020204030204" pitchFamily="34" charset="0"/>
                        </a:rPr>
                        <a:t>2023</a:t>
                      </a: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gridSpan="2">
                  <a:txBody>
                    <a:bodyPr/>
                    <a:lstStyle/>
                    <a:p>
                      <a:pPr algn="ctr" fontAlgn="b"/>
                      <a:r>
                        <a:rPr lang="es-ES" sz="1800" b="1" i="0" u="none" strike="noStrike" dirty="0">
                          <a:solidFill>
                            <a:srgbClr val="000000"/>
                          </a:solidFill>
                          <a:effectLst/>
                          <a:latin typeface="Calibri" panose="020F0502020204030204" pitchFamily="34" charset="0"/>
                        </a:rPr>
                        <a:t>2024</a:t>
                      </a:r>
                      <a:endParaRPr lang="es-PE" sz="18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b"/>
                      <a:endParaRPr lang="es-PE" sz="1800" b="1" i="0" u="none" strike="noStrike" dirty="0">
                        <a:solidFill>
                          <a:srgbClr val="000000"/>
                        </a:solidFill>
                        <a:effectLst/>
                        <a:latin typeface="Calibri" panose="020F0502020204030204" pitchFamily="34"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0092368"/>
                  </a:ext>
                </a:extLst>
              </a:tr>
              <a:tr h="552257">
                <a:tc>
                  <a:txBody>
                    <a:bodyPr/>
                    <a:lstStyle/>
                    <a:p>
                      <a:pPr algn="l" fontAlgn="ctr"/>
                      <a:r>
                        <a:rPr lang="es-PE" sz="1800" b="1" i="0" u="none" strike="noStrike">
                          <a:solidFill>
                            <a:srgbClr val="FFFFFF"/>
                          </a:solidFill>
                          <a:effectLst/>
                          <a:latin typeface="Calibri Light" panose="020F0302020204030204" pitchFamily="34" charset="0"/>
                        </a:rPr>
                        <a:t>DIVISIÓN DE CONTROL CONCURRENTE-I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a:noFill/>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377238303"/>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311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401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419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415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368 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309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297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209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188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dirty="0">
                          <a:solidFill>
                            <a:srgbClr val="000000"/>
                          </a:solidFill>
                          <a:effectLst/>
                          <a:latin typeface="Calibri Light" panose="020F0302020204030204" pitchFamily="34" charset="0"/>
                        </a:rPr>
                        <a:t>242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285</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264</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179059873"/>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15.8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19.9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18.9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10.1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dirty="0">
                          <a:solidFill>
                            <a:srgbClr val="000000"/>
                          </a:solidFill>
                          <a:effectLst/>
                          <a:latin typeface="Calibri Light" panose="020F0302020204030204" pitchFamily="34" charset="0"/>
                        </a:rPr>
                        <a:t>17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16.7</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17.6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141783133"/>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20.5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19.6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20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18.96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20.24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20.69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18.80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dirty="0">
                          <a:solidFill>
                            <a:srgbClr val="000000"/>
                          </a:solidFill>
                          <a:effectLst/>
                          <a:latin typeface="Calibri Light" panose="020F0302020204030204" pitchFamily="34" charset="0"/>
                        </a:rPr>
                        <a:t>14.24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17.07</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15.00</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630432342"/>
                  </a:ext>
                </a:extLst>
              </a:tr>
              <a:tr h="552257">
                <a:tc>
                  <a:txBody>
                    <a:bodyPr/>
                    <a:lstStyle/>
                    <a:p>
                      <a:pPr algn="l" fontAlgn="ctr"/>
                      <a:r>
                        <a:rPr lang="es-PE" sz="1800" b="1" i="0" u="none" strike="noStrike">
                          <a:solidFill>
                            <a:srgbClr val="FFFFFF"/>
                          </a:solidFill>
                          <a:effectLst/>
                          <a:latin typeface="Calibri Light" panose="020F0302020204030204" pitchFamily="34" charset="0"/>
                        </a:rPr>
                        <a:t>DIVISIÓN DE CONTROL CONCURRENTE-II</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4209192784"/>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113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107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104 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99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105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76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83</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81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0" i="0" u="none" strike="noStrike" dirty="0">
                          <a:solidFill>
                            <a:srgbClr val="000000"/>
                          </a:solidFill>
                          <a:effectLst/>
                          <a:latin typeface="Calibri Light" panose="020F0302020204030204" pitchFamily="34" charset="0"/>
                        </a:rPr>
                        <a:t>79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83</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983604498"/>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13.5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11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11.5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12.5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7.8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8.6</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dirty="0">
                          <a:solidFill>
                            <a:srgbClr val="000000"/>
                          </a:solidFill>
                          <a:effectLst/>
                          <a:latin typeface="Calibri Light" panose="020F0302020204030204" pitchFamily="34" charset="0"/>
                        </a:rPr>
                        <a:t>8.8</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ES" sz="1800" b="0" i="0" u="none" strike="noStrike" dirty="0">
                          <a:solidFill>
                            <a:srgbClr val="000000"/>
                          </a:solidFill>
                          <a:effectLst/>
                          <a:latin typeface="Calibri Light" panose="020F0302020204030204" pitchFamily="34" charset="0"/>
                        </a:rPr>
                        <a:t>8.7</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7.9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2612411869"/>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8.69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8.22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9.72</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9.30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8.23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9.08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10.00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10.50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9.74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9.65</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dirty="0">
                          <a:solidFill>
                            <a:srgbClr val="000000"/>
                          </a:solidFill>
                          <a:effectLst/>
                          <a:latin typeface="Calibri Light" panose="020F0302020204030204" pitchFamily="34" charset="0"/>
                        </a:rPr>
                        <a:t>9.20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ES" sz="1800" b="1" i="0" u="none" strike="noStrike" dirty="0">
                          <a:solidFill>
                            <a:srgbClr val="000000"/>
                          </a:solidFill>
                          <a:effectLst/>
                          <a:latin typeface="Calibri Light" panose="020F0302020204030204" pitchFamily="34" charset="0"/>
                        </a:rPr>
                        <a:t>9.08</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10.50</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2093569207"/>
                  </a:ext>
                </a:extLst>
              </a:tr>
              <a:tr h="593303">
                <a:tc>
                  <a:txBody>
                    <a:bodyPr/>
                    <a:lstStyle/>
                    <a:p>
                      <a:pPr algn="l" fontAlgn="ctr"/>
                      <a:r>
                        <a:rPr lang="es-PE" sz="1800" b="1" i="0" u="none" strike="noStrike">
                          <a:solidFill>
                            <a:srgbClr val="FFFFFF"/>
                          </a:solidFill>
                          <a:effectLst/>
                          <a:latin typeface="Calibri Light" panose="020F0302020204030204" pitchFamily="34" charset="0"/>
                        </a:rPr>
                        <a:t>DIVISIÓN DE CONTROL POSTERIOR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5B9BD5"/>
                    </a:solidFill>
                  </a:tcPr>
                </a:tc>
                <a:tc>
                  <a:txBody>
                    <a:bodyPr/>
                    <a:lstStyle/>
                    <a:p>
                      <a:pPr algn="ctr" fontAlgn="ctr"/>
                      <a:r>
                        <a:rPr lang="es-PE" sz="1800" b="1" i="0" u="none" strike="noStrike">
                          <a:solidFill>
                            <a:srgbClr val="FFFFFF"/>
                          </a:solidFill>
                          <a:effectLst/>
                          <a:latin typeface="Calibri Light" panose="020F0302020204030204" pitchFamily="34" charset="0"/>
                        </a:rPr>
                        <a:t>ENE</a:t>
                      </a:r>
                    </a:p>
                  </a:txBody>
                  <a:tcPr marL="0" marR="0" marT="0" marB="0" anchor="ctr">
                    <a:lnL w="12700" cap="flat" cmpd="sng" algn="ctr">
                      <a:solidFill>
                        <a:srgbClr val="5B9BD5"/>
                      </a:solidFill>
                      <a:prstDash val="solid"/>
                      <a:round/>
                      <a:headEnd type="none" w="med" len="med"/>
                      <a:tailEnd type="none" w="med" len="med"/>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FEB</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ABR</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MAY</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JUN</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JUL</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AGO</a:t>
                      </a:r>
                    </a:p>
                  </a:txBody>
                  <a:tcPr marL="0" marR="0" marT="0" marB="0" anchor="ctr">
                    <a:lnL>
                      <a:noFill/>
                    </a:lnL>
                    <a:lnR>
                      <a:noFill/>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SET</a:t>
                      </a:r>
                    </a:p>
                  </a:txBody>
                  <a:tcPr marL="0" marR="0" marT="0" marB="0" anchor="ctr">
                    <a:lnL>
                      <a:noFill/>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OCT</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a:solidFill>
                            <a:srgbClr val="FFFFFF"/>
                          </a:solidFill>
                          <a:effectLst/>
                          <a:latin typeface="Calibri Light" panose="020F0302020204030204" pitchFamily="34" charset="0"/>
                        </a:rPr>
                        <a:t>NOV</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PE" sz="1800" b="1" i="0" u="none" strike="noStrike" dirty="0">
                          <a:solidFill>
                            <a:srgbClr val="FFFFFF"/>
                          </a:solidFill>
                          <a:effectLst/>
                          <a:latin typeface="Calibri Light" panose="020F0302020204030204" pitchFamily="34" charset="0"/>
                        </a:rPr>
                        <a:t>DIC</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2F75B5"/>
                    </a:solidFill>
                  </a:tcPr>
                </a:tc>
                <a:tc>
                  <a:txBody>
                    <a:bodyPr/>
                    <a:lstStyle/>
                    <a:p>
                      <a:pPr algn="ctr" fontAlgn="ctr"/>
                      <a:r>
                        <a:rPr lang="es-ES" sz="1800" b="1" i="0" u="none" strike="noStrike" dirty="0">
                          <a:solidFill>
                            <a:srgbClr val="FFFFFF"/>
                          </a:solidFill>
                          <a:effectLst/>
                          <a:latin typeface="Calibri Light" panose="020F0302020204030204" pitchFamily="34" charset="0"/>
                        </a:rPr>
                        <a:t>ENE</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tc>
                  <a:txBody>
                    <a:bodyPr/>
                    <a:lstStyle/>
                    <a:p>
                      <a:pPr algn="ctr" fontAlgn="ctr"/>
                      <a:r>
                        <a:rPr lang="es-ES" sz="1800" b="1" i="0" u="none" strike="noStrike" dirty="0">
                          <a:solidFill>
                            <a:srgbClr val="FFFFFF"/>
                          </a:solidFill>
                          <a:effectLst/>
                          <a:latin typeface="Calibri Light" panose="020F0302020204030204" pitchFamily="34" charset="0"/>
                        </a:rPr>
                        <a:t>FEB</a:t>
                      </a:r>
                      <a:endParaRPr lang="es-PE" sz="180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00B050"/>
                    </a:solidFill>
                  </a:tcPr>
                </a:tc>
                <a:extLst>
                  <a:ext uri="{0D108BD9-81ED-4DB2-BD59-A6C34878D82A}">
                    <a16:rowId xmlns:a16="http://schemas.microsoft.com/office/drawing/2014/main" val="1775365080"/>
                  </a:ext>
                </a:extLst>
              </a:tr>
              <a:tr h="276128">
                <a:tc>
                  <a:txBody>
                    <a:bodyPr/>
                    <a:lstStyle/>
                    <a:p>
                      <a:pPr algn="l" fontAlgn="ctr"/>
                      <a:r>
                        <a:rPr lang="es-PE" sz="1800" b="1" i="0" u="none" strike="noStrike">
                          <a:solidFill>
                            <a:srgbClr val="000000"/>
                          </a:solidFill>
                          <a:effectLst/>
                          <a:latin typeface="Calibri Light" panose="020F0302020204030204" pitchFamily="34" charset="0"/>
                        </a:rPr>
                        <a:t>Reclamos resueltos</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0"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0" i="0" u="none" strike="noStrike">
                          <a:solidFill>
                            <a:srgbClr val="000000"/>
                          </a:solidFill>
                          <a:effectLst/>
                          <a:latin typeface="Calibri Light" panose="020F0302020204030204" pitchFamily="34" charset="0"/>
                        </a:rPr>
                        <a:t> 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25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37*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a:solidFill>
                            <a:srgbClr val="000000"/>
                          </a:solidFill>
                          <a:effectLst/>
                          <a:latin typeface="Calibri Light" panose="020F0302020204030204" pitchFamily="34" charset="0"/>
                        </a:rPr>
                        <a:t>17</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0" i="0" u="none" strike="noStrike" dirty="0">
                          <a:solidFill>
                            <a:srgbClr val="000000"/>
                          </a:solidFill>
                          <a:effectLst/>
                          <a:latin typeface="Calibri Light" panose="020F0302020204030204" pitchFamily="34" charset="0"/>
                        </a:rPr>
                        <a:t>19</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ES" sz="1800" b="0" i="0" u="none" strike="noStrike" dirty="0">
                          <a:solidFill>
                            <a:srgbClr val="000000"/>
                          </a:solidFill>
                          <a:effectLst/>
                          <a:latin typeface="Calibri Light" panose="020F0302020204030204" pitchFamily="34" charset="0"/>
                        </a:rPr>
                        <a:t>19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0" i="0" u="none" strike="noStrike" dirty="0">
                          <a:solidFill>
                            <a:srgbClr val="000000"/>
                          </a:solidFill>
                          <a:effectLst/>
                          <a:latin typeface="Calibri Light" panose="020F0302020204030204" pitchFamily="34" charset="0"/>
                        </a:rPr>
                        <a:t>19</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3896636613"/>
                  </a:ext>
                </a:extLst>
              </a:tr>
              <a:tr h="276128">
                <a:tc>
                  <a:txBody>
                    <a:bodyPr/>
                    <a:lstStyle/>
                    <a:p>
                      <a:pPr algn="l" fontAlgn="ctr"/>
                      <a:r>
                        <a:rPr lang="es-PE" sz="1800" b="1" i="0" u="none" strike="noStrike">
                          <a:solidFill>
                            <a:srgbClr val="000000"/>
                          </a:solidFill>
                          <a:effectLst/>
                          <a:latin typeface="Calibri Light" panose="020F0302020204030204" pitchFamily="34" charset="0"/>
                        </a:rPr>
                        <a:t>Resolutor</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10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rtl="0" fontAlgn="ctr"/>
                      <a:r>
                        <a:rPr lang="es-PE" sz="1800" b="0" i="0" u="none" strike="noStrike">
                          <a:solidFill>
                            <a:srgbClr val="000000"/>
                          </a:solidFill>
                          <a:effectLst/>
                          <a:latin typeface="Calibri Light" panose="020F0302020204030204" pitchFamily="34" charset="0"/>
                        </a:rPr>
                        <a:t> 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8 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5.36</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2.21</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2.1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a:solidFill>
                            <a:srgbClr val="000000"/>
                          </a:solidFill>
                          <a:effectLst/>
                          <a:latin typeface="Calibri Light" panose="020F0302020204030204" pitchFamily="34" charset="0"/>
                        </a:rPr>
                        <a:t>3.4</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PE" sz="1800" b="0" i="0" u="none" strike="noStrike" dirty="0">
                          <a:solidFill>
                            <a:srgbClr val="000000"/>
                          </a:solidFill>
                          <a:effectLst/>
                          <a:latin typeface="Calibri Light" panose="020F0302020204030204" pitchFamily="34" charset="0"/>
                        </a:rPr>
                        <a:t>5.11</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6.36</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tc>
                  <a:txBody>
                    <a:bodyPr/>
                    <a:lstStyle/>
                    <a:p>
                      <a:pPr algn="ctr" fontAlgn="ctr"/>
                      <a:r>
                        <a:rPr lang="es-ES" sz="1800" b="0" i="0" u="none" strike="noStrike" dirty="0">
                          <a:solidFill>
                            <a:srgbClr val="000000"/>
                          </a:solidFill>
                          <a:effectLst/>
                          <a:latin typeface="Calibri Light" panose="020F0302020204030204" pitchFamily="34" charset="0"/>
                        </a:rPr>
                        <a:t>4.95</a:t>
                      </a:r>
                      <a:endParaRPr lang="es-PE" sz="1800" b="0"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tcPr>
                </a:tc>
                <a:extLst>
                  <a:ext uri="{0D108BD9-81ED-4DB2-BD59-A6C34878D82A}">
                    <a16:rowId xmlns:a16="http://schemas.microsoft.com/office/drawing/2014/main" val="3399743521"/>
                  </a:ext>
                </a:extLst>
              </a:tr>
              <a:tr h="300121">
                <a:tc>
                  <a:txBody>
                    <a:bodyPr/>
                    <a:lstStyle/>
                    <a:p>
                      <a:pPr algn="l" fontAlgn="ctr"/>
                      <a:r>
                        <a:rPr lang="es-PE" sz="1800" b="1" i="0" u="none" strike="noStrike">
                          <a:solidFill>
                            <a:srgbClr val="000000"/>
                          </a:solidFill>
                          <a:effectLst/>
                          <a:latin typeface="Calibri Light" panose="020F0302020204030204" pitchFamily="34" charset="0"/>
                        </a:rPr>
                        <a:t>Producción Promedio</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9E2F3"/>
                    </a:solidFill>
                  </a:tcPr>
                </a:tc>
                <a:tc>
                  <a:txBody>
                    <a:bodyPr/>
                    <a:lstStyle/>
                    <a:p>
                      <a:pPr algn="ctr" fontAlgn="ctr"/>
                      <a:r>
                        <a:rPr lang="es-PE" sz="1800" b="1" i="0" u="none" strike="noStrike">
                          <a:solidFill>
                            <a:srgbClr val="000000"/>
                          </a:solidFill>
                          <a:effectLst/>
                          <a:latin typeface="Calibri Light" panose="020F0302020204030204" pitchFamily="34" charset="0"/>
                        </a:rPr>
                        <a:t>5.4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5.5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rtl="0" fontAlgn="ctr"/>
                      <a:r>
                        <a:rPr lang="es-PE" sz="1800" b="1" i="0" u="none" strike="noStrike">
                          <a:solidFill>
                            <a:srgbClr val="000000"/>
                          </a:solidFill>
                          <a:effectLst/>
                          <a:latin typeface="Calibri Light" panose="020F0302020204030204" pitchFamily="34" charset="0"/>
                        </a:rPr>
                        <a:t> 3.63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4.75</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4.63</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4.75 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3.57</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6.90</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7.24</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8.10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a:solidFill>
                            <a:srgbClr val="000000"/>
                          </a:solidFill>
                          <a:effectLst/>
                          <a:latin typeface="Calibri Light" panose="020F0302020204030204" pitchFamily="34" charset="0"/>
                        </a:rPr>
                        <a:t>5.00</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PE" sz="1800" b="1" i="0" u="none" strike="noStrike" dirty="0">
                          <a:solidFill>
                            <a:srgbClr val="000000"/>
                          </a:solidFill>
                          <a:effectLst/>
                          <a:latin typeface="Calibri Light" panose="020F0302020204030204" pitchFamily="34" charset="0"/>
                        </a:rPr>
                        <a:t>3.72</a:t>
                      </a: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rgbClr val="DEEAF6"/>
                    </a:solidFill>
                  </a:tcPr>
                </a:tc>
                <a:tc>
                  <a:txBody>
                    <a:bodyPr/>
                    <a:lstStyle/>
                    <a:p>
                      <a:pPr algn="ctr" fontAlgn="ctr"/>
                      <a:r>
                        <a:rPr lang="es-ES" sz="1800" b="1" i="0" u="none" strike="noStrike" dirty="0">
                          <a:solidFill>
                            <a:srgbClr val="000000"/>
                          </a:solidFill>
                          <a:effectLst/>
                          <a:latin typeface="Calibri Light" panose="020F0302020204030204" pitchFamily="34" charset="0"/>
                        </a:rPr>
                        <a:t>2.99</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tc>
                  <a:txBody>
                    <a:bodyPr/>
                    <a:lstStyle/>
                    <a:p>
                      <a:pPr algn="ctr" fontAlgn="ctr"/>
                      <a:r>
                        <a:rPr lang="es-ES" sz="1800" b="1" i="0" u="none" strike="noStrike" dirty="0">
                          <a:solidFill>
                            <a:srgbClr val="000000"/>
                          </a:solidFill>
                          <a:effectLst/>
                          <a:latin typeface="Calibri Light" panose="020F0302020204030204" pitchFamily="34" charset="0"/>
                        </a:rPr>
                        <a:t>3.84*</a:t>
                      </a:r>
                      <a:endParaRPr lang="es-PE" sz="1800" b="1" i="0" u="none" strike="noStrike" dirty="0">
                        <a:solidFill>
                          <a:srgbClr val="000000"/>
                        </a:solidFill>
                        <a:effectLst/>
                        <a:latin typeface="Calibri Light" panose="020F0302020204030204" pitchFamily="34" charset="0"/>
                      </a:endParaRPr>
                    </a:p>
                  </a:txBody>
                  <a:tcPr marL="0" marR="0" marT="0" marB="0" anchor="ctr">
                    <a:lnL w="12700" cap="flat" cmpd="sng" algn="ctr">
                      <a:solidFill>
                        <a:srgbClr val="9BC2E6"/>
                      </a:solidFill>
                      <a:prstDash val="solid"/>
                      <a:round/>
                      <a:headEnd type="none" w="med" len="med"/>
                      <a:tailEnd type="none" w="med" len="med"/>
                    </a:lnL>
                    <a:lnR w="12700" cap="flat" cmpd="sng" algn="ctr">
                      <a:solidFill>
                        <a:srgbClr val="9BC2E6"/>
                      </a:solidFill>
                      <a:prstDash val="solid"/>
                      <a:round/>
                      <a:headEnd type="none" w="med" len="med"/>
                      <a:tailEnd type="none" w="med" len="med"/>
                    </a:lnR>
                    <a:lnT w="12700" cap="flat" cmpd="sng" algn="ctr">
                      <a:solidFill>
                        <a:srgbClr val="9BC2E6"/>
                      </a:solidFill>
                      <a:prstDash val="solid"/>
                      <a:round/>
                      <a:headEnd type="none" w="med" len="med"/>
                      <a:tailEnd type="none" w="med" len="med"/>
                    </a:lnT>
                    <a:lnB w="12700" cap="flat" cmpd="sng" algn="ctr">
                      <a:solidFill>
                        <a:srgbClr val="9BC2E6"/>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594709325"/>
                  </a:ext>
                </a:extLst>
              </a:tr>
            </a:tbl>
          </a:graphicData>
        </a:graphic>
      </p:graphicFrame>
      <p:sp>
        <p:nvSpPr>
          <p:cNvPr id="3" name="CuadroTexto 2">
            <a:extLst>
              <a:ext uri="{FF2B5EF4-FFF2-40B4-BE49-F238E27FC236}">
                <a16:creationId xmlns:a16="http://schemas.microsoft.com/office/drawing/2014/main" id="{6AC7FF14-AFAE-C3D9-DF53-AD47ADD2BB03}"/>
              </a:ext>
            </a:extLst>
          </p:cNvPr>
          <p:cNvSpPr txBox="1"/>
          <p:nvPr/>
        </p:nvSpPr>
        <p:spPr>
          <a:xfrm>
            <a:off x="533400" y="6007727"/>
            <a:ext cx="6362700" cy="261610"/>
          </a:xfrm>
          <a:prstGeom prst="rect">
            <a:avLst/>
          </a:prstGeom>
          <a:noFill/>
        </p:spPr>
        <p:txBody>
          <a:bodyPr wrap="square" rtlCol="0">
            <a:spAutoFit/>
          </a:bodyPr>
          <a:lstStyle/>
          <a:p>
            <a:r>
              <a:rPr lang="es-PE" sz="1100" dirty="0"/>
              <a:t>(*) Se resolvió reclamo por monto S/ 15.4 millones</a:t>
            </a:r>
          </a:p>
        </p:txBody>
      </p:sp>
    </p:spTree>
    <p:extLst>
      <p:ext uri="{BB962C8B-B14F-4D97-AF65-F5344CB8AC3E}">
        <p14:creationId xmlns:p14="http://schemas.microsoft.com/office/powerpoint/2010/main" val="375052846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FEBRERO 2024</a:t>
            </a:r>
            <a:endParaRPr lang="es-PE" sz="2800" b="1" dirty="0">
              <a:latin typeface="Arial" panose="020B0604020202020204" pitchFamily="34" charset="0"/>
              <a:cs typeface="Arial" panose="020B0604020202020204" pitchFamily="34" charset="0"/>
            </a:endParaRPr>
          </a:p>
        </p:txBody>
      </p:sp>
      <p:graphicFrame>
        <p:nvGraphicFramePr>
          <p:cNvPr id="8" name="Tabla 7">
            <a:extLst>
              <a:ext uri="{FF2B5EF4-FFF2-40B4-BE49-F238E27FC236}">
                <a16:creationId xmlns:a16="http://schemas.microsoft.com/office/drawing/2014/main" id="{5DCBF7E6-D327-F7EC-950D-E13591629145}"/>
              </a:ext>
            </a:extLst>
          </p:cNvPr>
          <p:cNvGraphicFramePr>
            <a:graphicFrameLocks noGrp="1"/>
          </p:cNvGraphicFramePr>
          <p:nvPr>
            <p:extLst>
              <p:ext uri="{D42A27DB-BD31-4B8C-83A1-F6EECF244321}">
                <p14:modId xmlns:p14="http://schemas.microsoft.com/office/powerpoint/2010/main" val="775559117"/>
              </p:ext>
            </p:extLst>
          </p:nvPr>
        </p:nvGraphicFramePr>
        <p:xfrm>
          <a:off x="292043" y="1040573"/>
          <a:ext cx="11657648" cy="5518046"/>
        </p:xfrm>
        <a:graphic>
          <a:graphicData uri="http://schemas.openxmlformats.org/drawingml/2006/table">
            <a:tbl>
              <a:tblPr firstRow="1" firstCol="1" bandRow="1"/>
              <a:tblGrid>
                <a:gridCol w="1543430">
                  <a:extLst>
                    <a:ext uri="{9D8B030D-6E8A-4147-A177-3AD203B41FA5}">
                      <a16:colId xmlns:a16="http://schemas.microsoft.com/office/drawing/2014/main" val="925094151"/>
                    </a:ext>
                  </a:extLst>
                </a:gridCol>
                <a:gridCol w="843202">
                  <a:extLst>
                    <a:ext uri="{9D8B030D-6E8A-4147-A177-3AD203B41FA5}">
                      <a16:colId xmlns:a16="http://schemas.microsoft.com/office/drawing/2014/main" val="477222435"/>
                    </a:ext>
                  </a:extLst>
                </a:gridCol>
                <a:gridCol w="1304558">
                  <a:extLst>
                    <a:ext uri="{9D8B030D-6E8A-4147-A177-3AD203B41FA5}">
                      <a16:colId xmlns:a16="http://schemas.microsoft.com/office/drawing/2014/main" val="2282184332"/>
                    </a:ext>
                  </a:extLst>
                </a:gridCol>
                <a:gridCol w="1324782">
                  <a:extLst>
                    <a:ext uri="{9D8B030D-6E8A-4147-A177-3AD203B41FA5}">
                      <a16:colId xmlns:a16="http://schemas.microsoft.com/office/drawing/2014/main" val="889253127"/>
                    </a:ext>
                  </a:extLst>
                </a:gridCol>
                <a:gridCol w="930382">
                  <a:extLst>
                    <a:ext uri="{9D8B030D-6E8A-4147-A177-3AD203B41FA5}">
                      <a16:colId xmlns:a16="http://schemas.microsoft.com/office/drawing/2014/main" val="3618495769"/>
                    </a:ext>
                  </a:extLst>
                </a:gridCol>
                <a:gridCol w="1173092">
                  <a:extLst>
                    <a:ext uri="{9D8B030D-6E8A-4147-A177-3AD203B41FA5}">
                      <a16:colId xmlns:a16="http://schemas.microsoft.com/office/drawing/2014/main" val="3676107308"/>
                    </a:ext>
                  </a:extLst>
                </a:gridCol>
                <a:gridCol w="1304558">
                  <a:extLst>
                    <a:ext uri="{9D8B030D-6E8A-4147-A177-3AD203B41FA5}">
                      <a16:colId xmlns:a16="http://schemas.microsoft.com/office/drawing/2014/main" val="343955240"/>
                    </a:ext>
                  </a:extLst>
                </a:gridCol>
                <a:gridCol w="687896">
                  <a:extLst>
                    <a:ext uri="{9D8B030D-6E8A-4147-A177-3AD203B41FA5}">
                      <a16:colId xmlns:a16="http://schemas.microsoft.com/office/drawing/2014/main" val="1609030641"/>
                    </a:ext>
                  </a:extLst>
                </a:gridCol>
                <a:gridCol w="1576552">
                  <a:extLst>
                    <a:ext uri="{9D8B030D-6E8A-4147-A177-3AD203B41FA5}">
                      <a16:colId xmlns:a16="http://schemas.microsoft.com/office/drawing/2014/main" val="1343854734"/>
                    </a:ext>
                  </a:extLst>
                </a:gridCol>
                <a:gridCol w="969196">
                  <a:extLst>
                    <a:ext uri="{9D8B030D-6E8A-4147-A177-3AD203B41FA5}">
                      <a16:colId xmlns:a16="http://schemas.microsoft.com/office/drawing/2014/main" val="2417700680"/>
                    </a:ext>
                  </a:extLst>
                </a:gridCol>
              </a:tblGrid>
              <a:tr h="208115">
                <a:tc gridSpan="10">
                  <a:txBody>
                    <a:bodyPr/>
                    <a:lstStyle/>
                    <a:p>
                      <a:pPr algn="ctr"/>
                      <a:r>
                        <a:rPr lang="es-PE" sz="1300" b="1" dirty="0">
                          <a:solidFill>
                            <a:srgbClr val="000000"/>
                          </a:solidFill>
                          <a:effectLst/>
                          <a:latin typeface="Calibri" panose="020F0502020204030204" pitchFamily="34" charset="0"/>
                          <a:cs typeface="Calibri" panose="020F0502020204030204" pitchFamily="34" charset="0"/>
                        </a:rPr>
                        <a:t>PRODUCCIÓN</a:t>
                      </a:r>
                      <a:endParaRPr lang="es-PE" sz="1300" dirty="0">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hMerge="1">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3958888204"/>
                  </a:ext>
                </a:extLst>
              </a:tr>
              <a:tr h="20811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UUOO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DCCII</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hMerge="1">
                  <a:txBody>
                    <a:bodyPr/>
                    <a:lstStyle/>
                    <a:p>
                      <a:endParaRPr lang="es-PE"/>
                    </a:p>
                  </a:txBody>
                  <a:tcPr/>
                </a:tc>
                <a:tc hMerge="1">
                  <a:txBody>
                    <a:bodyPr/>
                    <a:lstStyle/>
                    <a:p>
                      <a:endParaRPr lang="es-PE"/>
                    </a:p>
                  </a:txBody>
                  <a:tcPr/>
                </a:tc>
                <a:tc gridSpan="3">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DCP</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hMerge="1">
                  <a:txBody>
                    <a:bodyPr/>
                    <a:lstStyle/>
                    <a:p>
                      <a:endParaRPr lang="es-PE"/>
                    </a:p>
                  </a:txBody>
                  <a:tcPr/>
                </a:tc>
                <a:tc hMerge="1">
                  <a:txBody>
                    <a:bodyPr/>
                    <a:lstStyle/>
                    <a:p>
                      <a:endParaRPr lang="es-PE"/>
                    </a:p>
                  </a:txBody>
                  <a:tcPr/>
                </a:tc>
                <a:extLst>
                  <a:ext uri="{0D108BD9-81ED-4DB2-BD59-A6C34878D82A}">
                    <a16:rowId xmlns:a16="http://schemas.microsoft.com/office/drawing/2014/main" val="2824672310"/>
                  </a:ext>
                </a:extLst>
              </a:tr>
              <a:tr h="74542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MATERIA</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RD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LC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PE" sz="1300" b="1">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FONDO</a:t>
                      </a:r>
                      <a:endParaRPr lang="es-PE" sz="13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MEJORA (IAMC)</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ADMISIBILIDAD APELACIÓN</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792160857"/>
                  </a:ext>
                </a:extLst>
              </a:tr>
              <a:tr h="3201763">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PRODUCTO RESUELTO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264</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83</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1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l"/>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-145 expedientes evaluados con pase a fondo</a:t>
                      </a:r>
                    </a:p>
                    <a:p>
                      <a:pPr algn="l"/>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-40 requerimientos de admisibilidad</a:t>
                      </a:r>
                    </a:p>
                    <a:p>
                      <a:pPr algn="l"/>
                      <a:r>
                        <a:rPr lang="es-ES"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 RD de inadmisibilidad</a:t>
                      </a:r>
                      <a:endParaRPr lang="es-PE" sz="12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19</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96122694"/>
                  </a:ext>
                </a:extLst>
              </a:tr>
              <a:tr h="447254">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RESOLUTOR</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17.6</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7.9</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2</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4.95</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436962428"/>
                  </a:ext>
                </a:extLst>
              </a:tr>
              <a:tr h="707375">
                <a:tc>
                  <a:txBody>
                    <a:bodyPr/>
                    <a:lstStyle/>
                    <a:p>
                      <a:pPr algn="ctr"/>
                      <a:r>
                        <a:rPr lang="es-PE" sz="1300" b="1" dirty="0">
                          <a:solidFill>
                            <a:srgbClr val="000000"/>
                          </a:solidFill>
                          <a:effectLst/>
                          <a:latin typeface="Calibri" panose="020F0502020204030204" pitchFamily="34" charset="0"/>
                          <a:ea typeface="Times New Roman" panose="02020603050405020304" pitchFamily="18" charset="0"/>
                          <a:cs typeface="Calibri" panose="020F0502020204030204" pitchFamily="34" charset="0"/>
                        </a:rPr>
                        <a:t>PRODUCCIÓN PROMEDIO</a:t>
                      </a:r>
                      <a:endParaRPr lang="es-PE" sz="13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1">
                        <a:lumMod val="95000"/>
                      </a:schemeClr>
                    </a:solidFill>
                  </a:tcPr>
                </a:tc>
                <a:tc>
                  <a:txBody>
                    <a:bodyPr/>
                    <a:lstStyle/>
                    <a:p>
                      <a:pPr algn="ctr"/>
                      <a:r>
                        <a:rPr lang="es-ES"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15.00</a:t>
                      </a:r>
                      <a:endParaRPr lang="es-PE" sz="18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algn="ctr"/>
                      <a:r>
                        <a:rPr lang="es-ES"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5">
                        <a:lumMod val="60000"/>
                        <a:lumOff val="4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10.5</a:t>
                      </a:r>
                      <a:endParaRPr kumimoji="0" lang="es-PE" sz="18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rPr>
                        <a:t>-</a:t>
                      </a:r>
                      <a:endParaRPr kumimoji="0" lang="es-PE" sz="1600" b="0" i="0" u="none" strike="noStrike" kern="1200" cap="none" spc="0" normalizeH="0" baseline="0" noProof="0" dirty="0">
                        <a:ln>
                          <a:noFill/>
                        </a:ln>
                        <a:solidFill>
                          <a:srgbClr val="FF0000"/>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rPr>
                        <a:t>72.5</a:t>
                      </a:r>
                      <a:endParaRPr kumimoji="0" lang="es-PE" sz="1600" b="0" i="0" u="none" strike="noStrike" kern="1200" cap="none" spc="0" normalizeH="0" baseline="0" noProof="0" dirty="0">
                        <a:ln>
                          <a:noFill/>
                        </a:ln>
                        <a:solidFill>
                          <a:schemeClr val="tx1"/>
                        </a:solidFill>
                        <a:effectLst/>
                        <a:uLnTx/>
                        <a:uFillTx/>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800" b="0" dirty="0">
                          <a:effectLst/>
                          <a:latin typeface="Calibri" panose="020F0502020204030204" pitchFamily="34" charset="0"/>
                          <a:ea typeface="Calibri" panose="020F0502020204030204" pitchFamily="34" charset="0"/>
                          <a:cs typeface="Times New Roman" panose="02020603050405020304" pitchFamily="18" charset="0"/>
                        </a:rPr>
                        <a:t>3.84</a:t>
                      </a:r>
                      <a:endParaRPr lang="es-PE" sz="18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tc>
                  <a:txBody>
                    <a:bodyPr/>
                    <a:lstStyle/>
                    <a:p>
                      <a:pPr algn="ctr"/>
                      <a:r>
                        <a:rPr lang="es-ES" sz="15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5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3351006160"/>
                  </a:ext>
                </a:extLst>
              </a:tr>
            </a:tbl>
          </a:graphicData>
        </a:graphic>
      </p:graphicFrame>
    </p:spTree>
    <p:extLst>
      <p:ext uri="{BB962C8B-B14F-4D97-AF65-F5344CB8AC3E}">
        <p14:creationId xmlns:p14="http://schemas.microsoft.com/office/powerpoint/2010/main" val="2244531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PROGRAMACIÓN Y PRODUCCIÓN–2023-2024</a:t>
            </a:r>
            <a:endParaRPr lang="es-PE" sz="2800" b="1" dirty="0">
              <a:latin typeface="Arial" panose="020B0604020202020204" pitchFamily="34" charset="0"/>
              <a:cs typeface="Arial" panose="020B0604020202020204" pitchFamily="34" charset="0"/>
            </a:endParaRPr>
          </a:p>
        </p:txBody>
      </p:sp>
      <p:sp>
        <p:nvSpPr>
          <p:cNvPr id="2" name="CuadroTexto 1">
            <a:extLst>
              <a:ext uri="{FF2B5EF4-FFF2-40B4-BE49-F238E27FC236}">
                <a16:creationId xmlns:a16="http://schemas.microsoft.com/office/drawing/2014/main" id="{D7E33EA2-46EF-ABF8-49D0-CE5EFB4E084E}"/>
              </a:ext>
            </a:extLst>
          </p:cNvPr>
          <p:cNvSpPr txBox="1"/>
          <p:nvPr/>
        </p:nvSpPr>
        <p:spPr>
          <a:xfrm>
            <a:off x="699223" y="5361724"/>
            <a:ext cx="10515598" cy="338554"/>
          </a:xfrm>
          <a:prstGeom prst="rect">
            <a:avLst/>
          </a:prstGeom>
          <a:noFill/>
        </p:spPr>
        <p:txBody>
          <a:bodyPr wrap="square">
            <a:spAutoFit/>
          </a:bodyPr>
          <a:lstStyle/>
          <a:p>
            <a:r>
              <a:rPr lang="es-PE" sz="1600" b="1" dirty="0">
                <a:latin typeface="+mj-lt"/>
                <a:ea typeface="Calibri" panose="020F0502020204030204" pitchFamily="34" charset="0"/>
              </a:rPr>
              <a:t>.</a:t>
            </a:r>
            <a:endParaRPr lang="es-PE" sz="1600" b="1" dirty="0">
              <a:solidFill>
                <a:srgbClr val="000000"/>
              </a:solidFill>
              <a:effectLst/>
              <a:latin typeface="+mj-lt"/>
              <a:ea typeface="Calibri" panose="020F0502020204030204" pitchFamily="34" charset="0"/>
            </a:endParaRPr>
          </a:p>
        </p:txBody>
      </p:sp>
      <p:graphicFrame>
        <p:nvGraphicFramePr>
          <p:cNvPr id="5" name="Tabla 4">
            <a:extLst>
              <a:ext uri="{FF2B5EF4-FFF2-40B4-BE49-F238E27FC236}">
                <a16:creationId xmlns:a16="http://schemas.microsoft.com/office/drawing/2014/main" id="{CFC2ABA1-B454-A51E-4921-26238E396334}"/>
              </a:ext>
            </a:extLst>
          </p:cNvPr>
          <p:cNvGraphicFramePr>
            <a:graphicFrameLocks noGrp="1"/>
          </p:cNvGraphicFramePr>
          <p:nvPr>
            <p:extLst>
              <p:ext uri="{D42A27DB-BD31-4B8C-83A1-F6EECF244321}">
                <p14:modId xmlns:p14="http://schemas.microsoft.com/office/powerpoint/2010/main" val="1785320134"/>
              </p:ext>
            </p:extLst>
          </p:nvPr>
        </p:nvGraphicFramePr>
        <p:xfrm>
          <a:off x="992466" y="1511051"/>
          <a:ext cx="9467850" cy="3341121"/>
        </p:xfrm>
        <a:graphic>
          <a:graphicData uri="http://schemas.openxmlformats.org/drawingml/2006/table">
            <a:tbl>
              <a:tblPr/>
              <a:tblGrid>
                <a:gridCol w="792737">
                  <a:extLst>
                    <a:ext uri="{9D8B030D-6E8A-4147-A177-3AD203B41FA5}">
                      <a16:colId xmlns:a16="http://schemas.microsoft.com/office/drawing/2014/main" val="1618482016"/>
                    </a:ext>
                  </a:extLst>
                </a:gridCol>
                <a:gridCol w="748698">
                  <a:extLst>
                    <a:ext uri="{9D8B030D-6E8A-4147-A177-3AD203B41FA5}">
                      <a16:colId xmlns:a16="http://schemas.microsoft.com/office/drawing/2014/main" val="1856879478"/>
                    </a:ext>
                  </a:extLst>
                </a:gridCol>
                <a:gridCol w="631252">
                  <a:extLst>
                    <a:ext uri="{9D8B030D-6E8A-4147-A177-3AD203B41FA5}">
                      <a16:colId xmlns:a16="http://schemas.microsoft.com/office/drawing/2014/main" val="3149995394"/>
                    </a:ext>
                  </a:extLst>
                </a:gridCol>
                <a:gridCol w="778060">
                  <a:extLst>
                    <a:ext uri="{9D8B030D-6E8A-4147-A177-3AD203B41FA5}">
                      <a16:colId xmlns:a16="http://schemas.microsoft.com/office/drawing/2014/main" val="814693575"/>
                    </a:ext>
                  </a:extLst>
                </a:gridCol>
                <a:gridCol w="601893">
                  <a:extLst>
                    <a:ext uri="{9D8B030D-6E8A-4147-A177-3AD203B41FA5}">
                      <a16:colId xmlns:a16="http://schemas.microsoft.com/office/drawing/2014/main" val="1074761190"/>
                    </a:ext>
                  </a:extLst>
                </a:gridCol>
                <a:gridCol w="763377">
                  <a:extLst>
                    <a:ext uri="{9D8B030D-6E8A-4147-A177-3AD203B41FA5}">
                      <a16:colId xmlns:a16="http://schemas.microsoft.com/office/drawing/2014/main" val="3692527559"/>
                    </a:ext>
                  </a:extLst>
                </a:gridCol>
                <a:gridCol w="631252">
                  <a:extLst>
                    <a:ext uri="{9D8B030D-6E8A-4147-A177-3AD203B41FA5}">
                      <a16:colId xmlns:a16="http://schemas.microsoft.com/office/drawing/2014/main" val="4061206135"/>
                    </a:ext>
                  </a:extLst>
                </a:gridCol>
                <a:gridCol w="763377">
                  <a:extLst>
                    <a:ext uri="{9D8B030D-6E8A-4147-A177-3AD203B41FA5}">
                      <a16:colId xmlns:a16="http://schemas.microsoft.com/office/drawing/2014/main" val="693005033"/>
                    </a:ext>
                  </a:extLst>
                </a:gridCol>
                <a:gridCol w="939301">
                  <a:extLst>
                    <a:ext uri="{9D8B030D-6E8A-4147-A177-3AD203B41FA5}">
                      <a16:colId xmlns:a16="http://schemas.microsoft.com/office/drawing/2014/main" val="2232056816"/>
                    </a:ext>
                  </a:extLst>
                </a:gridCol>
                <a:gridCol w="939301">
                  <a:extLst>
                    <a:ext uri="{9D8B030D-6E8A-4147-A177-3AD203B41FA5}">
                      <a16:colId xmlns:a16="http://schemas.microsoft.com/office/drawing/2014/main" val="2387940828"/>
                    </a:ext>
                  </a:extLst>
                </a:gridCol>
                <a:gridCol w="939301">
                  <a:extLst>
                    <a:ext uri="{9D8B030D-6E8A-4147-A177-3AD203B41FA5}">
                      <a16:colId xmlns:a16="http://schemas.microsoft.com/office/drawing/2014/main" val="2569707495"/>
                    </a:ext>
                  </a:extLst>
                </a:gridCol>
                <a:gridCol w="939301">
                  <a:extLst>
                    <a:ext uri="{9D8B030D-6E8A-4147-A177-3AD203B41FA5}">
                      <a16:colId xmlns:a16="http://schemas.microsoft.com/office/drawing/2014/main" val="3784964087"/>
                    </a:ext>
                  </a:extLst>
                </a:gridCol>
              </a:tblGrid>
              <a:tr h="333598">
                <a:tc rowSpan="2">
                  <a:txBody>
                    <a:bodyPr/>
                    <a:lstStyle/>
                    <a:p>
                      <a:pPr algn="ctr" fontAlgn="b"/>
                      <a:endParaRPr lang="es-PE" sz="1450" b="0" i="0" u="none" strike="noStrike">
                        <a:solidFill>
                          <a:srgbClr val="000000"/>
                        </a:solidFill>
                        <a:effectLst/>
                        <a:latin typeface="Calibri Light" panose="020F0302020204030204" pitchFamily="34" charset="0"/>
                      </a:endParaRPr>
                    </a:p>
                  </a:txBody>
                  <a:tcPr marL="0" marR="0" marT="0" marB="0" anchor="b">
                    <a:lnL>
                      <a:noFill/>
                    </a:lnL>
                    <a:lnR w="12700" cap="flat" cmpd="sng" algn="ctr">
                      <a:solidFill>
                        <a:srgbClr val="305496"/>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gridSpan="6">
                  <a:txBody>
                    <a:bodyPr/>
                    <a:lstStyle/>
                    <a:p>
                      <a:pPr algn="ctr" fontAlgn="b"/>
                      <a:r>
                        <a:rPr lang="es-ES" sz="1450" b="1" i="0" u="none" strike="noStrike" dirty="0">
                          <a:solidFill>
                            <a:srgbClr val="FFFFFF"/>
                          </a:solidFill>
                          <a:effectLst/>
                          <a:latin typeface="Calibri Light" panose="020F0302020204030204" pitchFamily="34" charset="0"/>
                        </a:rPr>
                        <a:t>2023</a:t>
                      </a:r>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305496"/>
                    </a:solidFill>
                  </a:tcPr>
                </a:tc>
                <a:tc gridSpan="5">
                  <a:txBody>
                    <a:bodyPr/>
                    <a:lstStyle/>
                    <a:p>
                      <a:pPr algn="ctr" fontAlgn="b"/>
                      <a:r>
                        <a:rPr lang="es-PE" sz="1450" b="1" i="0" u="none" strike="noStrike" dirty="0">
                          <a:solidFill>
                            <a:srgbClr val="FFFFFF"/>
                          </a:solidFill>
                          <a:effectLst/>
                          <a:latin typeface="Calibri Light" panose="020F0302020204030204" pitchFamily="34" charset="0"/>
                        </a:rPr>
                        <a:t>2024</a:t>
                      </a: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tc hMerge="1">
                  <a:txBody>
                    <a:bodyPr/>
                    <a:lstStyle/>
                    <a:p>
                      <a:pPr algn="ctr" fontAlgn="b"/>
                      <a:endParaRPr lang="es-PE" sz="1450" b="1" i="0" u="none" strike="noStrike" dirty="0">
                        <a:solidFill>
                          <a:srgbClr val="FFFFFF"/>
                        </a:solidFill>
                        <a:effectLst/>
                        <a:latin typeface="Calibri Light" panose="020F0302020204030204" pitchFamily="34" charset="0"/>
                      </a:endParaRPr>
                    </a:p>
                  </a:txBody>
                  <a:tcPr marL="0" marR="0" marT="0" marB="0" anchor="b">
                    <a:lnL w="12700" cap="flat" cmpd="sng" algn="ctr">
                      <a:solidFill>
                        <a:srgbClr val="305496"/>
                      </a:solidFill>
                      <a:prstDash val="solid"/>
                      <a:round/>
                      <a:headEnd type="none" w="med" len="med"/>
                      <a:tailEnd type="none" w="med" len="med"/>
                    </a:lnL>
                    <a:lnR w="12700" cap="flat" cmpd="sng" algn="ctr">
                      <a:solidFill>
                        <a:srgbClr val="305496"/>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305496"/>
                      </a:solidFill>
                      <a:prstDash val="solid"/>
                      <a:round/>
                      <a:headEnd type="none" w="med" len="med"/>
                      <a:tailEnd type="none" w="med" len="med"/>
                    </a:lnB>
                    <a:solidFill>
                      <a:srgbClr val="548235"/>
                    </a:solidFill>
                  </a:tcPr>
                </a:tc>
                <a:extLst>
                  <a:ext uri="{0D108BD9-81ED-4DB2-BD59-A6C34878D82A}">
                    <a16:rowId xmlns:a16="http://schemas.microsoft.com/office/drawing/2014/main" val="628447104"/>
                  </a:ext>
                </a:extLst>
              </a:tr>
              <a:tr h="539779">
                <a:tc v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OCTUBRE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NOVIEMBRE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a:solidFill>
                            <a:srgbClr val="FFFFFF"/>
                          </a:solidFill>
                          <a:effectLst/>
                          <a:latin typeface="Calibri Light" panose="020F0302020204030204" pitchFamily="34" charset="0"/>
                        </a:rPr>
                        <a:t>DICIEMBRE</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hMerge="1">
                  <a:txBody>
                    <a:bodyPr/>
                    <a:lstStyle/>
                    <a:p>
                      <a:endParaRPr lang="es-PE"/>
                    </a:p>
                  </a:txBody>
                  <a:tcPr/>
                </a:tc>
                <a:tc gridSpan="2">
                  <a:txBody>
                    <a:bodyPr/>
                    <a:lstStyle/>
                    <a:p>
                      <a:pPr algn="ctr" fontAlgn="ctr"/>
                      <a:r>
                        <a:rPr lang="es-PE" sz="1450" b="1" i="0" u="none" strike="noStrike" dirty="0">
                          <a:solidFill>
                            <a:srgbClr val="FFFFFF"/>
                          </a:solidFill>
                          <a:effectLst/>
                          <a:latin typeface="Calibri Light" panose="020F0302020204030204" pitchFamily="34" charset="0"/>
                        </a:rPr>
                        <a:t>ENERO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endParaRPr dirty="0"/>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gridSpan="2">
                  <a:txBody>
                    <a:bodyPr/>
                    <a:lstStyle/>
                    <a:p>
                      <a:pPr algn="ctr" fontAlgn="ctr"/>
                      <a:r>
                        <a:rPr lang="es-ES" sz="1450" b="1" i="0" u="none" strike="noStrike" dirty="0">
                          <a:solidFill>
                            <a:srgbClr val="FFFFFF"/>
                          </a:solidFill>
                          <a:effectLst/>
                          <a:latin typeface="Calibri Light" panose="020F0302020204030204" pitchFamily="34" charset="0"/>
                        </a:rPr>
                        <a:t>FEBRERO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hMerge="1">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MARZO</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305496"/>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2051194752"/>
                  </a:ext>
                </a:extLst>
              </a:tr>
              <a:tr h="1054588">
                <a:tc>
                  <a:txBody>
                    <a:bodyPr/>
                    <a:lstStyle/>
                    <a:p>
                      <a:pPr algn="ctr" fontAlgn="ctr"/>
                      <a:r>
                        <a:rPr lang="es-PE" sz="1450" b="1" i="0" u="none" strike="noStrike">
                          <a:solidFill>
                            <a:srgbClr val="FFFFFF"/>
                          </a:solidFill>
                          <a:effectLst/>
                          <a:latin typeface="Calibri Light" panose="020F0302020204030204" pitchFamily="34" charset="0"/>
                        </a:rPr>
                        <a:t>UUOO</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a:solidFill>
                            <a:srgbClr val="FFFFFF"/>
                          </a:solidFill>
                          <a:effectLst/>
                          <a:latin typeface="Calibri Light" panose="020F0302020204030204" pitchFamily="34" charset="0"/>
                        </a:rPr>
                        <a:t>PROD</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PE" sz="1450" b="1" i="0" u="none" strike="noStrike" dirty="0">
                          <a:solidFill>
                            <a:srgbClr val="FFFFFF"/>
                          </a:solidFill>
                          <a:effectLst/>
                          <a:latin typeface="Calibri Light" panose="020F0302020204030204" pitchFamily="34" charset="0"/>
                        </a:rPr>
                        <a:t>PROG</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PROD</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tc>
                  <a:txBody>
                    <a:bodyPr/>
                    <a:lstStyle/>
                    <a:p>
                      <a:pPr algn="ctr" fontAlgn="ctr"/>
                      <a:r>
                        <a:rPr lang="es-ES" sz="1450" b="1" i="0" u="none" strike="noStrike" dirty="0">
                          <a:solidFill>
                            <a:srgbClr val="FFFFFF"/>
                          </a:solidFill>
                          <a:effectLst/>
                          <a:latin typeface="Calibri Light" panose="020F0302020204030204" pitchFamily="34" charset="0"/>
                        </a:rPr>
                        <a:t>PROG</a:t>
                      </a:r>
                      <a:endParaRPr lang="es-PE" sz="1450" b="1" i="0" u="none" strike="noStrike" dirty="0">
                        <a:solidFill>
                          <a:srgbClr val="FFFFFF"/>
                        </a:solidFill>
                        <a:effectLst/>
                        <a:latin typeface="Calibri Light" panose="020F0302020204030204" pitchFamily="34" charset="0"/>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9D08E"/>
                    </a:solidFill>
                  </a:tcPr>
                </a:tc>
                <a:extLst>
                  <a:ext uri="{0D108BD9-81ED-4DB2-BD59-A6C34878D82A}">
                    <a16:rowId xmlns:a16="http://schemas.microsoft.com/office/drawing/2014/main" val="3240945064"/>
                  </a:ext>
                </a:extLst>
              </a:tr>
              <a:tr h="539779">
                <a:tc>
                  <a:txBody>
                    <a:bodyPr/>
                    <a:lstStyle/>
                    <a:p>
                      <a:pPr algn="ctr" fontAlgn="ctr"/>
                      <a:r>
                        <a:rPr lang="es-PE" sz="1450" b="1" i="0" u="none" strike="noStrike">
                          <a:solidFill>
                            <a:srgbClr val="FFFFFF"/>
                          </a:solidFill>
                          <a:effectLst/>
                          <a:latin typeface="Calibri Light" panose="020F0302020204030204" pitchFamily="34" charset="0"/>
                        </a:rPr>
                        <a:t>DCCI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150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209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150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188</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314</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242</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300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285</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300</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264</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250</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3368564924"/>
                  </a:ext>
                </a:extLst>
              </a:tr>
              <a:tr h="333598">
                <a:tc>
                  <a:txBody>
                    <a:bodyPr/>
                    <a:lstStyle/>
                    <a:p>
                      <a:pPr algn="ctr" fontAlgn="ctr"/>
                      <a:r>
                        <a:rPr lang="es-PE" sz="1450" b="1" i="0" u="none" strike="noStrike">
                          <a:solidFill>
                            <a:srgbClr val="FFFFFF"/>
                          </a:solidFill>
                          <a:effectLst/>
                          <a:latin typeface="Calibri Light" panose="020F0302020204030204" pitchFamily="34" charset="0"/>
                        </a:rPr>
                        <a:t>DCCII</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a:solidFill>
                            <a:srgbClr val="833C0C"/>
                          </a:solidFill>
                          <a:effectLst/>
                          <a:latin typeface="Calibri Light" panose="020F0302020204030204" pitchFamily="34" charset="0"/>
                        </a:rPr>
                        <a:t>104</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76</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80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83</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96</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000000"/>
                          </a:solidFill>
                          <a:effectLst/>
                          <a:latin typeface="Calibri Light" panose="020F0302020204030204" pitchFamily="34" charset="0"/>
                        </a:rPr>
                        <a:t>81</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92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79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rgbClr val="833C0C"/>
                          </a:solidFill>
                          <a:effectLst/>
                          <a:latin typeface="Calibri Light" panose="020F0302020204030204" pitchFamily="34" charset="0"/>
                        </a:rPr>
                        <a:t>8</a:t>
                      </a:r>
                      <a:r>
                        <a:rPr lang="es-PE" sz="1450" b="1" i="0" u="none" strike="noStrike" dirty="0">
                          <a:solidFill>
                            <a:srgbClr val="833C0C"/>
                          </a:solidFill>
                          <a:effectLst/>
                          <a:latin typeface="Calibri Light" panose="020F0302020204030204" pitchFamily="34" charset="0"/>
                        </a:rPr>
                        <a:t>2</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algn="ctr" rtl="0" fontAlgn="ctr"/>
                      <a:r>
                        <a:rPr lang="es-ES" sz="1450" b="1" i="0" u="none" strike="noStrike" dirty="0">
                          <a:solidFill>
                            <a:schemeClr val="tx1"/>
                          </a:solidFill>
                          <a:effectLst/>
                          <a:latin typeface="Calibri Light" panose="020F0302020204030204" pitchFamily="34" charset="0"/>
                        </a:rPr>
                        <a:t>83</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81</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tcPr>
                </a:tc>
                <a:extLst>
                  <a:ext uri="{0D108BD9-81ED-4DB2-BD59-A6C34878D82A}">
                    <a16:rowId xmlns:a16="http://schemas.microsoft.com/office/drawing/2014/main" val="3056038957"/>
                  </a:ext>
                </a:extLst>
              </a:tr>
              <a:tr h="539779">
                <a:tc>
                  <a:txBody>
                    <a:bodyPr/>
                    <a:lstStyle/>
                    <a:p>
                      <a:pPr algn="ctr" fontAlgn="ctr"/>
                      <a:r>
                        <a:rPr lang="es-PE" sz="1450" b="1" i="0" u="none" strike="noStrike">
                          <a:solidFill>
                            <a:srgbClr val="FFFFFF"/>
                          </a:solidFill>
                          <a:effectLst/>
                          <a:latin typeface="Calibri Light" panose="020F0302020204030204" pitchFamily="34" charset="0"/>
                        </a:rPr>
                        <a:t>DCP</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450" b="1" i="0" u="none" strike="noStrike" dirty="0">
                          <a:solidFill>
                            <a:srgbClr val="833C0C"/>
                          </a:solidFill>
                          <a:effectLst/>
                          <a:latin typeface="Calibri Light" panose="020F0302020204030204" pitchFamily="34" charset="0"/>
                        </a:rPr>
                        <a:t>14 (*)</a:t>
                      </a:r>
                    </a:p>
                  </a:txBody>
                  <a:tcPr marL="0" marR="0" marT="0" marB="0" anchor="ctr">
                    <a:lnL w="1270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10</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833C0C"/>
                          </a:solidFill>
                          <a:effectLst/>
                          <a:latin typeface="Calibri Light" panose="020F0302020204030204" pitchFamily="34" charset="0"/>
                        </a:rPr>
                        <a:t>15 (*)</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17</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a:solidFill>
                            <a:srgbClr val="833C0C"/>
                          </a:solidFill>
                          <a:effectLst/>
                          <a:latin typeface="Calibri Light" panose="020F0302020204030204" pitchFamily="34" charset="0"/>
                        </a:rPr>
                        <a:t>20*</a:t>
                      </a:r>
                    </a:p>
                  </a:txBody>
                  <a:tcPr marL="0" marR="0" marT="0" marB="0" anchor="ctr">
                    <a:lnL w="12700" cap="flat" cmpd="sng" algn="ctr">
                      <a:solidFill>
                        <a:srgbClr val="9CC2E5"/>
                      </a:solidFill>
                      <a:prstDash val="solid"/>
                      <a:round/>
                      <a:headEnd type="none" w="med" len="med"/>
                      <a:tailEnd type="none" w="med" len="med"/>
                    </a:lnL>
                    <a:lnR w="635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rtl="0" fontAlgn="ctr"/>
                      <a:r>
                        <a:rPr lang="es-PE" sz="1450" b="1" i="0" u="none" strike="noStrike">
                          <a:solidFill>
                            <a:srgbClr val="000000"/>
                          </a:solidFill>
                          <a:effectLst/>
                          <a:latin typeface="Calibri Light" panose="020F0302020204030204" pitchFamily="34" charset="0"/>
                        </a:rPr>
                        <a:t>19</a:t>
                      </a:r>
                    </a:p>
                  </a:txBody>
                  <a:tcPr marL="0" marR="0" marT="0" marB="0" anchor="ctr">
                    <a:lnL w="6350" cap="flat" cmpd="sng" algn="ctr">
                      <a:solidFill>
                        <a:srgbClr val="000000"/>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rtl="0" fontAlgn="ctr"/>
                      <a:r>
                        <a:rPr lang="es-PE" sz="1450" b="1" i="0" u="none" strike="noStrike" dirty="0">
                          <a:solidFill>
                            <a:srgbClr val="833C0C"/>
                          </a:solidFill>
                          <a:effectLst/>
                          <a:latin typeface="Calibri Light" panose="020F0302020204030204" pitchFamily="34" charset="0"/>
                        </a:rPr>
                        <a:t>20</a:t>
                      </a: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chemeClr val="tx1"/>
                          </a:solidFill>
                          <a:effectLst/>
                          <a:latin typeface="Calibri Light" panose="020F0302020204030204" pitchFamily="34" charset="0"/>
                        </a:rPr>
                        <a:t>19</a:t>
                      </a:r>
                      <a:endParaRPr lang="es-PE" sz="1450" b="1" i="0" u="none" strike="noStrike" dirty="0">
                        <a:solidFill>
                          <a:schemeClr val="tx1"/>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17</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algn="ctr" rtl="0" fontAlgn="ctr"/>
                      <a:r>
                        <a:rPr lang="es-ES" sz="1450" b="1" i="0" u="none" strike="noStrike" dirty="0">
                          <a:solidFill>
                            <a:srgbClr val="833C0C"/>
                          </a:solidFill>
                          <a:effectLst/>
                          <a:latin typeface="Calibri Light" panose="020F0302020204030204" pitchFamily="34" charset="0"/>
                        </a:rPr>
                        <a:t>19</a:t>
                      </a:r>
                      <a:endParaRPr lang="es-PE" sz="1450" b="1" i="0" u="none" strike="noStrike" dirty="0">
                        <a:solidFill>
                          <a:srgbClr val="833C0C"/>
                        </a:solidFill>
                        <a:effectLst/>
                        <a:latin typeface="Calibri Light" panose="020F0302020204030204" pitchFamily="34" charset="0"/>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tc>
                  <a:txBody>
                    <a:bodyPr/>
                    <a:lstStyle/>
                    <a:p>
                      <a:pPr marL="0" algn="ctr" defTabSz="914400" rtl="0" eaLnBrk="1" fontAlgn="ctr" latinLnBrk="0" hangingPunct="1"/>
                      <a:r>
                        <a:rPr lang="es-ES" sz="1450" b="1" i="0" u="none" strike="noStrike" kern="1200" dirty="0">
                          <a:solidFill>
                            <a:srgbClr val="833C0C"/>
                          </a:solidFill>
                          <a:effectLst/>
                          <a:latin typeface="Calibri Light" panose="020F0302020204030204" pitchFamily="34" charset="0"/>
                          <a:ea typeface="+mn-ea"/>
                          <a:cs typeface="+mn-cs"/>
                        </a:rPr>
                        <a:t>18</a:t>
                      </a:r>
                      <a:endParaRPr lang="es-PE" sz="1450" b="1" i="0" u="none" strike="noStrike" kern="1200" dirty="0">
                        <a:solidFill>
                          <a:srgbClr val="833C0C"/>
                        </a:solidFill>
                        <a:effectLst/>
                        <a:latin typeface="Calibri Light" panose="020F0302020204030204" pitchFamily="34" charset="0"/>
                        <a:ea typeface="+mn-ea"/>
                        <a:cs typeface="+mn-cs"/>
                      </a:endParaRPr>
                    </a:p>
                  </a:txBody>
                  <a:tcPr marL="0" marR="0" marT="0" marB="0" anchor="ctr">
                    <a:lnL w="12700" cap="flat" cmpd="sng" algn="ctr">
                      <a:solidFill>
                        <a:srgbClr val="A9D08E"/>
                      </a:solidFill>
                      <a:prstDash val="solid"/>
                      <a:round/>
                      <a:headEnd type="none" w="med" len="med"/>
                      <a:tailEnd type="none" w="med" len="med"/>
                    </a:lnL>
                    <a:lnR w="12700" cap="flat" cmpd="sng" algn="ctr">
                      <a:solidFill>
                        <a:srgbClr val="A9D08E"/>
                      </a:solidFill>
                      <a:prstDash val="solid"/>
                      <a:round/>
                      <a:headEnd type="none" w="med" len="med"/>
                      <a:tailEnd type="none" w="med" len="med"/>
                    </a:lnR>
                    <a:lnT w="12700" cap="flat" cmpd="sng" algn="ctr">
                      <a:solidFill>
                        <a:srgbClr val="A9D08E"/>
                      </a:solidFill>
                      <a:prstDash val="solid"/>
                      <a:round/>
                      <a:headEnd type="none" w="med" len="med"/>
                      <a:tailEnd type="none" w="med" len="med"/>
                    </a:lnT>
                    <a:lnB w="12700" cap="flat" cmpd="sng" algn="ctr">
                      <a:solidFill>
                        <a:srgbClr val="A9D08E"/>
                      </a:solidFill>
                      <a:prstDash val="solid"/>
                      <a:round/>
                      <a:headEnd type="none" w="med" len="med"/>
                      <a:tailEnd type="none" w="med" len="med"/>
                    </a:lnB>
                    <a:solidFill>
                      <a:srgbClr val="E2EFDA"/>
                    </a:solidFill>
                  </a:tcPr>
                </a:tc>
                <a:extLst>
                  <a:ext uri="{0D108BD9-81ED-4DB2-BD59-A6C34878D82A}">
                    <a16:rowId xmlns:a16="http://schemas.microsoft.com/office/drawing/2014/main" val="576731200"/>
                  </a:ext>
                </a:extLst>
              </a:tr>
            </a:tbl>
          </a:graphicData>
        </a:graphic>
      </p:graphicFrame>
    </p:spTree>
    <p:extLst>
      <p:ext uri="{BB962C8B-B14F-4D97-AF65-F5344CB8AC3E}">
        <p14:creationId xmlns:p14="http://schemas.microsoft.com/office/powerpoint/2010/main" val="33859603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PRODUCTIVIDAD POR SUPERVISIÓN</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657226" y="3439416"/>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647698" y="4915686"/>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3" name="Tabla 2">
            <a:extLst>
              <a:ext uri="{FF2B5EF4-FFF2-40B4-BE49-F238E27FC236}">
                <a16:creationId xmlns:a16="http://schemas.microsoft.com/office/drawing/2014/main" id="{F0ADA2C1-AAD1-1A2B-5E48-C4B607DCDAF6}"/>
              </a:ext>
            </a:extLst>
          </p:cNvPr>
          <p:cNvGraphicFramePr>
            <a:graphicFrameLocks noGrp="1"/>
          </p:cNvGraphicFramePr>
          <p:nvPr>
            <p:extLst>
              <p:ext uri="{D42A27DB-BD31-4B8C-83A1-F6EECF244321}">
                <p14:modId xmlns:p14="http://schemas.microsoft.com/office/powerpoint/2010/main" val="2625573046"/>
              </p:ext>
            </p:extLst>
          </p:nvPr>
        </p:nvGraphicFramePr>
        <p:xfrm>
          <a:off x="2393298" y="3270180"/>
          <a:ext cx="8693802" cy="1400897"/>
        </p:xfrm>
        <a:graphic>
          <a:graphicData uri="http://schemas.openxmlformats.org/drawingml/2006/table">
            <a:tbl>
              <a:tblPr firstRow="1" firstCol="1" bandRow="1">
                <a:tableStyleId>{00A15C55-8517-42AA-B614-E9B94910E393}</a:tableStyleId>
              </a:tblPr>
              <a:tblGrid>
                <a:gridCol w="1455080">
                  <a:extLst>
                    <a:ext uri="{9D8B030D-6E8A-4147-A177-3AD203B41FA5}">
                      <a16:colId xmlns:a16="http://schemas.microsoft.com/office/drawing/2014/main" val="3257801786"/>
                    </a:ext>
                  </a:extLst>
                </a:gridCol>
                <a:gridCol w="2136188">
                  <a:extLst>
                    <a:ext uri="{9D8B030D-6E8A-4147-A177-3AD203B41FA5}">
                      <a16:colId xmlns:a16="http://schemas.microsoft.com/office/drawing/2014/main" val="1776142972"/>
                    </a:ext>
                  </a:extLst>
                </a:gridCol>
                <a:gridCol w="1096282">
                  <a:extLst>
                    <a:ext uri="{9D8B030D-6E8A-4147-A177-3AD203B41FA5}">
                      <a16:colId xmlns:a16="http://schemas.microsoft.com/office/drawing/2014/main" val="153233266"/>
                    </a:ext>
                  </a:extLst>
                </a:gridCol>
                <a:gridCol w="1192082">
                  <a:extLst>
                    <a:ext uri="{9D8B030D-6E8A-4147-A177-3AD203B41FA5}">
                      <a16:colId xmlns:a16="http://schemas.microsoft.com/office/drawing/2014/main" val="1566383420"/>
                    </a:ext>
                  </a:extLst>
                </a:gridCol>
                <a:gridCol w="1378511">
                  <a:extLst>
                    <a:ext uri="{9D8B030D-6E8A-4147-A177-3AD203B41FA5}">
                      <a16:colId xmlns:a16="http://schemas.microsoft.com/office/drawing/2014/main" val="2882639219"/>
                    </a:ext>
                  </a:extLst>
                </a:gridCol>
                <a:gridCol w="1435659">
                  <a:extLst>
                    <a:ext uri="{9D8B030D-6E8A-4147-A177-3AD203B41FA5}">
                      <a16:colId xmlns:a16="http://schemas.microsoft.com/office/drawing/2014/main" val="2536285859"/>
                    </a:ext>
                  </a:extLst>
                </a:gridCol>
              </a:tblGrid>
              <a:tr h="424874">
                <a:tc>
                  <a:txBody>
                    <a:bodyPr/>
                    <a:lstStyle/>
                    <a:p>
                      <a:pPr algn="ctr"/>
                      <a:r>
                        <a:rPr lang="es-PE" sz="1600" b="1" dirty="0">
                          <a:solidFill>
                            <a:srgbClr val="FFFFFF"/>
                          </a:solidFill>
                          <a:effectLst/>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a:solidFill>
                            <a:srgbClr val="FFFFFF"/>
                          </a:solidFill>
                          <a:effectLst/>
                        </a:rPr>
                        <a:t>Resolución aplicada</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pPr algn="ctr"/>
                      <a:r>
                        <a:rPr lang="es-ES" sz="1600" b="1" dirty="0">
                          <a:solidFill>
                            <a:srgbClr val="FFFFFF"/>
                          </a:solidFill>
                          <a:effectLst/>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extLst>
                  <a:ext uri="{0D108BD9-81ED-4DB2-BD59-A6C34878D82A}">
                    <a16:rowId xmlns:a16="http://schemas.microsoft.com/office/drawing/2014/main" val="1468347544"/>
                  </a:ext>
                </a:extLst>
              </a:tr>
              <a:tr h="410828">
                <a:tc>
                  <a:txBody>
                    <a:bodyPr/>
                    <a:lstStyle/>
                    <a:p>
                      <a:pPr algn="ctr"/>
                      <a:r>
                        <a:rPr lang="es-PE" sz="1600" b="1" dirty="0">
                          <a:solidFill>
                            <a:srgbClr val="FFFFFF"/>
                          </a:solidFill>
                          <a:effectLst/>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dirty="0">
                          <a:solidFill>
                            <a:srgbClr val="000000"/>
                          </a:solidFill>
                          <a:effectLst/>
                        </a:rPr>
                        <a:t>Yessenia Salcedo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41</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3.7</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MEDIO/ALTO</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11.08</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160037749"/>
                  </a:ext>
                </a:extLst>
              </a:tr>
              <a:tr h="502389">
                <a:tc>
                  <a:txBody>
                    <a:bodyPr/>
                    <a:lstStyle/>
                    <a:p>
                      <a:pPr algn="ctr"/>
                      <a:r>
                        <a:rPr lang="es-ES" sz="1600" b="1" dirty="0">
                          <a:solidFill>
                            <a:srgbClr val="FFFFFF"/>
                          </a:solidFill>
                          <a:effectLst/>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99FF"/>
                    </a:solidFill>
                  </a:tcPr>
                </a:tc>
                <a:tc>
                  <a:txBody>
                    <a:bodyPr/>
                    <a:lstStyle/>
                    <a:p>
                      <a:r>
                        <a:rPr lang="es-PE" sz="1800" kern="1200" dirty="0">
                          <a:solidFill>
                            <a:schemeClr val="tx1"/>
                          </a:solidFill>
                          <a:effectLst/>
                        </a:rPr>
                        <a:t>Allison Castro</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4.2</a:t>
                      </a:r>
                      <a:endParaRPr lang="es-PE" sz="1800" kern="1200" dirty="0">
                        <a:solidFill>
                          <a:schemeClr val="tx1"/>
                        </a:solidFill>
                        <a:effectLst/>
                        <a:latin typeface="+mn-lt"/>
                        <a:ea typeface="+mn-ea"/>
                        <a:cs typeface="+mn-cs"/>
                      </a:endParaRPr>
                    </a:p>
                  </a:txBody>
                  <a:tcPr marL="68580" marR="68580" marT="9525" marB="0" anchor="ctr">
                    <a:solidFill>
                      <a:srgbClr val="FFCCFF"/>
                    </a:solidFill>
                  </a:tcPr>
                </a:tc>
                <a:tc>
                  <a:txBody>
                    <a:bodyPr/>
                    <a:lstStyle/>
                    <a:p>
                      <a:pPr marL="0" algn="ctr" defTabSz="914400" rtl="0" eaLnBrk="1" latinLnBrk="0" hangingPunct="1"/>
                      <a:r>
                        <a:rPr lang="es-PE" sz="1800" b="0" kern="1200" dirty="0">
                          <a:solidFill>
                            <a:schemeClr val="tx1"/>
                          </a:solidFill>
                          <a:effectLst/>
                          <a:latin typeface="+mn-lt"/>
                          <a:ea typeface="+mn-ea"/>
                          <a:cs typeface="+mn-cs"/>
                        </a:rPr>
                        <a:t>MEDIO/ALTO</a:t>
                      </a:r>
                    </a:p>
                  </a:txBody>
                  <a:tcPr marL="68580" marR="68580" marT="9525" marB="0" anchor="ctr">
                    <a:solidFill>
                      <a:srgbClr val="FFCCFF"/>
                    </a:solidFill>
                  </a:tcPr>
                </a:tc>
                <a:tc>
                  <a:txBody>
                    <a:bodyPr/>
                    <a:lstStyle/>
                    <a:p>
                      <a:pPr marL="0" algn="ctr" defTabSz="914400" rtl="0" eaLnBrk="1" latinLnBrk="0" hangingPunct="1"/>
                      <a:r>
                        <a:rPr lang="es-ES" sz="1800" b="0" kern="1200" dirty="0">
                          <a:solidFill>
                            <a:schemeClr val="tx1"/>
                          </a:solidFill>
                          <a:effectLst/>
                          <a:latin typeface="+mn-lt"/>
                          <a:ea typeface="+mn-ea"/>
                          <a:cs typeface="+mn-cs"/>
                        </a:rPr>
                        <a:t>10</a:t>
                      </a:r>
                      <a:endParaRPr lang="es-PE" sz="1800" b="0" kern="1200" dirty="0">
                        <a:solidFill>
                          <a:schemeClr val="tx1"/>
                        </a:solidFill>
                        <a:effectLst/>
                        <a:latin typeface="+mn-lt"/>
                        <a:ea typeface="+mn-ea"/>
                        <a:cs typeface="+mn-cs"/>
                      </a:endParaRPr>
                    </a:p>
                  </a:txBody>
                  <a:tcPr marL="68580" marR="68580" marT="9525" marB="0" anchor="ctr">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0D7F5025-96FD-A7EE-5367-617ABB2327E9}"/>
              </a:ext>
            </a:extLst>
          </p:cNvPr>
          <p:cNvGraphicFramePr>
            <a:graphicFrameLocks noGrp="1"/>
          </p:cNvGraphicFramePr>
          <p:nvPr>
            <p:extLst>
              <p:ext uri="{D42A27DB-BD31-4B8C-83A1-F6EECF244321}">
                <p14:modId xmlns:p14="http://schemas.microsoft.com/office/powerpoint/2010/main" val="2613012925"/>
              </p:ext>
            </p:extLst>
          </p:nvPr>
        </p:nvGraphicFramePr>
        <p:xfrm>
          <a:off x="2393298" y="4800995"/>
          <a:ext cx="8636651" cy="1153306"/>
        </p:xfrm>
        <a:graphic>
          <a:graphicData uri="http://schemas.openxmlformats.org/drawingml/2006/table">
            <a:tbl>
              <a:tblPr firstRow="1" firstCol="1" bandRow="1"/>
              <a:tblGrid>
                <a:gridCol w="1584015">
                  <a:extLst>
                    <a:ext uri="{9D8B030D-6E8A-4147-A177-3AD203B41FA5}">
                      <a16:colId xmlns:a16="http://schemas.microsoft.com/office/drawing/2014/main" val="1791917023"/>
                    </a:ext>
                  </a:extLst>
                </a:gridCol>
                <a:gridCol w="1998876">
                  <a:extLst>
                    <a:ext uri="{9D8B030D-6E8A-4147-A177-3AD203B41FA5}">
                      <a16:colId xmlns:a16="http://schemas.microsoft.com/office/drawing/2014/main" val="778085126"/>
                    </a:ext>
                  </a:extLst>
                </a:gridCol>
                <a:gridCol w="1093724">
                  <a:extLst>
                    <a:ext uri="{9D8B030D-6E8A-4147-A177-3AD203B41FA5}">
                      <a16:colId xmlns:a16="http://schemas.microsoft.com/office/drawing/2014/main" val="3808763990"/>
                    </a:ext>
                  </a:extLst>
                </a:gridCol>
                <a:gridCol w="1169154">
                  <a:extLst>
                    <a:ext uri="{9D8B030D-6E8A-4147-A177-3AD203B41FA5}">
                      <a16:colId xmlns:a16="http://schemas.microsoft.com/office/drawing/2014/main" val="2363829853"/>
                    </a:ext>
                  </a:extLst>
                </a:gridCol>
                <a:gridCol w="1395441">
                  <a:extLst>
                    <a:ext uri="{9D8B030D-6E8A-4147-A177-3AD203B41FA5}">
                      <a16:colId xmlns:a16="http://schemas.microsoft.com/office/drawing/2014/main" val="3525508578"/>
                    </a:ext>
                  </a:extLst>
                </a:gridCol>
                <a:gridCol w="1395441">
                  <a:extLst>
                    <a:ext uri="{9D8B030D-6E8A-4147-A177-3AD203B41FA5}">
                      <a16:colId xmlns:a16="http://schemas.microsoft.com/office/drawing/2014/main" val="3174711922"/>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0">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l"/>
                      <a:r>
                        <a:rPr lang="es-PE"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p>
                    <a:p>
                      <a:pPr algn="ct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kern="1200" dirty="0">
                          <a:solidFill>
                            <a:schemeClr val="tx1"/>
                          </a:solidFill>
                          <a:effectLst/>
                          <a:latin typeface="+mn-lt"/>
                          <a:ea typeface="+mn-ea"/>
                          <a:cs typeface="+mn-cs"/>
                        </a:rPr>
                        <a:t>19</a:t>
                      </a:r>
                      <a:endParaRPr lang="es-PE" sz="180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dirty="0">
                          <a:effectLst/>
                          <a:latin typeface="Calibri" panose="020F0502020204030204" pitchFamily="34" charset="0"/>
                          <a:ea typeface="Calibri" panose="020F0502020204030204" pitchFamily="34" charset="0"/>
                          <a:cs typeface="Times New Roman" panose="02020603050405020304" pitchFamily="18" charset="0"/>
                        </a:rPr>
                        <a:t>4.95</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12 ALTA</a:t>
                      </a:r>
                    </a:p>
                    <a:p>
                      <a:pPr algn="l"/>
                      <a:r>
                        <a:rPr lang="es-ES" sz="1800" b="0" dirty="0">
                          <a:effectLst/>
                          <a:latin typeface="Calibri" panose="020F0502020204030204" pitchFamily="34" charset="0"/>
                          <a:ea typeface="Calibri" panose="020F0502020204030204" pitchFamily="34" charset="0"/>
                          <a:cs typeface="Times New Roman" panose="02020603050405020304" pitchFamily="18" charset="0"/>
                        </a:rPr>
                        <a:t>07 MEDIA</a:t>
                      </a: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800" b="0" kern="1200" dirty="0">
                          <a:solidFill>
                            <a:schemeClr val="tx1"/>
                          </a:solidFill>
                          <a:effectLst/>
                          <a:latin typeface="+mn-lt"/>
                          <a:ea typeface="+mn-ea"/>
                          <a:cs typeface="+mn-cs"/>
                        </a:rPr>
                        <a:t>3.84</a:t>
                      </a:r>
                      <a:endParaRPr lang="es-PE" sz="1800" b="0" kern="1200" dirty="0">
                        <a:solidFill>
                          <a:schemeClr val="tx1"/>
                        </a:solidFill>
                        <a:effectLst/>
                        <a:latin typeface="+mn-lt"/>
                        <a:ea typeface="+mn-ea"/>
                        <a:cs typeface="+mn-cs"/>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graphicFrame>
        <p:nvGraphicFramePr>
          <p:cNvPr id="5" name="Tabla 4">
            <a:extLst>
              <a:ext uri="{FF2B5EF4-FFF2-40B4-BE49-F238E27FC236}">
                <a16:creationId xmlns:a16="http://schemas.microsoft.com/office/drawing/2014/main" id="{99B5AFAD-2AB6-6CDE-A9C3-4DCFAEE25A1E}"/>
              </a:ext>
            </a:extLst>
          </p:cNvPr>
          <p:cNvGraphicFramePr>
            <a:graphicFrameLocks noGrp="1"/>
          </p:cNvGraphicFramePr>
          <p:nvPr>
            <p:extLst>
              <p:ext uri="{D42A27DB-BD31-4B8C-83A1-F6EECF244321}">
                <p14:modId xmlns:p14="http://schemas.microsoft.com/office/powerpoint/2010/main" val="2086409546"/>
              </p:ext>
            </p:extLst>
          </p:nvPr>
        </p:nvGraphicFramePr>
        <p:xfrm>
          <a:off x="2393298" y="1177101"/>
          <a:ext cx="8636653" cy="1963161"/>
        </p:xfrm>
        <a:graphic>
          <a:graphicData uri="http://schemas.openxmlformats.org/drawingml/2006/table">
            <a:tbl>
              <a:tblPr firstRow="1" firstCol="1" bandRow="1"/>
              <a:tblGrid>
                <a:gridCol w="1469809">
                  <a:extLst>
                    <a:ext uri="{9D8B030D-6E8A-4147-A177-3AD203B41FA5}">
                      <a16:colId xmlns:a16="http://schemas.microsoft.com/office/drawing/2014/main" val="2785956031"/>
                    </a:ext>
                  </a:extLst>
                </a:gridCol>
                <a:gridCol w="2101353">
                  <a:extLst>
                    <a:ext uri="{9D8B030D-6E8A-4147-A177-3AD203B41FA5}">
                      <a16:colId xmlns:a16="http://schemas.microsoft.com/office/drawing/2014/main" val="1033099074"/>
                    </a:ext>
                  </a:extLst>
                </a:gridCol>
                <a:gridCol w="1056369">
                  <a:extLst>
                    <a:ext uri="{9D8B030D-6E8A-4147-A177-3AD203B41FA5}">
                      <a16:colId xmlns:a16="http://schemas.microsoft.com/office/drawing/2014/main" val="1980848825"/>
                    </a:ext>
                  </a:extLst>
                </a:gridCol>
                <a:gridCol w="1165860">
                  <a:extLst>
                    <a:ext uri="{9D8B030D-6E8A-4147-A177-3AD203B41FA5}">
                      <a16:colId xmlns:a16="http://schemas.microsoft.com/office/drawing/2014/main" val="176937328"/>
                    </a:ext>
                  </a:extLst>
                </a:gridCol>
                <a:gridCol w="1421631">
                  <a:extLst>
                    <a:ext uri="{9D8B030D-6E8A-4147-A177-3AD203B41FA5}">
                      <a16:colId xmlns:a16="http://schemas.microsoft.com/office/drawing/2014/main" val="1472209076"/>
                    </a:ext>
                  </a:extLst>
                </a:gridCol>
                <a:gridCol w="1421631">
                  <a:extLst>
                    <a:ext uri="{9D8B030D-6E8A-4147-A177-3AD203B41FA5}">
                      <a16:colId xmlns:a16="http://schemas.microsoft.com/office/drawing/2014/main" val="1870332436"/>
                    </a:ext>
                  </a:extLst>
                </a:gridCol>
              </a:tblGrid>
              <a:tr h="85578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aplicada</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Resolutor efectivo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Producción promedio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361856">
                <a:tc>
                  <a:txBody>
                    <a:bodyPr/>
                    <a:lstStyle/>
                    <a:p>
                      <a:pPr algn="ctr"/>
                      <a:r>
                        <a:rPr lang="es-PE"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9</a:t>
                      </a:r>
                      <a:r>
                        <a:rPr lang="es-PE" sz="1800" kern="1200" dirty="0">
                          <a:solidFill>
                            <a:schemeClr val="tx1"/>
                          </a:solidFill>
                          <a:effectLst/>
                          <a:latin typeface="+mn-lt"/>
                          <a:ea typeface="+mn-ea"/>
                          <a:cs typeface="+mn-cs"/>
                        </a:rPr>
                        <a:t>9</a:t>
                      </a: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6.7</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rPr>
                        <a:t>MEDIO/ALTO</a:t>
                      </a: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14.8</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317626">
                <a:tc>
                  <a:txBody>
                    <a:bodyPr/>
                    <a:lstStyle/>
                    <a:p>
                      <a:pPr algn="ctr"/>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83</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rPr>
                        <a:t>MEDIO/ALTO</a:t>
                      </a: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16.6</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427893">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r>
                        <a:rPr lang="es-ES" sz="18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82</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5.9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PE" sz="1800" b="0" i="0" u="none" strike="noStrike" kern="1200" cap="none" spc="0" normalizeH="0" baseline="0" noProof="0" dirty="0">
                          <a:ln>
                            <a:noFill/>
                          </a:ln>
                          <a:solidFill>
                            <a:schemeClr val="tx1"/>
                          </a:solidFill>
                          <a:effectLst/>
                          <a:uLnTx/>
                          <a:uFillTx/>
                          <a:latin typeface="Calibri" panose="020F0502020204030204"/>
                          <a:ea typeface="+mn-ea"/>
                          <a:cs typeface="+mn-cs"/>
                        </a:rPr>
                        <a:t>MEDIO/ALTO</a:t>
                      </a: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marL="0" algn="ctr" defTabSz="914400" rtl="0" eaLnBrk="1" latinLnBrk="0" hangingPunct="1"/>
                      <a:r>
                        <a:rPr lang="es-ES" sz="1800" kern="1200" dirty="0">
                          <a:solidFill>
                            <a:schemeClr val="tx1"/>
                          </a:solidFill>
                          <a:effectLst/>
                          <a:latin typeface="+mn-lt"/>
                          <a:ea typeface="+mn-ea"/>
                          <a:cs typeface="+mn-cs"/>
                        </a:rPr>
                        <a:t>13.9</a:t>
                      </a:r>
                      <a:endParaRPr lang="es-PE" sz="1800" kern="1200" dirty="0">
                        <a:solidFill>
                          <a:schemeClr val="tx1"/>
                        </a:solidFill>
                        <a:effectLst/>
                        <a:latin typeface="+mn-lt"/>
                        <a:ea typeface="+mn-ea"/>
                        <a:cs typeface="+mn-cs"/>
                      </a:endParaRPr>
                    </a:p>
                  </a:txBody>
                  <a:tcPr marL="68580" marR="68580" marT="9525"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spTree>
    <p:extLst>
      <p:ext uri="{BB962C8B-B14F-4D97-AF65-F5344CB8AC3E}">
        <p14:creationId xmlns:p14="http://schemas.microsoft.com/office/powerpoint/2010/main" val="7725137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PROYECTADO Y NO APLICADO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657226" y="183959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723902" y="3816590"/>
            <a:ext cx="1028700" cy="638174"/>
          </a:xfrm>
          <a:prstGeom prst="rightArrow">
            <a:avLst/>
          </a:prstGeom>
          <a:ln w="28575">
            <a:solidFill>
              <a:schemeClr val="accent4">
                <a:lumMod val="60000"/>
                <a:lumOff val="4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742950" y="5464379"/>
            <a:ext cx="1028700" cy="638174"/>
          </a:xfrm>
          <a:prstGeom prst="rightArrow">
            <a:avLst/>
          </a:prstGeom>
          <a:ln w="28575">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7D983311-D5D2-D4A1-1B19-7BD4F56B92BF}"/>
              </a:ext>
            </a:extLst>
          </p:cNvPr>
          <p:cNvGraphicFramePr>
            <a:graphicFrameLocks noGrp="1"/>
          </p:cNvGraphicFramePr>
          <p:nvPr>
            <p:extLst>
              <p:ext uri="{D42A27DB-BD31-4B8C-83A1-F6EECF244321}">
                <p14:modId xmlns:p14="http://schemas.microsoft.com/office/powerpoint/2010/main" val="1550076424"/>
              </p:ext>
            </p:extLst>
          </p:nvPr>
        </p:nvGraphicFramePr>
        <p:xfrm>
          <a:off x="2349855" y="1022520"/>
          <a:ext cx="8896212" cy="2838607"/>
        </p:xfrm>
        <a:graphic>
          <a:graphicData uri="http://schemas.openxmlformats.org/drawingml/2006/table">
            <a:tbl>
              <a:tblPr firstRow="1" firstCol="1" bandRow="1"/>
              <a:tblGrid>
                <a:gridCol w="1346317">
                  <a:extLst>
                    <a:ext uri="{9D8B030D-6E8A-4147-A177-3AD203B41FA5}">
                      <a16:colId xmlns:a16="http://schemas.microsoft.com/office/drawing/2014/main" val="2785956031"/>
                    </a:ext>
                  </a:extLst>
                </a:gridCol>
                <a:gridCol w="1921438">
                  <a:extLst>
                    <a:ext uri="{9D8B030D-6E8A-4147-A177-3AD203B41FA5}">
                      <a16:colId xmlns:a16="http://schemas.microsoft.com/office/drawing/2014/main" val="1033099074"/>
                    </a:ext>
                  </a:extLst>
                </a:gridCol>
                <a:gridCol w="1659424">
                  <a:extLst>
                    <a:ext uri="{9D8B030D-6E8A-4147-A177-3AD203B41FA5}">
                      <a16:colId xmlns:a16="http://schemas.microsoft.com/office/drawing/2014/main" val="1980848825"/>
                    </a:ext>
                  </a:extLst>
                </a:gridCol>
                <a:gridCol w="1174213">
                  <a:extLst>
                    <a:ext uri="{9D8B030D-6E8A-4147-A177-3AD203B41FA5}">
                      <a16:colId xmlns:a16="http://schemas.microsoft.com/office/drawing/2014/main" val="176937328"/>
                    </a:ext>
                  </a:extLst>
                </a:gridCol>
                <a:gridCol w="1397410">
                  <a:extLst>
                    <a:ext uri="{9D8B030D-6E8A-4147-A177-3AD203B41FA5}">
                      <a16:colId xmlns:a16="http://schemas.microsoft.com/office/drawing/2014/main" val="1870332436"/>
                    </a:ext>
                  </a:extLst>
                </a:gridCol>
                <a:gridCol w="1397410">
                  <a:extLst>
                    <a:ext uri="{9D8B030D-6E8A-4147-A177-3AD203B41FA5}">
                      <a16:colId xmlns:a16="http://schemas.microsoft.com/office/drawing/2014/main" val="617388905"/>
                    </a:ext>
                  </a:extLst>
                </a:gridCol>
              </a:tblGrid>
              <a:tr h="444077">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ct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extLst>
                  <a:ext uri="{0D108BD9-81ED-4DB2-BD59-A6C34878D82A}">
                    <a16:rowId xmlns:a16="http://schemas.microsoft.com/office/drawing/2014/main" val="1785748822"/>
                  </a:ext>
                </a:extLst>
              </a:tr>
              <a:tr h="777134">
                <a:tc>
                  <a:txBody>
                    <a:bodyPr/>
                    <a:lstStyle/>
                    <a:p>
                      <a:pPr algn="l"/>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Roberto Vera Tudela</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101</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9</a:t>
                      </a:r>
                      <a:r>
                        <a:rPr lang="es-PE" sz="1400" kern="1200" dirty="0">
                          <a:solidFill>
                            <a:schemeClr val="tx1"/>
                          </a:solidFill>
                          <a:effectLst/>
                          <a:latin typeface="+mn-lt"/>
                          <a:ea typeface="+mn-ea"/>
                          <a:cs typeface="+mn-cs"/>
                        </a:rPr>
                        <a:t>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400" b="0" dirty="0">
                          <a:effectLst/>
                          <a:latin typeface="Calibri" panose="020F0502020204030204" pitchFamily="34" charset="0"/>
                          <a:ea typeface="Calibri" panose="020F0502020204030204" pitchFamily="34" charset="0"/>
                          <a:cs typeface="Times New Roman" panose="02020603050405020304" pitchFamily="18" charset="0"/>
                        </a:rPr>
                        <a:t>Sine ingreso tarde. Se quedo en bandeja de Jefatura</a:t>
                      </a:r>
                      <a:endParaRPr lang="es-PE" sz="14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100" b="0" dirty="0">
                          <a:effectLst/>
                          <a:latin typeface="Calibri" panose="020F0502020204030204" pitchFamily="34" charset="0"/>
                          <a:ea typeface="Calibri" panose="020F0502020204030204" pitchFamily="34" charset="0"/>
                          <a:cs typeface="Times New Roman" panose="02020603050405020304" pitchFamily="18" charset="0"/>
                        </a:rPr>
                        <a:t>-</a:t>
                      </a:r>
                      <a:endParaRPr lang="es-PE" sz="1100" b="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67962714"/>
                  </a:ext>
                </a:extLst>
              </a:tr>
              <a:tr h="644047">
                <a:tc>
                  <a:txBody>
                    <a:bodyPr/>
                    <a:lstStyle/>
                    <a:p>
                      <a:pPr algn="l"/>
                      <a:r>
                        <a:rPr lang="es-ES" sz="1600" b="1">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7U7102</a:t>
                      </a:r>
                      <a:endParaRPr lang="es-PE"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Vanesa Chávez</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89</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algn="ctr"/>
                      <a:r>
                        <a:rPr lang="es-ES" sz="1400" dirty="0">
                          <a:effectLst/>
                          <a:latin typeface="Calibri" panose="020F0502020204030204" pitchFamily="34" charset="0"/>
                          <a:ea typeface="Calibri" panose="020F0502020204030204" pitchFamily="34" charset="0"/>
                          <a:cs typeface="Times New Roman" panose="02020603050405020304" pitchFamily="18" charset="0"/>
                        </a:rPr>
                        <a:t>83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l" defTabSz="914400" rtl="0" eaLnBrk="1" latinLnBrk="0" hangingPunct="1"/>
                      <a:r>
                        <a:rPr lang="es-PE" sz="1400" b="0" kern="1200" dirty="0">
                          <a:solidFill>
                            <a:schemeClr val="tx1"/>
                          </a:solidFill>
                          <a:effectLst/>
                          <a:latin typeface="Calibri" panose="020F0502020204030204" pitchFamily="34" charset="0"/>
                          <a:ea typeface="+mn-ea"/>
                          <a:cs typeface="Times New Roman" panose="02020603050405020304" pitchFamily="18" charset="0"/>
                        </a:rPr>
                        <a:t>Consultas de Valores en evaluación. </a:t>
                      </a: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tc>
                  <a:txBody>
                    <a:bodyPr/>
                    <a:lstStyle/>
                    <a:p>
                      <a:pPr marL="0" algn="ctr" defTabSz="914400" rtl="0" eaLnBrk="1" latinLnBrk="0" hangingPunct="1"/>
                      <a:r>
                        <a:rPr lang="es-ES" sz="1400" b="0" kern="1200" dirty="0">
                          <a:solidFill>
                            <a:schemeClr val="tx1"/>
                          </a:solidFill>
                          <a:effectLst/>
                          <a:latin typeface="Calibri" panose="020F0502020204030204" pitchFamily="34" charset="0"/>
                          <a:ea typeface="+mn-ea"/>
                          <a:cs typeface="Times New Roman" panose="02020603050405020304" pitchFamily="18" charset="0"/>
                        </a:rPr>
                        <a:t>-</a:t>
                      </a:r>
                      <a:endParaRPr lang="es-PE" sz="1400" b="0" kern="1200" dirty="0">
                        <a:solidFill>
                          <a:schemeClr val="tx1"/>
                        </a:solidFill>
                        <a:effectLst/>
                        <a:latin typeface="Calibri" panose="020F0502020204030204" pitchFamily="34" charset="0"/>
                        <a:ea typeface="+mn-ea"/>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EEAF6"/>
                    </a:solidFill>
                  </a:tcPr>
                </a:tc>
                <a:extLst>
                  <a:ext uri="{0D108BD9-81ED-4DB2-BD59-A6C34878D82A}">
                    <a16:rowId xmlns:a16="http://schemas.microsoft.com/office/drawing/2014/main" val="839718254"/>
                  </a:ext>
                </a:extLst>
              </a:tr>
              <a:tr h="777134">
                <a:tc>
                  <a:txBody>
                    <a:bodyPr/>
                    <a:lstStyle/>
                    <a:p>
                      <a:pPr algn="l"/>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7U7103</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5B9BD5"/>
                    </a:solidFill>
                  </a:tcPr>
                </a:tc>
                <a:tc>
                  <a:txBody>
                    <a:bodyPr/>
                    <a:lstStyle/>
                    <a:p>
                      <a:pPr algn="l"/>
                      <a:r>
                        <a:rPr lang="es-ES"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Angelita Santillan</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ES" sz="1400" kern="1200" dirty="0">
                          <a:solidFill>
                            <a:schemeClr val="tx1"/>
                          </a:solidFill>
                          <a:effectLst/>
                          <a:latin typeface="+mn-lt"/>
                          <a:ea typeface="+mn-ea"/>
                          <a:cs typeface="+mn-cs"/>
                        </a:rPr>
                        <a:t>86</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82 </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l"/>
                      <a:r>
                        <a:rPr lang="es-ES" sz="1400" kern="1200" dirty="0">
                          <a:solidFill>
                            <a:schemeClr val="tx1"/>
                          </a:solidFill>
                          <a:effectLst/>
                          <a:latin typeface="+mn-lt"/>
                          <a:ea typeface="+mn-ea"/>
                          <a:cs typeface="+mn-cs"/>
                        </a:rPr>
                        <a:t>Sine ingreso tarde. Se quedo en bandeja de Jefatura</a:t>
                      </a:r>
                      <a:endParaRPr lang="es-PE" sz="1400" kern="1200" dirty="0">
                        <a:solidFill>
                          <a:schemeClr val="tx1"/>
                        </a:solidFill>
                        <a:effectLs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tc>
                  <a:txBody>
                    <a:bodyPr/>
                    <a:lstStyle/>
                    <a:p>
                      <a:pPr algn="ctr"/>
                      <a:r>
                        <a:rPr lang="es-PE" sz="1400" kern="1200" dirty="0">
                          <a:solidFill>
                            <a:schemeClr val="tx1"/>
                          </a:solidFill>
                          <a:effectLst/>
                          <a:latin typeface="+mn-lt"/>
                          <a:ea typeface="+mn-ea"/>
                          <a:cs typeface="+mn-cs"/>
                        </a:rPr>
                        <a:t>-</a:t>
                      </a:r>
                      <a:endParaRPr lang="es-PE" sz="1400" kern="1200" dirty="0">
                        <a:solidFill>
                          <a:schemeClr val="tx1"/>
                        </a:solidFill>
                        <a:effectLst/>
                        <a:highlight>
                          <a:srgbClr val="FFFF00"/>
                        </a:highlight>
                        <a:latin typeface="+mn-lt"/>
                        <a:ea typeface="+mn-ea"/>
                        <a:cs typeface="+mn-cs"/>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DD6EE"/>
                    </a:solidFill>
                  </a:tcPr>
                </a:tc>
                <a:extLst>
                  <a:ext uri="{0D108BD9-81ED-4DB2-BD59-A6C34878D82A}">
                    <a16:rowId xmlns:a16="http://schemas.microsoft.com/office/drawing/2014/main" val="981451865"/>
                  </a:ext>
                </a:extLst>
              </a:tr>
            </a:tbl>
          </a:graphicData>
        </a:graphic>
      </p:graphicFrame>
      <p:graphicFrame>
        <p:nvGraphicFramePr>
          <p:cNvPr id="3" name="Tabla 2">
            <a:extLst>
              <a:ext uri="{FF2B5EF4-FFF2-40B4-BE49-F238E27FC236}">
                <a16:creationId xmlns:a16="http://schemas.microsoft.com/office/drawing/2014/main" id="{DF7A7C28-D61E-7992-8D2D-1107C72400A6}"/>
              </a:ext>
            </a:extLst>
          </p:cNvPr>
          <p:cNvGraphicFramePr>
            <a:graphicFrameLocks noGrp="1"/>
          </p:cNvGraphicFramePr>
          <p:nvPr>
            <p:extLst>
              <p:ext uri="{D42A27DB-BD31-4B8C-83A1-F6EECF244321}">
                <p14:modId xmlns:p14="http://schemas.microsoft.com/office/powerpoint/2010/main" val="4264460400"/>
              </p:ext>
            </p:extLst>
          </p:nvPr>
        </p:nvGraphicFramePr>
        <p:xfrm>
          <a:off x="2345422" y="3868422"/>
          <a:ext cx="8896213" cy="1424076"/>
        </p:xfrm>
        <a:graphic>
          <a:graphicData uri="http://schemas.openxmlformats.org/drawingml/2006/table">
            <a:tbl>
              <a:tblPr firstRow="1" firstCol="1" bandRow="1"/>
              <a:tblGrid>
                <a:gridCol w="1354219">
                  <a:extLst>
                    <a:ext uri="{9D8B030D-6E8A-4147-A177-3AD203B41FA5}">
                      <a16:colId xmlns:a16="http://schemas.microsoft.com/office/drawing/2014/main" val="3257801786"/>
                    </a:ext>
                  </a:extLst>
                </a:gridCol>
                <a:gridCol w="2336350">
                  <a:extLst>
                    <a:ext uri="{9D8B030D-6E8A-4147-A177-3AD203B41FA5}">
                      <a16:colId xmlns:a16="http://schemas.microsoft.com/office/drawing/2014/main" val="1776142972"/>
                    </a:ext>
                  </a:extLst>
                </a:gridCol>
                <a:gridCol w="1126594">
                  <a:extLst>
                    <a:ext uri="{9D8B030D-6E8A-4147-A177-3AD203B41FA5}">
                      <a16:colId xmlns:a16="http://schemas.microsoft.com/office/drawing/2014/main" val="153233266"/>
                    </a:ext>
                  </a:extLst>
                </a:gridCol>
                <a:gridCol w="1204292">
                  <a:extLst>
                    <a:ext uri="{9D8B030D-6E8A-4147-A177-3AD203B41FA5}">
                      <a16:colId xmlns:a16="http://schemas.microsoft.com/office/drawing/2014/main" val="1566383420"/>
                    </a:ext>
                  </a:extLst>
                </a:gridCol>
                <a:gridCol w="1437379">
                  <a:extLst>
                    <a:ext uri="{9D8B030D-6E8A-4147-A177-3AD203B41FA5}">
                      <a16:colId xmlns:a16="http://schemas.microsoft.com/office/drawing/2014/main" val="2536285859"/>
                    </a:ext>
                  </a:extLst>
                </a:gridCol>
                <a:gridCol w="1437379">
                  <a:extLst>
                    <a:ext uri="{9D8B030D-6E8A-4147-A177-3AD203B41FA5}">
                      <a16:colId xmlns:a16="http://schemas.microsoft.com/office/drawing/2014/main" val="2628142879"/>
                    </a:ext>
                  </a:extLst>
                </a:gridCol>
              </a:tblGrid>
              <a:tr h="480075">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extLst>
                  <a:ext uri="{0D108BD9-81ED-4DB2-BD59-A6C34878D82A}">
                    <a16:rowId xmlns:a16="http://schemas.microsoft.com/office/drawing/2014/main" val="1468347544"/>
                  </a:ext>
                </a:extLst>
              </a:tr>
              <a:tr h="468198">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160037749"/>
                  </a:ext>
                </a:extLst>
              </a:tr>
              <a:tr h="468198">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99FF"/>
                    </a:solidFill>
                  </a:tcPr>
                </a:tc>
                <a:tc>
                  <a:txBody>
                    <a:bodyPr/>
                    <a:lstStyle/>
                    <a:p>
                      <a:r>
                        <a:rPr lang="es-PE" sz="1400" kern="1200" dirty="0">
                          <a:solidFill>
                            <a:schemeClr val="tx1"/>
                          </a:solidFill>
                          <a:effectLst/>
                          <a:latin typeface="+mn-lt"/>
                          <a:ea typeface="+mn-ea"/>
                          <a:cs typeface="+mn-cs"/>
                        </a:rPr>
                        <a:t>Allison Castro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cs typeface="Times New Roman" panose="02020603050405020304" pitchFamily="18" charset="0"/>
                        </a:rPr>
                        <a:t>0</a:t>
                      </a:r>
                      <a:endParaRPr lang="es-PE" sz="1400" dirty="0">
                        <a:solidFill>
                          <a:schemeClr val="tx1"/>
                        </a:solidFill>
                        <a:effectLst/>
                        <a:latin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CCFF"/>
                    </a:solidFill>
                  </a:tcPr>
                </a:tc>
                <a:extLst>
                  <a:ext uri="{0D108BD9-81ED-4DB2-BD59-A6C34878D82A}">
                    <a16:rowId xmlns:a16="http://schemas.microsoft.com/office/drawing/2014/main" val="660552211"/>
                  </a:ext>
                </a:extLst>
              </a:tr>
            </a:tbl>
          </a:graphicData>
        </a:graphic>
      </p:graphicFrame>
      <p:graphicFrame>
        <p:nvGraphicFramePr>
          <p:cNvPr id="4" name="Tabla 3">
            <a:extLst>
              <a:ext uri="{FF2B5EF4-FFF2-40B4-BE49-F238E27FC236}">
                <a16:creationId xmlns:a16="http://schemas.microsoft.com/office/drawing/2014/main" id="{CED00117-3C55-7947-AD48-A563CEB4C5F1}"/>
              </a:ext>
            </a:extLst>
          </p:cNvPr>
          <p:cNvGraphicFramePr>
            <a:graphicFrameLocks noGrp="1"/>
          </p:cNvGraphicFramePr>
          <p:nvPr>
            <p:extLst>
              <p:ext uri="{D42A27DB-BD31-4B8C-83A1-F6EECF244321}">
                <p14:modId xmlns:p14="http://schemas.microsoft.com/office/powerpoint/2010/main" val="3121760326"/>
              </p:ext>
            </p:extLst>
          </p:nvPr>
        </p:nvGraphicFramePr>
        <p:xfrm>
          <a:off x="2345422" y="5413593"/>
          <a:ext cx="8896211" cy="1194372"/>
        </p:xfrm>
        <a:graphic>
          <a:graphicData uri="http://schemas.openxmlformats.org/drawingml/2006/table">
            <a:tbl>
              <a:tblPr firstRow="1" firstCol="1" bandRow="1"/>
              <a:tblGrid>
                <a:gridCol w="1364730">
                  <a:extLst>
                    <a:ext uri="{9D8B030D-6E8A-4147-A177-3AD203B41FA5}">
                      <a16:colId xmlns:a16="http://schemas.microsoft.com/office/drawing/2014/main" val="1791917023"/>
                    </a:ext>
                  </a:extLst>
                </a:gridCol>
                <a:gridCol w="2325838">
                  <a:extLst>
                    <a:ext uri="{9D8B030D-6E8A-4147-A177-3AD203B41FA5}">
                      <a16:colId xmlns:a16="http://schemas.microsoft.com/office/drawing/2014/main" val="778085126"/>
                    </a:ext>
                  </a:extLst>
                </a:gridCol>
                <a:gridCol w="1126594">
                  <a:extLst>
                    <a:ext uri="{9D8B030D-6E8A-4147-A177-3AD203B41FA5}">
                      <a16:colId xmlns:a16="http://schemas.microsoft.com/office/drawing/2014/main" val="3808763990"/>
                    </a:ext>
                  </a:extLst>
                </a:gridCol>
                <a:gridCol w="1204291">
                  <a:extLst>
                    <a:ext uri="{9D8B030D-6E8A-4147-A177-3AD203B41FA5}">
                      <a16:colId xmlns:a16="http://schemas.microsoft.com/office/drawing/2014/main" val="2363829853"/>
                    </a:ext>
                  </a:extLst>
                </a:gridCol>
                <a:gridCol w="1437379">
                  <a:extLst>
                    <a:ext uri="{9D8B030D-6E8A-4147-A177-3AD203B41FA5}">
                      <a16:colId xmlns:a16="http://schemas.microsoft.com/office/drawing/2014/main" val="3174711922"/>
                    </a:ext>
                  </a:extLst>
                </a:gridCol>
                <a:gridCol w="1437379">
                  <a:extLst>
                    <a:ext uri="{9D8B030D-6E8A-4147-A177-3AD203B41FA5}">
                      <a16:colId xmlns:a16="http://schemas.microsoft.com/office/drawing/2014/main" val="2946329490"/>
                    </a:ext>
                  </a:extLst>
                </a:gridCol>
              </a:tblGrid>
              <a:tr h="60466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Supervisión</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Nombre y apellido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 proyectada </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Resolución</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r>
                        <a:rPr lang="es-ES" sz="1600" b="1" u="none"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aplicada</a:t>
                      </a:r>
                      <a:r>
                        <a:rPr lang="es-ES" sz="1600" b="1" u="sng"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600" b="1" u="sng"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ES"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Motivo</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no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Complejidad</a:t>
                      </a:r>
                      <a:endParaRPr lang="es-PE" sz="1600" b="1" kern="1200"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extLst>
                  <a:ext uri="{0D108BD9-81ED-4DB2-BD59-A6C34878D82A}">
                    <a16:rowId xmlns:a16="http://schemas.microsoft.com/office/drawing/2014/main" val="2803327267"/>
                  </a:ext>
                </a:extLst>
              </a:tr>
              <a:tr h="589706">
                <a:tc>
                  <a:txBody>
                    <a:bodyPr/>
                    <a:lstStyle/>
                    <a:p>
                      <a:pPr algn="ctr"/>
                      <a:r>
                        <a:rPr lang="es-PE" sz="1600" b="1" dirty="0">
                          <a:solidFill>
                            <a:srgbClr val="FFFFFF"/>
                          </a:solidFill>
                          <a:effectLst/>
                          <a:latin typeface="Calibri" panose="020F0502020204030204" pitchFamily="34" charset="0"/>
                          <a:ea typeface="Calibri" panose="020F0502020204030204" pitchFamily="34" charset="0"/>
                          <a:cs typeface="Times New Roman" panose="02020603050405020304" pitchFamily="18" charset="0"/>
                        </a:rPr>
                        <a:t>7U7301</a:t>
                      </a:r>
                      <a:endParaRPr lang="es-PE"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0B050"/>
                    </a:solidFill>
                  </a:tcPr>
                </a:tc>
                <a:tc>
                  <a:txBody>
                    <a:bodyPr/>
                    <a:lstStyle/>
                    <a:p>
                      <a:pPr algn="ctr"/>
                      <a:r>
                        <a:rPr lang="es-PE" sz="1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Ellsworth Carpio</a:t>
                      </a:r>
                      <a:endParaRPr lang="es-PE"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0</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400" kern="1200" dirty="0">
                          <a:solidFill>
                            <a:schemeClr val="tx1"/>
                          </a:solidFill>
                          <a:effectLst/>
                          <a:latin typeface="+mn-lt"/>
                          <a:ea typeface="+mn-ea"/>
                          <a:cs typeface="+mn-cs"/>
                        </a:rPr>
                        <a:t>No </a:t>
                      </a:r>
                      <a:endParaRPr lang="es-PE" sz="14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ES"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t>
                      </a:r>
                      <a:endParaRPr lang="es-PE" sz="1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639818158"/>
                  </a:ext>
                </a:extLst>
              </a:tr>
            </a:tbl>
          </a:graphicData>
        </a:graphic>
      </p:graphicFrame>
    </p:spTree>
    <p:extLst>
      <p:ext uri="{BB962C8B-B14F-4D97-AF65-F5344CB8AC3E}">
        <p14:creationId xmlns:p14="http://schemas.microsoft.com/office/powerpoint/2010/main" val="699909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506BF35C-A620-14C5-709B-343B3BA7CF6A}"/>
              </a:ext>
            </a:extLst>
          </p:cNvPr>
          <p:cNvGraphicFramePr>
            <a:graphicFrameLocks noGrp="1"/>
          </p:cNvGraphicFramePr>
          <p:nvPr>
            <p:extLst>
              <p:ext uri="{D42A27DB-BD31-4B8C-83A1-F6EECF244321}">
                <p14:modId xmlns:p14="http://schemas.microsoft.com/office/powerpoint/2010/main" val="37780664"/>
              </p:ext>
            </p:extLst>
          </p:nvPr>
        </p:nvGraphicFramePr>
        <p:xfrm>
          <a:off x="1157969" y="1181294"/>
          <a:ext cx="8226890" cy="4944470"/>
        </p:xfrm>
        <a:graphic>
          <a:graphicData uri="http://schemas.openxmlformats.org/drawingml/2006/table">
            <a:tbl>
              <a:tblPr firstRow="1" firstCol="1" bandRow="1"/>
              <a:tblGrid>
                <a:gridCol w="1401112">
                  <a:extLst>
                    <a:ext uri="{9D8B030D-6E8A-4147-A177-3AD203B41FA5}">
                      <a16:colId xmlns:a16="http://schemas.microsoft.com/office/drawing/2014/main" val="2775420412"/>
                    </a:ext>
                  </a:extLst>
                </a:gridCol>
                <a:gridCol w="1493959">
                  <a:extLst>
                    <a:ext uri="{9D8B030D-6E8A-4147-A177-3AD203B41FA5}">
                      <a16:colId xmlns:a16="http://schemas.microsoft.com/office/drawing/2014/main" val="1302868493"/>
                    </a:ext>
                  </a:extLst>
                </a:gridCol>
                <a:gridCol w="1193749">
                  <a:extLst>
                    <a:ext uri="{9D8B030D-6E8A-4147-A177-3AD203B41FA5}">
                      <a16:colId xmlns:a16="http://schemas.microsoft.com/office/drawing/2014/main" val="2619335631"/>
                    </a:ext>
                  </a:extLst>
                </a:gridCol>
                <a:gridCol w="2253856">
                  <a:extLst>
                    <a:ext uri="{9D8B030D-6E8A-4147-A177-3AD203B41FA5}">
                      <a16:colId xmlns:a16="http://schemas.microsoft.com/office/drawing/2014/main" val="3518194475"/>
                    </a:ext>
                  </a:extLst>
                </a:gridCol>
                <a:gridCol w="942107">
                  <a:extLst>
                    <a:ext uri="{9D8B030D-6E8A-4147-A177-3AD203B41FA5}">
                      <a16:colId xmlns:a16="http://schemas.microsoft.com/office/drawing/2014/main" val="2121101367"/>
                    </a:ext>
                  </a:extLst>
                </a:gridCol>
                <a:gridCol w="942107">
                  <a:extLst>
                    <a:ext uri="{9D8B030D-6E8A-4147-A177-3AD203B41FA5}">
                      <a16:colId xmlns:a16="http://schemas.microsoft.com/office/drawing/2014/main" val="2184007081"/>
                    </a:ext>
                  </a:extLst>
                </a:gridCol>
              </a:tblGrid>
              <a:tr h="667188">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UUOO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SUPERVISIONES</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REGISTRO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FUNCIONARIO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CARGO</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PRODUCCIÓN PROMEDIO MENSUAL</a:t>
                      </a:r>
                      <a:endParaRPr lang="es-PE" sz="110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905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991739676"/>
                  </a:ext>
                </a:extLst>
              </a:tr>
              <a:tr h="166797">
                <a:tc rowSpan="25">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7U7100 DIVISION DE CONTROL CONCURRENTE I</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nchor="ctr">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5877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Roberto Vera Tudela Gallesi</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a:solidFill>
                            <a:srgbClr val="000000"/>
                          </a:solidFill>
                          <a:effectLst/>
                          <a:latin typeface="+mn-lt"/>
                          <a:ea typeface="Times New Roman" panose="02020603050405020304" pitchFamily="18" charset="0"/>
                          <a:cs typeface="Times New Roman" panose="02020603050405020304" pitchFamily="18" charset="0"/>
                        </a:rPr>
                        <a:t> </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9050" cap="flat" cmpd="sng" algn="ctr">
                      <a:solidFill>
                        <a:srgbClr val="9CC2E5"/>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4833311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dirty="0">
                          <a:solidFill>
                            <a:srgbClr val="000000"/>
                          </a:solidFill>
                          <a:effectLst/>
                          <a:latin typeface="+mn-lt"/>
                          <a:ea typeface="Times New Roman" panose="02020603050405020304" pitchFamily="18" charset="0"/>
                          <a:cs typeface="Times New Roman" panose="02020603050405020304" pitchFamily="18" charset="0"/>
                        </a:rPr>
                        <a:t>2900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Carolina Cavero Carrion</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1582802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4469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Hurtado Custodio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3024052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5534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Celso Sanchez Garrido</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70242721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3284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Ana Diaz Jurado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839885504"/>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3085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Edgar Cosio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6239081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8351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Debra Araoz Laines</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0</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27649333"/>
                  </a:ext>
                </a:extLst>
              </a:tr>
              <a:tr h="253922">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Victoria Santa Cruz Martinez</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85652611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4644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Cesar Linares Alcantara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1587912357"/>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7580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Vanesa Chavez Silva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0707567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2968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Maria Chire Tunque</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16</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22672239"/>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4949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Javier Oyarse Cruz</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6447011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4504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Hugo Jimenez Suclla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135737977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8319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Carla </a:t>
                      </a:r>
                      <a:r>
                        <a:rPr lang="es-PE" sz="1100" dirty="0" err="1">
                          <a:solidFill>
                            <a:srgbClr val="000000"/>
                          </a:solidFill>
                          <a:effectLst/>
                          <a:latin typeface="+mn-lt"/>
                          <a:ea typeface="Times New Roman" panose="02020603050405020304" pitchFamily="18" charset="0"/>
                          <a:cs typeface="Times New Roman" panose="02020603050405020304" pitchFamily="18" charset="0"/>
                        </a:rPr>
                        <a:t>Vilcapaza</a:t>
                      </a:r>
                      <a:r>
                        <a:rPr lang="es-PE" sz="1100" dirty="0">
                          <a:solidFill>
                            <a:srgbClr val="000000"/>
                          </a:solidFill>
                          <a:effectLst/>
                          <a:latin typeface="+mn-lt"/>
                          <a:ea typeface="Times New Roman" panose="02020603050405020304" pitchFamily="18" charset="0"/>
                          <a:cs typeface="Times New Roman" panose="02020603050405020304" pitchFamily="18" charset="0"/>
                        </a:rPr>
                        <a:t> Amaro</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331214071"/>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3977</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William Godoy Escalante</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4</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40233209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7324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Zaira Carbajal Jara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229030901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5569</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Gladys Santillan Valdivia</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r>
                        <a:rPr lang="es-PE" sz="1100" b="1">
                          <a:solidFill>
                            <a:srgbClr val="000000"/>
                          </a:solidFill>
                          <a:effectLst/>
                          <a:latin typeface="+mn-lt"/>
                          <a:ea typeface="Times New Roman" panose="02020603050405020304" pitchFamily="18" charset="0"/>
                          <a:cs typeface="Times New Roman" panose="02020603050405020304" pitchFamily="18" charset="0"/>
                        </a:rPr>
                        <a:t>Supervisor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tc>
                  <a:txBody>
                    <a:bodyPr/>
                    <a:lstStyle/>
                    <a:p>
                      <a:pPr algn="ctr"/>
                      <a:r>
                        <a:rPr lang="es-PE" sz="1100" dirty="0">
                          <a:solidFill>
                            <a:srgbClr val="000000"/>
                          </a:solidFill>
                          <a:effectLst/>
                          <a:latin typeface="+mn-lt"/>
                          <a:ea typeface="Times New Roman" panose="02020603050405020304" pitchFamily="18" charset="0"/>
                          <a:cs typeface="Times New Roman" panose="02020603050405020304" pitchFamily="18" charset="0"/>
                        </a:rPr>
                        <a:t> </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solidFill>
                      <a:srgbClr val="9CC2E5"/>
                    </a:solidFill>
                  </a:tcPr>
                </a:tc>
                <a:extLst>
                  <a:ext uri="{0D108BD9-81ED-4DB2-BD59-A6C34878D82A}">
                    <a16:rowId xmlns:a16="http://schemas.microsoft.com/office/drawing/2014/main" val="286574934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7625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Teresita Quezada Villar</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a:t>
                      </a:r>
                      <a:r>
                        <a:rPr lang="es-PE" sz="1100" dirty="0">
                          <a:solidFill>
                            <a:srgbClr val="000000"/>
                          </a:solidFill>
                          <a:effectLst/>
                          <a:latin typeface="+mn-lt"/>
                          <a:ea typeface="Calibri" panose="020F0502020204030204" pitchFamily="34" charset="0"/>
                          <a:cs typeface="Times New Roman" panose="02020603050405020304" pitchFamily="18" charset="0"/>
                        </a:rPr>
                        <a:t>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67612033"/>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7330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Tania Rosales Ochoa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15</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97364243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4770</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Maritza Mollinedo Catunta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4094291206"/>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2858</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Julio Castañeda Calderon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9</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extLst>
                  <a:ext uri="{0D108BD9-81ED-4DB2-BD59-A6C34878D82A}">
                    <a16:rowId xmlns:a16="http://schemas.microsoft.com/office/drawing/2014/main" val="3060839985"/>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7611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Azhir</a:t>
                      </a:r>
                      <a:r>
                        <a:rPr lang="es-PE" sz="1100" dirty="0">
                          <a:solidFill>
                            <a:srgbClr val="000000"/>
                          </a:solidFill>
                          <a:effectLst/>
                          <a:latin typeface="+mn-lt"/>
                          <a:ea typeface="Times New Roman" panose="02020603050405020304" pitchFamily="18" charset="0"/>
                          <a:cs typeface="Times New Roman" panose="02020603050405020304" pitchFamily="18" charset="0"/>
                        </a:rPr>
                        <a:t> Sandoval Guevara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8</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411588770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7661</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Luis </a:t>
                      </a:r>
                      <a:r>
                        <a:rPr lang="es-PE" sz="1100" dirty="0" err="1">
                          <a:solidFill>
                            <a:srgbClr val="000000"/>
                          </a:solidFill>
                          <a:effectLst/>
                          <a:latin typeface="+mn-lt"/>
                          <a:ea typeface="Times New Roman" panose="02020603050405020304" pitchFamily="18" charset="0"/>
                          <a:cs typeface="Times New Roman" panose="02020603050405020304" pitchFamily="18" charset="0"/>
                        </a:rPr>
                        <a:t>Cordova</a:t>
                      </a:r>
                      <a:r>
                        <a:rPr lang="es-PE" sz="1100" dirty="0">
                          <a:solidFill>
                            <a:srgbClr val="000000"/>
                          </a:solidFill>
                          <a:effectLst/>
                          <a:latin typeface="+mn-lt"/>
                          <a:ea typeface="Times New Roman" panose="02020603050405020304" pitchFamily="18" charset="0"/>
                          <a:cs typeface="Times New Roman" panose="02020603050405020304" pitchFamily="18" charset="0"/>
                        </a:rPr>
                        <a:t> Meza</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7</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654128652"/>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7674</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err="1">
                          <a:solidFill>
                            <a:srgbClr val="000000"/>
                          </a:solidFill>
                          <a:effectLst/>
                          <a:latin typeface="+mn-lt"/>
                          <a:ea typeface="Times New Roman" panose="02020603050405020304" pitchFamily="18" charset="0"/>
                          <a:cs typeface="Times New Roman" panose="02020603050405020304" pitchFamily="18" charset="0"/>
                        </a:rPr>
                        <a:t>Andres</a:t>
                      </a:r>
                      <a:r>
                        <a:rPr lang="es-PE" sz="1100" dirty="0">
                          <a:solidFill>
                            <a:srgbClr val="000000"/>
                          </a:solidFill>
                          <a:effectLst/>
                          <a:latin typeface="+mn-lt"/>
                          <a:ea typeface="Times New Roman" panose="02020603050405020304" pitchFamily="18" charset="0"/>
                          <a:cs typeface="Times New Roman" panose="02020603050405020304" pitchFamily="18" charset="0"/>
                        </a:rPr>
                        <a:t> Angulo </a:t>
                      </a:r>
                      <a:r>
                        <a:rPr lang="es-PE" sz="1100" dirty="0" err="1">
                          <a:solidFill>
                            <a:srgbClr val="000000"/>
                          </a:solidFill>
                          <a:effectLst/>
                          <a:latin typeface="+mn-lt"/>
                          <a:ea typeface="Times New Roman" panose="02020603050405020304" pitchFamily="18" charset="0"/>
                          <a:cs typeface="Times New Roman" panose="02020603050405020304" pitchFamily="18" charset="0"/>
                        </a:rPr>
                        <a:t>Farfan</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2</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11</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33068020"/>
                  </a:ext>
                </a:extLst>
              </a:tr>
              <a:tr h="166797">
                <a:tc vMerge="1">
                  <a:txBody>
                    <a:bodyPr/>
                    <a:lstStyle/>
                    <a:p>
                      <a:endParaRPr lang="es-PE"/>
                    </a:p>
                  </a:txBody>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7U7103</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pPr algn="ctr"/>
                      <a:r>
                        <a:rPr lang="es-PE" sz="1100" b="1">
                          <a:solidFill>
                            <a:srgbClr val="000000"/>
                          </a:solidFill>
                          <a:effectLst/>
                          <a:latin typeface="+mn-lt"/>
                          <a:ea typeface="Times New Roman" panose="02020603050405020304" pitchFamily="18" charset="0"/>
                          <a:cs typeface="Times New Roman" panose="02020603050405020304" pitchFamily="18" charset="0"/>
                        </a:rPr>
                        <a:t>5556</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tcPr>
                </a:tc>
                <a:tc>
                  <a:txBody>
                    <a:bodyPr/>
                    <a:lstStyle/>
                    <a:p>
                      <a:r>
                        <a:rPr lang="es-PE" sz="1100" dirty="0">
                          <a:solidFill>
                            <a:srgbClr val="000000"/>
                          </a:solidFill>
                          <a:effectLst/>
                          <a:latin typeface="+mn-lt"/>
                          <a:ea typeface="Times New Roman" panose="02020603050405020304" pitchFamily="18" charset="0"/>
                          <a:cs typeface="Times New Roman" panose="02020603050405020304" pitchFamily="18" charset="0"/>
                        </a:rPr>
                        <a:t>Jorge </a:t>
                      </a:r>
                      <a:r>
                        <a:rPr lang="es-PE" sz="1100" dirty="0" err="1">
                          <a:solidFill>
                            <a:srgbClr val="000000"/>
                          </a:solidFill>
                          <a:effectLst/>
                          <a:latin typeface="+mn-lt"/>
                          <a:ea typeface="Times New Roman" panose="02020603050405020304" pitchFamily="18" charset="0"/>
                          <a:cs typeface="Times New Roman" panose="02020603050405020304" pitchFamily="18" charset="0"/>
                        </a:rPr>
                        <a:t>Sanchez</a:t>
                      </a:r>
                      <a:r>
                        <a:rPr lang="es-PE" sz="1100" dirty="0">
                          <a:solidFill>
                            <a:srgbClr val="000000"/>
                          </a:solidFill>
                          <a:effectLst/>
                          <a:latin typeface="+mn-lt"/>
                          <a:ea typeface="Times New Roman" panose="02020603050405020304" pitchFamily="18" charset="0"/>
                          <a:cs typeface="Times New Roman" panose="02020603050405020304" pitchFamily="18" charset="0"/>
                        </a:rPr>
                        <a:t> Torres</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r>
                        <a:rPr lang="es-PE" sz="1100">
                          <a:solidFill>
                            <a:srgbClr val="000000"/>
                          </a:solidFill>
                          <a:effectLst/>
                          <a:latin typeface="+mn-lt"/>
                          <a:ea typeface="Times New Roman" panose="02020603050405020304" pitchFamily="18" charset="0"/>
                          <a:cs typeface="Times New Roman" panose="02020603050405020304" pitchFamily="18" charset="0"/>
                        </a:rPr>
                        <a:t>Especialista 5</a:t>
                      </a:r>
                      <a:endParaRPr lang="es-PE" sz="110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tc>
                  <a:txBody>
                    <a:bodyPr/>
                    <a:lstStyle/>
                    <a:p>
                      <a:pPr algn="ctr"/>
                      <a:r>
                        <a:rPr lang="es-ES" sz="1100" dirty="0">
                          <a:solidFill>
                            <a:srgbClr val="000000"/>
                          </a:solidFill>
                          <a:effectLst/>
                          <a:latin typeface="+mn-lt"/>
                          <a:ea typeface="Calibri" panose="020F0502020204030204" pitchFamily="34" charset="0"/>
                          <a:cs typeface="Times New Roman" panose="02020603050405020304" pitchFamily="18" charset="0"/>
                        </a:rPr>
                        <a:t>12</a:t>
                      </a:r>
                      <a:endParaRPr lang="es-PE" sz="1100" dirty="0">
                        <a:effectLst/>
                        <a:latin typeface="+mn-lt"/>
                        <a:ea typeface="Calibri" panose="020F0502020204030204" pitchFamily="34" charset="0"/>
                        <a:cs typeface="Times New Roman" panose="02020603050405020304" pitchFamily="18" charset="0"/>
                      </a:endParaRPr>
                    </a:p>
                  </a:txBody>
                  <a:tcPr marL="57782" marR="57782" marT="0" marB="0">
                    <a:lnL w="12700" cap="flat" cmpd="sng" algn="ctr">
                      <a:solidFill>
                        <a:srgbClr val="BDD6EE"/>
                      </a:solidFill>
                      <a:prstDash val="solid"/>
                      <a:round/>
                      <a:headEnd type="none" w="med" len="med"/>
                      <a:tailEnd type="none" w="med" len="med"/>
                    </a:lnL>
                    <a:lnR w="12700" cap="flat" cmpd="sng" algn="ctr">
                      <a:solidFill>
                        <a:srgbClr val="BDD6EE"/>
                      </a:solidFill>
                      <a:prstDash val="solid"/>
                      <a:round/>
                      <a:headEnd type="none" w="med" len="med"/>
                      <a:tailEnd type="none" w="med" len="med"/>
                    </a:lnR>
                    <a:lnT w="12700" cap="flat" cmpd="sng" algn="ctr">
                      <a:solidFill>
                        <a:srgbClr val="BDD6EE"/>
                      </a:solidFill>
                      <a:prstDash val="solid"/>
                      <a:round/>
                      <a:headEnd type="none" w="med" len="med"/>
                      <a:tailEnd type="none" w="med" len="med"/>
                    </a:lnT>
                    <a:lnB w="12700" cap="flat" cmpd="sng" algn="ctr">
                      <a:solidFill>
                        <a:srgbClr val="BDD6EE"/>
                      </a:solidFill>
                      <a:prstDash val="solid"/>
                      <a:round/>
                      <a:headEnd type="none" w="med" len="med"/>
                      <a:tailEnd type="none" w="med" len="med"/>
                    </a:lnB>
                    <a:noFill/>
                  </a:tcPr>
                </a:tc>
                <a:extLst>
                  <a:ext uri="{0D108BD9-81ED-4DB2-BD59-A6C34878D82A}">
                    <a16:rowId xmlns:a16="http://schemas.microsoft.com/office/drawing/2014/main" val="3290609114"/>
                  </a:ext>
                </a:extLst>
              </a:tr>
            </a:tbl>
          </a:graphicData>
        </a:graphic>
      </p:graphicFrame>
    </p:spTree>
    <p:extLst>
      <p:ext uri="{BB962C8B-B14F-4D97-AF65-F5344CB8AC3E}">
        <p14:creationId xmlns:p14="http://schemas.microsoft.com/office/powerpoint/2010/main" val="26299155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RESOLUTOR-DCCII</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2E864E31-624B-DBA5-F636-0330773E385F}"/>
              </a:ext>
            </a:extLst>
          </p:cNvPr>
          <p:cNvGraphicFramePr>
            <a:graphicFrameLocks noGrp="1"/>
          </p:cNvGraphicFramePr>
          <p:nvPr>
            <p:extLst>
              <p:ext uri="{D42A27DB-BD31-4B8C-83A1-F6EECF244321}">
                <p14:modId xmlns:p14="http://schemas.microsoft.com/office/powerpoint/2010/main" val="3159593266"/>
              </p:ext>
            </p:extLst>
          </p:nvPr>
        </p:nvGraphicFramePr>
        <p:xfrm>
          <a:off x="1201409" y="1383544"/>
          <a:ext cx="8597395" cy="4283456"/>
        </p:xfrm>
        <a:graphic>
          <a:graphicData uri="http://schemas.openxmlformats.org/drawingml/2006/table">
            <a:tbl>
              <a:tblPr/>
              <a:tblGrid>
                <a:gridCol w="1089162">
                  <a:extLst>
                    <a:ext uri="{9D8B030D-6E8A-4147-A177-3AD203B41FA5}">
                      <a16:colId xmlns:a16="http://schemas.microsoft.com/office/drawing/2014/main" val="2857257721"/>
                    </a:ext>
                  </a:extLst>
                </a:gridCol>
                <a:gridCol w="1089162">
                  <a:extLst>
                    <a:ext uri="{9D8B030D-6E8A-4147-A177-3AD203B41FA5}">
                      <a16:colId xmlns:a16="http://schemas.microsoft.com/office/drawing/2014/main" val="4161489616"/>
                    </a:ext>
                  </a:extLst>
                </a:gridCol>
                <a:gridCol w="1584051">
                  <a:extLst>
                    <a:ext uri="{9D8B030D-6E8A-4147-A177-3AD203B41FA5}">
                      <a16:colId xmlns:a16="http://schemas.microsoft.com/office/drawing/2014/main" val="1630339697"/>
                    </a:ext>
                  </a:extLst>
                </a:gridCol>
                <a:gridCol w="2314575">
                  <a:extLst>
                    <a:ext uri="{9D8B030D-6E8A-4147-A177-3AD203B41FA5}">
                      <a16:colId xmlns:a16="http://schemas.microsoft.com/office/drawing/2014/main" val="1004286328"/>
                    </a:ext>
                  </a:extLst>
                </a:gridCol>
                <a:gridCol w="1205995">
                  <a:extLst>
                    <a:ext uri="{9D8B030D-6E8A-4147-A177-3AD203B41FA5}">
                      <a16:colId xmlns:a16="http://schemas.microsoft.com/office/drawing/2014/main" val="3904268956"/>
                    </a:ext>
                  </a:extLst>
                </a:gridCol>
                <a:gridCol w="1314450">
                  <a:extLst>
                    <a:ext uri="{9D8B030D-6E8A-4147-A177-3AD203B41FA5}">
                      <a16:colId xmlns:a16="http://schemas.microsoft.com/office/drawing/2014/main" val="781816914"/>
                    </a:ext>
                  </a:extLst>
                </a:gridCol>
              </a:tblGrid>
              <a:tr h="683285">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UUOO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SUPERVISIONES</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REGISTRO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FUNCIONARIO</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CARGO</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PRODUCCIÓN PROMEDIO MENSUAL</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50195547"/>
                  </a:ext>
                </a:extLst>
              </a:tr>
              <a:tr h="188207">
                <a:tc rowSpan="15">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7U7200 DIVISION DE CONTROL CONCURRENTE II</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7U7201 </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7587</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Yessenia Salcedo Diaz</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3937105208"/>
                  </a:ext>
                </a:extLst>
              </a:tr>
              <a:tr h="188207">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7342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Juan Cuya Velarde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927316586"/>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4644</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Carlos Malaga Portocarrero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12078436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4569</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Jose Linarez Amacifuen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2(*)</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00127623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AO21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Renierd Rios Gomez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261432791"/>
                  </a:ext>
                </a:extLst>
              </a:tr>
              <a:tr h="317718">
                <a:tc vMerge="1">
                  <a:txBody>
                    <a:bodyPr/>
                    <a:lstStyle/>
                    <a:p>
                      <a:endParaRPr lang="es-PE"/>
                    </a:p>
                  </a:txBody>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7211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Roberto Rivarola Hidalgo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525078045"/>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7624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Poul Valdivia Charca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2</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5786709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7U7201</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5844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dirty="0">
                          <a:effectLst/>
                          <a:latin typeface="Calibri" panose="020F0502020204030204" pitchFamily="34" charset="0"/>
                          <a:ea typeface="Calibri" panose="020F0502020204030204" pitchFamily="34" charset="0"/>
                          <a:cs typeface="Times New Roman" panose="02020603050405020304" pitchFamily="18" charset="0"/>
                        </a:rPr>
                        <a:t>Richard Vela Nuñez </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 (*)</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386600010"/>
                  </a:ext>
                </a:extLst>
              </a:tr>
              <a:tr h="188207">
                <a:tc vMerge="1">
                  <a:txBody>
                    <a:bodyPr/>
                    <a:lstStyle/>
                    <a:p>
                      <a:endParaRPr lang="es-PE"/>
                    </a:p>
                  </a:txBody>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7575</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Allison Castro </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r>
                        <a:rPr lang="es-PE"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Supervisor 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tc>
                  <a:txBody>
                    <a:bodyPr/>
                    <a:lstStyle/>
                    <a:p>
                      <a:pPr algn="ctr"/>
                      <a:endParaRPr lang="es-PE" sz="1100" dirty="0">
                        <a:solidFill>
                          <a:schemeClr val="tx1"/>
                        </a:solidFill>
                        <a:effectLst/>
                        <a:latin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solidFill>
                      <a:srgbClr val="FF66FF"/>
                    </a:solidFill>
                  </a:tcPr>
                </a:tc>
                <a:extLst>
                  <a:ext uri="{0D108BD9-81ED-4DB2-BD59-A6C34878D82A}">
                    <a16:rowId xmlns:a16="http://schemas.microsoft.com/office/drawing/2014/main" val="1716248280"/>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2423</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Cecilia Acosta Salazar</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4</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6</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113725865"/>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7326</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Lydia Arestegui Pereyra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8</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612536542"/>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AT75</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Victoria Flores Alvitez</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10</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60215262"/>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7151</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Lourdes Pretel Noblecilla</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3</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1613490926"/>
                  </a:ext>
                </a:extLst>
              </a:tr>
              <a:tr h="188207">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5749</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Wilder Ulloa Ascencio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Especialista 5</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7</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4053996281"/>
                  </a:ext>
                </a:extLst>
              </a:tr>
              <a:tr h="317718">
                <a:tc vMerge="1">
                  <a:txBody>
                    <a:bodyPr/>
                    <a:lstStyle/>
                    <a:p>
                      <a:endParaRPr lang="es-PE"/>
                    </a:p>
                  </a:txBody>
                  <a:tcPr/>
                </a:tc>
                <a:tc>
                  <a:txBody>
                    <a:bodyPr/>
                    <a:lstStyle/>
                    <a:p>
                      <a:pPr algn="ctr"/>
                      <a:r>
                        <a:rPr lang="es-PE" sz="1100" b="1">
                          <a:effectLst/>
                          <a:latin typeface="Calibri" panose="020F0502020204030204" pitchFamily="34" charset="0"/>
                          <a:ea typeface="Calibri" panose="020F0502020204030204" pitchFamily="34" charset="0"/>
                          <a:cs typeface="Times New Roman" panose="02020603050405020304" pitchFamily="18" charset="0"/>
                        </a:rPr>
                        <a:t>7U7202</a:t>
                      </a:r>
                      <a:endParaRPr lang="es-PE"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PE" sz="1100" b="1" dirty="0">
                          <a:effectLst/>
                          <a:latin typeface="Calibri" panose="020F0502020204030204" pitchFamily="34" charset="0"/>
                          <a:ea typeface="Calibri" panose="020F0502020204030204" pitchFamily="34" charset="0"/>
                          <a:cs typeface="Times New Roman" panose="02020603050405020304" pitchFamily="18" charset="0"/>
                        </a:rPr>
                        <a:t>AX34</a:t>
                      </a: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Enrique Villanueva Hurtado</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r>
                        <a:rPr lang="es-PE" sz="1100">
                          <a:effectLst/>
                          <a:latin typeface="Calibri" panose="020F0502020204030204" pitchFamily="34" charset="0"/>
                          <a:ea typeface="Calibri" panose="020F0502020204030204" pitchFamily="34" charset="0"/>
                          <a:cs typeface="Times New Roman" panose="02020603050405020304" pitchFamily="18" charset="0"/>
                        </a:rPr>
                        <a:t>CAS</a:t>
                      </a:r>
                    </a:p>
                  </a:txBody>
                  <a:tcPr marL="68580" marR="68580" marT="9525" marB="0">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tc>
                  <a:txBody>
                    <a:bodyPr/>
                    <a:lstStyle/>
                    <a:p>
                      <a:pPr algn="ctr"/>
                      <a:r>
                        <a:rPr lang="es-ES"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4</a:t>
                      </a:r>
                      <a:endParaRPr lang="es-PE" sz="1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9525" marB="0" anchor="ctr">
                    <a:lnL w="19050" cap="flat" cmpd="sng" algn="ctr">
                      <a:solidFill>
                        <a:srgbClr val="FF66FF"/>
                      </a:solidFill>
                      <a:prstDash val="solid"/>
                      <a:round/>
                      <a:headEnd type="none" w="med" len="med"/>
                      <a:tailEnd type="none" w="med" len="med"/>
                    </a:lnL>
                    <a:lnR w="19050" cap="flat" cmpd="sng" algn="ctr">
                      <a:solidFill>
                        <a:srgbClr val="FF66FF"/>
                      </a:solidFill>
                      <a:prstDash val="solid"/>
                      <a:round/>
                      <a:headEnd type="none" w="med" len="med"/>
                      <a:tailEnd type="none" w="med" len="med"/>
                    </a:lnR>
                    <a:lnT w="19050" cap="flat" cmpd="sng" algn="ctr">
                      <a:solidFill>
                        <a:srgbClr val="FF66FF"/>
                      </a:solidFill>
                      <a:prstDash val="solid"/>
                      <a:round/>
                      <a:headEnd type="none" w="med" len="med"/>
                      <a:tailEnd type="none" w="med" len="med"/>
                    </a:lnT>
                    <a:lnB w="19050" cap="flat" cmpd="sng" algn="ctr">
                      <a:solidFill>
                        <a:srgbClr val="FF66FF"/>
                      </a:solidFill>
                      <a:prstDash val="solid"/>
                      <a:round/>
                      <a:headEnd type="none" w="med" len="med"/>
                      <a:tailEnd type="none" w="med" len="med"/>
                    </a:lnB>
                  </a:tcPr>
                </a:tc>
                <a:extLst>
                  <a:ext uri="{0D108BD9-81ED-4DB2-BD59-A6C34878D82A}">
                    <a16:rowId xmlns:a16="http://schemas.microsoft.com/office/drawing/2014/main" val="3887998396"/>
                  </a:ext>
                </a:extLst>
              </a:tr>
            </a:tbl>
          </a:graphicData>
        </a:graphic>
      </p:graphicFrame>
      <p:sp>
        <p:nvSpPr>
          <p:cNvPr id="3" name="CuadroTexto 2">
            <a:extLst>
              <a:ext uri="{FF2B5EF4-FFF2-40B4-BE49-F238E27FC236}">
                <a16:creationId xmlns:a16="http://schemas.microsoft.com/office/drawing/2014/main" id="{A4297732-1CBF-489B-83DA-EBDAF5C6C335}"/>
              </a:ext>
            </a:extLst>
          </p:cNvPr>
          <p:cNvSpPr txBox="1"/>
          <p:nvPr/>
        </p:nvSpPr>
        <p:spPr>
          <a:xfrm>
            <a:off x="1133474" y="5667001"/>
            <a:ext cx="9286875" cy="738664"/>
          </a:xfrm>
          <a:prstGeom prst="rect">
            <a:avLst/>
          </a:prstGeom>
          <a:noFill/>
        </p:spPr>
        <p:txBody>
          <a:bodyPr wrap="square" rtlCol="0">
            <a:spAutoFit/>
          </a:bodyPr>
          <a:lstStyle/>
          <a:p>
            <a:r>
              <a:rPr lang="es-ES" sz="1050" dirty="0"/>
              <a:t>(*) Resolutores asignados a División de admisibilidad para brindar apoyo Mes de Febrero en evaluación de reclamos</a:t>
            </a:r>
          </a:p>
          <a:p>
            <a:r>
              <a:rPr lang="es-ES" sz="1050" dirty="0"/>
              <a:t>-José evaluó la admisibilidad de 52 reclamos</a:t>
            </a:r>
          </a:p>
          <a:p>
            <a:r>
              <a:rPr lang="es-ES" sz="1050" dirty="0"/>
              <a:t>-Richard evaluó la admisibilidad de 93 reclamos</a:t>
            </a:r>
          </a:p>
          <a:p>
            <a:endParaRPr lang="es-PE" sz="1050" dirty="0"/>
          </a:p>
        </p:txBody>
      </p:sp>
    </p:spTree>
    <p:extLst>
      <p:ext uri="{BB962C8B-B14F-4D97-AF65-F5344CB8AC3E}">
        <p14:creationId xmlns:p14="http://schemas.microsoft.com/office/powerpoint/2010/main" val="10356260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PRODUCCIÓN POR RESOLUTOR-DCP</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B7C2AC0-86A4-ABEE-06F2-450F63287B6F}"/>
              </a:ext>
            </a:extLst>
          </p:cNvPr>
          <p:cNvGraphicFramePr>
            <a:graphicFrameLocks noGrp="1"/>
          </p:cNvGraphicFramePr>
          <p:nvPr>
            <p:extLst>
              <p:ext uri="{D42A27DB-BD31-4B8C-83A1-F6EECF244321}">
                <p14:modId xmlns:p14="http://schemas.microsoft.com/office/powerpoint/2010/main" val="4061346236"/>
              </p:ext>
            </p:extLst>
          </p:nvPr>
        </p:nvGraphicFramePr>
        <p:xfrm>
          <a:off x="2301715" y="1751700"/>
          <a:ext cx="6911134" cy="3761231"/>
        </p:xfrm>
        <a:graphic>
          <a:graphicData uri="http://schemas.openxmlformats.org/drawingml/2006/table">
            <a:tbl>
              <a:tblPr firstRow="1" firstCol="1" bandRow="1"/>
              <a:tblGrid>
                <a:gridCol w="1185506">
                  <a:extLst>
                    <a:ext uri="{9D8B030D-6E8A-4147-A177-3AD203B41FA5}">
                      <a16:colId xmlns:a16="http://schemas.microsoft.com/office/drawing/2014/main" val="850406056"/>
                    </a:ext>
                  </a:extLst>
                </a:gridCol>
                <a:gridCol w="1075569">
                  <a:extLst>
                    <a:ext uri="{9D8B030D-6E8A-4147-A177-3AD203B41FA5}">
                      <a16:colId xmlns:a16="http://schemas.microsoft.com/office/drawing/2014/main" val="973022981"/>
                    </a:ext>
                  </a:extLst>
                </a:gridCol>
                <a:gridCol w="916110">
                  <a:extLst>
                    <a:ext uri="{9D8B030D-6E8A-4147-A177-3AD203B41FA5}">
                      <a16:colId xmlns:a16="http://schemas.microsoft.com/office/drawing/2014/main" val="2347363923"/>
                    </a:ext>
                  </a:extLst>
                </a:gridCol>
                <a:gridCol w="1802019">
                  <a:extLst>
                    <a:ext uri="{9D8B030D-6E8A-4147-A177-3AD203B41FA5}">
                      <a16:colId xmlns:a16="http://schemas.microsoft.com/office/drawing/2014/main" val="2396742907"/>
                    </a:ext>
                  </a:extLst>
                </a:gridCol>
                <a:gridCol w="1006766">
                  <a:extLst>
                    <a:ext uri="{9D8B030D-6E8A-4147-A177-3AD203B41FA5}">
                      <a16:colId xmlns:a16="http://schemas.microsoft.com/office/drawing/2014/main" val="4024969280"/>
                    </a:ext>
                  </a:extLst>
                </a:gridCol>
                <a:gridCol w="925164">
                  <a:extLst>
                    <a:ext uri="{9D8B030D-6E8A-4147-A177-3AD203B41FA5}">
                      <a16:colId xmlns:a16="http://schemas.microsoft.com/office/drawing/2014/main" val="2141008519"/>
                    </a:ext>
                  </a:extLst>
                </a:gridCol>
              </a:tblGrid>
              <a:tr h="567112">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UUOO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SUPERVISIONES</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REGISTRO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FUNCIONARIO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CARGO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PRODUCCIÓN PROMEDIO MENSUAL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extLst>
                  <a:ext uri="{0D108BD9-81ED-4DB2-BD59-A6C34878D82A}">
                    <a16:rowId xmlns:a16="http://schemas.microsoft.com/office/drawing/2014/main" val="2539397411"/>
                  </a:ext>
                </a:extLst>
              </a:tr>
              <a:tr h="347695">
                <a:tc rowSpan="7">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7U7300 DIVISION DE CONTROL POSTERIOR</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2834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l"/>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Ellsworth Carpio Charres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Supervisor 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rgbClr val="92D050"/>
                    </a:solidFill>
                  </a:tcPr>
                </a:tc>
                <a:extLst>
                  <a:ext uri="{0D108BD9-81ED-4DB2-BD59-A6C34878D82A}">
                    <a16:rowId xmlns:a16="http://schemas.microsoft.com/office/drawing/2014/main" val="124970691"/>
                  </a:ext>
                </a:extLst>
              </a:tr>
              <a:tr h="406632">
                <a:tc vMerge="1">
                  <a:txBody>
                    <a:bodyPr/>
                    <a:lstStyle/>
                    <a:p>
                      <a:endParaRPr lang="es-PE"/>
                    </a:p>
                  </a:txBody>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2694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Gustavo Bernuy Nuñez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36758565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4700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Mauro Sampen</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3</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1670296521"/>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7660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Marco Fournier Castillo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991154502"/>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7148</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Jesus Garcia Rodriguez</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960929415"/>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4594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Carlos Lopez Cornelio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5</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100" b="0" dirty="0">
                          <a:solidFill>
                            <a:schemeClr val="tx1"/>
                          </a:solidFill>
                          <a:effectLst/>
                          <a:latin typeface="+mn-lt"/>
                          <a:ea typeface="Times New Roman" panose="02020603050405020304" pitchFamily="18" charset="0"/>
                          <a:cs typeface="Times New Roman" panose="02020603050405020304" pitchFamily="18" charset="0"/>
                        </a:rPr>
                        <a:t>4</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4155215880"/>
                  </a:ext>
                </a:extLst>
              </a:tr>
              <a:tr h="406632">
                <a:tc vMerge="1">
                  <a:txBody>
                    <a:bodyPr/>
                    <a:lstStyle/>
                    <a:p>
                      <a:endParaRPr lang="es-PE"/>
                    </a:p>
                  </a:txBody>
                  <a:tcPr>
                    <a:lnT w="19050" cap="flat" cmpd="sng" algn="ctr">
                      <a:solidFill>
                        <a:srgbClr val="00B050"/>
                      </a:solidFill>
                      <a:prstDash val="solid"/>
                      <a:round/>
                      <a:headEnd type="none" w="med" len="med"/>
                      <a:tailEnd type="none" w="med" len="med"/>
                    </a:lnT>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7U7301</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b="1"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4990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l"/>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Cecilia Pantoja Urizar Garfias </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PE" sz="1050" dirty="0">
                          <a:solidFill>
                            <a:srgbClr val="000000"/>
                          </a:solidFill>
                          <a:effectLst/>
                          <a:latin typeface="Calibri Light" panose="020F0302020204030204" pitchFamily="34" charset="0"/>
                          <a:ea typeface="Times New Roman" panose="02020603050405020304" pitchFamily="18" charset="0"/>
                          <a:cs typeface="Times New Roman" panose="02020603050405020304" pitchFamily="18" charset="0"/>
                        </a:rPr>
                        <a:t>Especialista 4</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2</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559747884"/>
                  </a:ext>
                </a:extLst>
              </a:tr>
              <a:tr h="406632">
                <a:tc gridSpan="4">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ct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hMerge="1">
                  <a:txBody>
                    <a:bodyPr/>
                    <a:lstStyle/>
                    <a:p>
                      <a:pPr algn="l"/>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200" dirty="0">
                          <a:effectLst/>
                          <a:latin typeface="Calibri" panose="020F0502020204030204" pitchFamily="34" charset="0"/>
                          <a:ea typeface="Calibri" panose="020F0502020204030204" pitchFamily="34" charset="0"/>
                          <a:cs typeface="Times New Roman" panose="02020603050405020304" pitchFamily="18"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tcPr>
                </a:tc>
                <a:tc>
                  <a:txBody>
                    <a:bodyPr/>
                    <a:lstStyle/>
                    <a:p>
                      <a:pPr algn="ctr"/>
                      <a:r>
                        <a:rPr lang="es-ES" sz="1100" b="0" dirty="0">
                          <a:solidFill>
                            <a:schemeClr val="tx1"/>
                          </a:solidFill>
                          <a:effectLst/>
                          <a:latin typeface="+mn-lt"/>
                          <a:cs typeface="Times New Roman" panose="02020603050405020304" pitchFamily="18" charset="0"/>
                        </a:rPr>
                        <a:t>19</a:t>
                      </a:r>
                      <a:endParaRPr lang="es-PE" sz="1100" b="0" dirty="0">
                        <a:solidFill>
                          <a:schemeClr val="tx1"/>
                        </a:solidFill>
                        <a:effectLst/>
                        <a:latin typeface="+mn-lt"/>
                        <a:cs typeface="Times New Roman" panose="02020603050405020304" pitchFamily="18" charset="0"/>
                      </a:endParaRPr>
                    </a:p>
                  </a:txBody>
                  <a:tcPr marL="43022" marR="43022" marT="0" marB="0" anchor="ctr">
                    <a:lnL w="19050" cap="flat" cmpd="sng" algn="ctr">
                      <a:solidFill>
                        <a:srgbClr val="00B050"/>
                      </a:solidFill>
                      <a:prstDash val="solid"/>
                      <a:round/>
                      <a:headEnd type="none" w="med" len="med"/>
                      <a:tailEnd type="none" w="med" len="med"/>
                    </a:lnL>
                    <a:lnR w="19050" cap="flat" cmpd="sng" algn="ctr">
                      <a:solidFill>
                        <a:srgbClr val="00B050"/>
                      </a:solidFill>
                      <a:prstDash val="solid"/>
                      <a:round/>
                      <a:headEnd type="none" w="med" len="med"/>
                      <a:tailEnd type="none" w="med" len="med"/>
                    </a:lnR>
                    <a:lnT w="19050" cap="flat" cmpd="sng" algn="ctr">
                      <a:solidFill>
                        <a:srgbClr val="00B050"/>
                      </a:solidFill>
                      <a:prstDash val="solid"/>
                      <a:round/>
                      <a:headEnd type="none" w="med" len="med"/>
                      <a:tailEnd type="none" w="med" len="med"/>
                    </a:lnT>
                    <a:lnB w="19050" cap="flat" cmpd="sng" algn="ctr">
                      <a:solidFill>
                        <a:srgbClr val="00B050"/>
                      </a:solidFill>
                      <a:prstDash val="solid"/>
                      <a:round/>
                      <a:headEnd type="none" w="med" len="med"/>
                      <a:tailEnd type="none" w="med" len="med"/>
                    </a:lnB>
                    <a:solidFill>
                      <a:schemeClr val="bg1"/>
                    </a:solidFill>
                  </a:tcPr>
                </a:tc>
                <a:extLst>
                  <a:ext uri="{0D108BD9-81ED-4DB2-BD59-A6C34878D82A}">
                    <a16:rowId xmlns:a16="http://schemas.microsoft.com/office/drawing/2014/main" val="2801576743"/>
                  </a:ext>
                </a:extLst>
              </a:tr>
            </a:tbl>
          </a:graphicData>
        </a:graphic>
      </p:graphicFrame>
    </p:spTree>
    <p:extLst>
      <p:ext uri="{BB962C8B-B14F-4D97-AF65-F5344CB8AC3E}">
        <p14:creationId xmlns:p14="http://schemas.microsoft.com/office/powerpoint/2010/main" val="5633880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STOCK VENCIDOS</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sp>
        <p:nvSpPr>
          <p:cNvPr id="2" name="CuadroTexto 1">
            <a:extLst>
              <a:ext uri="{FF2B5EF4-FFF2-40B4-BE49-F238E27FC236}">
                <a16:creationId xmlns:a16="http://schemas.microsoft.com/office/drawing/2014/main" id="{39315DDD-5468-DE29-D6F6-5BBFA86E57E4}"/>
              </a:ext>
            </a:extLst>
          </p:cNvPr>
          <p:cNvSpPr txBox="1"/>
          <p:nvPr/>
        </p:nvSpPr>
        <p:spPr>
          <a:xfrm>
            <a:off x="1285874" y="6238635"/>
            <a:ext cx="3124201" cy="276999"/>
          </a:xfrm>
          <a:prstGeom prst="rect">
            <a:avLst/>
          </a:prstGeom>
          <a:noFill/>
        </p:spPr>
        <p:txBody>
          <a:bodyPr wrap="square">
            <a:spAutoFit/>
          </a:bodyPr>
          <a:lstStyle/>
          <a:p>
            <a:r>
              <a:rPr lang="es-PE" sz="1200" b="1" dirty="0">
                <a:latin typeface="Calibri Light" panose="020F0302020204030204" pitchFamily="34" charset="0"/>
                <a:ea typeface="Calibri" panose="020F0502020204030204" pitchFamily="34" charset="0"/>
              </a:rPr>
              <a:t>Fuente</a:t>
            </a:r>
            <a:r>
              <a:rPr lang="es-PE" sz="1200" dirty="0">
                <a:latin typeface="Calibri Light" panose="020F0302020204030204" pitchFamily="34" charset="0"/>
                <a:ea typeface="Calibri" panose="020F0502020204030204" pitchFamily="34" charset="0"/>
              </a:rPr>
              <a:t>: Módulo SIGERI al 08.01.2024</a:t>
            </a:r>
          </a:p>
        </p:txBody>
      </p:sp>
      <p:sp>
        <p:nvSpPr>
          <p:cNvPr id="3" name="Bocadillo nube: nube 2">
            <a:extLst>
              <a:ext uri="{FF2B5EF4-FFF2-40B4-BE49-F238E27FC236}">
                <a16:creationId xmlns:a16="http://schemas.microsoft.com/office/drawing/2014/main" id="{2CDF9045-FFEB-A6E3-8A64-92964C7B93F3}"/>
              </a:ext>
            </a:extLst>
          </p:cNvPr>
          <p:cNvSpPr/>
          <p:nvPr/>
        </p:nvSpPr>
        <p:spPr>
          <a:xfrm>
            <a:off x="9321799" y="1034932"/>
            <a:ext cx="2300202" cy="1076003"/>
          </a:xfrm>
          <a:prstGeom prst="cloudCallout">
            <a:avLst>
              <a:gd name="adj1" fmla="val -63383"/>
              <a:gd name="adj2" fmla="val -19035"/>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13 total (12/11/17/15/10/12/17/07)</a:t>
            </a:r>
            <a:endParaRPr lang="es-PE" sz="1400" dirty="0">
              <a:solidFill>
                <a:schemeClr val="tx1"/>
              </a:solidFill>
            </a:endParaRPr>
          </a:p>
        </p:txBody>
      </p:sp>
      <p:sp>
        <p:nvSpPr>
          <p:cNvPr id="4" name="Bocadillo nube: nube 3">
            <a:extLst>
              <a:ext uri="{FF2B5EF4-FFF2-40B4-BE49-F238E27FC236}">
                <a16:creationId xmlns:a16="http://schemas.microsoft.com/office/drawing/2014/main" id="{30F3CF21-67BC-6869-D144-28C16A383425}"/>
              </a:ext>
            </a:extLst>
          </p:cNvPr>
          <p:cNvSpPr/>
          <p:nvPr/>
        </p:nvSpPr>
        <p:spPr>
          <a:xfrm>
            <a:off x="9321799" y="2833275"/>
            <a:ext cx="2300202" cy="1076003"/>
          </a:xfrm>
          <a:prstGeom prst="cloudCallout">
            <a:avLst>
              <a:gd name="adj1" fmla="val -63383"/>
              <a:gd name="adj2" fmla="val -19035"/>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06 total (09/08/5/16/17/5/40/15)</a:t>
            </a:r>
            <a:endParaRPr lang="es-PE" sz="1400" dirty="0">
              <a:solidFill>
                <a:schemeClr val="tx1"/>
              </a:solidFill>
            </a:endParaRPr>
          </a:p>
        </p:txBody>
      </p:sp>
      <p:sp>
        <p:nvSpPr>
          <p:cNvPr id="5" name="Bocadillo nube: nube 4">
            <a:extLst>
              <a:ext uri="{FF2B5EF4-FFF2-40B4-BE49-F238E27FC236}">
                <a16:creationId xmlns:a16="http://schemas.microsoft.com/office/drawing/2014/main" id="{9E55A7AD-D2BB-78A2-7C74-0EE92587C86C}"/>
              </a:ext>
            </a:extLst>
          </p:cNvPr>
          <p:cNvSpPr/>
          <p:nvPr/>
        </p:nvSpPr>
        <p:spPr>
          <a:xfrm>
            <a:off x="9321799" y="4710655"/>
            <a:ext cx="2193925" cy="1076003"/>
          </a:xfrm>
          <a:prstGeom prst="cloudCallout">
            <a:avLst>
              <a:gd name="adj1" fmla="val -63383"/>
              <a:gd name="adj2" fmla="val -19035"/>
            </a:avLst>
          </a:prstGeom>
          <a:ln w="28575">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sz="1400" dirty="0">
                <a:solidFill>
                  <a:schemeClr val="tx1"/>
                </a:solidFill>
              </a:rPr>
              <a:t>0 total (0/1/1/3/3/5/0)</a:t>
            </a:r>
            <a:endParaRPr lang="es-PE" sz="1400" dirty="0">
              <a:solidFill>
                <a:schemeClr val="tx1"/>
              </a:solidFill>
            </a:endParaRPr>
          </a:p>
        </p:txBody>
      </p:sp>
      <p:graphicFrame>
        <p:nvGraphicFramePr>
          <p:cNvPr id="6" name="Tabla 5">
            <a:extLst>
              <a:ext uri="{FF2B5EF4-FFF2-40B4-BE49-F238E27FC236}">
                <a16:creationId xmlns:a16="http://schemas.microsoft.com/office/drawing/2014/main" id="{7A1E3C9B-1922-2F33-DB7C-BE5BC2DDBA90}"/>
              </a:ext>
            </a:extLst>
          </p:cNvPr>
          <p:cNvGraphicFramePr>
            <a:graphicFrameLocks noGrp="1"/>
          </p:cNvGraphicFramePr>
          <p:nvPr>
            <p:extLst>
              <p:ext uri="{D42A27DB-BD31-4B8C-83A1-F6EECF244321}">
                <p14:modId xmlns:p14="http://schemas.microsoft.com/office/powerpoint/2010/main" val="3679022316"/>
              </p:ext>
            </p:extLst>
          </p:nvPr>
        </p:nvGraphicFramePr>
        <p:xfrm>
          <a:off x="2946400" y="1116590"/>
          <a:ext cx="5988049" cy="1164424"/>
        </p:xfrm>
        <a:graphic>
          <a:graphicData uri="http://schemas.openxmlformats.org/drawingml/2006/table">
            <a:tbl>
              <a:tblPr firstRow="1" firstCol="1" bandRow="1"/>
              <a:tblGrid>
                <a:gridCol w="1003584">
                  <a:extLst>
                    <a:ext uri="{9D8B030D-6E8A-4147-A177-3AD203B41FA5}">
                      <a16:colId xmlns:a16="http://schemas.microsoft.com/office/drawing/2014/main" val="3074884351"/>
                    </a:ext>
                  </a:extLst>
                </a:gridCol>
                <a:gridCol w="1321384">
                  <a:extLst>
                    <a:ext uri="{9D8B030D-6E8A-4147-A177-3AD203B41FA5}">
                      <a16:colId xmlns:a16="http://schemas.microsoft.com/office/drawing/2014/main" val="1526047758"/>
                    </a:ext>
                  </a:extLst>
                </a:gridCol>
                <a:gridCol w="1655913">
                  <a:extLst>
                    <a:ext uri="{9D8B030D-6E8A-4147-A177-3AD203B41FA5}">
                      <a16:colId xmlns:a16="http://schemas.microsoft.com/office/drawing/2014/main" val="436782002"/>
                    </a:ext>
                  </a:extLst>
                </a:gridCol>
                <a:gridCol w="1003584">
                  <a:extLst>
                    <a:ext uri="{9D8B030D-6E8A-4147-A177-3AD203B41FA5}">
                      <a16:colId xmlns:a16="http://schemas.microsoft.com/office/drawing/2014/main" val="2134817539"/>
                    </a:ext>
                  </a:extLst>
                </a:gridCol>
                <a:gridCol w="1003584">
                  <a:extLst>
                    <a:ext uri="{9D8B030D-6E8A-4147-A177-3AD203B41FA5}">
                      <a16:colId xmlns:a16="http://schemas.microsoft.com/office/drawing/2014/main" val="3157735613"/>
                    </a:ext>
                  </a:extLst>
                </a:gridCol>
              </a:tblGrid>
              <a:tr h="547964">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UUOO</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8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7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2434845465"/>
                  </a:ext>
                </a:extLst>
              </a:tr>
              <a:tr h="308230">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DCCI</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b="1" dirty="0">
                          <a:solidFill>
                            <a:schemeClr val="tx1"/>
                          </a:solidFill>
                          <a:effectLst/>
                          <a:latin typeface="+mj-lt"/>
                          <a:ea typeface="Calibri" panose="020F0502020204030204" pitchFamily="34" charset="0"/>
                        </a:rPr>
                        <a:t>4</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3</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2</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16544557"/>
                  </a:ext>
                </a:extLst>
              </a:tr>
              <a:tr h="308230">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2</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b="1" dirty="0">
                          <a:solidFill>
                            <a:schemeClr val="tx1"/>
                          </a:solidFill>
                          <a:effectLst/>
                          <a:latin typeface="+mj-lt"/>
                          <a:ea typeface="Calibri" panose="020F0502020204030204" pitchFamily="34" charset="0"/>
                        </a:rPr>
                        <a:t>2</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2074556671"/>
                  </a:ext>
                </a:extLst>
              </a:tr>
            </a:tbl>
          </a:graphicData>
        </a:graphic>
      </p:graphicFrame>
      <p:graphicFrame>
        <p:nvGraphicFramePr>
          <p:cNvPr id="11" name="Tabla 10">
            <a:extLst>
              <a:ext uri="{FF2B5EF4-FFF2-40B4-BE49-F238E27FC236}">
                <a16:creationId xmlns:a16="http://schemas.microsoft.com/office/drawing/2014/main" id="{21873085-0F54-8216-09FC-126BB27871B1}"/>
              </a:ext>
            </a:extLst>
          </p:cNvPr>
          <p:cNvGraphicFramePr>
            <a:graphicFrameLocks noGrp="1"/>
          </p:cNvGraphicFramePr>
          <p:nvPr>
            <p:extLst>
              <p:ext uri="{D42A27DB-BD31-4B8C-83A1-F6EECF244321}">
                <p14:modId xmlns:p14="http://schemas.microsoft.com/office/powerpoint/2010/main" val="2052078086"/>
              </p:ext>
            </p:extLst>
          </p:nvPr>
        </p:nvGraphicFramePr>
        <p:xfrm>
          <a:off x="2946402" y="2856991"/>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DCCII</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2</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99FF"/>
                    </a:solidFill>
                  </a:tcPr>
                </a:tc>
                <a:tc>
                  <a:txBody>
                    <a:bodyPr/>
                    <a:lstStyle/>
                    <a:p>
                      <a:pPr algn="ctr"/>
                      <a:r>
                        <a:rPr lang="es-ES" sz="1800" b="1" dirty="0">
                          <a:solidFill>
                            <a:schemeClr val="tx1"/>
                          </a:solidFill>
                          <a:effectLst/>
                          <a:latin typeface="+mj-lt"/>
                          <a:ea typeface="Calibri" panose="020F0502020204030204" pitchFamily="34" charset="0"/>
                        </a:rPr>
                        <a:t>1</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2</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0</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tc>
                  <a:txBody>
                    <a:bodyPr/>
                    <a:lstStyle/>
                    <a:p>
                      <a:pPr algn="ctr"/>
                      <a:r>
                        <a:rPr lang="es-ES" sz="1800" b="1" dirty="0">
                          <a:solidFill>
                            <a:schemeClr val="tx1"/>
                          </a:solidFill>
                          <a:effectLst/>
                          <a:latin typeface="+mj-lt"/>
                          <a:ea typeface="Calibri" panose="020F0502020204030204" pitchFamily="34" charset="0"/>
                        </a:rPr>
                        <a:t>1</a:t>
                      </a:r>
                      <a:endParaRPr lang="es-PE" sz="1800" b="1" dirty="0">
                        <a:solidFill>
                          <a:schemeClr val="tx1"/>
                        </a:solidFill>
                        <a:effectLst/>
                        <a:latin typeface="+mj-lt"/>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chemeClr val="bg1"/>
                    </a:solidFill>
                  </a:tcPr>
                </a:tc>
                <a:extLst>
                  <a:ext uri="{0D108BD9-81ED-4DB2-BD59-A6C34878D82A}">
                    <a16:rowId xmlns:a16="http://schemas.microsoft.com/office/drawing/2014/main" val="3621642096"/>
                  </a:ext>
                </a:extLst>
              </a:tr>
            </a:tbl>
          </a:graphicData>
        </a:graphic>
      </p:graphicFrame>
      <p:graphicFrame>
        <p:nvGraphicFramePr>
          <p:cNvPr id="12" name="Tabla 11">
            <a:extLst>
              <a:ext uri="{FF2B5EF4-FFF2-40B4-BE49-F238E27FC236}">
                <a16:creationId xmlns:a16="http://schemas.microsoft.com/office/drawing/2014/main" id="{7C375469-0EF9-D038-F02C-458E309B4E33}"/>
              </a:ext>
            </a:extLst>
          </p:cNvPr>
          <p:cNvGraphicFramePr>
            <a:graphicFrameLocks noGrp="1"/>
          </p:cNvGraphicFramePr>
          <p:nvPr>
            <p:extLst>
              <p:ext uri="{D42A27DB-BD31-4B8C-83A1-F6EECF244321}">
                <p14:modId xmlns:p14="http://schemas.microsoft.com/office/powerpoint/2010/main" val="1172767222"/>
              </p:ext>
            </p:extLst>
          </p:nvPr>
        </p:nvGraphicFramePr>
        <p:xfrm>
          <a:off x="2946400" y="4622237"/>
          <a:ext cx="5988047" cy="1164421"/>
        </p:xfrm>
        <a:graphic>
          <a:graphicData uri="http://schemas.openxmlformats.org/drawingml/2006/table">
            <a:tbl>
              <a:tblPr firstRow="1" firstCol="1" bandRow="1"/>
              <a:tblGrid>
                <a:gridCol w="1003583">
                  <a:extLst>
                    <a:ext uri="{9D8B030D-6E8A-4147-A177-3AD203B41FA5}">
                      <a16:colId xmlns:a16="http://schemas.microsoft.com/office/drawing/2014/main" val="3114367696"/>
                    </a:ext>
                  </a:extLst>
                </a:gridCol>
                <a:gridCol w="1321385">
                  <a:extLst>
                    <a:ext uri="{9D8B030D-6E8A-4147-A177-3AD203B41FA5}">
                      <a16:colId xmlns:a16="http://schemas.microsoft.com/office/drawing/2014/main" val="4084865074"/>
                    </a:ext>
                  </a:extLst>
                </a:gridCol>
                <a:gridCol w="1655913">
                  <a:extLst>
                    <a:ext uri="{9D8B030D-6E8A-4147-A177-3AD203B41FA5}">
                      <a16:colId xmlns:a16="http://schemas.microsoft.com/office/drawing/2014/main" val="1706993894"/>
                    </a:ext>
                  </a:extLst>
                </a:gridCol>
                <a:gridCol w="1003583">
                  <a:extLst>
                    <a:ext uri="{9D8B030D-6E8A-4147-A177-3AD203B41FA5}">
                      <a16:colId xmlns:a16="http://schemas.microsoft.com/office/drawing/2014/main" val="871379910"/>
                    </a:ext>
                  </a:extLst>
                </a:gridCol>
                <a:gridCol w="1003583">
                  <a:extLst>
                    <a:ext uri="{9D8B030D-6E8A-4147-A177-3AD203B41FA5}">
                      <a16:colId xmlns:a16="http://schemas.microsoft.com/office/drawing/2014/main" val="1362448182"/>
                    </a:ext>
                  </a:extLst>
                </a:gridCol>
              </a:tblGrid>
              <a:tr h="527759">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UUOO</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VENCIDO +9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a:solidFill>
                            <a:srgbClr val="FFFFFF"/>
                          </a:solidFill>
                          <a:effectLst/>
                          <a:latin typeface="Calibri Light" panose="020F0302020204030204" pitchFamily="34" charset="0"/>
                          <a:ea typeface="Calibri" panose="020F0502020204030204" pitchFamily="34" charset="0"/>
                        </a:rPr>
                        <a:t>9 MESES</a:t>
                      </a:r>
                      <a:endParaRPr lang="es-PE" sz="140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8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7 MESES</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2637099436"/>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DCP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3189419138"/>
                  </a:ext>
                </a:extLst>
              </a:tr>
              <a:tr h="318331">
                <a:tc>
                  <a:txBody>
                    <a:bodyPr/>
                    <a:lstStyle/>
                    <a:p>
                      <a:pPr algn="ctr"/>
                      <a:r>
                        <a:rPr lang="es-PE" sz="1600" b="1" dirty="0">
                          <a:solidFill>
                            <a:srgbClr val="FFFFFF"/>
                          </a:solidFill>
                          <a:effectLst/>
                          <a:latin typeface="Calibri Light" panose="020F0302020204030204" pitchFamily="34" charset="0"/>
                          <a:ea typeface="Calibri" panose="020F0502020204030204" pitchFamily="34" charset="0"/>
                        </a:rPr>
                        <a:t>DAP</a:t>
                      </a:r>
                      <a:endParaRPr lang="es-PE" sz="1400" dirty="0">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PE" sz="1800" b="1" dirty="0">
                          <a:solidFill>
                            <a:schemeClr val="tx1"/>
                          </a:solidFill>
                          <a:effectLst/>
                          <a:latin typeface="Calibri Light" panose="020F0302020204030204" pitchFamily="34" charset="0"/>
                          <a:ea typeface="Calibri" panose="020F0502020204030204" pitchFamily="34" charset="0"/>
                        </a:rPr>
                        <a:t> 0</a:t>
                      </a:r>
                      <a:endParaRPr lang="es-PE" sz="14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a:r>
                        <a:rPr lang="es-ES" sz="1800" dirty="0">
                          <a:solidFill>
                            <a:schemeClr val="tx1"/>
                          </a:solidFill>
                          <a:effectLst/>
                          <a:latin typeface="Calibri" panose="020F0502020204030204" pitchFamily="34" charset="0"/>
                          <a:ea typeface="Calibri" panose="020F0502020204030204" pitchFamily="34" charset="0"/>
                        </a:rPr>
                        <a:t>0</a:t>
                      </a:r>
                      <a:endParaRPr lang="es-PE" sz="1800" dirty="0">
                        <a:solidFill>
                          <a:schemeClr val="tx1"/>
                        </a:solidFill>
                        <a:effectLst/>
                        <a:latin typeface="Calibri" panose="020F0502020204030204" pitchFamily="34" charset="0"/>
                        <a:ea typeface="Calibri" panose="020F0502020204030204" pitchFamily="34" charset="0"/>
                      </a:endParaRPr>
                    </a:p>
                  </a:txBody>
                  <a:tcPr marL="44450" marR="4445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621642096"/>
                  </a:ext>
                </a:extLst>
              </a:tr>
            </a:tbl>
          </a:graphicData>
        </a:graphic>
      </p:graphicFrame>
    </p:spTree>
    <p:extLst>
      <p:ext uri="{BB962C8B-B14F-4D97-AF65-F5344CB8AC3E}">
        <p14:creationId xmlns:p14="http://schemas.microsoft.com/office/powerpoint/2010/main" val="18542131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NO GESTIONABLE Y REINGRESADOS </a:t>
            </a:r>
            <a:endParaRPr lang="es-PE" sz="2800" b="1" dirty="0">
              <a:latin typeface="Arial" panose="020B0604020202020204" pitchFamily="34" charset="0"/>
              <a:cs typeface="Arial" panose="020B0604020202020204" pitchFamily="34" charset="0"/>
            </a:endParaRPr>
          </a:p>
        </p:txBody>
      </p:sp>
      <p:sp>
        <p:nvSpPr>
          <p:cNvPr id="14" name="Flecha: a la derecha 13">
            <a:extLst>
              <a:ext uri="{FF2B5EF4-FFF2-40B4-BE49-F238E27FC236}">
                <a16:creationId xmlns:a16="http://schemas.microsoft.com/office/drawing/2014/main" id="{A4C93D83-6B0B-8FEB-B248-752214186839}"/>
              </a:ext>
            </a:extLst>
          </p:cNvPr>
          <p:cNvSpPr/>
          <p:nvPr/>
        </p:nvSpPr>
        <p:spPr>
          <a:xfrm>
            <a:off x="1285875" y="1397465"/>
            <a:ext cx="1028700" cy="638174"/>
          </a:xfrm>
          <a:prstGeom prst="rightArrow">
            <a:avLst/>
          </a:prstGeom>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a:t>
            </a:r>
            <a:endParaRPr lang="es-PE" dirty="0"/>
          </a:p>
        </p:txBody>
      </p:sp>
      <p:sp>
        <p:nvSpPr>
          <p:cNvPr id="15" name="Flecha: a la derecha 14">
            <a:extLst>
              <a:ext uri="{FF2B5EF4-FFF2-40B4-BE49-F238E27FC236}">
                <a16:creationId xmlns:a16="http://schemas.microsoft.com/office/drawing/2014/main" id="{3132D901-11E2-23E5-F84C-B50BE13D7D0E}"/>
              </a:ext>
            </a:extLst>
          </p:cNvPr>
          <p:cNvSpPr/>
          <p:nvPr/>
        </p:nvSpPr>
        <p:spPr>
          <a:xfrm>
            <a:off x="1285875" y="3163517"/>
            <a:ext cx="1028700" cy="638174"/>
          </a:xfrm>
          <a:prstGeom prst="rightArrow">
            <a:avLst/>
          </a:prstGeom>
          <a:ln w="28575">
            <a:solidFill>
              <a:srgbClr val="FF99FF"/>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DCCII</a:t>
            </a:r>
            <a:endParaRPr lang="es-PE" dirty="0"/>
          </a:p>
        </p:txBody>
      </p:sp>
      <p:sp>
        <p:nvSpPr>
          <p:cNvPr id="16" name="Flecha: a la derecha 15">
            <a:extLst>
              <a:ext uri="{FF2B5EF4-FFF2-40B4-BE49-F238E27FC236}">
                <a16:creationId xmlns:a16="http://schemas.microsoft.com/office/drawing/2014/main" id="{5B46D489-2A56-01B0-EB9C-D57AAAD377E8}"/>
              </a:ext>
            </a:extLst>
          </p:cNvPr>
          <p:cNvSpPr/>
          <p:nvPr/>
        </p:nvSpPr>
        <p:spPr>
          <a:xfrm>
            <a:off x="1285875" y="4929570"/>
            <a:ext cx="1028700" cy="638174"/>
          </a:xfrm>
          <a:prstGeom prst="rightArrow">
            <a:avLst/>
          </a:prstGeom>
          <a:solidFill>
            <a:srgbClr val="92D050"/>
          </a:solidFill>
          <a:ln w="28575"/>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DCP</a:t>
            </a:r>
            <a:endParaRPr lang="es-PE" dirty="0"/>
          </a:p>
        </p:txBody>
      </p:sp>
      <p:graphicFrame>
        <p:nvGraphicFramePr>
          <p:cNvPr id="2" name="Tabla 1">
            <a:extLst>
              <a:ext uri="{FF2B5EF4-FFF2-40B4-BE49-F238E27FC236}">
                <a16:creationId xmlns:a16="http://schemas.microsoft.com/office/drawing/2014/main" id="{5D48A263-D39C-6FFA-07AD-924DAA71C7EB}"/>
              </a:ext>
            </a:extLst>
          </p:cNvPr>
          <p:cNvGraphicFramePr>
            <a:graphicFrameLocks noGrp="1"/>
          </p:cNvGraphicFramePr>
          <p:nvPr>
            <p:extLst>
              <p:ext uri="{D42A27DB-BD31-4B8C-83A1-F6EECF244321}">
                <p14:modId xmlns:p14="http://schemas.microsoft.com/office/powerpoint/2010/main" val="1126161207"/>
              </p:ext>
            </p:extLst>
          </p:nvPr>
        </p:nvGraphicFramePr>
        <p:xfrm>
          <a:off x="2766026" y="1152524"/>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5B9BD5"/>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348</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algn="l" fontAlgn="ct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tc>
                  <a:txBody>
                    <a:bodyPr/>
                    <a:lstStyle/>
                    <a:p>
                      <a:pPr algn="ctr" fontAlgn="ctr"/>
                      <a:r>
                        <a:rPr lang="es-ES" sz="1400" b="1" i="0" u="none" strike="noStrike" dirty="0">
                          <a:solidFill>
                            <a:schemeClr val="tx1"/>
                          </a:solidFill>
                          <a:effectLst/>
                          <a:latin typeface="+mn-lt"/>
                        </a:rPr>
                        <a:t>27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DEEAF6"/>
                    </a:solidFill>
                  </a:tcPr>
                </a:tc>
                <a:extLst>
                  <a:ext uri="{0D108BD9-81ED-4DB2-BD59-A6C34878D82A}">
                    <a16:rowId xmlns:a16="http://schemas.microsoft.com/office/drawing/2014/main" val="2331887893"/>
                  </a:ext>
                </a:extLst>
              </a:tr>
            </a:tbl>
          </a:graphicData>
        </a:graphic>
      </p:graphicFrame>
      <p:graphicFrame>
        <p:nvGraphicFramePr>
          <p:cNvPr id="6" name="Tabla 5">
            <a:extLst>
              <a:ext uri="{FF2B5EF4-FFF2-40B4-BE49-F238E27FC236}">
                <a16:creationId xmlns:a16="http://schemas.microsoft.com/office/drawing/2014/main" id="{7D8D1F39-161B-98DA-5982-C2CD772C41D2}"/>
              </a:ext>
            </a:extLst>
          </p:cNvPr>
          <p:cNvGraphicFramePr>
            <a:graphicFrameLocks noGrp="1"/>
          </p:cNvGraphicFramePr>
          <p:nvPr>
            <p:extLst>
              <p:ext uri="{D42A27DB-BD31-4B8C-83A1-F6EECF244321}">
                <p14:modId xmlns:p14="http://schemas.microsoft.com/office/powerpoint/2010/main" val="3085046976"/>
              </p:ext>
            </p:extLst>
          </p:nvPr>
        </p:nvGraphicFramePr>
        <p:xfrm>
          <a:off x="2766026" y="2837033"/>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DCCII</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FF99FF"/>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29</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177</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tc>
                  <a:txBody>
                    <a:bodyPr/>
                    <a:lstStyle/>
                    <a:p>
                      <a:pPr algn="ctr" fontAlgn="ctr"/>
                      <a:r>
                        <a:rPr lang="es-ES" sz="1400" b="1" i="0" u="none" strike="noStrike" dirty="0">
                          <a:solidFill>
                            <a:schemeClr val="tx1"/>
                          </a:solidFill>
                          <a:effectLst/>
                          <a:latin typeface="+mn-lt"/>
                        </a:rPr>
                        <a:t>9</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FFCCFF"/>
                    </a:solidFill>
                  </a:tcPr>
                </a:tc>
                <a:extLst>
                  <a:ext uri="{0D108BD9-81ED-4DB2-BD59-A6C34878D82A}">
                    <a16:rowId xmlns:a16="http://schemas.microsoft.com/office/drawing/2014/main" val="2331887893"/>
                  </a:ext>
                </a:extLst>
              </a:tr>
            </a:tbl>
          </a:graphicData>
        </a:graphic>
      </p:graphicFrame>
      <p:graphicFrame>
        <p:nvGraphicFramePr>
          <p:cNvPr id="7" name="Tabla 6">
            <a:extLst>
              <a:ext uri="{FF2B5EF4-FFF2-40B4-BE49-F238E27FC236}">
                <a16:creationId xmlns:a16="http://schemas.microsoft.com/office/drawing/2014/main" id="{0F487CDF-AEF2-6A89-6E62-3C2229D25977}"/>
              </a:ext>
            </a:extLst>
          </p:cNvPr>
          <p:cNvGraphicFramePr>
            <a:graphicFrameLocks noGrp="1"/>
          </p:cNvGraphicFramePr>
          <p:nvPr>
            <p:extLst>
              <p:ext uri="{D42A27DB-BD31-4B8C-83A1-F6EECF244321}">
                <p14:modId xmlns:p14="http://schemas.microsoft.com/office/powerpoint/2010/main" val="1418112327"/>
              </p:ext>
            </p:extLst>
          </p:nvPr>
        </p:nvGraphicFramePr>
        <p:xfrm>
          <a:off x="2766026" y="4603086"/>
          <a:ext cx="3190996" cy="1291141"/>
        </p:xfrm>
        <a:graphic>
          <a:graphicData uri="http://schemas.openxmlformats.org/drawingml/2006/table">
            <a:tbl>
              <a:tblPr/>
              <a:tblGrid>
                <a:gridCol w="1626299">
                  <a:extLst>
                    <a:ext uri="{9D8B030D-6E8A-4147-A177-3AD203B41FA5}">
                      <a16:colId xmlns:a16="http://schemas.microsoft.com/office/drawing/2014/main" val="303441847"/>
                    </a:ext>
                  </a:extLst>
                </a:gridCol>
                <a:gridCol w="1564697">
                  <a:extLst>
                    <a:ext uri="{9D8B030D-6E8A-4147-A177-3AD203B41FA5}">
                      <a16:colId xmlns:a16="http://schemas.microsoft.com/office/drawing/2014/main" val="1716151770"/>
                    </a:ext>
                  </a:extLst>
                </a:gridCol>
              </a:tblGrid>
              <a:tr h="349456">
                <a:tc gridSpan="2">
                  <a:txBody>
                    <a:bodyPr/>
                    <a:lstStyle/>
                    <a:p>
                      <a:pPr algn="ctr" fontAlgn="ctr"/>
                      <a:r>
                        <a:rPr lang="es-PE" sz="1400" b="1" i="0" u="none" strike="noStrike" dirty="0">
                          <a:solidFill>
                            <a:srgbClr val="000000"/>
                          </a:solidFill>
                          <a:effectLst/>
                          <a:latin typeface="+mn-lt"/>
                        </a:rPr>
                        <a:t>DCP</a:t>
                      </a:r>
                    </a:p>
                  </a:txBody>
                  <a:tcPr marL="0" marR="0" marT="0" marB="0" anchor="ctr">
                    <a:lnL w="12700" cap="flat" cmpd="sng" algn="ctr">
                      <a:solidFill>
                        <a:srgbClr val="5B9BD5"/>
                      </a:solidFill>
                      <a:prstDash val="solid"/>
                      <a:round/>
                      <a:headEnd type="none" w="med" len="med"/>
                      <a:tailEnd type="none" w="med" len="med"/>
                    </a:lnL>
                    <a:lnR w="12700" cap="flat" cmpd="sng" algn="ctr">
                      <a:solidFill>
                        <a:srgbClr val="5B9BD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5B9BD5"/>
                      </a:solidFill>
                      <a:prstDash val="solid"/>
                      <a:round/>
                      <a:headEnd type="none" w="med" len="med"/>
                      <a:tailEnd type="none" w="med" len="med"/>
                    </a:lnB>
                    <a:solidFill>
                      <a:srgbClr val="00B050"/>
                    </a:solidFill>
                  </a:tcPr>
                </a:tc>
                <a:tc hMerge="1">
                  <a:txBody>
                    <a:bodyPr/>
                    <a:lstStyle/>
                    <a:p>
                      <a:endParaRPr lang="es-PE"/>
                    </a:p>
                  </a:txBody>
                  <a:tcPr/>
                </a:tc>
                <a:extLst>
                  <a:ext uri="{0D108BD9-81ED-4DB2-BD59-A6C34878D82A}">
                    <a16:rowId xmlns:a16="http://schemas.microsoft.com/office/drawing/2014/main" val="3528009855"/>
                  </a:ext>
                </a:extLst>
              </a:tr>
              <a:tr h="313895">
                <a:tc>
                  <a:txBody>
                    <a:bodyPr/>
                    <a:lstStyle/>
                    <a:p>
                      <a:pPr algn="l" fontAlgn="ctr"/>
                      <a:r>
                        <a:rPr lang="es-ES" sz="1400" b="1" i="0" u="none" strike="noStrike" dirty="0">
                          <a:solidFill>
                            <a:srgbClr val="000000"/>
                          </a:solidFill>
                          <a:effectLst/>
                          <a:latin typeface="+mn-lt"/>
                        </a:rPr>
                        <a:t>N</a:t>
                      </a:r>
                      <a:r>
                        <a:rPr lang="es-PE" sz="1400" b="1" i="0" u="none" strike="noStrike" dirty="0">
                          <a:solidFill>
                            <a:srgbClr val="000000"/>
                          </a:solidFill>
                          <a:effectLst/>
                          <a:latin typeface="+mn-lt"/>
                        </a:rPr>
                        <a:t>O GESTIONABLE</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rgbClr val="000000"/>
                          </a:solidFill>
                          <a:effectLst/>
                          <a:latin typeface="+mn-lt"/>
                        </a:rPr>
                        <a:t>0 </a:t>
                      </a:r>
                      <a:endParaRPr lang="es-PE" sz="1400" b="1" i="0" u="none" strike="noStrike" dirty="0">
                        <a:solidFill>
                          <a:srgbClr val="000000"/>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5B9BD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944027070"/>
                  </a:ext>
                </a:extLst>
              </a:tr>
              <a:tr h="313895">
                <a:tc>
                  <a:txBody>
                    <a:bodyPr/>
                    <a:lstStyle/>
                    <a:p>
                      <a:pPr algn="l" fontAlgn="ctr"/>
                      <a:r>
                        <a:rPr lang="es-PE" sz="1400" b="1" i="0" u="none" strike="noStrike" dirty="0">
                          <a:solidFill>
                            <a:srgbClr val="000000"/>
                          </a:solidFill>
                          <a:effectLst/>
                          <a:latin typeface="+mn-lt"/>
                        </a:rPr>
                        <a:t>ADMISIBILIDAD</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tc>
                  <a:txBody>
                    <a:bodyPr/>
                    <a:lstStyle/>
                    <a:p>
                      <a:pPr algn="ctr" fontAlgn="ctr"/>
                      <a:r>
                        <a:rPr lang="es-ES" sz="1400" b="1" i="0" u="none" strike="noStrike" dirty="0">
                          <a:solidFill>
                            <a:schemeClr val="tx1"/>
                          </a:solidFill>
                          <a:effectLst/>
                          <a:latin typeface="+mn-lt"/>
                        </a:rPr>
                        <a:t>25</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tcPr>
                </a:tc>
                <a:extLst>
                  <a:ext uri="{0D108BD9-81ED-4DB2-BD59-A6C34878D82A}">
                    <a16:rowId xmlns:a16="http://schemas.microsoft.com/office/drawing/2014/main" val="3217716666"/>
                  </a:ext>
                </a:extLst>
              </a:tr>
              <a:tr h="313895">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s-ES" sz="1400" b="1" i="0" u="none" strike="noStrike" dirty="0">
                          <a:solidFill>
                            <a:srgbClr val="000000"/>
                          </a:solidFill>
                          <a:effectLst/>
                          <a:latin typeface="+mn-lt"/>
                        </a:rPr>
                        <a:t>R</a:t>
                      </a:r>
                      <a:r>
                        <a:rPr lang="es-PE" sz="1400" b="1" i="0" u="none" strike="noStrike" dirty="0">
                          <a:solidFill>
                            <a:srgbClr val="000000"/>
                          </a:solidFill>
                          <a:effectLst/>
                          <a:latin typeface="+mn-lt"/>
                        </a:rPr>
                        <a:t>EINGRESADOS </a:t>
                      </a: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tc>
                  <a:txBody>
                    <a:bodyPr/>
                    <a:lstStyle/>
                    <a:p>
                      <a:pPr algn="ctr" fontAlgn="ctr"/>
                      <a:r>
                        <a:rPr lang="es-ES" sz="1400" b="1" i="0" u="none" strike="noStrike" dirty="0">
                          <a:solidFill>
                            <a:schemeClr val="tx1"/>
                          </a:solidFill>
                          <a:effectLst/>
                          <a:latin typeface="+mn-lt"/>
                        </a:rPr>
                        <a:t>1</a:t>
                      </a:r>
                      <a:endParaRPr lang="es-PE" sz="1400" b="1" i="0" u="none" strike="noStrike" dirty="0">
                        <a:solidFill>
                          <a:schemeClr val="tx1"/>
                        </a:solidFill>
                        <a:effectLst/>
                        <a:latin typeface="+mn-lt"/>
                      </a:endParaRPr>
                    </a:p>
                  </a:txBody>
                  <a:tcPr marL="0" marR="0" marT="0" marB="0" anchor="ctr">
                    <a:lnL w="12700" cap="flat" cmpd="sng" algn="ctr">
                      <a:solidFill>
                        <a:srgbClr val="9CC2E5"/>
                      </a:solidFill>
                      <a:prstDash val="solid"/>
                      <a:round/>
                      <a:headEnd type="none" w="med" len="med"/>
                      <a:tailEnd type="none" w="med" len="med"/>
                    </a:lnL>
                    <a:lnR w="12700" cap="flat" cmpd="sng" algn="ctr">
                      <a:solidFill>
                        <a:srgbClr val="9CC2E5"/>
                      </a:solidFill>
                      <a:prstDash val="solid"/>
                      <a:round/>
                      <a:headEnd type="none" w="med" len="med"/>
                      <a:tailEnd type="none" w="med" len="med"/>
                    </a:lnR>
                    <a:lnT w="12700" cap="flat" cmpd="sng" algn="ctr">
                      <a:solidFill>
                        <a:srgbClr val="9CC2E5"/>
                      </a:solidFill>
                      <a:prstDash val="solid"/>
                      <a:round/>
                      <a:headEnd type="none" w="med" len="med"/>
                      <a:tailEnd type="none" w="med" len="med"/>
                    </a:lnT>
                    <a:lnB w="12700" cap="flat" cmpd="sng" algn="ctr">
                      <a:solidFill>
                        <a:srgbClr val="9CC2E5"/>
                      </a:solidFill>
                      <a:prstDash val="solid"/>
                      <a:round/>
                      <a:headEnd type="none" w="med" len="med"/>
                      <a:tailEnd type="none" w="med" len="med"/>
                    </a:lnB>
                    <a:solidFill>
                      <a:srgbClr val="92D050"/>
                    </a:solidFill>
                  </a:tcPr>
                </a:tc>
                <a:extLst>
                  <a:ext uri="{0D108BD9-81ED-4DB2-BD59-A6C34878D82A}">
                    <a16:rowId xmlns:a16="http://schemas.microsoft.com/office/drawing/2014/main" val="2331887893"/>
                  </a:ext>
                </a:extLst>
              </a:tr>
            </a:tbl>
          </a:graphicData>
        </a:graphic>
      </p:graphicFrame>
    </p:spTree>
    <p:extLst>
      <p:ext uri="{BB962C8B-B14F-4D97-AF65-F5344CB8AC3E}">
        <p14:creationId xmlns:p14="http://schemas.microsoft.com/office/powerpoint/2010/main" val="2838625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ITOP REPORTADOS–2023</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D55D1268-DC29-7290-F4BC-4E91D0CD92F1}"/>
              </a:ext>
            </a:extLst>
          </p:cNvPr>
          <p:cNvGraphicFramePr>
            <a:graphicFrameLocks noGrp="1"/>
          </p:cNvGraphicFramePr>
          <p:nvPr>
            <p:extLst>
              <p:ext uri="{D42A27DB-BD31-4B8C-83A1-F6EECF244321}">
                <p14:modId xmlns:p14="http://schemas.microsoft.com/office/powerpoint/2010/main" val="579759369"/>
              </p:ext>
            </p:extLst>
          </p:nvPr>
        </p:nvGraphicFramePr>
        <p:xfrm>
          <a:off x="3230173" y="1205009"/>
          <a:ext cx="5731653" cy="4946304"/>
        </p:xfrm>
        <a:graphic>
          <a:graphicData uri="http://schemas.openxmlformats.org/drawingml/2006/table">
            <a:tbl>
              <a:tblPr firstRow="1" firstCol="1" bandRow="1"/>
              <a:tblGrid>
                <a:gridCol w="982265">
                  <a:extLst>
                    <a:ext uri="{9D8B030D-6E8A-4147-A177-3AD203B41FA5}">
                      <a16:colId xmlns:a16="http://schemas.microsoft.com/office/drawing/2014/main" val="1329933936"/>
                    </a:ext>
                  </a:extLst>
                </a:gridCol>
                <a:gridCol w="1288433">
                  <a:extLst>
                    <a:ext uri="{9D8B030D-6E8A-4147-A177-3AD203B41FA5}">
                      <a16:colId xmlns:a16="http://schemas.microsoft.com/office/drawing/2014/main" val="63170076"/>
                    </a:ext>
                  </a:extLst>
                </a:gridCol>
                <a:gridCol w="3460955">
                  <a:extLst>
                    <a:ext uri="{9D8B030D-6E8A-4147-A177-3AD203B41FA5}">
                      <a16:colId xmlns:a16="http://schemas.microsoft.com/office/drawing/2014/main" val="3005957556"/>
                    </a:ext>
                  </a:extLst>
                </a:gridCol>
              </a:tblGrid>
              <a:tr h="190431">
                <a:tc gridSpan="3">
                  <a:txBody>
                    <a:bodyPr/>
                    <a:lstStyle/>
                    <a:p>
                      <a:pPr algn="ctr"/>
                      <a:r>
                        <a:rPr lang="es-PE" sz="1000" b="1" dirty="0">
                          <a:effectLst/>
                          <a:latin typeface="Calibri" panose="020F0502020204030204" pitchFamily="34" charset="0"/>
                          <a:ea typeface="Calibri" panose="020F0502020204030204" pitchFamily="34" charset="0"/>
                          <a:cs typeface="Times New Roman" panose="02020603050405020304" pitchFamily="18" charset="0"/>
                        </a:rPr>
                        <a:t>ITOP REPORTADOS</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28575" cap="flat" cmpd="sng" algn="ctr">
                      <a:solidFill>
                        <a:srgbClr val="70AD47"/>
                      </a:solidFill>
                      <a:prstDash val="solid"/>
                      <a:round/>
                      <a:headEnd type="none" w="med" len="med"/>
                      <a:tailEnd type="none" w="med" len="med"/>
                    </a:lnB>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tcPr>
                </a:tc>
                <a:extLst>
                  <a:ext uri="{0D108BD9-81ED-4DB2-BD59-A6C34878D82A}">
                    <a16:rowId xmlns:a16="http://schemas.microsoft.com/office/drawing/2014/main" val="1785700418"/>
                  </a:ext>
                </a:extLst>
              </a:tr>
              <a:tr h="190431">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28575"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gridSpan="2">
                  <a:txBody>
                    <a:bodyPr/>
                    <a:lstStyle/>
                    <a:p>
                      <a:pPr algn="ctr"/>
                      <a:r>
                        <a:rPr lang="es-ES" sz="1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a:t>
                      </a:r>
                      <a:r>
                        <a:rPr lang="es-PE" sz="10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ICIEMBRE</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tc hMerge="1">
                  <a:txBody>
                    <a:bodyPr/>
                    <a:lstStyle/>
                    <a:p>
                      <a:pPr algn="ctr"/>
                      <a:endParaRPr lang="es-PE"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R w="12700" cap="flat" cmpd="sng" algn="ctr">
                      <a:solidFill>
                        <a:srgbClr val="70AD47"/>
                      </a:solidFill>
                      <a:prstDash val="solid"/>
                      <a:round/>
                      <a:headEnd type="none" w="med" len="med"/>
                      <a:tailEnd type="none" w="med" len="med"/>
                    </a:lnR>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1129546492"/>
                  </a:ext>
                </a:extLst>
              </a:tr>
              <a:tr h="371524">
                <a:tc>
                  <a:txBody>
                    <a:bodyPr/>
                    <a:lstStyle/>
                    <a:p>
                      <a:r>
                        <a:rPr lang="es-PE" sz="1000" b="1">
                          <a:effectLst/>
                          <a:latin typeface="Calibri" panose="020F0502020204030204" pitchFamily="34" charset="0"/>
                          <a:ea typeface="Calibri" panose="020F0502020204030204" pitchFamily="34" charset="0"/>
                          <a:cs typeface="Times New Roman" panose="02020603050405020304" pitchFamily="18" charset="0"/>
                        </a:rPr>
                        <a:t> </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00" b="1" dirty="0" err="1">
                          <a:effectLst/>
                          <a:latin typeface="Calibri" panose="020F0502020204030204" pitchFamily="34" charset="0"/>
                          <a:ea typeface="Calibri" panose="020F0502020204030204" pitchFamily="34" charset="0"/>
                          <a:cs typeface="Times New Roman" panose="02020603050405020304" pitchFamily="18" charset="0"/>
                        </a:rPr>
                        <a:t>N°</a:t>
                      </a:r>
                      <a:r>
                        <a:rPr lang="es-PE" sz="1000" b="1" dirty="0">
                          <a:effectLst/>
                          <a:latin typeface="Calibri" panose="020F0502020204030204" pitchFamily="34" charset="0"/>
                          <a:ea typeface="Calibri" panose="020F0502020204030204" pitchFamily="34" charset="0"/>
                          <a:cs typeface="Times New Roman" panose="02020603050405020304" pitchFamily="18" charset="0"/>
                        </a:rPr>
                        <a:t> ITOP</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00" b="1" dirty="0">
                          <a:effectLst/>
                          <a:latin typeface="Calibri" panose="020F0502020204030204" pitchFamily="34" charset="0"/>
                          <a:ea typeface="Calibri" panose="020F0502020204030204" pitchFamily="34" charset="0"/>
                          <a:cs typeface="Times New Roman" panose="02020603050405020304" pitchFamily="18" charset="0"/>
                        </a:rPr>
                        <a:t> ASUNTO</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393214133"/>
                  </a:ext>
                </a:extLst>
              </a:tr>
              <a:tr h="353681">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DCCI</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PE" sz="1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02</a:t>
                      </a: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I-850522 "No existe documento a publicar" 4090140006912 4090340006598</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I-843163 </a:t>
                      </a: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Resolución de error material 4090210000013 no genera SINE</a:t>
                      </a:r>
                      <a:endParaRPr lang="es-PE"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algn="l"/>
                      <a:endParaRPr lang="es-PE" sz="1000" u="none" kern="12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2877909416"/>
                  </a:ext>
                </a:extLst>
              </a:tr>
              <a:tr h="2003605">
                <a:tc>
                  <a:txBody>
                    <a:bodyPr/>
                    <a:lstStyle/>
                    <a:p>
                      <a:r>
                        <a:rPr lang="es-ES" sz="1000" b="1"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DCCII</a:t>
                      </a:r>
                      <a:endParaRPr lang="es-PE"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11</a:t>
                      </a:r>
                      <a:endParaRPr lang="es-PE"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I-836926, I-836963, I-837034, I-837112, I-837794, I-850433, I-848588, I-850659, I-832875, I-827583 y I-844367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actualiza DATO de NOTIFICACION en SIGERI (</a:t>
                      </a: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I-836926 al I-837794)</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descargó PDF con la RESDIV 4090140006962 (</a:t>
                      </a: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I-850433)</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ERROR REGISTRO MANUAL DE NOTIFICACION SIGERI (</a:t>
                      </a: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I-848588)</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ACTUALIZACION DE LC 181-2023-000166 EN MODULO (</a:t>
                      </a: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I-850659)</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PERMITE REGISTRO DE NOTIFICACION MANUAL (I-832875 y I-827583 )</a:t>
                      </a:r>
                    </a:p>
                    <a:p>
                      <a:pPr marL="0" marR="0" lvl="0" indent="0" algn="l" defTabSz="914400" rtl="0" eaLnBrk="1" fontAlgn="auto" latinLnBrk="0" hangingPunct="1">
                        <a:lnSpc>
                          <a:spcPct val="100000"/>
                        </a:lnSpc>
                        <a:spcBef>
                          <a:spcPts val="0"/>
                        </a:spcBef>
                        <a:spcAft>
                          <a:spcPts val="0"/>
                        </a:spcAft>
                        <a:buClrTx/>
                        <a:buSzTx/>
                        <a:buFontTx/>
                        <a:buNone/>
                        <a:tabLst/>
                        <a:defRPr/>
                      </a:pPr>
                      <a:r>
                        <a:rPr lang="es-ES"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No se descargó PDF con la RESDIV 4090140006778 (</a:t>
                      </a:r>
                      <a:r>
                        <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I-844367)</a:t>
                      </a:r>
                    </a:p>
                    <a:p>
                      <a:pPr marL="0" marR="0" lvl="0" indent="0" algn="l" defTabSz="914400" rtl="0" eaLnBrk="1" fontAlgn="auto" latinLnBrk="0" hangingPunct="1">
                        <a:lnSpc>
                          <a:spcPct val="100000"/>
                        </a:lnSpc>
                        <a:spcBef>
                          <a:spcPts val="0"/>
                        </a:spcBef>
                        <a:spcAft>
                          <a:spcPts val="0"/>
                        </a:spcAft>
                        <a:buClrTx/>
                        <a:buSzTx/>
                        <a:buFontTx/>
                        <a:buNone/>
                        <a:tabLst/>
                        <a:defRPr/>
                      </a:pPr>
                      <a:endParaRPr lang="pt-BR" sz="10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707347665"/>
                  </a:ext>
                </a:extLst>
              </a:tr>
              <a:tr h="1237882">
                <a:tc>
                  <a:txBody>
                    <a:bodyPr/>
                    <a:lstStyle/>
                    <a:p>
                      <a:r>
                        <a:rPr lang="es-PE" sz="10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DCP</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pPr algn="ctr"/>
                      <a:r>
                        <a:rPr lang="es-ES" sz="1000" b="1" dirty="0">
                          <a:effectLst/>
                          <a:latin typeface="Calibri" panose="020F0502020204030204" pitchFamily="34" charset="0"/>
                          <a:ea typeface="Calibri" panose="020F0502020204030204" pitchFamily="34" charset="0"/>
                          <a:cs typeface="Times New Roman" panose="02020603050405020304" pitchFamily="18" charset="0"/>
                        </a:rPr>
                        <a:t>1</a:t>
                      </a:r>
                      <a:endParaRPr lang="es-PE"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tc>
                  <a:txBody>
                    <a:bodyPr/>
                    <a:lstStyle/>
                    <a:p>
                      <a:r>
                        <a:rPr lang="es-PE" sz="1000" dirty="0">
                          <a:effectLst/>
                          <a:latin typeface="Calibri" panose="020F0502020204030204" pitchFamily="34" charset="0"/>
                          <a:ea typeface="Calibri" panose="020F0502020204030204" pitchFamily="34" charset="0"/>
                          <a:cs typeface="Times New Roman" panose="02020603050405020304" pitchFamily="18" charset="0"/>
                        </a:rPr>
                        <a:t>I-849429 </a:t>
                      </a:r>
                      <a:r>
                        <a:rPr lang="es-ES" sz="1000" dirty="0">
                          <a:effectLst/>
                          <a:latin typeface="Calibri" panose="020F0502020204030204" pitchFamily="34" charset="0"/>
                          <a:ea typeface="Calibri" panose="020F0502020204030204" pitchFamily="34" charset="0"/>
                          <a:cs typeface="Times New Roman" panose="02020603050405020304" pitchFamily="18" charset="0"/>
                        </a:rPr>
                        <a:t>Solicita actualizar resultado de reclamo en liquidación de cobranza. </a:t>
                      </a:r>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solidFill>
                      <a:srgbClr val="EBF1E9"/>
                    </a:solidFill>
                  </a:tcPr>
                </a:tc>
                <a:extLst>
                  <a:ext uri="{0D108BD9-81ED-4DB2-BD59-A6C34878D82A}">
                    <a16:rowId xmlns:a16="http://schemas.microsoft.com/office/drawing/2014/main" val="476787184"/>
                  </a:ext>
                </a:extLst>
              </a:tr>
              <a:tr h="190431">
                <a:tc>
                  <a:txBody>
                    <a:bodyPr/>
                    <a:lstStyle/>
                    <a:p>
                      <a:r>
                        <a:rPr lang="es-PE" sz="1000" b="1">
                          <a:effectLst/>
                          <a:latin typeface="Calibri" panose="020F0502020204030204" pitchFamily="34" charset="0"/>
                          <a:ea typeface="Calibri" panose="020F0502020204030204" pitchFamily="34" charset="0"/>
                          <a:cs typeface="Times New Roman" panose="02020603050405020304" pitchFamily="18" charset="0"/>
                        </a:rPr>
                        <a:t>TOTAL</a:t>
                      </a:r>
                      <a:endParaRPr lang="es-PE" sz="1000">
                        <a:effectLst/>
                        <a:latin typeface="Calibri" panose="020F0502020204030204" pitchFamily="34" charset="0"/>
                        <a:ea typeface="Calibri" panose="020F0502020204030204" pitchFamily="34" charset="0"/>
                        <a:cs typeface="Times New Roman" panose="02020603050405020304" pitchFamily="18" charset="0"/>
                      </a:endParaRPr>
                    </a:p>
                  </a:txBody>
                  <a:tcPr marL="36667" marR="36667" marT="7857"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pPr algn="ctr"/>
                      <a:r>
                        <a:rPr lang="es-ES" sz="1000" b="1" dirty="0">
                          <a:effectLst/>
                          <a:latin typeface="Calibri" panose="020F0502020204030204" pitchFamily="34" charset="0"/>
                          <a:ea typeface="Calibri" panose="020F0502020204030204" pitchFamily="34" charset="0"/>
                          <a:cs typeface="Times New Roman" panose="02020603050405020304" pitchFamily="18" charset="0"/>
                        </a:rPr>
                        <a:t>14</a:t>
                      </a:r>
                      <a:endParaRPr lang="es-PE" sz="1000" b="1"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nchor="ctr">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tc>
                  <a:txBody>
                    <a:bodyPr/>
                    <a:lstStyle/>
                    <a:p>
                      <a:endParaRPr lang="es-PE" sz="1000" dirty="0">
                        <a:effectLst/>
                        <a:latin typeface="Calibri" panose="020F0502020204030204" pitchFamily="34" charset="0"/>
                        <a:ea typeface="Calibri" panose="020F0502020204030204" pitchFamily="34" charset="0"/>
                        <a:cs typeface="Times New Roman" panose="02020603050405020304" pitchFamily="18" charset="0"/>
                      </a:endParaRPr>
                    </a:p>
                  </a:txBody>
                  <a:tcPr marL="0" marR="0" marT="0" marB="0">
                    <a:lnL w="12700" cap="flat" cmpd="sng" algn="ctr">
                      <a:solidFill>
                        <a:srgbClr val="70AD47"/>
                      </a:solidFill>
                      <a:prstDash val="solid"/>
                      <a:round/>
                      <a:headEnd type="none" w="med" len="med"/>
                      <a:tailEnd type="none" w="med" len="med"/>
                    </a:lnL>
                    <a:lnR w="12700" cap="flat" cmpd="sng" algn="ctr">
                      <a:solidFill>
                        <a:srgbClr val="70AD47"/>
                      </a:solidFill>
                      <a:prstDash val="solid"/>
                      <a:round/>
                      <a:headEnd type="none" w="med" len="med"/>
                      <a:tailEnd type="none" w="med" len="med"/>
                    </a:lnR>
                    <a:lnT w="12700" cap="flat" cmpd="sng" algn="ctr">
                      <a:solidFill>
                        <a:srgbClr val="70AD47"/>
                      </a:solidFill>
                      <a:prstDash val="solid"/>
                      <a:round/>
                      <a:headEnd type="none" w="med" len="med"/>
                      <a:tailEnd type="none" w="med" len="med"/>
                    </a:lnT>
                    <a:lnB w="12700" cap="flat" cmpd="sng" algn="ctr">
                      <a:solidFill>
                        <a:srgbClr val="70AD47"/>
                      </a:solidFill>
                      <a:prstDash val="solid"/>
                      <a:round/>
                      <a:headEnd type="none" w="med" len="med"/>
                      <a:tailEnd type="none" w="med" len="med"/>
                    </a:lnB>
                  </a:tcPr>
                </a:tc>
                <a:extLst>
                  <a:ext uri="{0D108BD9-81ED-4DB2-BD59-A6C34878D82A}">
                    <a16:rowId xmlns:a16="http://schemas.microsoft.com/office/drawing/2014/main" val="1168371186"/>
                  </a:ext>
                </a:extLst>
              </a:tr>
            </a:tbl>
          </a:graphicData>
        </a:graphic>
      </p:graphicFrame>
    </p:spTree>
    <p:extLst>
      <p:ext uri="{BB962C8B-B14F-4D97-AF65-F5344CB8AC3E}">
        <p14:creationId xmlns:p14="http://schemas.microsoft.com/office/powerpoint/2010/main" val="272867103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RESULTADOS DE RECLAMO - 2024</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5C1F8767-F3D1-FC7C-4DC5-DC221001CBFC}"/>
              </a:ext>
            </a:extLst>
          </p:cNvPr>
          <p:cNvGraphicFramePr>
            <a:graphicFrameLocks noGrp="1"/>
          </p:cNvGraphicFramePr>
          <p:nvPr>
            <p:extLst>
              <p:ext uri="{D42A27DB-BD31-4B8C-83A1-F6EECF244321}">
                <p14:modId xmlns:p14="http://schemas.microsoft.com/office/powerpoint/2010/main" val="1807270630"/>
              </p:ext>
            </p:extLst>
          </p:nvPr>
        </p:nvGraphicFramePr>
        <p:xfrm>
          <a:off x="1508124" y="1352353"/>
          <a:ext cx="8636001" cy="4504149"/>
        </p:xfrm>
        <a:graphic>
          <a:graphicData uri="http://schemas.openxmlformats.org/drawingml/2006/table">
            <a:tbl>
              <a:tblPr/>
              <a:tblGrid>
                <a:gridCol w="1292226">
                  <a:extLst>
                    <a:ext uri="{9D8B030D-6E8A-4147-A177-3AD203B41FA5}">
                      <a16:colId xmlns:a16="http://schemas.microsoft.com/office/drawing/2014/main" val="1830478753"/>
                    </a:ext>
                  </a:extLst>
                </a:gridCol>
                <a:gridCol w="914400">
                  <a:extLst>
                    <a:ext uri="{9D8B030D-6E8A-4147-A177-3AD203B41FA5}">
                      <a16:colId xmlns:a16="http://schemas.microsoft.com/office/drawing/2014/main" val="976110479"/>
                    </a:ext>
                  </a:extLst>
                </a:gridCol>
                <a:gridCol w="797200">
                  <a:extLst>
                    <a:ext uri="{9D8B030D-6E8A-4147-A177-3AD203B41FA5}">
                      <a16:colId xmlns:a16="http://schemas.microsoft.com/office/drawing/2014/main" val="2657161292"/>
                    </a:ext>
                  </a:extLst>
                </a:gridCol>
                <a:gridCol w="1126435">
                  <a:extLst>
                    <a:ext uri="{9D8B030D-6E8A-4147-A177-3AD203B41FA5}">
                      <a16:colId xmlns:a16="http://schemas.microsoft.com/office/drawing/2014/main" val="2571861186"/>
                    </a:ext>
                  </a:extLst>
                </a:gridCol>
                <a:gridCol w="1126435">
                  <a:extLst>
                    <a:ext uri="{9D8B030D-6E8A-4147-A177-3AD203B41FA5}">
                      <a16:colId xmlns:a16="http://schemas.microsoft.com/office/drawing/2014/main" val="3123508407"/>
                    </a:ext>
                  </a:extLst>
                </a:gridCol>
                <a:gridCol w="1126435">
                  <a:extLst>
                    <a:ext uri="{9D8B030D-6E8A-4147-A177-3AD203B41FA5}">
                      <a16:colId xmlns:a16="http://schemas.microsoft.com/office/drawing/2014/main" val="1761037411"/>
                    </a:ext>
                  </a:extLst>
                </a:gridCol>
                <a:gridCol w="1126435">
                  <a:extLst>
                    <a:ext uri="{9D8B030D-6E8A-4147-A177-3AD203B41FA5}">
                      <a16:colId xmlns:a16="http://schemas.microsoft.com/office/drawing/2014/main" val="4069715718"/>
                    </a:ext>
                  </a:extLst>
                </a:gridCol>
                <a:gridCol w="1126435">
                  <a:extLst>
                    <a:ext uri="{9D8B030D-6E8A-4147-A177-3AD203B41FA5}">
                      <a16:colId xmlns:a16="http://schemas.microsoft.com/office/drawing/2014/main" val="345460417"/>
                    </a:ext>
                  </a:extLst>
                </a:gridCol>
              </a:tblGrid>
              <a:tr h="285692">
                <a:tc rowSpan="2">
                  <a:txBody>
                    <a:bodyPr/>
                    <a:lstStyle/>
                    <a:p>
                      <a:pPr algn="ctr" fontAlgn="b"/>
                      <a:r>
                        <a:rPr lang="es-PE" sz="17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fontAlgn="ctr"/>
                      <a:r>
                        <a:rPr lang="es-PE" sz="17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fontAlgn="ctr"/>
                      <a:r>
                        <a:rPr lang="es-ES" sz="1700" b="0" i="0" u="none" strike="noStrike" dirty="0">
                          <a:solidFill>
                            <a:srgbClr val="000000"/>
                          </a:solidFill>
                          <a:effectLst/>
                          <a:latin typeface="Calibri" panose="020F0502020204030204" pitchFamily="34" charset="0"/>
                        </a:rPr>
                        <a:t>FEBRERO</a:t>
                      </a: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fontAlgn="ctr"/>
                      <a:endParaRPr lang="es-PE" sz="11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endParaRPr lang="es-PE" sz="1700" b="0" i="0" u="none" strike="noStrike" dirty="0">
                        <a:solidFill>
                          <a:srgbClr val="000000"/>
                        </a:solidFill>
                        <a:effectLst/>
                        <a:latin typeface="Calibri" panose="020F05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5952588"/>
                  </a:ext>
                </a:extLst>
              </a:tr>
              <a:tr h="356963">
                <a:tc vMerge="1">
                  <a:txBody>
                    <a:bodyPr/>
                    <a:lstStyle/>
                    <a:p>
                      <a:endParaRPr lang="es-PE"/>
                    </a:p>
                  </a:txBody>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ES" sz="1700" b="1" i="0" u="none" strike="noStrike" dirty="0">
                          <a:solidFill>
                            <a:srgbClr val="FFFFFF"/>
                          </a:solidFill>
                          <a:effectLst/>
                          <a:latin typeface="Calibri Light" panose="020F0302020204030204" pitchFamily="34" charset="0"/>
                        </a:rPr>
                        <a:t>TOTAL</a:t>
                      </a:r>
                      <a:endParaRPr lang="es-PE" sz="1700" b="1" i="0" u="none" strike="noStrike" dirty="0">
                        <a:solidFill>
                          <a:srgbClr val="FFFFFF"/>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3661435629"/>
                  </a:ext>
                </a:extLst>
              </a:tr>
              <a:tr h="553943">
                <a:tc>
                  <a:txBody>
                    <a:bodyPr/>
                    <a:lstStyle/>
                    <a:p>
                      <a:pPr algn="ctr" fontAlgn="ctr"/>
                      <a:r>
                        <a:rPr lang="es-PE" sz="17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236</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s-ES" sz="900" b="1" i="0" u="none" strike="noStrike" kern="1200" dirty="0">
                        <a:solidFill>
                          <a:schemeClr val="tx1"/>
                        </a:solidFill>
                        <a:effectLst/>
                        <a:latin typeface="Calibri Light" panose="020F0302020204030204" pitchFamily="34" charset="0"/>
                        <a:ea typeface="+mn-ea"/>
                        <a:cs typeface="+mn-cs"/>
                      </a:endParaRPr>
                    </a:p>
                    <a:p>
                      <a:pPr marL="0" marR="0" lvl="0" indent="0" algn="ctr" defTabSz="914400" rtl="0" eaLnBrk="1" fontAlgn="ctr" latinLnBrk="0" hangingPunct="1">
                        <a:lnSpc>
                          <a:spcPct val="100000"/>
                        </a:lnSpc>
                        <a:spcBef>
                          <a:spcPts val="0"/>
                        </a:spcBef>
                        <a:spcAft>
                          <a:spcPts val="0"/>
                        </a:spcAft>
                        <a:buClrTx/>
                        <a:buSzTx/>
                        <a:buFontTx/>
                        <a:buNone/>
                        <a:tabLst/>
                        <a:defRPr/>
                      </a:pPr>
                      <a:r>
                        <a:rPr lang="es-ES" sz="1700" b="1" i="0" u="none" strike="noStrike" kern="1200" dirty="0">
                          <a:solidFill>
                            <a:schemeClr val="tx1"/>
                          </a:solidFill>
                          <a:effectLst/>
                          <a:latin typeface="Calibri Light" panose="020F0302020204030204" pitchFamily="34" charset="0"/>
                          <a:ea typeface="+mn-ea"/>
                          <a:cs typeface="+mn-cs"/>
                        </a:rPr>
                        <a:t>78</a:t>
                      </a:r>
                      <a:endParaRPr lang="es-PE" sz="1700" b="1" i="0" u="none" strike="noStrike" kern="1200" dirty="0">
                        <a:solidFill>
                          <a:schemeClr val="tx1"/>
                        </a:solidFill>
                        <a:effectLst/>
                        <a:latin typeface="Calibri Light" panose="020F0302020204030204" pitchFamily="34" charset="0"/>
                        <a:ea typeface="+mn-ea"/>
                        <a:cs typeface="+mn-cs"/>
                      </a:endParaRPr>
                    </a:p>
                  </a:txBody>
                  <a:tcPr marL="6350" marR="6350" marT="635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17</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595509009"/>
                  </a:ext>
                </a:extLst>
              </a:tr>
              <a:tr h="704534">
                <a:tc>
                  <a:txBody>
                    <a:bodyPr/>
                    <a:lstStyle/>
                    <a:p>
                      <a:pPr algn="ctr" fontAlgn="ctr"/>
                      <a:r>
                        <a:rPr lang="es-PE" sz="1700" b="1" i="0" u="none" strike="noStrike" dirty="0">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PE" sz="1700" b="1" i="0" u="none" strike="noStrike" dirty="0">
                          <a:solidFill>
                            <a:srgbClr val="833C0C"/>
                          </a:solidFill>
                          <a:effectLst/>
                          <a:latin typeface="Calibri Light" panose="020F0302020204030204" pitchFamily="34" charset="0"/>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ES" sz="1700" b="1" i="0" u="none" strike="noStrike" dirty="0">
                          <a:solidFill>
                            <a:schemeClr val="tx1"/>
                          </a:solidFill>
                          <a:effectLst/>
                          <a:latin typeface="Calibri Light" panose="020F0302020204030204" pitchFamily="34" charset="0"/>
                        </a:rPr>
                        <a:t>16</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s-ES" sz="1700" b="1" i="0" u="none" strike="noStrike" dirty="0">
                          <a:solidFill>
                            <a:srgbClr val="833C0C"/>
                          </a:solidFill>
                          <a:effectLst/>
                          <a:latin typeface="Calibri Light" panose="020F0302020204030204" pitchFamily="34" charset="0"/>
                        </a:rPr>
                        <a:t>2</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423245537"/>
                  </a:ext>
                </a:extLst>
              </a:tr>
              <a:tr h="356963">
                <a:tc>
                  <a:txBody>
                    <a:bodyPr/>
                    <a:lstStyle/>
                    <a:p>
                      <a:pPr algn="ctr" fontAlgn="ctr"/>
                      <a:r>
                        <a:rPr lang="es-PE" sz="17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9</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848495558"/>
                  </a:ext>
                </a:extLst>
              </a:tr>
              <a:tr h="827594">
                <a:tc>
                  <a:txBody>
                    <a:bodyPr/>
                    <a:lstStyle/>
                    <a:p>
                      <a:pPr algn="ctr" fontAlgn="ctr"/>
                      <a:r>
                        <a:rPr lang="es-PE" sz="17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2611323000"/>
                  </a:ext>
                </a:extLst>
              </a:tr>
              <a:tr h="704534">
                <a:tc>
                  <a:txBody>
                    <a:bodyPr/>
                    <a:lstStyle/>
                    <a:p>
                      <a:pPr algn="ctr" fontAlgn="ctr"/>
                      <a:r>
                        <a:rPr lang="es-PE" sz="17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0</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1532965810"/>
                  </a:ext>
                </a:extLst>
              </a:tr>
              <a:tr h="356963">
                <a:tc>
                  <a:txBody>
                    <a:bodyPr/>
                    <a:lstStyle/>
                    <a:p>
                      <a:pPr algn="ctr" fontAlgn="ctr"/>
                      <a:r>
                        <a:rPr lang="es-PE" sz="17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a:solidFill>
                            <a:srgbClr val="833C0C"/>
                          </a:solidFill>
                          <a:effectLst/>
                          <a:latin typeface="Calibri Light" panose="020F0302020204030204" pitchFamily="34" charset="0"/>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1</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0</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358868893"/>
                  </a:ext>
                </a:extLst>
              </a:tr>
              <a:tr h="356963">
                <a:tc>
                  <a:txBody>
                    <a:bodyPr/>
                    <a:lstStyle/>
                    <a:p>
                      <a:pPr algn="ctr" fontAlgn="ctr"/>
                      <a:r>
                        <a:rPr lang="es-PE" sz="17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fontAlgn="ctr"/>
                      <a:r>
                        <a:rPr lang="es-PE" sz="1700" b="1" i="0" u="none" strike="noStrike" dirty="0">
                          <a:solidFill>
                            <a:srgbClr val="833C0C"/>
                          </a:solidFill>
                          <a:effectLst/>
                          <a:latin typeface="Calibri Light" panose="020F0302020204030204" pitchFamily="34" charset="0"/>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PE" sz="1700" b="1" i="0" u="none" strike="noStrike" dirty="0">
                          <a:solidFill>
                            <a:srgbClr val="833C0C"/>
                          </a:solidFill>
                          <a:effectLst/>
                          <a:latin typeface="Calibri Light" panose="020F0302020204030204" pitchFamily="34" charset="0"/>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262</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chemeClr val="tx1"/>
                          </a:solidFill>
                          <a:effectLst/>
                          <a:latin typeface="Calibri Light" panose="020F0302020204030204" pitchFamily="34" charset="0"/>
                        </a:rPr>
                        <a:t>83</a:t>
                      </a:r>
                      <a:endParaRPr lang="es-PE" sz="1700" b="1" i="0" u="none" strike="noStrike" dirty="0">
                        <a:solidFill>
                          <a:schemeClr val="tx1"/>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r>
                        <a:rPr lang="es-ES" sz="1700" b="1" i="0" u="none" strike="noStrike" dirty="0">
                          <a:solidFill>
                            <a:srgbClr val="833C0C"/>
                          </a:solidFill>
                          <a:effectLst/>
                          <a:latin typeface="Calibri Light" panose="020F0302020204030204" pitchFamily="34" charset="0"/>
                        </a:rPr>
                        <a:t>19</a:t>
                      </a: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tc>
                  <a:txBody>
                    <a:bodyPr/>
                    <a:lstStyle/>
                    <a:p>
                      <a:pPr algn="ctr" fontAlgn="ctr"/>
                      <a:endParaRPr lang="es-PE" sz="1700" b="1" i="0" u="none" strike="noStrike" dirty="0">
                        <a:solidFill>
                          <a:srgbClr val="833C0C"/>
                        </a:solidFill>
                        <a:effectLst/>
                        <a:latin typeface="Calibri Light" panose="020F0302020204030204" pitchFamily="34" charset="0"/>
                      </a:endParaRP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EEAF6"/>
                    </a:solidFill>
                  </a:tcPr>
                </a:tc>
                <a:extLst>
                  <a:ext uri="{0D108BD9-81ED-4DB2-BD59-A6C34878D82A}">
                    <a16:rowId xmlns:a16="http://schemas.microsoft.com/office/drawing/2014/main" val="544681814"/>
                  </a:ext>
                </a:extLst>
              </a:tr>
            </a:tbl>
          </a:graphicData>
        </a:graphic>
      </p:graphicFrame>
      <p:sp>
        <p:nvSpPr>
          <p:cNvPr id="7" name="CuadroTexto 6">
            <a:extLst>
              <a:ext uri="{FF2B5EF4-FFF2-40B4-BE49-F238E27FC236}">
                <a16:creationId xmlns:a16="http://schemas.microsoft.com/office/drawing/2014/main" id="{5E16A48C-8B1C-F8A5-D904-505421AB5B23}"/>
              </a:ext>
            </a:extLst>
          </p:cNvPr>
          <p:cNvSpPr txBox="1"/>
          <p:nvPr/>
        </p:nvSpPr>
        <p:spPr>
          <a:xfrm>
            <a:off x="908049" y="6086475"/>
            <a:ext cx="8636000" cy="307777"/>
          </a:xfrm>
          <a:prstGeom prst="rect">
            <a:avLst/>
          </a:prstGeom>
          <a:noFill/>
        </p:spPr>
        <p:txBody>
          <a:bodyPr wrap="square" rtlCol="0">
            <a:spAutoFit/>
          </a:bodyPr>
          <a:lstStyle/>
          <a:p>
            <a:r>
              <a:rPr lang="es-ES" sz="1400" dirty="0"/>
              <a:t>(*) La DCP resolvió reclamos por un monto de S/ 10.9 millones.</a:t>
            </a:r>
            <a:endParaRPr lang="es-PE" sz="1400" dirty="0"/>
          </a:p>
        </p:txBody>
      </p:sp>
    </p:spTree>
    <p:extLst>
      <p:ext uri="{BB962C8B-B14F-4D97-AF65-F5344CB8AC3E}">
        <p14:creationId xmlns:p14="http://schemas.microsoft.com/office/powerpoint/2010/main" val="339408549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 ENERO-DCCI</a:t>
            </a:r>
            <a:endParaRPr lang="es-PE" sz="20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4602315A-94FE-A9BE-7A44-CD0E1535A4BA}"/>
              </a:ext>
            </a:extLst>
          </p:cNvPr>
          <p:cNvGraphicFramePr>
            <a:graphicFrameLocks noGrp="1"/>
          </p:cNvGraphicFramePr>
          <p:nvPr>
            <p:extLst>
              <p:ext uri="{D42A27DB-BD31-4B8C-83A1-F6EECF244321}">
                <p14:modId xmlns:p14="http://schemas.microsoft.com/office/powerpoint/2010/main" val="4274726692"/>
              </p:ext>
            </p:extLst>
          </p:nvPr>
        </p:nvGraphicFramePr>
        <p:xfrm>
          <a:off x="647700" y="1184476"/>
          <a:ext cx="10201276" cy="5266289"/>
        </p:xfrm>
        <a:graphic>
          <a:graphicData uri="http://schemas.openxmlformats.org/drawingml/2006/table">
            <a:tbl>
              <a:tblPr/>
              <a:tblGrid>
                <a:gridCol w="760773">
                  <a:extLst>
                    <a:ext uri="{9D8B030D-6E8A-4147-A177-3AD203B41FA5}">
                      <a16:colId xmlns:a16="http://schemas.microsoft.com/office/drawing/2014/main" val="2076205165"/>
                    </a:ext>
                  </a:extLst>
                </a:gridCol>
                <a:gridCol w="1060471">
                  <a:extLst>
                    <a:ext uri="{9D8B030D-6E8A-4147-A177-3AD203B41FA5}">
                      <a16:colId xmlns:a16="http://schemas.microsoft.com/office/drawing/2014/main" val="1725238081"/>
                    </a:ext>
                  </a:extLst>
                </a:gridCol>
                <a:gridCol w="691613">
                  <a:extLst>
                    <a:ext uri="{9D8B030D-6E8A-4147-A177-3AD203B41FA5}">
                      <a16:colId xmlns:a16="http://schemas.microsoft.com/office/drawing/2014/main" val="3090694938"/>
                    </a:ext>
                  </a:extLst>
                </a:gridCol>
                <a:gridCol w="7688419">
                  <a:extLst>
                    <a:ext uri="{9D8B030D-6E8A-4147-A177-3AD203B41FA5}">
                      <a16:colId xmlns:a16="http://schemas.microsoft.com/office/drawing/2014/main" val="2099145480"/>
                    </a:ext>
                  </a:extLst>
                </a:gridCol>
              </a:tblGrid>
              <a:tr h="273925">
                <a:tc>
                  <a:txBody>
                    <a:bodyPr/>
                    <a:lstStyle/>
                    <a:p>
                      <a:pPr algn="ctr" fontAlgn="ctr"/>
                      <a:r>
                        <a:rPr lang="es-PE" sz="900" b="1" i="0" u="none" strike="noStrike" dirty="0">
                          <a:solidFill>
                            <a:srgbClr val="000000"/>
                          </a:solidFill>
                          <a:effectLst/>
                          <a:latin typeface="Calibri" panose="020F0502020204030204" pitchFamily="34" charset="0"/>
                        </a:rPr>
                        <a:t>Dependencia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900" b="1" i="0" u="none" strike="noStrike">
                          <a:solidFill>
                            <a:srgbClr val="000000"/>
                          </a:solidFill>
                          <a:effectLst/>
                          <a:latin typeface="Calibri" panose="020F0502020204030204" pitchFamily="34" charset="0"/>
                        </a:rPr>
                        <a:t>Resolucion</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900" b="1" i="0" u="none" strike="noStrike">
                          <a:solidFill>
                            <a:srgbClr val="000000"/>
                          </a:solidFill>
                          <a:effectLst/>
                          <a:latin typeface="Calibri" panose="020F0502020204030204" pitchFamily="34" charset="0"/>
                        </a:rPr>
                        <a:t>FEC_RES</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900" b="1" i="0" u="none" strike="noStrike" dirty="0">
                          <a:solidFill>
                            <a:srgbClr val="000000"/>
                          </a:solidFill>
                          <a:effectLst/>
                          <a:latin typeface="Calibri" panose="020F0502020204030204" pitchFamily="34" charset="0"/>
                        </a:rPr>
                        <a:t>SUMILLA</a:t>
                      </a:r>
                    </a:p>
                  </a:txBody>
                  <a:tcPr marL="4413" marR="4413" marT="4413"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653756131"/>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4090140006385</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EN PARTE: Gramaje de una serie usada como referencia excede peso límite de acuerdo con la Circular N° INTA-CR-018-2002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2894152"/>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4090140006315</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El gramaje de la mercancía de DAM de referencia, no está dentro del margen de validez, en aplicación a lo establecido en la Circular N° INTA-CR-018-2002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08129001"/>
                  </a:ext>
                </a:extLst>
              </a:tr>
              <a:tr h="139131">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4090140006221</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La Administración no consideró fecha de la rectifcación</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6787469"/>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4090140006548</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FUNDADO: El gramaje de la mercancía de DAM de referencia, no está dentro del margen de validez, en aplicación a lo establecido en la Circular N° INTA-CR-018-2002</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69319255"/>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4090140006353</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Correspondía a la Administración Aduanera realizara el “análisis de idoneidad” de las referencias, desvirtuando las alegaciones que sustentan que sus referencias sean consideradas más similares a la que es objeto de analisis.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36807083"/>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4090140006582</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El expediente de suspensión de plazo para regularizar la DAM de exportación, no fue atendido, previo o con la sancion impuesta</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07076787"/>
                  </a:ext>
                </a:extLst>
              </a:tr>
              <a:tr h="139131">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4090140006520</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El expediente no fue considerado al momento de emitirse el Informe de Determinación de Valor</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1581144"/>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4090140006440</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El expediente presentado por la recurrente, no fue considerado al momento de emitirse el Informe de Determinación de Valor</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41744989"/>
                  </a:ext>
                </a:extLst>
              </a:tr>
              <a:tr h="139131">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4090140006339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Expediente no fue considerado al momento de emitirse el Informe de Determinación de Valor</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7305466"/>
                  </a:ext>
                </a:extLst>
              </a:tr>
              <a:tr h="139131">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4090140006369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Falta de motivación, no se evaluaron documentos contables.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5328960"/>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4090140006439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a la recurrente precisar las series de las referencias presentadas, ni realizar un análisis comparativo, conforme al criterio establecido por el Tribunal Fiscal, por lo que, se declara la nulidad del IDV y LC.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45058222"/>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4090140006552</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a la recurrente precisar las series de las referencias presentadas, ni realizar un análisis comparativo, conforme al criterio establecido por el Tribunal Fiscal, por lo que, se declara la nulidad del IDV y LC.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109046"/>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4090140006279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Adminsitración no consideró expediente de suspensión de plazo, presentado antes de vencimiento de plazo legal para regularizar.</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1454777"/>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4090140006409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a la recurrente precisar las series de las referencias presentadas, ni realizar un análisis comparativo, conforme al criterio establecido por el Tribunal Fiscal, por lo que, se declara la nulidad del IDV y LC.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1855729"/>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4090140006509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El IDV no consideró expediente que presentó la recurrente con documentación de sustento del valor en el procedimiento de duda razonable</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303850"/>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4090140006179</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precise las series de las DAM ofrecidas como referencia y el análisis comparativo con los elementos que usualmente constan en un IDV en el sentido de por qué serían más idóneas.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7786179"/>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4090140006346</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precise las series de las DAM ofrecidas como referencia y el análisis comparativo con los elementos que usualmente constan en un IDV en el sentido de por qué serían más idóneas.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34327786"/>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4090140006354</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precise las series de las DAM ofrecidas como referencia y el análisis comparativo con los elementos que usualmente constan en un IDV en el sentido de por qué serían más idóneas.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0675281"/>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4090140006355</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a:solidFill>
                            <a:srgbClr val="000000"/>
                          </a:solidFill>
                          <a:effectLst/>
                          <a:latin typeface="Calibri" panose="020F0502020204030204" pitchFamily="34" charset="0"/>
                        </a:rPr>
                        <a:t>NULIDAD: La Administración no requirió precise las series de las DAM ofrecidas como referencia y el análisis comparativo con los elementos que usualmente constan en un IDV en el sentido de por qué serían más idóneas.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3837809"/>
                  </a:ext>
                </a:extLst>
              </a:tr>
              <a:tr h="273925">
                <a:tc>
                  <a:txBody>
                    <a:bodyPr/>
                    <a:lstStyle/>
                    <a:p>
                      <a:pPr algn="l" fontAlgn="b"/>
                      <a:r>
                        <a:rPr lang="es-PE" sz="900" b="0" i="0" u="none" strike="noStrike">
                          <a:solidFill>
                            <a:srgbClr val="000000"/>
                          </a:solidFill>
                          <a:effectLst/>
                          <a:latin typeface="Calibri" panose="020F0502020204030204" pitchFamily="34" charset="0"/>
                        </a:rPr>
                        <a:t>IAMC</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t"/>
                      <a:r>
                        <a:rPr lang="es-PE" sz="900" b="0" i="0" u="none" strike="noStrike">
                          <a:solidFill>
                            <a:srgbClr val="000000"/>
                          </a:solidFill>
                          <a:effectLst/>
                          <a:latin typeface="Calibri" panose="020F0502020204030204" pitchFamily="34" charset="0"/>
                        </a:rPr>
                        <a:t>4090140006356</a:t>
                      </a:r>
                    </a:p>
                  </a:txBody>
                  <a:tcPr marL="4413" marR="4413" marT="4413"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900" b="0" i="0" u="none" strike="noStrike">
                          <a:solidFill>
                            <a:srgbClr val="000000"/>
                          </a:solidFill>
                          <a:effectLst/>
                          <a:latin typeface="Calibri" panose="020F0502020204030204" pitchFamily="34" charset="0"/>
                        </a:rPr>
                        <a:t>enero</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900" b="0" i="0" u="none" strike="noStrike" dirty="0">
                          <a:solidFill>
                            <a:srgbClr val="000000"/>
                          </a:solidFill>
                          <a:effectLst/>
                          <a:latin typeface="Calibri" panose="020F0502020204030204" pitchFamily="34" charset="0"/>
                        </a:rPr>
                        <a:t>NULIDAD: La Administración no requirió precise las series de las DAM ofrecidas como referencia y el análisis comparativo con los elementos que usualmente constan en un IDV en el sentido de por qué serían más idóneas.</a:t>
                      </a:r>
                    </a:p>
                  </a:txBody>
                  <a:tcPr marL="4413" marR="4413" marT="4413"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18937387"/>
                  </a:ext>
                </a:extLst>
              </a:tr>
            </a:tbl>
          </a:graphicData>
        </a:graphic>
      </p:graphicFrame>
    </p:spTree>
    <p:extLst>
      <p:ext uri="{BB962C8B-B14F-4D97-AF65-F5344CB8AC3E}">
        <p14:creationId xmlns:p14="http://schemas.microsoft.com/office/powerpoint/2010/main" val="4101742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000" b="1" dirty="0">
                <a:latin typeface="Arial" panose="020B0604020202020204" pitchFamily="34" charset="0"/>
                <a:cs typeface="Arial" panose="020B0604020202020204" pitchFamily="34" charset="0"/>
              </a:rPr>
              <a:t>SUMILLAS DE NULIDADES DECLARADAS POR LA GAFA FEBRERO-DCCI</a:t>
            </a:r>
            <a:endParaRPr lang="es-PE" sz="20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EFCF762F-2852-E286-587B-EA35D9ECE23E}"/>
              </a:ext>
            </a:extLst>
          </p:cNvPr>
          <p:cNvGraphicFramePr>
            <a:graphicFrameLocks noGrp="1"/>
          </p:cNvGraphicFramePr>
          <p:nvPr>
            <p:extLst>
              <p:ext uri="{D42A27DB-BD31-4B8C-83A1-F6EECF244321}">
                <p14:modId xmlns:p14="http://schemas.microsoft.com/office/powerpoint/2010/main" val="774688554"/>
              </p:ext>
            </p:extLst>
          </p:nvPr>
        </p:nvGraphicFramePr>
        <p:xfrm>
          <a:off x="619125" y="1178436"/>
          <a:ext cx="10515600" cy="5203298"/>
        </p:xfrm>
        <a:graphic>
          <a:graphicData uri="http://schemas.openxmlformats.org/drawingml/2006/table">
            <a:tbl>
              <a:tblPr/>
              <a:tblGrid>
                <a:gridCol w="695071">
                  <a:extLst>
                    <a:ext uri="{9D8B030D-6E8A-4147-A177-3AD203B41FA5}">
                      <a16:colId xmlns:a16="http://schemas.microsoft.com/office/drawing/2014/main" val="1659268794"/>
                    </a:ext>
                  </a:extLst>
                </a:gridCol>
                <a:gridCol w="968886">
                  <a:extLst>
                    <a:ext uri="{9D8B030D-6E8A-4147-A177-3AD203B41FA5}">
                      <a16:colId xmlns:a16="http://schemas.microsoft.com/office/drawing/2014/main" val="3258843850"/>
                    </a:ext>
                  </a:extLst>
                </a:gridCol>
                <a:gridCol w="631882">
                  <a:extLst>
                    <a:ext uri="{9D8B030D-6E8A-4147-A177-3AD203B41FA5}">
                      <a16:colId xmlns:a16="http://schemas.microsoft.com/office/drawing/2014/main" val="2828130478"/>
                    </a:ext>
                  </a:extLst>
                </a:gridCol>
                <a:gridCol w="8219761">
                  <a:extLst>
                    <a:ext uri="{9D8B030D-6E8A-4147-A177-3AD203B41FA5}">
                      <a16:colId xmlns:a16="http://schemas.microsoft.com/office/drawing/2014/main" val="2482329279"/>
                    </a:ext>
                  </a:extLst>
                </a:gridCol>
              </a:tblGrid>
              <a:tr h="279483">
                <a:tc>
                  <a:txBody>
                    <a:bodyPr/>
                    <a:lstStyle/>
                    <a:p>
                      <a:pPr algn="ctr" fontAlgn="ctr"/>
                      <a:r>
                        <a:rPr lang="es-PE" sz="800" b="1" i="0" u="none" strike="noStrike">
                          <a:solidFill>
                            <a:srgbClr val="000000"/>
                          </a:solidFill>
                          <a:effectLst/>
                          <a:latin typeface="Calibri" panose="020F0502020204030204" pitchFamily="34" charset="0"/>
                        </a:rPr>
                        <a:t>Dependencia</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800" b="1" i="0" u="none" strike="noStrike">
                          <a:solidFill>
                            <a:srgbClr val="000000"/>
                          </a:solidFill>
                          <a:effectLst/>
                          <a:latin typeface="Calibri" panose="020F0502020204030204" pitchFamily="34" charset="0"/>
                        </a:rPr>
                        <a:t>Resolucion</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800" b="1" i="0" u="none" strike="noStrike">
                          <a:solidFill>
                            <a:srgbClr val="000000"/>
                          </a:solidFill>
                          <a:effectLst/>
                          <a:latin typeface="Calibri" panose="020F0502020204030204" pitchFamily="34" charset="0"/>
                        </a:rPr>
                        <a:t>FEC_RES</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tc>
                  <a:txBody>
                    <a:bodyPr/>
                    <a:lstStyle/>
                    <a:p>
                      <a:pPr algn="ctr" fontAlgn="ctr"/>
                      <a:r>
                        <a:rPr lang="es-PE" sz="800" b="1" i="0" u="none" strike="noStrike" dirty="0">
                          <a:solidFill>
                            <a:srgbClr val="000000"/>
                          </a:solidFill>
                          <a:effectLst/>
                          <a:latin typeface="Calibri" panose="020F0502020204030204" pitchFamily="34" charset="0"/>
                        </a:rPr>
                        <a:t>SUMILLA</a:t>
                      </a:r>
                    </a:p>
                  </a:txBody>
                  <a:tcPr marL="4168" marR="4168" marT="4168"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206154337"/>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4090140006687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dirty="0">
                          <a:solidFill>
                            <a:srgbClr val="000000"/>
                          </a:solidFill>
                          <a:effectLst/>
                          <a:latin typeface="Calibri" panose="020F0502020204030204" pitchFamily="34" charset="0"/>
                        </a:rPr>
                        <a:t>NULIDAD: conforme a lo señalado por el TF, no se efectuó un análisis de idoneidad de las </a:t>
                      </a:r>
                      <a:r>
                        <a:rPr lang="es-ES" sz="800" b="0" i="0" u="none" strike="noStrike" dirty="0" err="1">
                          <a:solidFill>
                            <a:srgbClr val="000000"/>
                          </a:solidFill>
                          <a:effectLst/>
                          <a:latin typeface="Calibri" panose="020F0502020204030204" pitchFamily="34" charset="0"/>
                        </a:rPr>
                        <a:t>DAMs</a:t>
                      </a:r>
                      <a:r>
                        <a:rPr lang="es-ES" sz="800" b="0" i="0" u="none" strike="noStrike" dirty="0">
                          <a:solidFill>
                            <a:srgbClr val="000000"/>
                          </a:solidFill>
                          <a:effectLst/>
                          <a:latin typeface="Calibri" panose="020F0502020204030204" pitchFamily="34" charset="0"/>
                        </a:rPr>
                        <a:t> de referencias ofrecidas por el importador.</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06455728"/>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4090140007033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dirty="0">
                          <a:solidFill>
                            <a:srgbClr val="000000"/>
                          </a:solidFill>
                          <a:effectLst/>
                          <a:latin typeface="Calibri" panose="020F0502020204030204" pitchFamily="34" charset="0"/>
                        </a:rPr>
                        <a:t>NULIDAD: el acto impugnado no se pronuncia por el saldo en exceso de los tributos diferenciales, y por el contrario declara improcedente atendiendo a que hay un curso un reclamo contra IDV (sin LC 30)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8165745"/>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4090140006617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El TF dejó sin efecto IDV en el que se sustenta la improcedencia de la devolución, verificándose además las transferencias bancarias internacionales</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28122630"/>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4090140006663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regularizó dentro de plazo, teniendo en cuenta la suspensión que declaró procedente el área de origen.</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37347101"/>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4090140006664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regularizó dentro de plazo, teniendo en cuenta la suspensión que declaró procedente el área de origen.</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7158828"/>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4090140006740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no se encuentran observadas las DAM de referencias ofrecidas por el importador, y siendo que la LC se encuentra cancelada se procedió a evaluar, resultando ser un valor más bajo que el declarado en la DAM materia de ajuste.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0586057"/>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4090140007017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la mcia. de la DAM de referencia ofrecida por el importador es idéntica a la mcia. De la DAM materia de ajuste.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29169018"/>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4090140006730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NULIDAD: las DAMs de referencias ofrecidas por el importador, no fueron evaluadas en el IDV.</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6438036"/>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4090140006853</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NULIDAD: las DAMs de referencias ofrecidas por el importador, no fueron evaluadas en el IDV.</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8372296"/>
                  </a:ext>
                </a:extLst>
              </a:tr>
              <a:tr h="272421">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4090140006886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NULIDAD: No efectuaron un análisis, conforme al art. 13 del Reglamento de Valoración, de las DAMs de referencias ofrecidas por el importador.</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2986056"/>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4090140006980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NULIDAD: No efectuaron el análisis de 02 series para aplicación del Tercer método, además para ajustar las otras series utilizaron referencia que está ajustada.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2451974"/>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4090140006786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Acredita medio de pago con swift bancario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6602233"/>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4090140006829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Acredita medio de pago con swift bancario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9182307"/>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4090140006894</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FUNDO: Acredita medio de pago con swift bancario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06924155"/>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4090140006609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Nulo: Multiples referencia no se requirió analisis comparativo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12807100"/>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4090140006761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NULO: Ejecución RTF N° 00874-A-2023, y cualquier pronunciamiento vinculado a la ejecución debe encaminarse, r, en el marco de lo dispuesto por el artículo 156° del TUO del Código Tributario (Apelación)</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7954106"/>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4090140006858</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NULO: Falta de motivación, no cumplió con expresar y fundamentar </a:t>
                      </a:r>
                      <a:br>
                        <a:rPr lang="es-ES" sz="800" b="0" i="0" u="none" strike="noStrike">
                          <a:solidFill>
                            <a:srgbClr val="000000"/>
                          </a:solidFill>
                          <a:effectLst/>
                          <a:latin typeface="Calibri" panose="020F0502020204030204" pitchFamily="34" charset="0"/>
                        </a:rPr>
                      </a:br>
                      <a:r>
                        <a:rPr lang="es-ES" sz="800" b="0" i="0" u="none" strike="noStrike">
                          <a:solidFill>
                            <a:srgbClr val="000000"/>
                          </a:solidFill>
                          <a:effectLst/>
                          <a:latin typeface="Calibri" panose="020F0502020204030204" pitchFamily="34" charset="0"/>
                        </a:rPr>
                        <a:t>las razones para su rechazo o falta de valor probatorio de documentos contables.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46769"/>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4090140007026</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NULO: No se siguió procedimiento establecido esto </a:t>
                      </a:r>
                      <a:br>
                        <a:rPr lang="es-ES" sz="800" b="0" i="0" u="none" strike="noStrike">
                          <a:solidFill>
                            <a:srgbClr val="000000"/>
                          </a:solidFill>
                          <a:effectLst/>
                          <a:latin typeface="Calibri" panose="020F0502020204030204" pitchFamily="34" charset="0"/>
                        </a:rPr>
                      </a:br>
                      <a:r>
                        <a:rPr lang="es-ES" sz="800" b="0" i="0" u="none" strike="noStrike">
                          <a:solidFill>
                            <a:srgbClr val="000000"/>
                          </a:solidFill>
                          <a:effectLst/>
                          <a:latin typeface="Calibri" panose="020F0502020204030204" pitchFamily="34" charset="0"/>
                        </a:rPr>
                        <a:t>es que se haya iniciado procedimiento de verificación respecto al Origen TLC Corea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97476898"/>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4090140006701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La referencia que sustenta ajuste habia sido también objeto de ajuste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2357894"/>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4090140006719</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La referencia que sustenta ajuste no cumple con limite de gramaje de acuerdo a Circular N° INTA-CR-018-2002;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2932097"/>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4090140006820</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Mercancía restringida carece de documento de autorización del sector competente</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4961635"/>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4090140006911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La referencia que sustenta ajuste no cumple con limite de gramaje de acuerdo a Circular N° INTA-CR-018-2002;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3044138"/>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4090140006947</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La referencia que sustenta ajuste no cumple con limite de gramaje de acuerdo a Circular N° INTA-CR-018-2002;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78691695"/>
                  </a:ext>
                </a:extLst>
              </a:tr>
              <a:tr h="279483">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4090140006971</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Mercancía no se sustenta en documentos aduaneros previos al despacho, tal como el conocimiento de embarque y manifiesto de carga</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89604940"/>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4090140006972</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a:solidFill>
                            <a:srgbClr val="000000"/>
                          </a:solidFill>
                          <a:effectLst/>
                          <a:latin typeface="Calibri" panose="020F0502020204030204" pitchFamily="34" charset="0"/>
                        </a:rPr>
                        <a:t>FUNDADO EN PARTE: Mercancía no se sustenta en documentos aduaneros , tal como la DAM, factura y el conocimiento de embarque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96960099"/>
                  </a:ext>
                </a:extLst>
              </a:tr>
              <a:tr h="142090">
                <a:tc>
                  <a:txBody>
                    <a:bodyPr/>
                    <a:lstStyle/>
                    <a:p>
                      <a:pPr algn="l" fontAlgn="b"/>
                      <a:r>
                        <a:rPr lang="es-PE" sz="800" b="0" i="0" u="none" strike="noStrike">
                          <a:solidFill>
                            <a:srgbClr val="000000"/>
                          </a:solidFill>
                          <a:effectLst/>
                          <a:latin typeface="Calibri" panose="020F0502020204030204" pitchFamily="34" charset="0"/>
                        </a:rPr>
                        <a:t>IAMC</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4090140006975</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PE" sz="800" b="0" i="0" u="none" strike="noStrike">
                          <a:solidFill>
                            <a:srgbClr val="000000"/>
                          </a:solidFill>
                          <a:effectLst/>
                          <a:latin typeface="Calibri" panose="020F0502020204030204" pitchFamily="34" charset="0"/>
                        </a:rPr>
                        <a:t>febrero</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s-ES" sz="800" b="0" i="0" u="none" strike="noStrike" dirty="0">
                          <a:solidFill>
                            <a:srgbClr val="000000"/>
                          </a:solidFill>
                          <a:effectLst/>
                          <a:latin typeface="Calibri" panose="020F0502020204030204" pitchFamily="34" charset="0"/>
                        </a:rPr>
                        <a:t>FUNDADO EN PARTE: Mercancía no se sustenta en documentos aduaneros , tal como la DAM, factura y el conocimiento de embarque </a:t>
                      </a:r>
                    </a:p>
                  </a:txBody>
                  <a:tcPr marL="4168" marR="4168" marT="4168"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1668059"/>
                  </a:ext>
                </a:extLst>
              </a:tr>
            </a:tbl>
          </a:graphicData>
        </a:graphic>
      </p:graphicFrame>
    </p:spTree>
    <p:extLst>
      <p:ext uri="{BB962C8B-B14F-4D97-AF65-F5344CB8AC3E}">
        <p14:creationId xmlns:p14="http://schemas.microsoft.com/office/powerpoint/2010/main" val="5274999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GAFA-DCCII</a:t>
            </a:r>
            <a:endParaRPr lang="es-PE" sz="2400" b="1" dirty="0">
              <a:latin typeface="Arial" panose="020B0604020202020204" pitchFamily="34" charset="0"/>
              <a:cs typeface="Arial" panose="020B0604020202020204" pitchFamily="34" charset="0"/>
            </a:endParaRPr>
          </a:p>
        </p:txBody>
      </p:sp>
      <p:graphicFrame>
        <p:nvGraphicFramePr>
          <p:cNvPr id="10" name="Tabla 9">
            <a:extLst>
              <a:ext uri="{FF2B5EF4-FFF2-40B4-BE49-F238E27FC236}">
                <a16:creationId xmlns:a16="http://schemas.microsoft.com/office/drawing/2014/main" id="{CE906CB3-C30C-481B-9438-CDB6859C2997}"/>
              </a:ext>
            </a:extLst>
          </p:cNvPr>
          <p:cNvGraphicFramePr>
            <a:graphicFrameLocks noGrp="1"/>
          </p:cNvGraphicFramePr>
          <p:nvPr>
            <p:extLst>
              <p:ext uri="{D42A27DB-BD31-4B8C-83A1-F6EECF244321}">
                <p14:modId xmlns:p14="http://schemas.microsoft.com/office/powerpoint/2010/main" val="1495211453"/>
              </p:ext>
            </p:extLst>
          </p:nvPr>
        </p:nvGraphicFramePr>
        <p:xfrm>
          <a:off x="469899" y="1321068"/>
          <a:ext cx="10207625" cy="4529932"/>
        </p:xfrm>
        <a:graphic>
          <a:graphicData uri="http://schemas.openxmlformats.org/drawingml/2006/table">
            <a:tbl>
              <a:tblPr/>
              <a:tblGrid>
                <a:gridCol w="2916464">
                  <a:extLst>
                    <a:ext uri="{9D8B030D-6E8A-4147-A177-3AD203B41FA5}">
                      <a16:colId xmlns:a16="http://schemas.microsoft.com/office/drawing/2014/main" val="691456998"/>
                    </a:ext>
                  </a:extLst>
                </a:gridCol>
                <a:gridCol w="1798014">
                  <a:extLst>
                    <a:ext uri="{9D8B030D-6E8A-4147-A177-3AD203B41FA5}">
                      <a16:colId xmlns:a16="http://schemas.microsoft.com/office/drawing/2014/main" val="2477126851"/>
                    </a:ext>
                  </a:extLst>
                </a:gridCol>
                <a:gridCol w="1854645">
                  <a:extLst>
                    <a:ext uri="{9D8B030D-6E8A-4147-A177-3AD203B41FA5}">
                      <a16:colId xmlns:a16="http://schemas.microsoft.com/office/drawing/2014/main" val="2766426648"/>
                    </a:ext>
                  </a:extLst>
                </a:gridCol>
                <a:gridCol w="3638502">
                  <a:extLst>
                    <a:ext uri="{9D8B030D-6E8A-4147-A177-3AD203B41FA5}">
                      <a16:colId xmlns:a16="http://schemas.microsoft.com/office/drawing/2014/main" val="828247719"/>
                    </a:ext>
                  </a:extLst>
                </a:gridCol>
              </a:tblGrid>
              <a:tr h="205906">
                <a:tc>
                  <a:txBody>
                    <a:bodyPr/>
                    <a:lstStyle/>
                    <a:p>
                      <a:pPr algn="ctr" fontAlgn="b"/>
                      <a:r>
                        <a:rPr lang="es-PE" sz="1100" b="1" i="0" u="none" strike="noStrike" dirty="0">
                          <a:solidFill>
                            <a:srgbClr val="000000"/>
                          </a:solidFill>
                          <a:effectLst/>
                          <a:latin typeface="Calibri" panose="020F0502020204030204" pitchFamily="34" charset="0"/>
                        </a:rPr>
                        <a:t>DEPENDENCIA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100" b="1" i="0" u="none" strike="noStrike" dirty="0">
                          <a:solidFill>
                            <a:srgbClr val="000000"/>
                          </a:solidFill>
                          <a:effectLst/>
                          <a:latin typeface="Calibri" panose="020F0502020204030204" pitchFamily="34" charset="0"/>
                        </a:rPr>
                        <a:t>MES</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100" b="1" i="0" u="none" strike="noStrike" dirty="0" err="1">
                          <a:solidFill>
                            <a:srgbClr val="000000"/>
                          </a:solidFill>
                          <a:effectLst/>
                          <a:latin typeface="Calibri" panose="020F0502020204030204" pitchFamily="34" charset="0"/>
                        </a:rPr>
                        <a:t>N°</a:t>
                      </a:r>
                      <a:r>
                        <a:rPr lang="es-PE" sz="1100" b="1" i="0" u="none" strike="noStrike" dirty="0">
                          <a:solidFill>
                            <a:srgbClr val="000000"/>
                          </a:solidFill>
                          <a:effectLst/>
                          <a:latin typeface="Calibri" panose="020F0502020204030204" pitchFamily="34" charset="0"/>
                        </a:rPr>
                        <a:t> RI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tc>
                  <a:txBody>
                    <a:bodyPr/>
                    <a:lstStyle/>
                    <a:p>
                      <a:pPr algn="ctr" fontAlgn="b"/>
                      <a:r>
                        <a:rPr lang="es-PE" sz="1100" b="1" i="0" u="none" strike="noStrike" dirty="0">
                          <a:solidFill>
                            <a:srgbClr val="000000"/>
                          </a:solidFill>
                          <a:effectLst/>
                          <a:latin typeface="Calibri" panose="020F0502020204030204" pitchFamily="34" charset="0"/>
                        </a:rPr>
                        <a:t>SUMILLA MOTIVO REVOCA/NULA</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99FF"/>
                    </a:solidFill>
                  </a:tcPr>
                </a:tc>
                <a:extLst>
                  <a:ext uri="{0D108BD9-81ED-4DB2-BD59-A6C34878D82A}">
                    <a16:rowId xmlns:a16="http://schemas.microsoft.com/office/drawing/2014/main" val="3895623448"/>
                  </a:ext>
                </a:extLst>
              </a:tr>
              <a:tr h="823624">
                <a:tc>
                  <a:txBody>
                    <a:bodyPr/>
                    <a:lstStyle/>
                    <a:p>
                      <a:pPr algn="l" fontAlgn="ctr"/>
                      <a:r>
                        <a:rPr lang="es-PE" sz="1100" b="0" i="0" u="none" strike="noStrike">
                          <a:solidFill>
                            <a:srgbClr val="000000"/>
                          </a:solidFill>
                          <a:effectLst/>
                          <a:latin typeface="Calibri" panose="020F0502020204030204" pitchFamily="34" charset="0"/>
                        </a:rPr>
                        <a:t>I.A. Tumbes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ENERO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405014006225</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100" b="0" i="0" u="none" strike="noStrike">
                          <a:solidFill>
                            <a:srgbClr val="000000"/>
                          </a:solidFill>
                          <a:effectLst/>
                          <a:latin typeface="Calibri" panose="020F0502020204030204" pitchFamily="34" charset="0"/>
                        </a:rPr>
                        <a:t>NULIDAD se sanciono con la infracción correspondiente a "Terceros" siendo que correspondía sancionar con infracción correspondiente a operador de comercio exterior.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6830027"/>
                  </a:ext>
                </a:extLst>
              </a:tr>
              <a:tr h="823624">
                <a:tc>
                  <a:txBody>
                    <a:bodyPr/>
                    <a:lstStyle/>
                    <a:p>
                      <a:pPr algn="l" fontAlgn="ctr"/>
                      <a:r>
                        <a:rPr lang="es-ES" sz="1100" b="0" i="0" u="none" strike="noStrike">
                          <a:solidFill>
                            <a:srgbClr val="000000"/>
                          </a:solidFill>
                          <a:effectLst/>
                          <a:latin typeface="Calibri" panose="020F0502020204030204" pitchFamily="34" charset="0"/>
                        </a:rPr>
                        <a:t>I.A. Aérea y Postal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ENERO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405014006226</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100" b="0" i="0" u="none" strike="noStrike">
                          <a:solidFill>
                            <a:srgbClr val="000000"/>
                          </a:solidFill>
                          <a:effectLst/>
                          <a:latin typeface="Calibri" panose="020F0502020204030204" pitchFamily="34" charset="0"/>
                        </a:rPr>
                        <a:t>NULIDAD en la Resolución que declaró improcedente la devolución por pago indebido o en exceso (TPI), no se evaluó negociación y origen (Retorno del Poder Judicial).</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6003167"/>
                  </a:ext>
                </a:extLst>
              </a:tr>
              <a:tr h="1235436">
                <a:tc>
                  <a:txBody>
                    <a:bodyPr/>
                    <a:lstStyle/>
                    <a:p>
                      <a:pPr algn="l" fontAlgn="ctr"/>
                      <a:r>
                        <a:rPr lang="es-ES" sz="1100" b="0" i="0" u="none" strike="noStrike">
                          <a:solidFill>
                            <a:srgbClr val="000000"/>
                          </a:solidFill>
                          <a:effectLst/>
                          <a:latin typeface="Calibri" panose="020F0502020204030204" pitchFamily="34" charset="0"/>
                        </a:rPr>
                        <a:t>I.A. Aérea y Postal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ENERO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405014006493</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100" b="0" i="0" u="none" strike="noStrike">
                          <a:solidFill>
                            <a:srgbClr val="000000"/>
                          </a:solidFill>
                          <a:effectLst/>
                          <a:latin typeface="Calibri" panose="020F0502020204030204" pitchFamily="34" charset="0"/>
                        </a:rPr>
                        <a:t>NULIDAD no se evaluó la respuesta dada por el contribuyente a un Expediente presentado, a través del cual adjuntaban referencias de SIVEP para la aplicación de segundo y tercer método de valoración, siendo que finalmente se valoró con referencias de Internet.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65572758"/>
                  </a:ext>
                </a:extLst>
              </a:tr>
              <a:tr h="617718">
                <a:tc>
                  <a:txBody>
                    <a:bodyPr/>
                    <a:lstStyle/>
                    <a:p>
                      <a:pPr algn="l" fontAlgn="ctr"/>
                      <a:r>
                        <a:rPr lang="es-PE" sz="1100" b="0" i="0" u="none" strike="noStrike">
                          <a:solidFill>
                            <a:srgbClr val="000000"/>
                          </a:solidFill>
                          <a:effectLst/>
                          <a:latin typeface="Calibri" panose="020F0502020204030204" pitchFamily="34" charset="0"/>
                        </a:rPr>
                        <a:t>I.A. Tumbes</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Febrero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405014006778</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100" b="0" i="0" u="none" strike="noStrike">
                          <a:solidFill>
                            <a:srgbClr val="000000"/>
                          </a:solidFill>
                          <a:effectLst/>
                          <a:latin typeface="Calibri" panose="020F0502020204030204" pitchFamily="34" charset="0"/>
                        </a:rPr>
                        <a:t>NULIDAD Al decretar el comiso, no se evaluaron dos Expedientes presentados por el usuario como respuesta luego de la incautación del bien.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82415378"/>
                  </a:ext>
                </a:extLst>
              </a:tr>
              <a:tr h="823624">
                <a:tc>
                  <a:txBody>
                    <a:bodyPr/>
                    <a:lstStyle/>
                    <a:p>
                      <a:pPr algn="l" fontAlgn="ctr"/>
                      <a:r>
                        <a:rPr lang="es-ES" sz="1100" b="0" i="0" u="none" strike="noStrike">
                          <a:solidFill>
                            <a:srgbClr val="000000"/>
                          </a:solidFill>
                          <a:effectLst/>
                          <a:latin typeface="Calibri" panose="020F0502020204030204" pitchFamily="34" charset="0"/>
                        </a:rPr>
                        <a:t>I.A. Aérea y Postal</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Febrero</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1100" b="0" i="0" u="none" strike="noStrike">
                          <a:solidFill>
                            <a:srgbClr val="000000"/>
                          </a:solidFill>
                          <a:effectLst/>
                          <a:latin typeface="Calibri" panose="020F0502020204030204" pitchFamily="34" charset="0"/>
                        </a:rPr>
                        <a:t>405014006739</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t"/>
                      <a:r>
                        <a:rPr lang="es-ES" sz="1100" b="0" i="0" u="none" strike="noStrike" dirty="0">
                          <a:solidFill>
                            <a:srgbClr val="000000"/>
                          </a:solidFill>
                          <a:effectLst/>
                          <a:latin typeface="Calibri" panose="020F0502020204030204" pitchFamily="34" charset="0"/>
                        </a:rPr>
                        <a:t>NULIDAD No se </a:t>
                      </a:r>
                      <a:r>
                        <a:rPr lang="es-ES" sz="1100" b="0" i="0" u="none" strike="noStrike" dirty="0" err="1">
                          <a:solidFill>
                            <a:srgbClr val="000000"/>
                          </a:solidFill>
                          <a:effectLst/>
                          <a:latin typeface="Calibri" panose="020F0502020204030204" pitchFamily="34" charset="0"/>
                        </a:rPr>
                        <a:t>evaluo</a:t>
                      </a:r>
                      <a:r>
                        <a:rPr lang="es-ES" sz="1100" b="0" i="0" u="none" strike="noStrike" dirty="0">
                          <a:solidFill>
                            <a:srgbClr val="000000"/>
                          </a:solidFill>
                          <a:effectLst/>
                          <a:latin typeface="Calibri" panose="020F0502020204030204" pitchFamily="34" charset="0"/>
                        </a:rPr>
                        <a:t> si la mercancía inmovilizada correspondía a un equipo o un componente y en virtud a ello si le </a:t>
                      </a:r>
                      <a:r>
                        <a:rPr lang="es-ES" sz="1100" b="0" i="0" u="none" strike="noStrike" dirty="0" err="1">
                          <a:solidFill>
                            <a:srgbClr val="000000"/>
                          </a:solidFill>
                          <a:effectLst/>
                          <a:latin typeface="Calibri" panose="020F0502020204030204" pitchFamily="34" charset="0"/>
                        </a:rPr>
                        <a:t>correspondia</a:t>
                      </a:r>
                      <a:r>
                        <a:rPr lang="es-ES" sz="1100" b="0" i="0" u="none" strike="noStrike" dirty="0">
                          <a:solidFill>
                            <a:srgbClr val="000000"/>
                          </a:solidFill>
                          <a:effectLst/>
                          <a:latin typeface="Calibri" panose="020F0502020204030204" pitchFamily="34" charset="0"/>
                        </a:rPr>
                        <a:t> o no Registro Sanitario y por ello la sanción.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00665428"/>
                  </a:ext>
                </a:extLst>
              </a:tr>
            </a:tbl>
          </a:graphicData>
        </a:graphic>
      </p:graphicFrame>
    </p:spTree>
    <p:extLst>
      <p:ext uri="{BB962C8B-B14F-4D97-AF65-F5344CB8AC3E}">
        <p14:creationId xmlns:p14="http://schemas.microsoft.com/office/powerpoint/2010/main" val="9916034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8" name="Título 94">
            <a:extLst>
              <a:ext uri="{FF2B5EF4-FFF2-40B4-BE49-F238E27FC236}">
                <a16:creationId xmlns:a16="http://schemas.microsoft.com/office/drawing/2014/main" id="{1EB64A6E-130E-BC7D-B2AF-91C94A288A85}"/>
              </a:ext>
            </a:extLst>
          </p:cNvPr>
          <p:cNvSpPr>
            <a:spLocks noGrp="1"/>
          </p:cNvSpPr>
          <p:nvPr>
            <p:ph type="title"/>
          </p:nvPr>
        </p:nvSpPr>
        <p:spPr>
          <a:xfrm>
            <a:off x="239713" y="338138"/>
            <a:ext cx="10515600" cy="849312"/>
          </a:xfrm>
        </p:spPr>
        <p:txBody>
          <a:bodyPr>
            <a:noAutofit/>
          </a:bodyPr>
          <a:lstStyle/>
          <a:p>
            <a:r>
              <a:rPr lang="es-ES" sz="2400" b="1" dirty="0">
                <a:latin typeface="Arial" panose="020B0604020202020204" pitchFamily="34" charset="0"/>
                <a:cs typeface="Arial" panose="020B0604020202020204" pitchFamily="34" charset="0"/>
              </a:rPr>
              <a:t>SUMILLAS DE NULIDADES DECLARADAS POR LA GAFA-DCP</a:t>
            </a:r>
            <a:endParaRPr lang="es-PE" sz="2400" b="1" dirty="0">
              <a:latin typeface="Arial" panose="020B0604020202020204" pitchFamily="34" charset="0"/>
              <a:cs typeface="Arial" panose="020B0604020202020204" pitchFamily="34" charset="0"/>
            </a:endParaRPr>
          </a:p>
        </p:txBody>
      </p:sp>
      <p:graphicFrame>
        <p:nvGraphicFramePr>
          <p:cNvPr id="6" name="Tabla 5">
            <a:extLst>
              <a:ext uri="{FF2B5EF4-FFF2-40B4-BE49-F238E27FC236}">
                <a16:creationId xmlns:a16="http://schemas.microsoft.com/office/drawing/2014/main" id="{9135FF20-3C2F-1003-9670-224FC6A87AFB}"/>
              </a:ext>
            </a:extLst>
          </p:cNvPr>
          <p:cNvGraphicFramePr>
            <a:graphicFrameLocks noGrp="1"/>
          </p:cNvGraphicFramePr>
          <p:nvPr>
            <p:extLst>
              <p:ext uri="{D42A27DB-BD31-4B8C-83A1-F6EECF244321}">
                <p14:modId xmlns:p14="http://schemas.microsoft.com/office/powerpoint/2010/main" val="2097193095"/>
              </p:ext>
            </p:extLst>
          </p:nvPr>
        </p:nvGraphicFramePr>
        <p:xfrm>
          <a:off x="292045" y="1461348"/>
          <a:ext cx="11261781" cy="4463198"/>
        </p:xfrm>
        <a:graphic>
          <a:graphicData uri="http://schemas.openxmlformats.org/drawingml/2006/table">
            <a:tbl>
              <a:tblPr/>
              <a:tblGrid>
                <a:gridCol w="1864390">
                  <a:extLst>
                    <a:ext uri="{9D8B030D-6E8A-4147-A177-3AD203B41FA5}">
                      <a16:colId xmlns:a16="http://schemas.microsoft.com/office/drawing/2014/main" val="1978587077"/>
                    </a:ext>
                  </a:extLst>
                </a:gridCol>
                <a:gridCol w="678940">
                  <a:extLst>
                    <a:ext uri="{9D8B030D-6E8A-4147-A177-3AD203B41FA5}">
                      <a16:colId xmlns:a16="http://schemas.microsoft.com/office/drawing/2014/main" val="2899795873"/>
                    </a:ext>
                  </a:extLst>
                </a:gridCol>
                <a:gridCol w="1638078">
                  <a:extLst>
                    <a:ext uri="{9D8B030D-6E8A-4147-A177-3AD203B41FA5}">
                      <a16:colId xmlns:a16="http://schemas.microsoft.com/office/drawing/2014/main" val="2765209196"/>
                    </a:ext>
                  </a:extLst>
                </a:gridCol>
                <a:gridCol w="7080373">
                  <a:extLst>
                    <a:ext uri="{9D8B030D-6E8A-4147-A177-3AD203B41FA5}">
                      <a16:colId xmlns:a16="http://schemas.microsoft.com/office/drawing/2014/main" val="1775547100"/>
                    </a:ext>
                  </a:extLst>
                </a:gridCol>
              </a:tblGrid>
              <a:tr h="212883">
                <a:tc>
                  <a:txBody>
                    <a:bodyPr/>
                    <a:lstStyle/>
                    <a:p>
                      <a:pPr algn="ctr" fontAlgn="b"/>
                      <a:r>
                        <a:rPr lang="es-PE" sz="900" b="1" i="0" u="none" strike="noStrike" dirty="0">
                          <a:solidFill>
                            <a:srgbClr val="000000"/>
                          </a:solidFill>
                          <a:effectLst/>
                          <a:latin typeface="Calibri" panose="020F0502020204030204" pitchFamily="34" charset="0"/>
                        </a:rPr>
                        <a:t>DEPENDENCIA</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900" b="1" i="0" u="none" strike="noStrike">
                          <a:solidFill>
                            <a:srgbClr val="000000"/>
                          </a:solidFill>
                          <a:effectLst/>
                          <a:latin typeface="Calibri" panose="020F0502020204030204" pitchFamily="34" charset="0"/>
                        </a:rPr>
                        <a:t>MES</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900" b="1" i="0" u="none" strike="noStrike">
                          <a:solidFill>
                            <a:srgbClr val="000000"/>
                          </a:solidFill>
                          <a:effectLst/>
                          <a:latin typeface="Calibri" panose="020F0502020204030204" pitchFamily="34" charset="0"/>
                        </a:rPr>
                        <a:t>N° RI</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tc>
                  <a:txBody>
                    <a:bodyPr/>
                    <a:lstStyle/>
                    <a:p>
                      <a:pPr algn="ctr" fontAlgn="b"/>
                      <a:r>
                        <a:rPr lang="es-PE" sz="900" b="1" i="0" u="none" strike="noStrike" dirty="0">
                          <a:solidFill>
                            <a:srgbClr val="000000"/>
                          </a:solidFill>
                          <a:effectLst/>
                          <a:latin typeface="Calibri" panose="020F0502020204030204" pitchFamily="34" charset="0"/>
                        </a:rPr>
                        <a:t>SUMILLA MOTIVO REVOCA/NULA</a:t>
                      </a:r>
                    </a:p>
                  </a:txBody>
                  <a:tcPr marL="5031" marR="5031" marT="5031"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699520470"/>
                  </a:ext>
                </a:extLst>
              </a:tr>
              <a:tr h="42576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000001-2024-SUNAT/7U7300</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NULIDAD: POR FALTA DE NOTIFICACIÓN DEL RESULTADO DE REQUERIMIENTO QUE SUSTENTA LA RESOLUCIÓN DE MULTA. EL ÓRGANO FISCALIZADOR POR ERROR NOTIFICÓ OTRO RESULTADO DE REQUERIMIENTO, NO EL MENCIONADO RESULTADO DE REQUERIMIENTO FINAL.</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41861850"/>
                  </a:ext>
                </a:extLst>
              </a:tr>
              <a:tr h="42576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4090140006359</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NULIDAD: POR NOTIFICACIÓN DEL RESULTADO DE REQUERIMIENTO POSTERIOR A LA RESOLUCIÓN DE MULTA QUE LA SUSTENTA. EL ÓRGANO FISCALIZADOR NOTIFICÓ PRIMERO LA RESOLUCIÓN Y 3 DÍAS DESPUÉS EL RESULTADO DE REQUERIMIENTO.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965078"/>
                  </a:ext>
                </a:extLst>
              </a:tr>
              <a:tr h="42576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4090140006539</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NULIDAD: DE LA RESOLUCIÓN DE MULTA POR FALTA DE MOTIVACIÓN, NO SE PRONUNCIÓ RESPECTO A LA RESPUESTA DE REQUERIMIENTO PRESENTADO POR EL FISCALIZADO.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18932015"/>
                  </a:ext>
                </a:extLst>
              </a:tr>
              <a:tr h="42576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4090140006357</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FUNDADO: REVOCA LA SANCIÓN DE MULTA POR DUPLICIDAD DE CRITERIO RESPECTO A QUE LAS MERCANCÍAS IMPORTADAS SON EXPLOSIVOS DE USO MINERO CON CARGA DE COMPONENTES NITRADOS QUE LOS HACE EQUIPARABLES MERCEOLÓGICAMENTE.</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5918816"/>
                  </a:ext>
                </a:extLst>
              </a:tr>
              <a:tr h="638650">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4090140006245</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FUNDADO: SE MULTÓ A EMPRESA POR NO PRESENTAR DOCUMENTACIÓN, SIN EMBARGO, NO SE TOMÓ EN CUENTA EXPEDIENTE PRESENTADO POR LA RECURRENTE Y RESULTADO DE REQUERIMIENTO EN EL QUE SE DA CUENTA QUE EMPRESA SÍ  PRESENTÓ LA DOCUMENTACIÓN.</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2880777"/>
                  </a:ext>
                </a:extLst>
              </a:tr>
              <a:tr h="42576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ENERO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4090140006305</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FUNDADO EN PARTE: REVOCA EN PARTE MULTA POR NO CONSIGNAR O CONSIGNAR ERRÓNEAMENTE LOS CÓDIGOS APROBADOS POR LA AUTORIDAD ADUANERA, AL VERIFICARSE QUE LAS MERCANCÍAS NO SE ENCUENTRAN AFECTA A LOS DERECHOS ANTIDUMPING.</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800775"/>
                  </a:ext>
                </a:extLst>
              </a:tr>
              <a:tr h="106441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FEBRERO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4090140006725</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a:solidFill>
                            <a:srgbClr val="000000"/>
                          </a:solidFill>
                          <a:effectLst/>
                          <a:latin typeface="Calibri" panose="020F0502020204030204" pitchFamily="34" charset="0"/>
                        </a:rPr>
                        <a:t>FUNDADO EN PARTE: REVOCA EN EXTREMO DE LA DETERMINACIÓN DE TRIBUTOS DEJADOS DE PAGAR QUE SE SUSTENTÓ EN INDEBIDO ACOGIMIENTO A LA INAFECTACIÓN OTORGADA POR NO CUMPLIR LAS MERCANCÍAS IMPORTADAS CON EL CARÁCTER ASISTENCIAL O EDUCACIONAL DE LA DONACIÓN. SE VERIFICÓ QUE SE CUMPLE CON EL FIN SEMEJANTE DE LA DONACIÓN RELATIVA A LA EDUCACIÓN CUANDO LAS MERCANCÍAS CONTIENEN ELEMENTOS CULTURALES DE OTRO PAÍS.</a:t>
                      </a:r>
                      <a:br>
                        <a:rPr lang="es-ES" sz="900" b="0" i="0" u="none" strike="noStrike">
                          <a:solidFill>
                            <a:srgbClr val="000000"/>
                          </a:solidFill>
                          <a:effectLst/>
                          <a:latin typeface="Calibri" panose="020F0502020204030204" pitchFamily="34" charset="0"/>
                        </a:rPr>
                      </a:br>
                      <a:r>
                        <a:rPr lang="es-ES" sz="900" b="0" i="0" u="none" strike="noStrike">
                          <a:solidFill>
                            <a:srgbClr val="000000"/>
                          </a:solidFill>
                          <a:effectLst/>
                          <a:latin typeface="Calibri" panose="020F0502020204030204" pitchFamily="34" charset="0"/>
                        </a:rPr>
                        <a:t>SE CONFIRMA LA MULTA POR NO PRESENTAR DOCUMENTACIÓN.</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60444374"/>
                  </a:ext>
                </a:extLst>
              </a:tr>
              <a:tr h="418425">
                <a:tc>
                  <a:txBody>
                    <a:bodyPr/>
                    <a:lstStyle/>
                    <a:p>
                      <a:pPr algn="l" fontAlgn="ctr"/>
                      <a:r>
                        <a:rPr lang="es-PE" sz="900" b="0" i="0" u="none" strike="noStrike">
                          <a:solidFill>
                            <a:srgbClr val="000000"/>
                          </a:solidFill>
                          <a:effectLst/>
                          <a:latin typeface="Calibri" panose="020F0502020204030204" pitchFamily="34" charset="0"/>
                        </a:rPr>
                        <a:t>DIVISIÓN DE CONTROL POSTERIOR</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FEBRERO</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s-PE" sz="900" b="0" i="0" u="none" strike="noStrike">
                          <a:solidFill>
                            <a:srgbClr val="000000"/>
                          </a:solidFill>
                          <a:effectLst/>
                          <a:latin typeface="Calibri" panose="020F0502020204030204" pitchFamily="34" charset="0"/>
                        </a:rPr>
                        <a:t>4090140006999</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just" fontAlgn="ctr"/>
                      <a:r>
                        <a:rPr lang="es-ES" sz="900" b="0" i="0" u="none" strike="noStrike" dirty="0">
                          <a:solidFill>
                            <a:srgbClr val="000000"/>
                          </a:solidFill>
                          <a:effectLst/>
                          <a:latin typeface="Calibri" panose="020F0502020204030204" pitchFamily="34" charset="0"/>
                        </a:rPr>
                        <a:t>FUNDADO EN PARTE: REVOCA EN PARTE MULTA POR NO CONSIGNAR O CONSIGNAR ERRÓNEAMENTE LOS CÓDIGOS APROBADOS POR LA AUTORIDAD ADUANERA, AL VERIFICARSE QUE MERCANCÍAS NO SE ENCUENTRAN AFECTAS A LOS DERECHOS ANTIDUMPING.</a:t>
                      </a:r>
                    </a:p>
                  </a:txBody>
                  <a:tcPr marL="5031" marR="5031" marT="503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97217857"/>
                  </a:ext>
                </a:extLst>
              </a:tr>
            </a:tbl>
          </a:graphicData>
        </a:graphic>
      </p:graphicFrame>
    </p:spTree>
    <p:extLst>
      <p:ext uri="{BB962C8B-B14F-4D97-AF65-F5344CB8AC3E}">
        <p14:creationId xmlns:p14="http://schemas.microsoft.com/office/powerpoint/2010/main" val="28597235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B31EA813-B8F6-C57D-8F96-0686A481EB8B}"/>
              </a:ext>
            </a:extLst>
          </p:cNvPr>
          <p:cNvGraphicFramePr>
            <a:graphicFrameLocks/>
          </p:cNvGraphicFramePr>
          <p:nvPr>
            <p:extLst>
              <p:ext uri="{D42A27DB-BD31-4B8C-83A1-F6EECF244321}">
                <p14:modId xmlns:p14="http://schemas.microsoft.com/office/powerpoint/2010/main" val="3977856105"/>
              </p:ext>
            </p:extLst>
          </p:nvPr>
        </p:nvGraphicFramePr>
        <p:xfrm>
          <a:off x="567336" y="1187962"/>
          <a:ext cx="10239375" cy="324349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Tabla 5">
            <a:extLst>
              <a:ext uri="{FF2B5EF4-FFF2-40B4-BE49-F238E27FC236}">
                <a16:creationId xmlns:a16="http://schemas.microsoft.com/office/drawing/2014/main" id="{645F0F7F-91F6-E1DE-93C2-205FAFF61B12}"/>
              </a:ext>
            </a:extLst>
          </p:cNvPr>
          <p:cNvGraphicFramePr>
            <a:graphicFrameLocks noGrp="1"/>
          </p:cNvGraphicFramePr>
          <p:nvPr>
            <p:extLst>
              <p:ext uri="{D42A27DB-BD31-4B8C-83A1-F6EECF244321}">
                <p14:modId xmlns:p14="http://schemas.microsoft.com/office/powerpoint/2010/main" val="3698672776"/>
              </p:ext>
            </p:extLst>
          </p:nvPr>
        </p:nvGraphicFramePr>
        <p:xfrm>
          <a:off x="4163023" y="4719380"/>
          <a:ext cx="3048000" cy="1901315"/>
        </p:xfrm>
        <a:graphic>
          <a:graphicData uri="http://schemas.openxmlformats.org/drawingml/2006/table">
            <a:tbl>
              <a:tblPr>
                <a:tableStyleId>{5DA37D80-6434-44D0-A028-1B22A696006F}</a:tableStyleId>
              </a:tblPr>
              <a:tblGrid>
                <a:gridCol w="1294356">
                  <a:extLst>
                    <a:ext uri="{9D8B030D-6E8A-4147-A177-3AD203B41FA5}">
                      <a16:colId xmlns:a16="http://schemas.microsoft.com/office/drawing/2014/main" val="4122274139"/>
                    </a:ext>
                  </a:extLst>
                </a:gridCol>
                <a:gridCol w="876822">
                  <a:extLst>
                    <a:ext uri="{9D8B030D-6E8A-4147-A177-3AD203B41FA5}">
                      <a16:colId xmlns:a16="http://schemas.microsoft.com/office/drawing/2014/main" val="1382003201"/>
                    </a:ext>
                  </a:extLst>
                </a:gridCol>
                <a:gridCol w="876822">
                  <a:extLst>
                    <a:ext uri="{9D8B030D-6E8A-4147-A177-3AD203B41FA5}">
                      <a16:colId xmlns:a16="http://schemas.microsoft.com/office/drawing/2014/main" val="587845490"/>
                    </a:ext>
                  </a:extLst>
                </a:gridCol>
              </a:tblGrid>
              <a:tr h="189605">
                <a:tc>
                  <a:txBody>
                    <a:bodyPr/>
                    <a:lstStyle/>
                    <a:p>
                      <a:pPr algn="ctr" fontAlgn="ctr"/>
                      <a:r>
                        <a:rPr lang="es-PE" sz="1200" b="1" u="none" strike="noStrike" dirty="0">
                          <a:solidFill>
                            <a:sysClr val="windowText" lastClr="000000"/>
                          </a:solidFill>
                          <a:effectLst/>
                        </a:rPr>
                        <a:t>ESTADO</a:t>
                      </a:r>
                      <a:endParaRPr lang="es-PE" sz="12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200" b="1" u="none" strike="noStrike" dirty="0">
                          <a:solidFill>
                            <a:sysClr val="windowText" lastClr="000000"/>
                          </a:solidFill>
                          <a:effectLst/>
                        </a:rPr>
                        <a:t>Total</a:t>
                      </a:r>
                      <a:endParaRPr lang="es-PE" sz="12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tc>
                  <a:txBody>
                    <a:bodyPr/>
                    <a:lstStyle/>
                    <a:p>
                      <a:pPr algn="ctr" fontAlgn="ctr"/>
                      <a:r>
                        <a:rPr lang="es-PE" sz="1200" b="1" u="none" strike="noStrike" dirty="0">
                          <a:solidFill>
                            <a:sysClr val="windowText" lastClr="000000"/>
                          </a:solidFill>
                          <a:effectLst/>
                        </a:rPr>
                        <a:t>Porcentaje</a:t>
                      </a:r>
                      <a:endParaRPr lang="es-PE" sz="1200" b="1" i="0" u="none" strike="noStrike" dirty="0">
                        <a:solidFill>
                          <a:sysClr val="windowText" lastClr="000000"/>
                        </a:solidFill>
                        <a:effectLst/>
                        <a:latin typeface="Calibri Light" panose="020F0302020204030204" pitchFamily="34" charset="0"/>
                      </a:endParaRPr>
                    </a:p>
                  </a:txBody>
                  <a:tcPr marL="0" marR="0" marT="0" marB="0" anchor="ctr">
                    <a:solidFill>
                      <a:schemeClr val="accent2">
                        <a:lumMod val="60000"/>
                        <a:lumOff val="40000"/>
                      </a:schemeClr>
                    </a:solidFill>
                  </a:tcPr>
                </a:tc>
                <a:extLst>
                  <a:ext uri="{0D108BD9-81ED-4DB2-BD59-A6C34878D82A}">
                    <a16:rowId xmlns:a16="http://schemas.microsoft.com/office/drawing/2014/main" val="2309498888"/>
                  </a:ext>
                </a:extLst>
              </a:tr>
              <a:tr h="250173">
                <a:tc>
                  <a:txBody>
                    <a:bodyPr/>
                    <a:lstStyle/>
                    <a:p>
                      <a:pPr algn="l" fontAlgn="ctr"/>
                      <a:r>
                        <a:rPr lang="es-PE" sz="1400" b="1" u="none" strike="noStrike">
                          <a:solidFill>
                            <a:srgbClr val="000000"/>
                          </a:solidFill>
                          <a:effectLst/>
                        </a:rPr>
                        <a:t>Infundado</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4740</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87.24%</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2227574320"/>
                  </a:ext>
                </a:extLst>
              </a:tr>
              <a:tr h="250173">
                <a:tc>
                  <a:txBody>
                    <a:bodyPr/>
                    <a:lstStyle/>
                    <a:p>
                      <a:pPr algn="l" fontAlgn="ctr"/>
                      <a:r>
                        <a:rPr lang="es-PE" sz="1400" b="1" u="none" strike="noStrike">
                          <a:solidFill>
                            <a:srgbClr val="000000"/>
                          </a:solidFill>
                          <a:effectLst/>
                        </a:rPr>
                        <a:t>Fundado/F.P</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211</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3.88%</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317111707"/>
                  </a:ext>
                </a:extLst>
              </a:tr>
              <a:tr h="250173">
                <a:tc>
                  <a:txBody>
                    <a:bodyPr/>
                    <a:lstStyle/>
                    <a:p>
                      <a:pPr algn="l" fontAlgn="ctr"/>
                      <a:r>
                        <a:rPr lang="es-PE" sz="1400" b="1" u="none" strike="noStrike">
                          <a:solidFill>
                            <a:srgbClr val="000000"/>
                          </a:solidFill>
                          <a:effectLst/>
                        </a:rPr>
                        <a:t>Nulidad</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404</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7.44%</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359762901"/>
                  </a:ext>
                </a:extLst>
              </a:tr>
              <a:tr h="250173">
                <a:tc>
                  <a:txBody>
                    <a:bodyPr/>
                    <a:lstStyle/>
                    <a:p>
                      <a:pPr algn="l" fontAlgn="ctr"/>
                      <a:r>
                        <a:rPr lang="es-PE" sz="1400" b="1" u="none" strike="noStrike">
                          <a:solidFill>
                            <a:srgbClr val="000000"/>
                          </a:solidFill>
                          <a:effectLst/>
                        </a:rPr>
                        <a:t>Improcedente</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8</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0.15%</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91319216"/>
                  </a:ext>
                </a:extLst>
              </a:tr>
              <a:tr h="250173">
                <a:tc>
                  <a:txBody>
                    <a:bodyPr/>
                    <a:lstStyle/>
                    <a:p>
                      <a:pPr algn="l" fontAlgn="ctr"/>
                      <a:r>
                        <a:rPr lang="es-PE" sz="1400" b="1" u="none" strike="noStrike">
                          <a:solidFill>
                            <a:srgbClr val="000000"/>
                          </a:solidFill>
                          <a:effectLst/>
                        </a:rPr>
                        <a:t>Desistimiento</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4</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0.07%</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3196137711"/>
                  </a:ext>
                </a:extLst>
              </a:tr>
              <a:tr h="250173">
                <a:tc>
                  <a:txBody>
                    <a:bodyPr/>
                    <a:lstStyle/>
                    <a:p>
                      <a:pPr algn="l" fontAlgn="ctr"/>
                      <a:r>
                        <a:rPr lang="es-PE" sz="1400" b="1" u="none" strike="noStrike">
                          <a:solidFill>
                            <a:srgbClr val="000000"/>
                          </a:solidFill>
                          <a:effectLst/>
                        </a:rPr>
                        <a:t>Otros</a:t>
                      </a:r>
                      <a:endParaRPr lang="es-PE" sz="14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66</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a:solidFill>
                            <a:srgbClr val="000000"/>
                          </a:solidFill>
                          <a:effectLst/>
                        </a:rPr>
                        <a:t>1.21%</a:t>
                      </a:r>
                      <a:endParaRPr lang="es-PE" sz="1100" b="0" i="0" u="none" strike="noStrike">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772302321"/>
                  </a:ext>
                </a:extLst>
              </a:tr>
              <a:tr h="210672">
                <a:tc>
                  <a:txBody>
                    <a:bodyPr/>
                    <a:lstStyle/>
                    <a:p>
                      <a:pPr algn="l" fontAlgn="ctr"/>
                      <a:r>
                        <a:rPr lang="es-PE" sz="1200" b="1" u="none" strike="noStrike">
                          <a:solidFill>
                            <a:srgbClr val="000000"/>
                          </a:solidFill>
                          <a:effectLst/>
                        </a:rPr>
                        <a:t>Total</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ctr" fontAlgn="ctr"/>
                      <a:r>
                        <a:rPr lang="es-PE" sz="1200" b="1" u="none" strike="noStrike">
                          <a:solidFill>
                            <a:srgbClr val="000000"/>
                          </a:solidFill>
                          <a:effectLst/>
                        </a:rPr>
                        <a:t>5433</a:t>
                      </a:r>
                      <a:endParaRPr lang="es-PE" sz="1200" b="1" i="0" u="none" strike="noStrike">
                        <a:solidFill>
                          <a:srgbClr val="000000"/>
                        </a:solidFill>
                        <a:effectLst/>
                        <a:latin typeface="Calibri Light" panose="020F0302020204030204" pitchFamily="34" charset="0"/>
                      </a:endParaRPr>
                    </a:p>
                  </a:txBody>
                  <a:tcPr marL="0" marR="0" marT="0" marB="0" anchor="ctr"/>
                </a:tc>
                <a:tc>
                  <a:txBody>
                    <a:bodyPr/>
                    <a:lstStyle/>
                    <a:p>
                      <a:pPr algn="r" fontAlgn="b"/>
                      <a:r>
                        <a:rPr lang="es-PE" sz="1100" b="0" u="none" strike="noStrike" dirty="0">
                          <a:solidFill>
                            <a:srgbClr val="000000"/>
                          </a:solidFill>
                          <a:effectLst/>
                        </a:rPr>
                        <a:t>100.00%</a:t>
                      </a:r>
                      <a:endParaRPr lang="es-PE" sz="1100" b="0" i="0" u="none" strike="noStrike" dirty="0">
                        <a:solidFill>
                          <a:srgbClr val="000000"/>
                        </a:solidFill>
                        <a:effectLst/>
                        <a:latin typeface="Calibri" panose="020F0502020204030204" pitchFamily="34" charset="0"/>
                      </a:endParaRPr>
                    </a:p>
                  </a:txBody>
                  <a:tcPr marL="0" marR="0" marT="0" marB="0" anchor="b"/>
                </a:tc>
                <a:extLst>
                  <a:ext uri="{0D108BD9-81ED-4DB2-BD59-A6C34878D82A}">
                    <a16:rowId xmlns:a16="http://schemas.microsoft.com/office/drawing/2014/main" val="101610975"/>
                  </a:ext>
                </a:extLst>
              </a:tr>
            </a:tbl>
          </a:graphicData>
        </a:graphic>
      </p:graphicFrame>
    </p:spTree>
    <p:extLst>
      <p:ext uri="{BB962C8B-B14F-4D97-AF65-F5344CB8AC3E}">
        <p14:creationId xmlns:p14="http://schemas.microsoft.com/office/powerpoint/2010/main" val="9888000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0312" y="338454"/>
            <a:ext cx="10515600" cy="849097"/>
          </a:xfrm>
        </p:spPr>
        <p:txBody>
          <a:bodyPr>
            <a:noAutofit/>
          </a:bodyPr>
          <a:lstStyle/>
          <a:p>
            <a:r>
              <a:rPr lang="es-ES" sz="2800" b="1" dirty="0">
                <a:latin typeface="Arial" panose="020B0604020202020204" pitchFamily="34" charset="0"/>
                <a:cs typeface="Arial" panose="020B0604020202020204" pitchFamily="34" charset="0"/>
              </a:rPr>
              <a:t>OPORTUNIDAD DE MEJORA</a:t>
            </a:r>
            <a:br>
              <a:rPr lang="es-ES" sz="2800" b="1" dirty="0">
                <a:latin typeface="Arial" panose="020B0604020202020204" pitchFamily="34" charset="0"/>
                <a:cs typeface="Arial" panose="020B0604020202020204" pitchFamily="34" charset="0"/>
              </a:rPr>
            </a:br>
            <a:endParaRPr lang="es-PE" sz="2800" b="1" dirty="0">
              <a:latin typeface="Arial" panose="020B0604020202020204" pitchFamily="34" charset="0"/>
              <a:cs typeface="Arial" panose="020B0604020202020204" pitchFamily="34" charset="0"/>
            </a:endParaRPr>
          </a:p>
        </p:txBody>
      </p:sp>
      <p:graphicFrame>
        <p:nvGraphicFramePr>
          <p:cNvPr id="4" name="Gráfico 3">
            <a:extLst>
              <a:ext uri="{FF2B5EF4-FFF2-40B4-BE49-F238E27FC236}">
                <a16:creationId xmlns:a16="http://schemas.microsoft.com/office/drawing/2014/main" id="{63324CF6-22F2-DDF0-1806-8EAD87496C1B}"/>
              </a:ext>
            </a:extLst>
          </p:cNvPr>
          <p:cNvGraphicFramePr>
            <a:graphicFrameLocks/>
          </p:cNvGraphicFramePr>
          <p:nvPr>
            <p:extLst>
              <p:ext uri="{D42A27DB-BD31-4B8C-83A1-F6EECF244321}">
                <p14:modId xmlns:p14="http://schemas.microsoft.com/office/powerpoint/2010/main" val="3314724801"/>
              </p:ext>
            </p:extLst>
          </p:nvPr>
        </p:nvGraphicFramePr>
        <p:xfrm>
          <a:off x="877392" y="1002874"/>
          <a:ext cx="9915525" cy="346636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5" name="Tabla 4">
            <a:extLst>
              <a:ext uri="{FF2B5EF4-FFF2-40B4-BE49-F238E27FC236}">
                <a16:creationId xmlns:a16="http://schemas.microsoft.com/office/drawing/2014/main" id="{1EC0BFF8-1DF8-34BF-FF93-37497AE8F700}"/>
              </a:ext>
            </a:extLst>
          </p:cNvPr>
          <p:cNvGraphicFramePr>
            <a:graphicFrameLocks noGrp="1"/>
          </p:cNvGraphicFramePr>
          <p:nvPr>
            <p:extLst>
              <p:ext uri="{D42A27DB-BD31-4B8C-83A1-F6EECF244321}">
                <p14:modId xmlns:p14="http://schemas.microsoft.com/office/powerpoint/2010/main" val="3786314336"/>
              </p:ext>
            </p:extLst>
          </p:nvPr>
        </p:nvGraphicFramePr>
        <p:xfrm>
          <a:off x="1993086" y="4573849"/>
          <a:ext cx="2998013" cy="2097880"/>
        </p:xfrm>
        <a:graphic>
          <a:graphicData uri="http://schemas.openxmlformats.org/drawingml/2006/table">
            <a:tbl>
              <a:tblPr firstRow="1" firstCol="1" bandRow="1"/>
              <a:tblGrid>
                <a:gridCol w="1005425">
                  <a:extLst>
                    <a:ext uri="{9D8B030D-6E8A-4147-A177-3AD203B41FA5}">
                      <a16:colId xmlns:a16="http://schemas.microsoft.com/office/drawing/2014/main" val="968460272"/>
                    </a:ext>
                  </a:extLst>
                </a:gridCol>
                <a:gridCol w="996294">
                  <a:extLst>
                    <a:ext uri="{9D8B030D-6E8A-4147-A177-3AD203B41FA5}">
                      <a16:colId xmlns:a16="http://schemas.microsoft.com/office/drawing/2014/main" val="2517895837"/>
                    </a:ext>
                  </a:extLst>
                </a:gridCol>
                <a:gridCol w="996294">
                  <a:extLst>
                    <a:ext uri="{9D8B030D-6E8A-4147-A177-3AD203B41FA5}">
                      <a16:colId xmlns:a16="http://schemas.microsoft.com/office/drawing/2014/main" val="4128064339"/>
                    </a:ext>
                  </a:extLst>
                </a:gridCol>
              </a:tblGrid>
              <a:tr h="380472">
                <a:tc>
                  <a:txBody>
                    <a:bodyPr/>
                    <a:lstStyle/>
                    <a:p>
                      <a:pPr algn="ctr"/>
                      <a:r>
                        <a:rPr lang="es-PE" sz="1050" b="1" dirty="0">
                          <a:solidFill>
                            <a:srgbClr val="FFFFFF"/>
                          </a:solidFill>
                          <a:effectLst/>
                          <a:latin typeface="Calibri Light" panose="020F0302020204030204" pitchFamily="34" charset="0"/>
                          <a:ea typeface="Times New Roman" panose="02020603050405020304" pitchFamily="18" charset="0"/>
                          <a:cs typeface="Times New Roman" panose="02020603050405020304" pitchFamily="18" charset="0"/>
                        </a:rPr>
                        <a:t>ESTADO</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2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Total</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r>
                        <a:rPr lang="es-PE" sz="1200" b="1" dirty="0">
                          <a:solidFill>
                            <a:srgbClr val="FFFFFF"/>
                          </a:solidFill>
                          <a:effectLst/>
                          <a:latin typeface="Calibri" panose="020F0502020204030204" pitchFamily="34" charset="0"/>
                          <a:ea typeface="Times New Roman" panose="02020603050405020304" pitchFamily="18" charset="0"/>
                          <a:cs typeface="Calibri" panose="020F0502020204030204" pitchFamily="34" charset="0"/>
                        </a:rPr>
                        <a:t>Porcentaje</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extLst>
                  <a:ext uri="{0D108BD9-81ED-4DB2-BD59-A6C34878D82A}">
                    <a16:rowId xmlns:a16="http://schemas.microsoft.com/office/drawing/2014/main" val="1661703472"/>
                  </a:ext>
                </a:extLst>
              </a:tr>
              <a:tr h="19155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Infundado</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675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90.36%</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656222526"/>
                  </a:ext>
                </a:extLst>
              </a:tr>
              <a:tr h="317060">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Fundado / F.P</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3.35%</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810306803"/>
                  </a:ext>
                </a:extLst>
              </a:tr>
              <a:tr h="19155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Nulidad</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30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4.02%</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449030158"/>
                  </a:ext>
                </a:extLst>
              </a:tr>
              <a:tr h="317060">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Improcedente</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0.00%</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2128464924"/>
                  </a:ext>
                </a:extLst>
              </a:tr>
              <a:tr h="317060">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Desistimiento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0.13%</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2884694842"/>
                  </a:ext>
                </a:extLst>
              </a:tr>
              <a:tr h="19155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Otros </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16</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tc>
                  <a:txBody>
                    <a:bodyPr/>
                    <a:lstStyle/>
                    <a:p>
                      <a:pPr algn="ctr"/>
                      <a:r>
                        <a:rPr lang="es-PE" sz="10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2.14%</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2EFD9"/>
                    </a:solidFill>
                  </a:tcPr>
                </a:tc>
                <a:extLst>
                  <a:ext uri="{0D108BD9-81ED-4DB2-BD59-A6C34878D82A}">
                    <a16:rowId xmlns:a16="http://schemas.microsoft.com/office/drawing/2014/main" val="3034622426"/>
                  </a:ext>
                </a:extLst>
              </a:tr>
              <a:tr h="191557">
                <a:tc>
                  <a:txBody>
                    <a:bodyPr/>
                    <a:lstStyle/>
                    <a:p>
                      <a:pPr algn="ctr"/>
                      <a:r>
                        <a:rPr lang="es-PE" sz="1000" b="1">
                          <a:solidFill>
                            <a:srgbClr val="FFFFFF"/>
                          </a:solidFill>
                          <a:effectLst/>
                          <a:latin typeface="Arial" panose="020B0604020202020204" pitchFamily="34" charset="0"/>
                          <a:ea typeface="Times New Roman" panose="02020603050405020304" pitchFamily="18" charset="0"/>
                          <a:cs typeface="Times New Roman" panose="02020603050405020304" pitchFamily="18" charset="0"/>
                        </a:rPr>
                        <a:t>TOTAL</a:t>
                      </a:r>
                      <a:endParaRPr lang="es-PE"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70AD47"/>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747</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tc>
                  <a:txBody>
                    <a:bodyPr/>
                    <a:lstStyle/>
                    <a:p>
                      <a:pPr algn="ctr"/>
                      <a:r>
                        <a:rPr lang="es-PE" sz="10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100.00%</a:t>
                      </a:r>
                      <a:endParaRPr lang="es-PE"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C5E0B3"/>
                    </a:solidFill>
                  </a:tcPr>
                </a:tc>
                <a:extLst>
                  <a:ext uri="{0D108BD9-81ED-4DB2-BD59-A6C34878D82A}">
                    <a16:rowId xmlns:a16="http://schemas.microsoft.com/office/drawing/2014/main" val="1380589407"/>
                  </a:ext>
                </a:extLst>
              </a:tr>
            </a:tbl>
          </a:graphicData>
        </a:graphic>
      </p:graphicFrame>
      <p:graphicFrame>
        <p:nvGraphicFramePr>
          <p:cNvPr id="2" name="Tabla 1">
            <a:extLst>
              <a:ext uri="{FF2B5EF4-FFF2-40B4-BE49-F238E27FC236}">
                <a16:creationId xmlns:a16="http://schemas.microsoft.com/office/drawing/2014/main" id="{A7E29FE2-9700-4682-E95B-B0DCFEFBD3D1}"/>
              </a:ext>
            </a:extLst>
          </p:cNvPr>
          <p:cNvGraphicFramePr>
            <a:graphicFrameLocks noGrp="1"/>
          </p:cNvGraphicFramePr>
          <p:nvPr>
            <p:extLst>
              <p:ext uri="{D42A27DB-BD31-4B8C-83A1-F6EECF244321}">
                <p14:modId xmlns:p14="http://schemas.microsoft.com/office/powerpoint/2010/main" val="1828670531"/>
              </p:ext>
            </p:extLst>
          </p:nvPr>
        </p:nvGraphicFramePr>
        <p:xfrm>
          <a:off x="5835154" y="4528073"/>
          <a:ext cx="3962400" cy="2075786"/>
        </p:xfrm>
        <a:graphic>
          <a:graphicData uri="http://schemas.openxmlformats.org/drawingml/2006/table">
            <a:tbl>
              <a:tblPr/>
              <a:tblGrid>
                <a:gridCol w="495300">
                  <a:extLst>
                    <a:ext uri="{9D8B030D-6E8A-4147-A177-3AD203B41FA5}">
                      <a16:colId xmlns:a16="http://schemas.microsoft.com/office/drawing/2014/main" val="1286369539"/>
                    </a:ext>
                  </a:extLst>
                </a:gridCol>
                <a:gridCol w="495300">
                  <a:extLst>
                    <a:ext uri="{9D8B030D-6E8A-4147-A177-3AD203B41FA5}">
                      <a16:colId xmlns:a16="http://schemas.microsoft.com/office/drawing/2014/main" val="1409690586"/>
                    </a:ext>
                  </a:extLst>
                </a:gridCol>
                <a:gridCol w="495300">
                  <a:extLst>
                    <a:ext uri="{9D8B030D-6E8A-4147-A177-3AD203B41FA5}">
                      <a16:colId xmlns:a16="http://schemas.microsoft.com/office/drawing/2014/main" val="583604939"/>
                    </a:ext>
                  </a:extLst>
                </a:gridCol>
                <a:gridCol w="495300">
                  <a:extLst>
                    <a:ext uri="{9D8B030D-6E8A-4147-A177-3AD203B41FA5}">
                      <a16:colId xmlns:a16="http://schemas.microsoft.com/office/drawing/2014/main" val="3084835453"/>
                    </a:ext>
                  </a:extLst>
                </a:gridCol>
                <a:gridCol w="495300">
                  <a:extLst>
                    <a:ext uri="{9D8B030D-6E8A-4147-A177-3AD203B41FA5}">
                      <a16:colId xmlns:a16="http://schemas.microsoft.com/office/drawing/2014/main" val="2982119919"/>
                    </a:ext>
                  </a:extLst>
                </a:gridCol>
                <a:gridCol w="495300">
                  <a:extLst>
                    <a:ext uri="{9D8B030D-6E8A-4147-A177-3AD203B41FA5}">
                      <a16:colId xmlns:a16="http://schemas.microsoft.com/office/drawing/2014/main" val="422860961"/>
                    </a:ext>
                  </a:extLst>
                </a:gridCol>
                <a:gridCol w="495300">
                  <a:extLst>
                    <a:ext uri="{9D8B030D-6E8A-4147-A177-3AD203B41FA5}">
                      <a16:colId xmlns:a16="http://schemas.microsoft.com/office/drawing/2014/main" val="1269072354"/>
                    </a:ext>
                  </a:extLst>
                </a:gridCol>
                <a:gridCol w="495300">
                  <a:extLst>
                    <a:ext uri="{9D8B030D-6E8A-4147-A177-3AD203B41FA5}">
                      <a16:colId xmlns:a16="http://schemas.microsoft.com/office/drawing/2014/main" val="1552541646"/>
                    </a:ext>
                  </a:extLst>
                </a:gridCol>
              </a:tblGrid>
              <a:tr h="164299">
                <a:tc rowSpan="2">
                  <a:txBody>
                    <a:bodyPr/>
                    <a:lstStyle/>
                    <a:p>
                      <a:pPr algn="ctr" rtl="0" fontAlgn="b"/>
                      <a:r>
                        <a:rPr lang="es-PE" sz="1000" b="0" i="0" u="none" strike="noStrike" dirty="0">
                          <a:solidFill>
                            <a:srgbClr val="000000"/>
                          </a:solidFill>
                          <a:effectLst/>
                          <a:latin typeface="Times New Roman" panose="02020603050405020304" pitchFamily="18" charset="0"/>
                        </a:rPr>
                        <a:t> </a:t>
                      </a:r>
                    </a:p>
                  </a:txBody>
                  <a:tcPr marL="6350" marR="6350" marT="6350" marB="0" anchor="b">
                    <a:lnL>
                      <a:noFill/>
                    </a:lnL>
                    <a:lnR w="12700" cap="flat" cmpd="sng" algn="ctr">
                      <a:solidFill>
                        <a:srgbClr val="000000"/>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tcPr>
                </a:tc>
                <a:tc gridSpan="3">
                  <a:txBody>
                    <a:bodyPr/>
                    <a:lstStyle/>
                    <a:p>
                      <a:pPr algn="ctr" rtl="0" fontAlgn="ctr"/>
                      <a:r>
                        <a:rPr lang="es-PE" sz="1000" b="0" i="0" u="none" strike="noStrike">
                          <a:solidFill>
                            <a:srgbClr val="000000"/>
                          </a:solidFill>
                          <a:effectLst/>
                          <a:latin typeface="Calibri" panose="020F0502020204030204" pitchFamily="34" charset="0"/>
                        </a:rPr>
                        <a:t>ENERO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gridSpan="3">
                  <a:txBody>
                    <a:bodyPr/>
                    <a:lstStyle/>
                    <a:p>
                      <a:pPr algn="ctr" rtl="0" fontAlgn="ctr"/>
                      <a:r>
                        <a:rPr lang="es-PE" sz="1000" b="0" i="0" u="none" strike="noStrike">
                          <a:solidFill>
                            <a:srgbClr val="000000"/>
                          </a:solidFill>
                          <a:effectLst/>
                          <a:latin typeface="Calibri" panose="020F0502020204030204" pitchFamily="34" charset="0"/>
                        </a:rPr>
                        <a:t>FEBRERO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s-PE"/>
                    </a:p>
                  </a:txBody>
                  <a:tcPr/>
                </a:tc>
                <a:tc hMerge="1">
                  <a:txBody>
                    <a:bodyPr/>
                    <a:lstStyle/>
                    <a:p>
                      <a:endParaRPr lang="es-PE"/>
                    </a:p>
                  </a:txBody>
                  <a:tcPr/>
                </a:tc>
                <a:tc>
                  <a:txBody>
                    <a:bodyPr/>
                    <a:lstStyle/>
                    <a:p>
                      <a:pPr algn="l" fontAlgn="b"/>
                      <a:endParaRPr lang="es-PE" sz="1100" b="0" i="0" u="none" strike="noStrike">
                        <a:solidFill>
                          <a:srgbClr val="000000"/>
                        </a:solidFill>
                        <a:effectLst/>
                        <a:latin typeface="Calibri" panose="020F0502020204030204" pitchFamily="34" charset="0"/>
                      </a:endParaRPr>
                    </a:p>
                  </a:txBody>
                  <a:tcPr marL="6350" marR="6350" marT="6350" marB="0" anchor="b">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18487842"/>
                  </a:ext>
                </a:extLst>
              </a:tr>
              <a:tr h="164299">
                <a:tc vMerge="1">
                  <a:txBody>
                    <a:bodyPr/>
                    <a:lstStyle/>
                    <a:p>
                      <a:endParaRPr lang="es-PE"/>
                    </a:p>
                  </a:txBody>
                  <a:tcPr/>
                </a:tc>
                <a:tc>
                  <a:txBody>
                    <a:bodyPr/>
                    <a:lstStyle/>
                    <a:p>
                      <a:pPr algn="ctr" rtl="0" fontAlgn="ctr"/>
                      <a:r>
                        <a:rPr lang="es-PE" sz="1000" b="1" i="0" u="none" strike="noStrike">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dirty="0">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FFFFFF"/>
                          </a:solidFill>
                          <a:effectLst/>
                          <a:latin typeface="Calibri Light" panose="020F0302020204030204" pitchFamily="34" charset="0"/>
                        </a:rPr>
                        <a:t>DCCI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FFFFFF"/>
                          </a:solidFill>
                          <a:effectLst/>
                          <a:latin typeface="Calibri Light" panose="020F0302020204030204" pitchFamily="34" charset="0"/>
                        </a:rPr>
                        <a:t>DCCII</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FFFFFF"/>
                          </a:solidFill>
                          <a:effectLst/>
                          <a:latin typeface="Calibri Light" panose="020F0302020204030204" pitchFamily="34" charset="0"/>
                        </a:rPr>
                        <a:t>DCP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extLst>
                  <a:ext uri="{0D108BD9-81ED-4DB2-BD59-A6C34878D82A}">
                    <a16:rowId xmlns:a16="http://schemas.microsoft.com/office/drawing/2014/main" val="77375442"/>
                  </a:ext>
                </a:extLst>
              </a:tr>
              <a:tr h="164299">
                <a:tc>
                  <a:txBody>
                    <a:bodyPr/>
                    <a:lstStyle/>
                    <a:p>
                      <a:pPr algn="ctr" rtl="0" fontAlgn="ctr"/>
                      <a:r>
                        <a:rPr lang="es-PE" sz="1000" b="1" i="0" u="none" strike="noStrike" dirty="0">
                          <a:solidFill>
                            <a:srgbClr val="FFFFFF"/>
                          </a:solidFill>
                          <a:effectLst/>
                          <a:latin typeface="Calibri Light" panose="020F0302020204030204" pitchFamily="34" charset="0"/>
                        </a:rPr>
                        <a:t>Infundado</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255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14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236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78</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675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1873645065"/>
                  </a:ext>
                </a:extLst>
              </a:tr>
              <a:tr h="290262">
                <a:tc>
                  <a:txBody>
                    <a:bodyPr/>
                    <a:lstStyle/>
                    <a:p>
                      <a:pPr algn="ctr" rtl="0" fontAlgn="ctr"/>
                      <a:r>
                        <a:rPr lang="es-PE" sz="1000" b="1" i="0" u="none" strike="noStrike">
                          <a:solidFill>
                            <a:srgbClr val="FFFFFF"/>
                          </a:solidFill>
                          <a:effectLst/>
                          <a:latin typeface="Calibri Light" panose="020F0302020204030204" pitchFamily="34" charset="0"/>
                        </a:rPr>
                        <a:t>Fundado / F.P</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715206291"/>
                  </a:ext>
                </a:extLst>
              </a:tr>
              <a:tr h="164299">
                <a:tc>
                  <a:txBody>
                    <a:bodyPr/>
                    <a:lstStyle/>
                    <a:p>
                      <a:pPr algn="ctr" rtl="0" fontAlgn="ctr"/>
                      <a:r>
                        <a:rPr lang="es-PE" sz="1000" b="1" i="0" u="none" strike="noStrike">
                          <a:solidFill>
                            <a:srgbClr val="FFFFFF"/>
                          </a:solidFill>
                          <a:effectLst/>
                          <a:latin typeface="Calibri Light" panose="020F0302020204030204" pitchFamily="34" charset="0"/>
                        </a:rPr>
                        <a:t>Nulidad</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30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2400884852"/>
                  </a:ext>
                </a:extLst>
              </a:tr>
              <a:tr h="290262">
                <a:tc>
                  <a:txBody>
                    <a:bodyPr/>
                    <a:lstStyle/>
                    <a:p>
                      <a:pPr algn="ctr" rtl="0" fontAlgn="ctr"/>
                      <a:r>
                        <a:rPr lang="es-PE" sz="1000" b="1" i="0" u="none" strike="noStrike">
                          <a:solidFill>
                            <a:srgbClr val="FFFFFF"/>
                          </a:solidFill>
                          <a:effectLst/>
                          <a:latin typeface="Calibri Light" panose="020F0302020204030204" pitchFamily="34" charset="0"/>
                        </a:rPr>
                        <a:t>Improcedente</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1253829735"/>
                  </a:ext>
                </a:extLst>
              </a:tr>
              <a:tr h="290262">
                <a:tc>
                  <a:txBody>
                    <a:bodyPr/>
                    <a:lstStyle/>
                    <a:p>
                      <a:pPr algn="ctr" rtl="0" fontAlgn="ctr"/>
                      <a:r>
                        <a:rPr lang="es-PE" sz="1000" b="1" i="0" u="none" strike="noStrike">
                          <a:solidFill>
                            <a:srgbClr val="FFFFFF"/>
                          </a:solidFill>
                          <a:effectLst/>
                          <a:latin typeface="Calibri Light" panose="020F0302020204030204" pitchFamily="34" charset="0"/>
                        </a:rPr>
                        <a:t>Desistimiento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1048737536"/>
                  </a:ext>
                </a:extLst>
              </a:tr>
              <a:tr h="164299">
                <a:tc>
                  <a:txBody>
                    <a:bodyPr/>
                    <a:lstStyle/>
                    <a:p>
                      <a:pPr algn="ctr" rtl="0" fontAlgn="ctr"/>
                      <a:r>
                        <a:rPr lang="es-PE" sz="1000" b="1" i="0" u="none" strike="noStrike">
                          <a:solidFill>
                            <a:srgbClr val="FFFFFF"/>
                          </a:solidFill>
                          <a:effectLst/>
                          <a:latin typeface="Calibri Light" panose="020F0302020204030204" pitchFamily="34" charset="0"/>
                        </a:rPr>
                        <a:t>Otros </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4</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0</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16</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4099968734"/>
                  </a:ext>
                </a:extLst>
              </a:tr>
              <a:tr h="164299">
                <a:tc>
                  <a:txBody>
                    <a:bodyPr/>
                    <a:lstStyle/>
                    <a:p>
                      <a:pPr algn="ctr" rtl="0" fontAlgn="ctr"/>
                      <a:r>
                        <a:rPr lang="es-PE" sz="1000" b="1" i="0" u="none" strike="noStrike">
                          <a:solidFill>
                            <a:srgbClr val="FFFFFF"/>
                          </a:solidFill>
                          <a:effectLst/>
                          <a:latin typeface="Calibri Light" panose="020F0302020204030204" pitchFamily="34" charset="0"/>
                        </a:rPr>
                        <a:t>TOTAL</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5B9BD5"/>
                    </a:solidFill>
                  </a:tcPr>
                </a:tc>
                <a:tc>
                  <a:txBody>
                    <a:bodyPr/>
                    <a:lstStyle/>
                    <a:p>
                      <a:pPr algn="ctr" rtl="0" fontAlgn="ctr"/>
                      <a:r>
                        <a:rPr lang="es-PE" sz="1000" b="1" i="0" u="none" strike="noStrike">
                          <a:solidFill>
                            <a:srgbClr val="000000"/>
                          </a:solidFill>
                          <a:effectLst/>
                          <a:latin typeface="Calibri Light" panose="020F0302020204030204" pitchFamily="34" charset="0"/>
                        </a:rPr>
                        <a:t>285</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79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 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262</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83</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a:solidFill>
                            <a:srgbClr val="000000"/>
                          </a:solidFill>
                          <a:effectLst/>
                          <a:latin typeface="Calibri Light" panose="020F0302020204030204" pitchFamily="34" charset="0"/>
                        </a:rPr>
                        <a:t>19</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tc>
                  <a:txBody>
                    <a:bodyPr/>
                    <a:lstStyle/>
                    <a:p>
                      <a:pPr algn="ctr" rtl="0" fontAlgn="ctr"/>
                      <a:r>
                        <a:rPr lang="es-PE" sz="1000" b="1" i="0" u="none" strike="noStrike" dirty="0">
                          <a:solidFill>
                            <a:srgbClr val="000000"/>
                          </a:solidFill>
                          <a:effectLst/>
                          <a:latin typeface="Calibri Light" panose="020F0302020204030204" pitchFamily="34" charset="0"/>
                        </a:rPr>
                        <a:t>747</a:t>
                      </a:r>
                    </a:p>
                  </a:txBody>
                  <a:tcPr marL="6350" marR="6350" marT="635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CECFF"/>
                    </a:solidFill>
                  </a:tcPr>
                </a:tc>
                <a:extLst>
                  <a:ext uri="{0D108BD9-81ED-4DB2-BD59-A6C34878D82A}">
                    <a16:rowId xmlns:a16="http://schemas.microsoft.com/office/drawing/2014/main" val="1815657895"/>
                  </a:ext>
                </a:extLst>
              </a:tr>
            </a:tbl>
          </a:graphicData>
        </a:graphic>
      </p:graphicFrame>
    </p:spTree>
    <p:extLst>
      <p:ext uri="{BB962C8B-B14F-4D97-AF65-F5344CB8AC3E}">
        <p14:creationId xmlns:p14="http://schemas.microsoft.com/office/powerpoint/2010/main" val="26596909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772892"/>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DESAFIOS/PROPUESTAS </a:t>
            </a:r>
            <a:endParaRPr lang="es-PE" sz="2800" b="1" dirty="0">
              <a:latin typeface="Arial" panose="020B0604020202020204" pitchFamily="34" charset="0"/>
              <a:cs typeface="Arial" panose="020B0604020202020204" pitchFamily="34" charset="0"/>
            </a:endParaRPr>
          </a:p>
        </p:txBody>
      </p:sp>
      <p:graphicFrame>
        <p:nvGraphicFramePr>
          <p:cNvPr id="2" name="Tabla 1">
            <a:extLst>
              <a:ext uri="{FF2B5EF4-FFF2-40B4-BE49-F238E27FC236}">
                <a16:creationId xmlns:a16="http://schemas.microsoft.com/office/drawing/2014/main" id="{024E81CA-E15C-F5EE-DC7A-2237FDCAEE51}"/>
              </a:ext>
            </a:extLst>
          </p:cNvPr>
          <p:cNvGraphicFramePr>
            <a:graphicFrameLocks noGrp="1"/>
          </p:cNvGraphicFramePr>
          <p:nvPr>
            <p:extLst>
              <p:ext uri="{D42A27DB-BD31-4B8C-83A1-F6EECF244321}">
                <p14:modId xmlns:p14="http://schemas.microsoft.com/office/powerpoint/2010/main" val="1508187338"/>
              </p:ext>
            </p:extLst>
          </p:nvPr>
        </p:nvGraphicFramePr>
        <p:xfrm>
          <a:off x="338927" y="788611"/>
          <a:ext cx="11514146" cy="6648022"/>
        </p:xfrm>
        <a:graphic>
          <a:graphicData uri="http://schemas.openxmlformats.org/drawingml/2006/table">
            <a:tbl>
              <a:tblPr firstRow="1" firstCol="1" bandRow="1"/>
              <a:tblGrid>
                <a:gridCol w="3028182">
                  <a:extLst>
                    <a:ext uri="{9D8B030D-6E8A-4147-A177-3AD203B41FA5}">
                      <a16:colId xmlns:a16="http://schemas.microsoft.com/office/drawing/2014/main" val="4249395483"/>
                    </a:ext>
                  </a:extLst>
                </a:gridCol>
                <a:gridCol w="4460839">
                  <a:extLst>
                    <a:ext uri="{9D8B030D-6E8A-4147-A177-3AD203B41FA5}">
                      <a16:colId xmlns:a16="http://schemas.microsoft.com/office/drawing/2014/main" val="972088636"/>
                    </a:ext>
                  </a:extLst>
                </a:gridCol>
                <a:gridCol w="4025125">
                  <a:extLst>
                    <a:ext uri="{9D8B030D-6E8A-4147-A177-3AD203B41FA5}">
                      <a16:colId xmlns:a16="http://schemas.microsoft.com/office/drawing/2014/main" val="2022867340"/>
                    </a:ext>
                  </a:extLst>
                </a:gridCol>
              </a:tblGrid>
              <a:tr h="177965">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PROBLEMAS/DESAFIO.</a:t>
                      </a:r>
                      <a:endParaRPr lang="es-PE" sz="14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SOLUCIONES</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a:noFill/>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pPr algn="ctr"/>
                      <a:r>
                        <a:rPr lang="es-PE" sz="1400" b="1" dirty="0">
                          <a:solidFill>
                            <a:srgbClr val="000000"/>
                          </a:solidFill>
                          <a:effectLst/>
                          <a:latin typeface="Calibri" panose="020F0502020204030204" pitchFamily="34" charset="0"/>
                          <a:ea typeface="Calibri" panose="020F0502020204030204" pitchFamily="34" charset="0"/>
                        </a:rPr>
                        <a:t>PROPUESTA</a:t>
                      </a:r>
                      <a:endParaRPr lang="es-PE" sz="1400" dirty="0">
                        <a:effectLst/>
                        <a:latin typeface="Calibri" panose="020F0502020204030204" pitchFamily="34" charset="0"/>
                        <a:ea typeface="Calibri" panose="020F0502020204030204" pitchFamily="34" charset="0"/>
                      </a:endParaRPr>
                    </a:p>
                  </a:txBody>
                  <a:tcPr marL="31325" marR="31325" marT="4351" marB="0">
                    <a:lnL>
                      <a:no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extLst>
                  <a:ext uri="{0D108BD9-81ED-4DB2-BD59-A6C34878D82A}">
                    <a16:rowId xmlns:a16="http://schemas.microsoft.com/office/drawing/2014/main" val="2399955915"/>
                  </a:ext>
                </a:extLst>
              </a:tr>
              <a:tr h="526783">
                <a:tc>
                  <a:txBody>
                    <a:bodyPr/>
                    <a:lstStyle/>
                    <a:p>
                      <a:r>
                        <a:rPr lang="es-PE" sz="1200" b="1" dirty="0">
                          <a:solidFill>
                            <a:schemeClr val="bg1"/>
                          </a:solidFill>
                          <a:effectLst/>
                          <a:latin typeface="Calibri" panose="020F0502020204030204" pitchFamily="34" charset="0"/>
                          <a:ea typeface="Calibri" panose="020F0502020204030204" pitchFamily="34" charset="0"/>
                        </a:rPr>
                        <a:t>INDICADOR TLT 6 MESES – META 98%. Revisión de ficha 2024 e Indicadores internos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Apoyo al proceso de admisibilidad (bandeja única)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 c</a:t>
                      </a:r>
                      <a:r>
                        <a:rPr lang="es-ES" sz="1200" dirty="0">
                          <a:solidFill>
                            <a:srgbClr val="000000"/>
                          </a:solidFill>
                          <a:effectLst/>
                          <a:latin typeface="Calibri" panose="020F0502020204030204" pitchFamily="34" charset="0"/>
                          <a:ea typeface="Calibri" panose="020F0502020204030204" pitchFamily="34" charset="0"/>
                        </a:rPr>
                        <a:t>ontrolar admisibilidad de reclamo (30 días hábiles), bandejas CERO y apelaciones (15 días calendarios para pedir actuados). Excluir el OEA de la ficha si lo monitorea PNGCA.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1241051180"/>
                  </a:ext>
                </a:extLst>
              </a:tr>
              <a:tr h="526783">
                <a:tc>
                  <a:txBody>
                    <a:bodyPr/>
                    <a:lstStyle/>
                    <a:p>
                      <a:r>
                        <a:rPr lang="es-PE" sz="1200" b="1" dirty="0">
                          <a:solidFill>
                            <a:schemeClr val="bg1"/>
                          </a:solidFill>
                          <a:effectLst/>
                          <a:latin typeface="Calibri" panose="020F0502020204030204" pitchFamily="34" charset="0"/>
                          <a:ea typeface="Calibri" panose="020F0502020204030204" pitchFamily="34" charset="0"/>
                        </a:rPr>
                        <a:t>Propuesta de mejora DCCI RD y RTF. Registro, Criterios, Instructivos y otros. DCCII LC actualización y remisión de actuados. DCP retroalimentación INCA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Noviembre: RTF 2022 y 2023, y actualización de LC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a:solidFill>
                            <a:srgbClr val="000000"/>
                          </a:solidFill>
                          <a:effectLst/>
                          <a:latin typeface="Calibri" panose="020F0502020204030204" pitchFamily="34" charset="0"/>
                          <a:ea typeface="Calibri" panose="020F0502020204030204" pitchFamily="34" charset="0"/>
                        </a:rPr>
                        <a:t>Mejorar resultados y retroalimentación interna. </a:t>
                      </a:r>
                      <a:endParaRPr lang="es-PE" sz="120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879781516"/>
                  </a:ext>
                </a:extLst>
              </a:tr>
              <a:tr h="701191">
                <a:tc>
                  <a:txBody>
                    <a:bodyPr/>
                    <a:lstStyle/>
                    <a:p>
                      <a:r>
                        <a:rPr lang="es-PE" sz="1200" b="1" dirty="0">
                          <a:solidFill>
                            <a:schemeClr val="bg1"/>
                          </a:solidFill>
                          <a:effectLst/>
                          <a:latin typeface="Calibri" panose="020F0502020204030204" pitchFamily="34" charset="0"/>
                          <a:ea typeface="Calibri" panose="020F0502020204030204" pitchFamily="34" charset="0"/>
                        </a:rPr>
                        <a:t>Mejora del proceso de recursos impugnatorios: apoyo admisibilidad de reclamos y apelaciones. MAPEO DE PROCESO Y CAPACITACIÓN.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De setiembre a noviembre o hasta que terminen carga asignada (resultado).</a:t>
                      </a: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Tiempo de atención:</a:t>
                      </a:r>
                      <a:r>
                        <a:rPr lang="es-ES" sz="1200" dirty="0">
                          <a:solidFill>
                            <a:srgbClr val="000000"/>
                          </a:solidFill>
                          <a:effectLst/>
                          <a:latin typeface="Calibri" panose="020F0502020204030204" pitchFamily="34" charset="0"/>
                          <a:ea typeface="Calibri" panose="020F0502020204030204" pitchFamily="34" charset="0"/>
                        </a:rPr>
                        <a:t> en todas las actividades de la admisibilidad de reclamos y apelaciones. </a:t>
                      </a:r>
                    </a:p>
                    <a:p>
                      <a:r>
                        <a:rPr lang="es-ES" sz="1200" b="1" dirty="0">
                          <a:solidFill>
                            <a:srgbClr val="FF0000"/>
                          </a:solidFill>
                          <a:effectLst/>
                          <a:latin typeface="Calibri" panose="020F0502020204030204" pitchFamily="34" charset="0"/>
                          <a:ea typeface="Calibri" panose="020F0502020204030204" pitchFamily="34" charset="0"/>
                        </a:rPr>
                        <a:t>PROPUESTA: </a:t>
                      </a:r>
                      <a:r>
                        <a:rPr lang="es-ES" sz="1200" dirty="0">
                          <a:solidFill>
                            <a:srgbClr val="000000"/>
                          </a:solidFill>
                          <a:effectLst/>
                          <a:latin typeface="Calibri" panose="020F0502020204030204" pitchFamily="34" charset="0"/>
                          <a:ea typeface="Calibri" panose="020F0502020204030204" pitchFamily="34" charset="0"/>
                        </a:rPr>
                        <a:t>Diseño del flujo de información. Control de gestión de la información del proceso: Tania, Linda, Allison y Alberto.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76611657"/>
                  </a:ext>
                </a:extLst>
              </a:tr>
              <a:tr h="352374">
                <a:tc>
                  <a:txBody>
                    <a:bodyPr/>
                    <a:lstStyle/>
                    <a:p>
                      <a:r>
                        <a:rPr lang="es-PE" sz="1200" b="1" dirty="0">
                          <a:solidFill>
                            <a:schemeClr val="bg1"/>
                          </a:solidFill>
                          <a:effectLst/>
                          <a:latin typeface="Calibri" panose="020F0502020204030204" pitchFamily="34" charset="0"/>
                          <a:ea typeface="Calibri" panose="020F0502020204030204" pitchFamily="34" charset="0"/>
                        </a:rPr>
                        <a:t>BANDEJA CERO: Pasivo admisibilidad  reclamos y apelaciones (CHASKY/SIGERI).  </a:t>
                      </a:r>
                    </a:p>
                    <a:p>
                      <a:r>
                        <a:rPr lang="es-PE" sz="1200" b="1" dirty="0">
                          <a:solidFill>
                            <a:schemeClr val="bg1"/>
                          </a:solidFill>
                          <a:effectLst/>
                          <a:latin typeface="Calibri" panose="020F0502020204030204" pitchFamily="34" charset="0"/>
                          <a:ea typeface="Calibri" panose="020F0502020204030204" pitchFamily="34" charset="0"/>
                        </a:rPr>
                        <a:t>BANDEJA DE INGRESADOS 25 pendientes</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ES" sz="1200" dirty="0">
                          <a:solidFill>
                            <a:srgbClr val="000000"/>
                          </a:solidFill>
                          <a:effectLst/>
                          <a:latin typeface="Calibri" panose="020F0502020204030204" pitchFamily="34" charset="0"/>
                          <a:ea typeface="Calibri" panose="020F0502020204030204" pitchFamily="34" charset="0"/>
                        </a:rPr>
                        <a:t>Revisión diaria a cargo de las asistentes y maratones.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ES" sz="1200" b="1" dirty="0">
                          <a:solidFill>
                            <a:srgbClr val="000000"/>
                          </a:solidFill>
                          <a:effectLst/>
                          <a:latin typeface="Calibri" panose="020F0502020204030204" pitchFamily="34" charset="0"/>
                          <a:ea typeface="Calibri" panose="020F0502020204030204" pitchFamily="34" charset="0"/>
                        </a:rPr>
                        <a:t>BANDEJA CERO</a:t>
                      </a:r>
                      <a:r>
                        <a:rPr lang="es-ES" sz="1200" dirty="0">
                          <a:solidFill>
                            <a:srgbClr val="000000"/>
                          </a:solidFill>
                          <a:effectLst/>
                          <a:latin typeface="Calibri" panose="020F0502020204030204" pitchFamily="34" charset="0"/>
                          <a:ea typeface="Calibri" panose="020F0502020204030204" pitchFamily="34" charset="0"/>
                        </a:rPr>
                        <a:t> de admisibilidad (E-</a:t>
                      </a:r>
                      <a:r>
                        <a:rPr lang="es-ES" sz="1200" dirty="0" err="1">
                          <a:solidFill>
                            <a:srgbClr val="000000"/>
                          </a:solidFill>
                          <a:effectLst/>
                          <a:latin typeface="Calibri" panose="020F0502020204030204" pitchFamily="34" charset="0"/>
                          <a:ea typeface="Calibri" panose="020F0502020204030204" pitchFamily="34" charset="0"/>
                        </a:rPr>
                        <a:t>chaski</a:t>
                      </a:r>
                      <a:r>
                        <a:rPr lang="es-ES" sz="1200" dirty="0">
                          <a:solidFill>
                            <a:srgbClr val="000000"/>
                          </a:solidFill>
                          <a:effectLst/>
                          <a:latin typeface="Calibri" panose="020F0502020204030204" pitchFamily="34" charset="0"/>
                          <a:ea typeface="Calibri" panose="020F0502020204030204" pitchFamily="34" charset="0"/>
                        </a:rPr>
                        <a:t>, SIGERI ingresado y no asignado y físico). </a:t>
                      </a:r>
                      <a:r>
                        <a:rPr lang="es-ES" sz="1200" b="1" dirty="0">
                          <a:solidFill>
                            <a:srgbClr val="000000"/>
                          </a:solidFill>
                          <a:effectLst/>
                          <a:latin typeface="Calibri" panose="020F0502020204030204" pitchFamily="34" charset="0"/>
                          <a:ea typeface="Calibri" panose="020F0502020204030204" pitchFamily="34" charset="0"/>
                        </a:rPr>
                        <a:t>Campaña de I TOP y SIGED </a:t>
                      </a:r>
                      <a:endParaRPr lang="es-PE" sz="1200" b="1"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2303611654"/>
                  </a:ext>
                </a:extLst>
              </a:tr>
              <a:tr h="1050009">
                <a:tc>
                  <a:txBody>
                    <a:bodyPr/>
                    <a:lstStyle/>
                    <a:p>
                      <a:r>
                        <a:rPr lang="es-PE" sz="1200" b="1" dirty="0">
                          <a:solidFill>
                            <a:schemeClr val="bg1"/>
                          </a:solidFill>
                          <a:effectLst/>
                          <a:latin typeface="Calibri" panose="020F0502020204030204" pitchFamily="34" charset="0"/>
                          <a:ea typeface="Calibri" panose="020F0502020204030204" pitchFamily="34" charset="0"/>
                        </a:rPr>
                        <a:t>SIGERI. Casuística reportada en lámina 12 y por correo el 05.10. Principalmente no actualiza resultado del reclamo en el sistema de liquidaciones de cobranza. ITOP mensual para la actualización. Lima y provincia.</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Se están generando inventario por mes y generando ITOP cuando no se evidencia el registro en el sistema. Cabe precisar que en los casos en que si hay registro el sistema adecua la información a códigos y estructura del módulo de LC lo que difiere del módulo SIGERI.</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Se remitieron I TOP a INSI para registro. </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DCCI, DCCII y DCP (en proceso enero – julio 2023).</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842478686"/>
                  </a:ext>
                </a:extLst>
              </a:tr>
              <a:tr h="352374">
                <a:tc>
                  <a:txBody>
                    <a:bodyPr/>
                    <a:lstStyle/>
                    <a:p>
                      <a:r>
                        <a:rPr lang="es-PE" sz="1200" b="1" dirty="0">
                          <a:solidFill>
                            <a:schemeClr val="bg1"/>
                          </a:solidFill>
                          <a:effectLst/>
                          <a:latin typeface="Calibri" panose="020F0502020204030204" pitchFamily="34" charset="0"/>
                          <a:ea typeface="Calibri" panose="020F0502020204030204" pitchFamily="34" charset="0"/>
                        </a:rPr>
                        <a:t>Flujo de reclamos (</a:t>
                      </a:r>
                      <a:r>
                        <a:rPr lang="es-PE" sz="1200" b="1" dirty="0" err="1">
                          <a:solidFill>
                            <a:schemeClr val="bg1"/>
                          </a:solidFill>
                          <a:effectLst/>
                          <a:latin typeface="Calibri" panose="020F0502020204030204" pitchFamily="34" charset="0"/>
                          <a:ea typeface="Calibri" panose="020F0502020204030204" pitchFamily="34" charset="0"/>
                        </a:rPr>
                        <a:t>Chasky</a:t>
                      </a:r>
                      <a:r>
                        <a:rPr lang="es-PE" sz="1200" b="1" dirty="0">
                          <a:solidFill>
                            <a:schemeClr val="bg1"/>
                          </a:solidFill>
                          <a:effectLst/>
                          <a:latin typeface="Calibri" panose="020F0502020204030204" pitchFamily="34" charset="0"/>
                          <a:ea typeface="Calibri" panose="020F0502020204030204" pitchFamily="34" charset="0"/>
                        </a:rPr>
                        <a:t> en vez de SIGED). Tiempo de atención en la etapa de Admisibilidad.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a:solidFill>
                            <a:srgbClr val="000000"/>
                          </a:solidFill>
                          <a:effectLst/>
                          <a:latin typeface="Calibri" panose="020F0502020204030204" pitchFamily="34" charset="0"/>
                          <a:ea typeface="Calibri" panose="020F0502020204030204" pitchFamily="34" charset="0"/>
                        </a:rPr>
                        <a:t>Demora en la atención de los SIGERI, siendo que E-Chasky llega primero. </a:t>
                      </a:r>
                      <a:endParaRPr lang="es-PE" sz="120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Tiempo de atención</a:t>
                      </a:r>
                      <a:r>
                        <a:rPr lang="es-PE" sz="1200" dirty="0">
                          <a:solidFill>
                            <a:srgbClr val="000000"/>
                          </a:solidFill>
                          <a:effectLst/>
                          <a:latin typeface="Calibri" panose="020F0502020204030204" pitchFamily="34" charset="0"/>
                          <a:ea typeface="Calibri" panose="020F0502020204030204" pitchFamily="34" charset="0"/>
                        </a:rPr>
                        <a:t>: 30 días hábiles.</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21348042"/>
                  </a:ext>
                </a:extLst>
              </a:tr>
              <a:tr h="804053">
                <a:tc>
                  <a:txBody>
                    <a:bodyPr/>
                    <a:lstStyle/>
                    <a:p>
                      <a:r>
                        <a:rPr lang="es-PE" sz="1200" b="1" dirty="0">
                          <a:solidFill>
                            <a:schemeClr val="bg1"/>
                          </a:solidFill>
                          <a:effectLst/>
                          <a:latin typeface="Calibri" panose="020F0502020204030204" pitchFamily="34" charset="0"/>
                          <a:ea typeface="Calibri" panose="020F0502020204030204" pitchFamily="34" charset="0"/>
                        </a:rPr>
                        <a:t>Actuados físicos: falta flujo, falta de remisión oportuna y derivación tardía de expedientes.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Apoyo de Sara búsqueda de actuados y generar </a:t>
                      </a:r>
                      <a:r>
                        <a:rPr lang="es-PE" sz="1200" dirty="0" err="1">
                          <a:solidFill>
                            <a:srgbClr val="000000"/>
                          </a:solidFill>
                          <a:effectLst/>
                          <a:latin typeface="Calibri" panose="020F0502020204030204" pitchFamily="34" charset="0"/>
                          <a:ea typeface="Calibri" panose="020F0502020204030204" pitchFamily="34" charset="0"/>
                        </a:rPr>
                        <a:t>Chasky</a:t>
                      </a:r>
                      <a:r>
                        <a:rPr lang="es-PE" sz="1200" dirty="0">
                          <a:solidFill>
                            <a:srgbClr val="000000"/>
                          </a:solidFill>
                          <a:effectLst/>
                          <a:latin typeface="Calibri" panose="020F0502020204030204" pitchFamily="34" charset="0"/>
                          <a:ea typeface="Calibri" panose="020F0502020204030204" pitchFamily="34" charset="0"/>
                        </a:rPr>
                        <a:t> (indicador).</a:t>
                      </a:r>
                      <a:endParaRPr lang="es-PE" sz="1200" dirty="0">
                        <a:effectLst/>
                        <a:latin typeface="Calibri" panose="020F0502020204030204" pitchFamily="34" charset="0"/>
                        <a:ea typeface="Calibri" panose="020F0502020204030204" pitchFamily="34" charset="0"/>
                      </a:endParaRPr>
                    </a:p>
                    <a:p>
                      <a:r>
                        <a:rPr lang="es-PE" sz="1200" dirty="0">
                          <a:solidFill>
                            <a:srgbClr val="000000"/>
                          </a:solidFill>
                          <a:effectLst/>
                          <a:latin typeface="Calibri" panose="020F0502020204030204" pitchFamily="34" charset="0"/>
                          <a:ea typeface="Calibri" panose="020F0502020204030204" pitchFamily="34" charset="0"/>
                        </a:rPr>
                        <a:t>- Divisiones de Fondo apoyan a la DAP en revisión de admisibilidad de reclamo y apelaciones. </a:t>
                      </a:r>
                      <a:endParaRPr lang="es-PE" sz="1200" dirty="0">
                        <a:effectLst/>
                        <a:latin typeface="Calibri" panose="020F0502020204030204" pitchFamily="34" charset="0"/>
                        <a:ea typeface="Calibri" panose="020F0502020204030204" pitchFamily="34" charset="0"/>
                      </a:endParaRPr>
                    </a:p>
                    <a:p>
                      <a:r>
                        <a:rPr lang="es-419" sz="1200" dirty="0">
                          <a:solidFill>
                            <a:srgbClr val="000000"/>
                          </a:solidFill>
                          <a:effectLst/>
                          <a:latin typeface="Calibri" panose="020F0502020204030204" pitchFamily="34" charset="0"/>
                          <a:ea typeface="Calibri" panose="020F0502020204030204" pitchFamily="34" charset="0"/>
                        </a:rPr>
                        <a:t>- Se solicitó la implementación de alertas TLT 6 m. a fondo y DAP.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r>
                        <a:rPr lang="es-PE" sz="1200" b="1">
                          <a:solidFill>
                            <a:srgbClr val="000000"/>
                          </a:solidFill>
                          <a:effectLst/>
                          <a:latin typeface="Calibri" panose="020F0502020204030204" pitchFamily="34" charset="0"/>
                          <a:ea typeface="Calibri" panose="020F0502020204030204" pitchFamily="34" charset="0"/>
                        </a:rPr>
                        <a:t>Coordinación con IAMC. </a:t>
                      </a:r>
                      <a:r>
                        <a:rPr lang="es-PE" sz="1200">
                          <a:solidFill>
                            <a:srgbClr val="000000"/>
                          </a:solidFill>
                          <a:effectLst/>
                          <a:latin typeface="Calibri" panose="020F0502020204030204" pitchFamily="34" charset="0"/>
                          <a:ea typeface="Calibri" panose="020F0502020204030204" pitchFamily="34" charset="0"/>
                        </a:rPr>
                        <a:t>Conformar equipo y atender oportunamente. Permitirá mejorar el control de las áreas de origen y las áreas de reclamo fondo. </a:t>
                      </a:r>
                      <a:endParaRPr lang="es-PE" sz="120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2000971763"/>
                  </a:ext>
                </a:extLst>
              </a:tr>
              <a:tr h="526783">
                <a:tc>
                  <a:txBody>
                    <a:bodyPr/>
                    <a:lstStyle/>
                    <a:p>
                      <a:r>
                        <a:rPr lang="es-PE" sz="1200" b="1" dirty="0">
                          <a:solidFill>
                            <a:schemeClr val="bg1"/>
                          </a:solidFill>
                          <a:effectLst/>
                          <a:latin typeface="Calibri" panose="020F0502020204030204" pitchFamily="34" charset="0"/>
                          <a:ea typeface="Calibri" panose="020F0502020204030204" pitchFamily="34" charset="0"/>
                        </a:rPr>
                        <a:t>Admisibilidad: devolución por evaluación incorrecta y remisión de </a:t>
                      </a:r>
                      <a:r>
                        <a:rPr lang="es-PE" sz="1200" b="1" dirty="0" err="1">
                          <a:solidFill>
                            <a:schemeClr val="bg1"/>
                          </a:solidFill>
                          <a:effectLst/>
                          <a:latin typeface="Calibri" panose="020F0502020204030204" pitchFamily="34" charset="0"/>
                          <a:ea typeface="Calibri" panose="020F0502020204030204" pitchFamily="34" charset="0"/>
                        </a:rPr>
                        <a:t>exp</a:t>
                      </a:r>
                      <a:r>
                        <a:rPr lang="es-PE" sz="1200" b="1" dirty="0">
                          <a:solidFill>
                            <a:schemeClr val="bg1"/>
                          </a:solidFill>
                          <a:effectLst/>
                          <a:latin typeface="Calibri" panose="020F0502020204030204" pitchFamily="34" charset="0"/>
                          <a:ea typeface="Calibri" panose="020F0502020204030204" pitchFamily="34" charset="0"/>
                        </a:rPr>
                        <a:t>.  (RD </a:t>
                      </a:r>
                      <a:r>
                        <a:rPr lang="es-PE" sz="1200" b="1" dirty="0" err="1">
                          <a:solidFill>
                            <a:schemeClr val="bg1"/>
                          </a:solidFill>
                          <a:effectLst/>
                          <a:latin typeface="Calibri" panose="020F0502020204030204" pitchFamily="34" charset="0"/>
                          <a:ea typeface="Calibri" panose="020F0502020204030204" pitchFamily="34" charset="0"/>
                        </a:rPr>
                        <a:t>complem</a:t>
                      </a:r>
                      <a:r>
                        <a:rPr lang="es-PE" sz="1200" b="1" dirty="0">
                          <a:solidFill>
                            <a:schemeClr val="bg1"/>
                          </a:solidFill>
                          <a:effectLst/>
                          <a:latin typeface="Calibri" panose="020F0502020204030204" pitchFamily="34" charset="0"/>
                          <a:ea typeface="Calibri" panose="020F0502020204030204" pitchFamily="34" charset="0"/>
                        </a:rPr>
                        <a:t>) </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a:solidFill>
                            <a:srgbClr val="000000"/>
                          </a:solidFill>
                          <a:effectLst/>
                          <a:latin typeface="Calibri" panose="020F0502020204030204" pitchFamily="34" charset="0"/>
                          <a:ea typeface="Calibri" panose="020F0502020204030204" pitchFamily="34" charset="0"/>
                        </a:rPr>
                        <a:t>Coordinación previa con la DAP para reconfirmar la devolución del SIGERI, y remisión de correo electrónico para seguimiento y atención inmediata (límite del vencimiento). </a:t>
                      </a:r>
                      <a:endParaRPr lang="es-PE" sz="120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tc>
                  <a:txBody>
                    <a:bodyPr/>
                    <a:lstStyle/>
                    <a:p>
                      <a:r>
                        <a:rPr lang="es-PE" sz="1200" b="1" dirty="0">
                          <a:solidFill>
                            <a:srgbClr val="000000"/>
                          </a:solidFill>
                          <a:effectLst/>
                          <a:latin typeface="Calibri" panose="020F0502020204030204" pitchFamily="34" charset="0"/>
                          <a:ea typeface="Calibri" panose="020F0502020204030204" pitchFamily="34" charset="0"/>
                        </a:rPr>
                        <a:t>Segunda etapa: calidad</a:t>
                      </a:r>
                      <a:r>
                        <a:rPr lang="es-PE" sz="1200" dirty="0">
                          <a:solidFill>
                            <a:srgbClr val="000000"/>
                          </a:solidFill>
                          <a:effectLst/>
                          <a:latin typeface="Calibri" panose="020F0502020204030204" pitchFamily="34" charset="0"/>
                          <a:ea typeface="Calibri" panose="020F0502020204030204" pitchFamily="34" charset="0"/>
                        </a:rPr>
                        <a:t> de la admisibilidad (0 retornos) y </a:t>
                      </a:r>
                      <a:r>
                        <a:rPr lang="es-PE" sz="1200" b="1" dirty="0">
                          <a:solidFill>
                            <a:srgbClr val="000000"/>
                          </a:solidFill>
                          <a:effectLst/>
                          <a:latin typeface="Calibri" panose="020F0502020204030204" pitchFamily="34" charset="0"/>
                          <a:ea typeface="Calibri" panose="020F0502020204030204" pitchFamily="34" charset="0"/>
                        </a:rPr>
                        <a:t>oportunidad</a:t>
                      </a:r>
                      <a:r>
                        <a:rPr lang="es-PE" sz="1200" dirty="0">
                          <a:solidFill>
                            <a:srgbClr val="000000"/>
                          </a:solidFill>
                          <a:effectLst/>
                          <a:latin typeface="Calibri" panose="020F0502020204030204" pitchFamily="34" charset="0"/>
                          <a:ea typeface="Calibri" panose="020F0502020204030204" pitchFamily="34" charset="0"/>
                        </a:rPr>
                        <a:t> (30 días hábiles). </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4C6E7"/>
                    </a:solidFill>
                  </a:tcPr>
                </a:tc>
                <a:extLst>
                  <a:ext uri="{0D108BD9-81ED-4DB2-BD59-A6C34878D82A}">
                    <a16:rowId xmlns:a16="http://schemas.microsoft.com/office/drawing/2014/main" val="3314274022"/>
                  </a:ext>
                </a:extLst>
              </a:tr>
              <a:tr h="526783">
                <a:tc>
                  <a:txBody>
                    <a:bodyPr/>
                    <a:lstStyle/>
                    <a:p>
                      <a:r>
                        <a:rPr lang="es-PE" sz="1200" b="1" dirty="0">
                          <a:solidFill>
                            <a:schemeClr val="bg1"/>
                          </a:solidFill>
                          <a:effectLst/>
                          <a:latin typeface="Calibri" panose="020F0502020204030204" pitchFamily="34" charset="0"/>
                          <a:ea typeface="Calibri" panose="020F0502020204030204" pitchFamily="34" charset="0"/>
                        </a:rPr>
                        <a:t>Reporte SIGERI: no registra seguimiento, estado, ni copia a partes involucradas (baja)</a:t>
                      </a:r>
                      <a:endParaRPr lang="es-PE" sz="1200" dirty="0">
                        <a:solidFill>
                          <a:schemeClr val="bg1"/>
                        </a:solidFill>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472C4"/>
                    </a:solidFill>
                  </a:tcPr>
                </a:tc>
                <a:tc>
                  <a:txBody>
                    <a:bodyPr/>
                    <a:lstStyle/>
                    <a:p>
                      <a:r>
                        <a:rPr lang="es-PE" sz="1200">
                          <a:solidFill>
                            <a:srgbClr val="000000"/>
                          </a:solidFill>
                          <a:effectLst/>
                          <a:latin typeface="Calibri" panose="020F0502020204030204" pitchFamily="34" charset="0"/>
                          <a:ea typeface="Calibri" panose="020F0502020204030204" pitchFamily="34" charset="0"/>
                        </a:rPr>
                        <a:t> Mucha coordinación, comunicación y creación de registros manuales.</a:t>
                      </a:r>
                      <a:endParaRPr lang="es-PE" sz="120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tc>
                  <a:txBody>
                    <a:bodyPr/>
                    <a:lstStyle/>
                    <a:p>
                      <a:r>
                        <a:rPr lang="es-PE" sz="1200" dirty="0">
                          <a:solidFill>
                            <a:srgbClr val="000000"/>
                          </a:solidFill>
                          <a:effectLst/>
                          <a:latin typeface="Calibri" panose="020F0502020204030204" pitchFamily="34" charset="0"/>
                          <a:ea typeface="Calibri" panose="020F0502020204030204" pitchFamily="34" charset="0"/>
                        </a:rPr>
                        <a:t> Pendiente</a:t>
                      </a:r>
                      <a:endParaRPr lang="es-PE" sz="1200" dirty="0">
                        <a:effectLst/>
                        <a:latin typeface="Calibri" panose="020F0502020204030204" pitchFamily="34" charset="0"/>
                        <a:ea typeface="Calibri" panose="020F0502020204030204" pitchFamily="34" charset="0"/>
                      </a:endParaRPr>
                    </a:p>
                  </a:txBody>
                  <a:tcPr marL="31325" marR="31325" marT="4351" marB="0">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9E2F3"/>
                    </a:solidFill>
                  </a:tcPr>
                </a:tc>
                <a:extLst>
                  <a:ext uri="{0D108BD9-81ED-4DB2-BD59-A6C34878D82A}">
                    <a16:rowId xmlns:a16="http://schemas.microsoft.com/office/drawing/2014/main" val="1808810442"/>
                  </a:ext>
                </a:extLst>
              </a:tr>
            </a:tbl>
          </a:graphicData>
        </a:graphic>
      </p:graphicFrame>
    </p:spTree>
    <p:extLst>
      <p:ext uri="{BB962C8B-B14F-4D97-AF65-F5344CB8AC3E}">
        <p14:creationId xmlns:p14="http://schemas.microsoft.com/office/powerpoint/2010/main" val="3084003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242307" y="250034"/>
            <a:ext cx="10515600" cy="636373"/>
          </a:xfrm>
        </p:spPr>
        <p:txBody>
          <a:bodyPr>
            <a:noAutofit/>
          </a:bodyPr>
          <a:lstStyle/>
          <a:p>
            <a:r>
              <a:rPr lang="es-ES" sz="2800" b="1" dirty="0">
                <a:latin typeface="Arial" panose="020B0604020202020204" pitchFamily="34" charset="0"/>
                <a:cs typeface="Arial" panose="020B0604020202020204" pitchFamily="34" charset="0"/>
              </a:rPr>
              <a:t>REQUERIMIENTO</a:t>
            </a:r>
            <a:r>
              <a:rPr lang="es-ES" sz="3600" b="1" dirty="0"/>
              <a:t>: </a:t>
            </a:r>
            <a:r>
              <a:rPr lang="es-ES" sz="2800" b="1" dirty="0">
                <a:latin typeface="Arial" panose="020B0604020202020204" pitchFamily="34" charset="0"/>
                <a:cs typeface="Arial" panose="020B0604020202020204" pitchFamily="34" charset="0"/>
              </a:rPr>
              <a:t>REPORTES DE GESTIÓN</a:t>
            </a:r>
            <a:endParaRPr lang="es-PE" sz="2800" b="1" dirty="0">
              <a:latin typeface="Arial" panose="020B0604020202020204" pitchFamily="34" charset="0"/>
              <a:cs typeface="Arial" panose="020B0604020202020204" pitchFamily="34" charset="0"/>
            </a:endParaRPr>
          </a:p>
        </p:txBody>
      </p:sp>
      <p:sp>
        <p:nvSpPr>
          <p:cNvPr id="8" name="CuadroTexto 7">
            <a:extLst>
              <a:ext uri="{FF2B5EF4-FFF2-40B4-BE49-F238E27FC236}">
                <a16:creationId xmlns:a16="http://schemas.microsoft.com/office/drawing/2014/main" id="{CC6DFF1E-FD88-4ACA-93F2-AF985B10E39F}"/>
              </a:ext>
            </a:extLst>
          </p:cNvPr>
          <p:cNvSpPr txBox="1"/>
          <p:nvPr/>
        </p:nvSpPr>
        <p:spPr>
          <a:xfrm>
            <a:off x="56284" y="1001498"/>
            <a:ext cx="12040466" cy="5352940"/>
          </a:xfrm>
          <a:prstGeom prst="rect">
            <a:avLst/>
          </a:prstGeom>
          <a:noFill/>
        </p:spPr>
        <p:txBody>
          <a:bodyPr wrap="square">
            <a:spAutoFit/>
          </a:bodyPr>
          <a:lstStyle/>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Reporte de expedientes TLT (125) OEA (3 meses) y fictas (2 meses). Reporte a Admisibilidad. Atención monitoreo</a:t>
            </a:r>
            <a:r>
              <a:rPr lang="es-PE" sz="2000" dirty="0">
                <a:latin typeface="Arial" panose="020B0604020202020204" pitchFamily="34" charset="0"/>
                <a:ea typeface="Calibri" panose="020F0502020204030204" pitchFamily="34" charset="0"/>
                <a:cs typeface="Arial" panose="020B0604020202020204" pitchFamily="34" charset="0"/>
              </a:rPr>
              <a:t> </a:t>
            </a:r>
            <a:r>
              <a:rPr lang="es-PE" sz="2000" dirty="0">
                <a:effectLst/>
                <a:latin typeface="Arial" panose="020B0604020202020204" pitchFamily="34" charset="0"/>
                <a:ea typeface="Calibri" panose="020F0502020204030204" pitchFamily="34" charset="0"/>
                <a:cs typeface="Arial" panose="020B0604020202020204" pitchFamily="34" charset="0"/>
              </a:rPr>
              <a:t>indicador (125d-2d) y pendiente el reporte indicador OEA (3m- 2d). </a:t>
            </a: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 de reclamos (infundado, fundado, nulos </a:t>
            </a:r>
            <a:r>
              <a:rPr lang="es-ES" sz="2000" dirty="0" err="1">
                <a:effectLst/>
                <a:latin typeface="Arial" panose="020B0604020202020204" pitchFamily="34" charset="0"/>
                <a:ea typeface="Calibri" panose="020F0502020204030204" pitchFamily="34" charset="0"/>
                <a:cs typeface="Arial" panose="020B0604020202020204" pitchFamily="34" charset="0"/>
              </a:rPr>
              <a:t>etc</a:t>
            </a:r>
            <a:r>
              <a:rPr lang="es-ES" sz="2000" dirty="0">
                <a:effectLst/>
                <a:latin typeface="Arial" panose="020B0604020202020204" pitchFamily="34" charset="0"/>
                <a:ea typeface="Calibri" panose="020F0502020204030204" pitchFamily="34" charset="0"/>
                <a:cs typeface="Arial" panose="020B0604020202020204" pitchFamily="34" charset="0"/>
              </a:rPr>
              <a:t>) y montos. Pendiente vinculación modulo LC. </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ES" sz="2000" dirty="0">
                <a:effectLst/>
                <a:latin typeface="Arial" panose="020B0604020202020204" pitchFamily="34" charset="0"/>
                <a:ea typeface="Calibri" panose="020F0502020204030204" pitchFamily="34" charset="0"/>
                <a:cs typeface="Arial" panose="020B0604020202020204" pitchFamily="34" charset="0"/>
              </a:rPr>
              <a:t>Resultados de apelaciones – RTF(</a:t>
            </a:r>
            <a:r>
              <a:rPr lang="es-PE" sz="2000" dirty="0">
                <a:effectLst/>
                <a:latin typeface="Arial" panose="020B0604020202020204" pitchFamily="34" charset="0"/>
                <a:ea typeface="Calibri" panose="020F0502020204030204" pitchFamily="34" charset="0"/>
                <a:cs typeface="Arial" panose="020B0604020202020204" pitchFamily="34" charset="0"/>
              </a:rPr>
              <a:t>Dependencia /</a:t>
            </a:r>
            <a:r>
              <a:rPr lang="es-PE" sz="2000" dirty="0" err="1">
                <a:effectLst/>
                <a:latin typeface="Arial" panose="020B0604020202020204" pitchFamily="34" charset="0"/>
                <a:ea typeface="Calibri" panose="020F0502020204030204" pitchFamily="34" charset="0"/>
                <a:cs typeface="Arial" panose="020B0604020202020204" pitchFamily="34" charset="0"/>
              </a:rPr>
              <a:t>exp</a:t>
            </a:r>
            <a:r>
              <a:rPr lang="es-PE" sz="2000" dirty="0">
                <a:effectLst/>
                <a:latin typeface="Arial" panose="020B0604020202020204" pitchFamily="34" charset="0"/>
                <a:ea typeface="Calibri" panose="020F0502020204030204" pitchFamily="34" charset="0"/>
                <a:cs typeface="Arial" panose="020B0604020202020204" pitchFamily="34" charset="0"/>
              </a:rPr>
              <a:t>. /fecha de ingreso/ usuario/resolución vinculada/ </a:t>
            </a:r>
            <a:r>
              <a:rPr lang="es-ES" sz="2000" dirty="0">
                <a:effectLst/>
                <a:latin typeface="Arial" panose="020B0604020202020204" pitchFamily="34" charset="0"/>
                <a:ea typeface="Calibri" panose="020F0502020204030204" pitchFamily="34" charset="0"/>
                <a:cs typeface="Arial" panose="020B0604020202020204" pitchFamily="34" charset="0"/>
              </a:rPr>
              <a:t>materia /DAM vinculada/Liquidación de Cobranza - montos). </a:t>
            </a:r>
            <a:r>
              <a:rPr lang="es-ES" sz="2000" dirty="0">
                <a:latin typeface="Arial" panose="020B0604020202020204" pitchFamily="34" charset="0"/>
                <a:ea typeface="Calibri" panose="020F0502020204030204" pitchFamily="34" charset="0"/>
                <a:cs typeface="Arial" panose="020B0604020202020204" pitchFamily="34" charset="0"/>
              </a:rPr>
              <a:t>Pendiente </a:t>
            </a:r>
            <a:r>
              <a:rPr lang="es-ES" sz="2000" dirty="0">
                <a:effectLst/>
                <a:latin typeface="Arial" panose="020B0604020202020204" pitchFamily="34" charset="0"/>
                <a:ea typeface="Calibri" panose="020F0502020204030204" pitchFamily="34" charset="0"/>
                <a:cs typeface="Arial" panose="020B0604020202020204" pitchFamily="34" charset="0"/>
              </a:rPr>
              <a:t>informe (periodicidad).</a:t>
            </a:r>
            <a:endParaRPr lang="es-PE" sz="2000" dirty="0">
              <a:effectLst/>
              <a:latin typeface="Arial" panose="020B0604020202020204" pitchFamily="34" charset="0"/>
              <a:ea typeface="Calibri" panose="020F0502020204030204" pitchFamily="34" charset="0"/>
              <a:cs typeface="Arial" panose="020B0604020202020204" pitchFamily="34" charset="0"/>
            </a:endParaRPr>
          </a:p>
          <a:p>
            <a:pPr marL="342900" lvl="0" indent="-342900">
              <a:lnSpc>
                <a:spcPct val="115000"/>
              </a:lnSpc>
              <a:buFont typeface="+mj-lt"/>
              <a:buAutoNum type="arabicPeriod"/>
            </a:pPr>
            <a:r>
              <a:rPr lang="es-PE" sz="2000" dirty="0">
                <a:effectLst/>
                <a:latin typeface="Arial" panose="020B0604020202020204" pitchFamily="34" charset="0"/>
                <a:ea typeface="Calibri" panose="020F0502020204030204" pitchFamily="34" charset="0"/>
                <a:cs typeface="Arial" panose="020B0604020202020204" pitchFamily="34" charset="0"/>
              </a:rPr>
              <a:t>SIGERI</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Vinculaciones</a:t>
            </a:r>
            <a:r>
              <a:rPr lang="es-PE" sz="2000" dirty="0">
                <a:effectLst/>
                <a:latin typeface="Arial" panose="020B0604020202020204" pitchFamily="34" charset="0"/>
                <a:ea typeface="Calibri" panose="020F0502020204030204" pitchFamily="34" charset="0"/>
                <a:cs typeface="Arial" panose="020B0604020202020204" pitchFamily="34" charset="0"/>
              </a:rPr>
              <a:t>: </a:t>
            </a:r>
            <a:r>
              <a:rPr lang="es-PE" sz="2000" dirty="0">
                <a:latin typeface="Arial" panose="020B0604020202020204" pitchFamily="34" charset="0"/>
                <a:ea typeface="Calibri" panose="020F0502020204030204" pitchFamily="34" charset="0"/>
                <a:cs typeface="Arial" panose="020B0604020202020204" pitchFamily="34" charset="0"/>
              </a:rPr>
              <a:t>no actualiza resultado de reclamo en el módulo de LC, </a:t>
            </a:r>
            <a:r>
              <a:rPr lang="es-PE" sz="2000" dirty="0">
                <a:latin typeface="Arial" panose="020B0604020202020204" pitchFamily="34" charset="0"/>
                <a:cs typeface="Arial" panose="020B0604020202020204" pitchFamily="34" charset="0"/>
              </a:rPr>
              <a:t>no registra seguimiento o trazabilidad, estado, ni copia a las partes involucradas cuando ha sido revertido, admisibilidad errada, baja de expedientes y no permite derivar a las áreas generadoras (control manual).</a:t>
            </a:r>
          </a:p>
          <a:p>
            <a:pPr marL="342900" lvl="0" indent="-342900">
              <a:lnSpc>
                <a:spcPct val="115000"/>
              </a:lnSpc>
              <a:buFont typeface="Arial" panose="020B0604020202020204" pitchFamily="34" charset="0"/>
              <a:buChar char="•"/>
            </a:pPr>
            <a:r>
              <a:rPr lang="es-PE" sz="2000" b="1" dirty="0">
                <a:effectLst/>
                <a:latin typeface="Arial" panose="020B0604020202020204" pitchFamily="34" charset="0"/>
                <a:ea typeface="Calibri" panose="020F0502020204030204" pitchFamily="34" charset="0"/>
                <a:cs typeface="Arial" panose="020B0604020202020204" pitchFamily="34" charset="0"/>
              </a:rPr>
              <a:t>Reportes</a:t>
            </a:r>
            <a:r>
              <a:rPr lang="es-PE" sz="2000" dirty="0">
                <a:effectLst/>
                <a:latin typeface="Arial" panose="020B0604020202020204" pitchFamily="34" charset="0"/>
                <a:ea typeface="Calibri" panose="020F0502020204030204" pitchFamily="34" charset="0"/>
                <a:cs typeface="Arial" panose="020B0604020202020204" pitchFamily="34" charset="0"/>
              </a:rPr>
              <a:t>: inconsistencia entre reporte de consulta y el reporte manual.</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Acumulación</a:t>
            </a:r>
            <a:r>
              <a:rPr lang="es-PE" sz="2000" dirty="0">
                <a:latin typeface="Arial" panose="020B0604020202020204" pitchFamily="34" charset="0"/>
                <a:ea typeface="Calibri" panose="020F0502020204030204" pitchFamily="34" charset="0"/>
                <a:cs typeface="Arial" panose="020B0604020202020204" pitchFamily="34" charset="0"/>
              </a:rPr>
              <a:t>: no te permite acumular expedientes de reclamo.</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Alertas</a:t>
            </a:r>
            <a:r>
              <a:rPr lang="es-PE" sz="2000" dirty="0">
                <a:latin typeface="Arial" panose="020B0604020202020204" pitchFamily="34" charset="0"/>
                <a:ea typeface="Calibri" panose="020F0502020204030204" pitchFamily="34" charset="0"/>
                <a:cs typeface="Arial" panose="020B0604020202020204" pitchFamily="34" charset="0"/>
              </a:rPr>
              <a:t>: requerimientos pendiente cuando ya están atendidos y se solicita alerta de reporte de vencimiento de expedientes a cada resolutor.</a:t>
            </a:r>
          </a:p>
          <a:p>
            <a:pPr marL="342900" lvl="0" indent="-342900">
              <a:lnSpc>
                <a:spcPct val="115000"/>
              </a:lnSpc>
              <a:buFont typeface="Arial" panose="020B0604020202020204" pitchFamily="34" charset="0"/>
              <a:buChar char="•"/>
            </a:pPr>
            <a:r>
              <a:rPr lang="es-PE" sz="2000" b="1" dirty="0">
                <a:latin typeface="Arial" panose="020B0604020202020204" pitchFamily="34" charset="0"/>
                <a:ea typeface="Calibri" panose="020F0502020204030204" pitchFamily="34" charset="0"/>
                <a:cs typeface="Arial" panose="020B0604020202020204" pitchFamily="34" charset="0"/>
              </a:rPr>
              <a:t>Estandarización</a:t>
            </a:r>
            <a:r>
              <a:rPr lang="es-PE" sz="2000" dirty="0">
                <a:latin typeface="Arial" panose="020B0604020202020204" pitchFamily="34" charset="0"/>
                <a:ea typeface="Calibri" panose="020F0502020204030204" pitchFamily="34" charset="0"/>
                <a:cs typeface="Arial" panose="020B0604020202020204" pitchFamily="34" charset="0"/>
              </a:rPr>
              <a:t> de carga de </a:t>
            </a:r>
            <a:r>
              <a:rPr lang="es-PE" sz="2000" dirty="0">
                <a:effectLst/>
                <a:latin typeface="Arial" panose="020B0604020202020204" pitchFamily="34" charset="0"/>
                <a:ea typeface="Calibri" panose="020F0502020204030204" pitchFamily="34" charset="0"/>
                <a:cs typeface="Arial" panose="020B0604020202020204" pitchFamily="34" charset="0"/>
              </a:rPr>
              <a:t>documentos digitalizados.</a:t>
            </a:r>
          </a:p>
          <a:p>
            <a:pPr lvl="0">
              <a:lnSpc>
                <a:spcPct val="107000"/>
              </a:lnSpc>
              <a:spcAft>
                <a:spcPts val="800"/>
              </a:spcAft>
            </a:pPr>
            <a:endParaRPr lang="es-PE"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4284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2" descr="Archivo:SUNAT.svg">
            <a:extLst>
              <a:ext uri="{FF2B5EF4-FFF2-40B4-BE49-F238E27FC236}">
                <a16:creationId xmlns:a16="http://schemas.microsoft.com/office/drawing/2014/main" id="{BCA30440-B015-4048-BCEC-E2D3949F1666}"/>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10326966" y="338454"/>
            <a:ext cx="1653907" cy="459534"/>
          </a:xfrm>
          <a:prstGeom prst="rect">
            <a:avLst/>
          </a:prstGeom>
          <a:noFill/>
          <a:extLst>
            <a:ext uri="{909E8E84-426E-40DD-AFC4-6F175D3DCCD1}">
              <a14:hiddenFill xmlns:a14="http://schemas.microsoft.com/office/drawing/2010/main">
                <a:solidFill>
                  <a:srgbClr val="FFFFFF"/>
                </a:solidFill>
              </a14:hiddenFill>
            </a:ext>
          </a:extLst>
        </p:spPr>
      </p:pic>
      <p:cxnSp>
        <p:nvCxnSpPr>
          <p:cNvPr id="75" name="Conector recto 74">
            <a:extLst>
              <a:ext uri="{FF2B5EF4-FFF2-40B4-BE49-F238E27FC236}">
                <a16:creationId xmlns:a16="http://schemas.microsoft.com/office/drawing/2014/main" id="{1596EF42-AA6F-4EF2-941F-F8E3F06C3FA1}"/>
              </a:ext>
            </a:extLst>
          </p:cNvPr>
          <p:cNvCxnSpPr/>
          <p:nvPr/>
        </p:nvCxnSpPr>
        <p:spPr>
          <a:xfrm>
            <a:off x="292044" y="1001498"/>
            <a:ext cx="11329957" cy="0"/>
          </a:xfrm>
          <a:prstGeom prst="line">
            <a:avLst/>
          </a:prstGeom>
          <a:ln>
            <a:solidFill>
              <a:srgbClr val="00B0F0"/>
            </a:solidFill>
          </a:ln>
        </p:spPr>
        <p:style>
          <a:lnRef idx="3">
            <a:schemeClr val="accent1"/>
          </a:lnRef>
          <a:fillRef idx="0">
            <a:schemeClr val="accent1"/>
          </a:fillRef>
          <a:effectRef idx="2">
            <a:schemeClr val="accent1"/>
          </a:effectRef>
          <a:fontRef idx="minor">
            <a:schemeClr val="tx1"/>
          </a:fontRef>
        </p:style>
      </p:cxnSp>
      <p:sp>
        <p:nvSpPr>
          <p:cNvPr id="95" name="Título 94">
            <a:extLst>
              <a:ext uri="{FF2B5EF4-FFF2-40B4-BE49-F238E27FC236}">
                <a16:creationId xmlns:a16="http://schemas.microsoft.com/office/drawing/2014/main" id="{507D4995-A2FE-41D7-817D-6EBF72D5AD33}"/>
              </a:ext>
            </a:extLst>
          </p:cNvPr>
          <p:cNvSpPr>
            <a:spLocks noGrp="1"/>
          </p:cNvSpPr>
          <p:nvPr>
            <p:ph type="title"/>
          </p:nvPr>
        </p:nvSpPr>
        <p:spPr>
          <a:xfrm>
            <a:off x="1106401" y="3287432"/>
            <a:ext cx="10515600" cy="636373"/>
          </a:xfrm>
        </p:spPr>
        <p:txBody>
          <a:bodyPr>
            <a:noAutofit/>
          </a:bodyPr>
          <a:lstStyle/>
          <a:p>
            <a:pPr algn="ctr"/>
            <a:r>
              <a:rPr lang="es-ES" sz="3800" b="1" dirty="0">
                <a:latin typeface="Arial" panose="020B0604020202020204" pitchFamily="34" charset="0"/>
                <a:cs typeface="Arial" panose="020B0604020202020204" pitchFamily="34" charset="0"/>
              </a:rPr>
              <a:t>GRACIAS </a:t>
            </a:r>
            <a:endParaRPr lang="es-PE" sz="38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11775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63A6AE8B7E4A2449C903AFD2456BD74" ma:contentTypeVersion="4" ma:contentTypeDescription="Crear nuevo documento." ma:contentTypeScope="" ma:versionID="ddec260070336827ee8c328f02272273">
  <xsd:schema xmlns:xsd="http://www.w3.org/2001/XMLSchema" xmlns:xs="http://www.w3.org/2001/XMLSchema" xmlns:p="http://schemas.microsoft.com/office/2006/metadata/properties" xmlns:ns2="c4795172-acc8-41fc-abdb-af5ed44f61af" targetNamespace="http://schemas.microsoft.com/office/2006/metadata/properties" ma:root="true" ma:fieldsID="590a657cbc5fcb450edb0ba38c295f5b" ns2:_="">
    <xsd:import namespace="c4795172-acc8-41fc-abdb-af5ed44f61a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795172-acc8-41fc-abdb-af5ed44f61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CE61BD0-20D6-4F21-8882-78A91872CF38}"/>
</file>

<file path=customXml/itemProps2.xml><?xml version="1.0" encoding="utf-8"?>
<ds:datastoreItem xmlns:ds="http://schemas.openxmlformats.org/officeDocument/2006/customXml" ds:itemID="{0005BCD3-87EA-414A-B113-CF338AF3D11F}"/>
</file>

<file path=customXml/itemProps3.xml><?xml version="1.0" encoding="utf-8"?>
<ds:datastoreItem xmlns:ds="http://schemas.openxmlformats.org/officeDocument/2006/customXml" ds:itemID="{F5C2513F-7F53-4014-A1F0-AD5103A7DCCD}"/>
</file>

<file path=docProps/app.xml><?xml version="1.0" encoding="utf-8"?>
<Properties xmlns="http://schemas.openxmlformats.org/officeDocument/2006/extended-properties" xmlns:vt="http://schemas.openxmlformats.org/officeDocument/2006/docPropsVTypes">
  <TotalTime>20941</TotalTime>
  <Words>4424</Words>
  <Application>Microsoft Office PowerPoint</Application>
  <PresentationFormat>Panorámica</PresentationFormat>
  <Paragraphs>1370</Paragraphs>
  <Slides>23</Slides>
  <Notes>23</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23</vt:i4>
      </vt:variant>
    </vt:vector>
  </HeadingPairs>
  <TitlesOfParts>
    <vt:vector size="28" baseType="lpstr">
      <vt:lpstr>Arial</vt:lpstr>
      <vt:lpstr>Calibri</vt:lpstr>
      <vt:lpstr>Calibri Light</vt:lpstr>
      <vt:lpstr>Times New Roman</vt:lpstr>
      <vt:lpstr>Tema de Office</vt:lpstr>
      <vt:lpstr>Presentación de PowerPoint</vt:lpstr>
      <vt:lpstr>STOCK DE DOCUMENTOS– 2024</vt:lpstr>
      <vt:lpstr>PRODUCTIVIDAD RECLAMOS – 2023 - 2024</vt:lpstr>
      <vt:lpstr>PRODUCTIVIDAD FEBRERO 2024</vt:lpstr>
      <vt:lpstr>PROGRAMACIÓN Y PRODUCCIÓN–2023-2024</vt:lpstr>
      <vt:lpstr>PRODUCTIVIDAD POR SUPERVISIÓN</vt:lpstr>
      <vt:lpstr>PROYECTADO Y NO APLICADO </vt:lpstr>
      <vt:lpstr>PRODUCCIÓN POR RESOLUTOR-DCCI</vt:lpstr>
      <vt:lpstr>PRODUCCIÓN POR RESOLUTOR-DCCII</vt:lpstr>
      <vt:lpstr>PRODUCCIÓN POR RESOLUTOR-DCP</vt:lpstr>
      <vt:lpstr>STOCK VENCIDOS</vt:lpstr>
      <vt:lpstr>NO GESTIONABLE Y REINGRESADOS </vt:lpstr>
      <vt:lpstr>ITOP REPORTADOS–2023</vt:lpstr>
      <vt:lpstr>RESULTADOS DE RECLAMO - 2024 </vt:lpstr>
      <vt:lpstr>SUMILLAS DE NULIDADES DECLARADAS POR LA GAFA ENERO-DCCI</vt:lpstr>
      <vt:lpstr>SUMILLAS DE NULIDADES DECLARADAS POR LA GAFA FEBRERO-DCCI</vt:lpstr>
      <vt:lpstr>SUMILLAS DE NULIDADES DECLARADAS POR LA GAFA-DCCII</vt:lpstr>
      <vt:lpstr>SUMILLAS DE NULIDADES DECLARADAS POR LA GAFA-DCP</vt:lpstr>
      <vt:lpstr>OPORTUNIDAD DE MEJORA </vt:lpstr>
      <vt:lpstr>OPORTUNIDAD DE MEJORA </vt:lpstr>
      <vt:lpstr>DESAFIOS/PROPUESTAS </vt:lpstr>
      <vt:lpstr>REQUERIMIENTO: REPORTES DE GESTIÓN</vt:lpstr>
      <vt:lpstr>GRACIAS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Rondon Malaga Johanna Karelle</dc:creator>
  <cp:lastModifiedBy>Gonzales Estrada Sara Stephany</cp:lastModifiedBy>
  <cp:revision>522</cp:revision>
  <cp:lastPrinted>2023-01-10T23:55:26Z</cp:lastPrinted>
  <dcterms:created xsi:type="dcterms:W3CDTF">2022-11-02T14:55:38Z</dcterms:created>
  <dcterms:modified xsi:type="dcterms:W3CDTF">2024-03-06T21:41:11Z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0x010100863A6AE8B7E4A2449C903AFD2456BD74</vt:lpwstr>
  </property>
</Properties>
</file>