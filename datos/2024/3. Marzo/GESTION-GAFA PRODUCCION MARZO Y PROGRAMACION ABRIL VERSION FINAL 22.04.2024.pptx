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entation.xml" ContentType="application/vnd.openxmlformats-officedocument.presentationml.presentation.main+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charts/colors2.xml" ContentType="application/vnd.ms-office.chartcolorstyle+xml"/>
  <Override PartName="/ppt/charts/style2.xml" ContentType="application/vnd.ms-office.chartstyle+xml"/>
  <Override PartName="/ppt/charts/chart2.xml" ContentType="application/vnd.openxmlformats-officedocument.drawingml.chart+xml"/>
  <Override PartName="/ppt/theme/themeOverride1.xml" ContentType="application/vnd.openxmlformats-officedocument.themeOverride+xml"/>
  <Override PartName="/ppt/charts/colors1.xml" ContentType="application/vnd.ms-office.chartcolorstyle+xml"/>
  <Override PartName="/ppt/charts/style1.xml" ContentType="application/vnd.ms-office.chartstyle+xml"/>
  <Override PartName="/ppt/charts/chart1.xml" ContentType="application/vnd.openxmlformats-officedocument.drawingml.chart+xml"/>
  <Override PartName="/ppt/theme/themeOverride2.xml" ContentType="application/vnd.openxmlformats-officedocument.themeOverr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5744" r:id="rId2"/>
    <p:sldId id="5762" r:id="rId3"/>
    <p:sldId id="5746" r:id="rId4"/>
    <p:sldId id="5782" r:id="rId5"/>
    <p:sldId id="5761" r:id="rId6"/>
    <p:sldId id="5777" r:id="rId7"/>
    <p:sldId id="5778" r:id="rId8"/>
    <p:sldId id="5787" r:id="rId9"/>
    <p:sldId id="5785" r:id="rId10"/>
    <p:sldId id="5786" r:id="rId11"/>
    <p:sldId id="5764" r:id="rId12"/>
    <p:sldId id="5774" r:id="rId13"/>
    <p:sldId id="5780" r:id="rId14"/>
    <p:sldId id="5788" r:id="rId15"/>
    <p:sldId id="5790" r:id="rId16"/>
    <p:sldId id="5789" r:id="rId17"/>
    <p:sldId id="5791" r:id="rId18"/>
    <p:sldId id="5784" r:id="rId19"/>
    <p:sldId id="5792" r:id="rId20"/>
    <p:sldId id="5767" r:id="rId21"/>
    <p:sldId id="5752" r:id="rId22"/>
    <p:sldId id="5757" r:id="rId23"/>
  </p:sldIdLst>
  <p:sldSz cx="12192000" cy="6858000"/>
  <p:notesSz cx="6797675" cy="9926638"/>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FF66FF"/>
    <a:srgbClr val="CCFF99"/>
    <a:srgbClr val="CCFFCC"/>
    <a:srgbClr val="99CC00"/>
    <a:srgbClr val="2FBF85"/>
    <a:srgbClr val="FFCCFF"/>
    <a:srgbClr val="FFCCCC"/>
    <a:srgbClr val="99FFCC"/>
    <a:srgbClr val="5869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27F97BB-C833-4FB7-BDE5-3F7075034690}" styleName="Estilo temático 2 - Énfasis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929F9F4-4A8F-4326-A1B4-22849713DDAB}" styleName="Estilo oscuro 1 - Énfasis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Estilo oscuro 1 - Énfasis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2.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80" b="1" i="0" u="none" strike="noStrike" kern="1200" spc="0" baseline="0">
                <a:solidFill>
                  <a:schemeClr val="dk1"/>
                </a:solidFill>
                <a:latin typeface="+mn-lt"/>
                <a:ea typeface="+mn-ea"/>
                <a:cs typeface="+mn-cs"/>
              </a:defRPr>
            </a:pPr>
            <a:r>
              <a:rPr lang="es-PE" b="1"/>
              <a:t>Resultados de Reclamos de Aduanas</a:t>
            </a:r>
          </a:p>
          <a:p>
            <a:pPr>
              <a:defRPr b="1"/>
            </a:pPr>
            <a:r>
              <a:rPr lang="es-PE" b="1"/>
              <a:t>Ene-Dic 2023</a:t>
            </a:r>
          </a:p>
        </c:rich>
      </c:tx>
      <c:layout>
        <c:manualLayout>
          <c:xMode val="edge"/>
          <c:yMode val="edge"/>
          <c:x val="0.35653306494582915"/>
          <c:y val="3.7888351669385606E-3"/>
        </c:manualLayout>
      </c:layout>
      <c:overlay val="0"/>
      <c:spPr>
        <a:noFill/>
        <a:ln>
          <a:noFill/>
        </a:ln>
        <a:effectLst/>
      </c:spPr>
      <c:txPr>
        <a:bodyPr rot="0" spcFirstLastPara="1" vertOverflow="ellipsis" vert="horz" wrap="square" anchor="ctr" anchorCtr="1"/>
        <a:lstStyle/>
        <a:p>
          <a:pPr>
            <a:defRPr sz="1680" b="1" i="0" u="none" strike="noStrike" kern="1200" spc="0" baseline="0">
              <a:solidFill>
                <a:schemeClr val="dk1"/>
              </a:solidFill>
              <a:latin typeface="+mn-lt"/>
              <a:ea typeface="+mn-ea"/>
              <a:cs typeface="+mn-cs"/>
            </a:defRPr>
          </a:pPr>
          <a:endParaRPr lang="es-PE"/>
        </a:p>
      </c:txPr>
    </c:title>
    <c:autoTitleDeleted val="0"/>
    <c:plotArea>
      <c:layout/>
      <c:barChart>
        <c:barDir val="col"/>
        <c:grouping val="clustered"/>
        <c:varyColors val="0"/>
        <c:ser>
          <c:idx val="0"/>
          <c:order val="0"/>
          <c:spPr>
            <a:solidFill>
              <a:schemeClr val="accent2">
                <a:lumMod val="60000"/>
                <a:lumOff val="40000"/>
              </a:schemeClr>
            </a:solidFill>
            <a:ln>
              <a:noFill/>
            </a:ln>
            <a:effectLst/>
          </c:spPr>
          <c:invertIfNegative val="0"/>
          <c:dPt>
            <c:idx val="6"/>
            <c:invertIfNegative val="0"/>
            <c:bubble3D val="0"/>
            <c:spPr>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a:ln w="6350" cap="flat" cmpd="sng" algn="ctr">
                <a:solidFill>
                  <a:schemeClr val="accent6"/>
                </a:solidFill>
                <a:prstDash val="solid"/>
                <a:miter lim="800000"/>
              </a:ln>
              <a:effectLst/>
            </c:spPr>
            <c:extLst>
              <c:ext xmlns:c16="http://schemas.microsoft.com/office/drawing/2014/chart" uri="{C3380CC4-5D6E-409C-BE32-E72D297353CC}">
                <c16:uniqueId val="{00000001-3CCD-453E-ABA9-FF0DB7543258}"/>
              </c:ext>
            </c:extLst>
          </c:dPt>
          <c:cat>
            <c:strRef>
              <c:f>'RECLAMOS-RTF'!$A$5:$A$11</c:f>
              <c:strCache>
                <c:ptCount val="7"/>
                <c:pt idx="0">
                  <c:v>Infundado</c:v>
                </c:pt>
                <c:pt idx="1">
                  <c:v>Fundado/F.P</c:v>
                </c:pt>
                <c:pt idx="2">
                  <c:v>Nulidad</c:v>
                </c:pt>
                <c:pt idx="3">
                  <c:v>Improcedente</c:v>
                </c:pt>
                <c:pt idx="4">
                  <c:v>Desistimiento</c:v>
                </c:pt>
                <c:pt idx="5">
                  <c:v>Otros</c:v>
                </c:pt>
                <c:pt idx="6">
                  <c:v>Total</c:v>
                </c:pt>
              </c:strCache>
            </c:strRef>
          </c:cat>
          <c:val>
            <c:numRef>
              <c:f>'RECLAMOS-RTF'!$B$5:$B$11</c:f>
              <c:numCache>
                <c:formatCode>General</c:formatCode>
                <c:ptCount val="7"/>
                <c:pt idx="0">
                  <c:v>4740</c:v>
                </c:pt>
                <c:pt idx="1">
                  <c:v>211</c:v>
                </c:pt>
                <c:pt idx="2">
                  <c:v>404</c:v>
                </c:pt>
                <c:pt idx="3">
                  <c:v>8</c:v>
                </c:pt>
                <c:pt idx="4">
                  <c:v>4</c:v>
                </c:pt>
                <c:pt idx="5">
                  <c:v>66</c:v>
                </c:pt>
                <c:pt idx="6">
                  <c:v>5433</c:v>
                </c:pt>
              </c:numCache>
            </c:numRef>
          </c:val>
          <c:extLst>
            <c:ext xmlns:c16="http://schemas.microsoft.com/office/drawing/2014/chart" uri="{C3380CC4-5D6E-409C-BE32-E72D297353CC}">
              <c16:uniqueId val="{00000002-3CCD-453E-ABA9-FF0DB7543258}"/>
            </c:ext>
          </c:extLst>
        </c:ser>
        <c:ser>
          <c:idx val="1"/>
          <c:order val="1"/>
          <c:spPr>
            <a:solidFill>
              <a:schemeClr val="accent2"/>
            </a:solidFill>
            <a:ln>
              <a:noFill/>
            </a:ln>
            <a:effectLst/>
          </c:spPr>
          <c:invertIfNegative val="0"/>
          <c:cat>
            <c:strRef>
              <c:f>'RECLAMOS-RTF'!$A$5:$A$11</c:f>
              <c:strCache>
                <c:ptCount val="7"/>
                <c:pt idx="0">
                  <c:v>Infundado</c:v>
                </c:pt>
                <c:pt idx="1">
                  <c:v>Fundado/F.P</c:v>
                </c:pt>
                <c:pt idx="2">
                  <c:v>Nulidad</c:v>
                </c:pt>
                <c:pt idx="3">
                  <c:v>Improcedente</c:v>
                </c:pt>
                <c:pt idx="4">
                  <c:v>Desistimiento</c:v>
                </c:pt>
                <c:pt idx="5">
                  <c:v>Otros</c:v>
                </c:pt>
                <c:pt idx="6">
                  <c:v>Total</c:v>
                </c:pt>
              </c:strCache>
            </c:strRef>
          </c:cat>
          <c:val>
            <c:numRef>
              <c:f>'RECLAMOS-RTF'!$C$5:$C$11</c:f>
              <c:numCache>
                <c:formatCode>0.00%</c:formatCode>
                <c:ptCount val="7"/>
                <c:pt idx="0">
                  <c:v>0.87244616234124794</c:v>
                </c:pt>
                <c:pt idx="1">
                  <c:v>3.8836738450211669E-2</c:v>
                </c:pt>
                <c:pt idx="2">
                  <c:v>7.4360390207988222E-2</c:v>
                </c:pt>
                <c:pt idx="3">
                  <c:v>1.4724829744156083E-3</c:v>
                </c:pt>
                <c:pt idx="4">
                  <c:v>7.3624148720780416E-4</c:v>
                </c:pt>
                <c:pt idx="5">
                  <c:v>1.2147984538928768E-2</c:v>
                </c:pt>
                <c:pt idx="6">
                  <c:v>1</c:v>
                </c:pt>
              </c:numCache>
            </c:numRef>
          </c:val>
          <c:extLst>
            <c:ext xmlns:c16="http://schemas.microsoft.com/office/drawing/2014/chart" uri="{C3380CC4-5D6E-409C-BE32-E72D297353CC}">
              <c16:uniqueId val="{00000003-3CCD-453E-ABA9-FF0DB7543258}"/>
            </c:ext>
          </c:extLst>
        </c:ser>
        <c:dLbls>
          <c:showLegendKey val="0"/>
          <c:showVal val="0"/>
          <c:showCatName val="0"/>
          <c:showSerName val="0"/>
          <c:showPercent val="0"/>
          <c:showBubbleSize val="0"/>
        </c:dLbls>
        <c:gapWidth val="150"/>
        <c:axId val="1422598640"/>
        <c:axId val="1422580752"/>
      </c:barChart>
      <c:catAx>
        <c:axId val="1422598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crossAx val="1422580752"/>
        <c:crosses val="autoZero"/>
        <c:auto val="1"/>
        <c:lblAlgn val="ctr"/>
        <c:lblOffset val="100"/>
        <c:noMultiLvlLbl val="0"/>
      </c:catAx>
      <c:valAx>
        <c:axId val="1422580752"/>
        <c:scaling>
          <c:orientation val="minMax"/>
        </c:scaling>
        <c:delete val="0"/>
        <c:axPos val="l"/>
        <c:majorGridlines>
          <c:spPr>
            <a:ln w="6350" cap="flat" cmpd="sng" algn="ctr">
              <a:solidFill>
                <a:schemeClr val="accent2"/>
              </a:solidFill>
              <a:prstDash val="solid"/>
              <a:miter lim="800000"/>
            </a:ln>
            <a:effectLst/>
          </c:spPr>
        </c:majorGridlines>
        <c:title>
          <c:tx>
            <c:rich>
              <a:bodyPr rot="-5400000" spcFirstLastPara="1" vertOverflow="ellipsis" vert="horz" wrap="square" anchor="ctr" anchorCtr="1"/>
              <a:lstStyle/>
              <a:p>
                <a:pPr>
                  <a:defRPr sz="1400" b="0" i="0" u="none" strike="noStrike" kern="1200" baseline="0">
                    <a:solidFill>
                      <a:schemeClr val="dk1"/>
                    </a:solidFill>
                    <a:latin typeface="+mn-lt"/>
                    <a:ea typeface="+mn-ea"/>
                    <a:cs typeface="+mn-cs"/>
                  </a:defRPr>
                </a:pPr>
                <a:r>
                  <a:rPr lang="es-PE"/>
                  <a:t>TOTALES</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crossAx val="1422598640"/>
        <c:crosses val="autoZero"/>
        <c:crossBetween val="between"/>
      </c:valAx>
      <c:dTable>
        <c:showHorzBorder val="1"/>
        <c:showVertBorder val="1"/>
        <c:showOutline val="1"/>
        <c:showKeys val="1"/>
        <c:spPr>
          <a:noFill/>
          <a:ln w="6350" cap="flat" cmpd="sng" algn="ctr">
            <a:solidFill>
              <a:srgbClr val="ED7D31"/>
            </a:solidFill>
            <a:prstDash val="solid"/>
            <a:miter lim="800000"/>
          </a:ln>
          <a:effectLst/>
        </c:spPr>
        <c:txPr>
          <a:bodyPr rot="0" spcFirstLastPara="1" vertOverflow="ellipsis" vert="horz" wrap="square" anchor="ctr" anchorCtr="1"/>
          <a:lstStyle/>
          <a:p>
            <a:pPr rtl="0">
              <a:defRPr sz="1400" b="1" i="0" u="none" strike="noStrike" kern="1200" baseline="0">
                <a:solidFill>
                  <a:sysClr val="windowText" lastClr="000000"/>
                </a:solidFill>
                <a:latin typeface="+mn-lt"/>
                <a:ea typeface="+mn-ea"/>
                <a:cs typeface="+mn-cs"/>
              </a:defRPr>
            </a:pPr>
            <a:endParaRPr lang="es-PE"/>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12700" cap="flat" cmpd="sng" algn="ctr">
      <a:solidFill>
        <a:schemeClr val="accent2"/>
      </a:solidFill>
      <a:prstDash val="solid"/>
      <a:miter lim="800000"/>
    </a:ln>
    <a:effectLst/>
  </c:spPr>
  <c:txPr>
    <a:bodyPr/>
    <a:lstStyle/>
    <a:p>
      <a:pPr>
        <a:defRPr sz="1400">
          <a:solidFill>
            <a:schemeClr val="dk1"/>
          </a:solidFill>
          <a:latin typeface="+mn-lt"/>
          <a:ea typeface="+mn-ea"/>
          <a:cs typeface="+mn-cs"/>
        </a:defRPr>
      </a:pPr>
      <a:endParaRPr lang="es-PE"/>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80" b="1" i="0" u="none" strike="noStrike" kern="1200" spc="0" baseline="0">
                <a:solidFill>
                  <a:sysClr val="windowText" lastClr="000000"/>
                </a:solidFill>
                <a:latin typeface="+mn-lt"/>
                <a:ea typeface="+mn-ea"/>
                <a:cs typeface="+mn-cs"/>
              </a:defRPr>
            </a:pPr>
            <a:r>
              <a:rPr lang="es-PE" b="1"/>
              <a:t>Resultados de Reclamos de Aduanas</a:t>
            </a:r>
          </a:p>
          <a:p>
            <a:pPr>
              <a:defRPr b="1"/>
            </a:pPr>
            <a:r>
              <a:rPr lang="es-PE" b="1"/>
              <a:t>Ene-Mar 2024</a:t>
            </a:r>
          </a:p>
        </c:rich>
      </c:tx>
      <c:overlay val="0"/>
      <c:spPr>
        <a:noFill/>
        <a:ln>
          <a:noFill/>
        </a:ln>
        <a:effectLst/>
      </c:spPr>
      <c:txPr>
        <a:bodyPr rot="0" spcFirstLastPara="1" vertOverflow="ellipsis" vert="horz" wrap="square" anchor="ctr" anchorCtr="1"/>
        <a:lstStyle/>
        <a:p>
          <a:pPr>
            <a:defRPr sz="1680" b="1" i="0" u="none" strike="noStrike" kern="1200" spc="0" baseline="0">
              <a:solidFill>
                <a:sysClr val="windowText" lastClr="000000"/>
              </a:solidFill>
              <a:latin typeface="+mn-lt"/>
              <a:ea typeface="+mn-ea"/>
              <a:cs typeface="+mn-cs"/>
            </a:defRPr>
          </a:pPr>
          <a:endParaRPr lang="es-PE"/>
        </a:p>
      </c:txPr>
    </c:title>
    <c:autoTitleDeleted val="0"/>
    <c:plotArea>
      <c:layout/>
      <c:barChart>
        <c:barDir val="col"/>
        <c:grouping val="clustered"/>
        <c:varyColors val="0"/>
        <c:ser>
          <c:idx val="0"/>
          <c:order val="0"/>
          <c:spPr>
            <a:solidFill>
              <a:schemeClr val="accent6"/>
            </a:solidFill>
            <a:ln w="19050" cap="flat" cmpd="sng" algn="ctr">
              <a:solidFill>
                <a:schemeClr val="lt1"/>
              </a:solidFill>
              <a:prstDash val="solid"/>
              <a:miter lim="800000"/>
            </a:ln>
            <a:effectLst/>
          </c:spPr>
          <c:invertIfNegative val="0"/>
          <c:cat>
            <c:strRef>
              <c:f>RESULTADOS!$C$23:$C$29</c:f>
              <c:strCache>
                <c:ptCount val="7"/>
                <c:pt idx="0">
                  <c:v>Infundado</c:v>
                </c:pt>
                <c:pt idx="1">
                  <c:v>Fundado / F.P</c:v>
                </c:pt>
                <c:pt idx="2">
                  <c:v>Nulidad</c:v>
                </c:pt>
                <c:pt idx="3">
                  <c:v>Improcedente</c:v>
                </c:pt>
                <c:pt idx="4">
                  <c:v>Desistimiento </c:v>
                </c:pt>
                <c:pt idx="5">
                  <c:v>Otros </c:v>
                </c:pt>
                <c:pt idx="6">
                  <c:v>TOTAL</c:v>
                </c:pt>
              </c:strCache>
            </c:strRef>
          </c:cat>
          <c:val>
            <c:numRef>
              <c:f>RESULTADOS!$D$23:$D$29</c:f>
              <c:numCache>
                <c:formatCode>General</c:formatCode>
                <c:ptCount val="7"/>
                <c:pt idx="0">
                  <c:v>969</c:v>
                </c:pt>
                <c:pt idx="1">
                  <c:v>29</c:v>
                </c:pt>
                <c:pt idx="2">
                  <c:v>60</c:v>
                </c:pt>
                <c:pt idx="3">
                  <c:v>0</c:v>
                </c:pt>
                <c:pt idx="4">
                  <c:v>1</c:v>
                </c:pt>
                <c:pt idx="5">
                  <c:v>21</c:v>
                </c:pt>
                <c:pt idx="6">
                  <c:v>1080</c:v>
                </c:pt>
              </c:numCache>
            </c:numRef>
          </c:val>
          <c:extLst>
            <c:ext xmlns:c16="http://schemas.microsoft.com/office/drawing/2014/chart" uri="{C3380CC4-5D6E-409C-BE32-E72D297353CC}">
              <c16:uniqueId val="{00000000-5CB3-4F1C-9A47-59AE2AEBCE3F}"/>
            </c:ext>
          </c:extLst>
        </c:ser>
        <c:ser>
          <c:idx val="1"/>
          <c:order val="1"/>
          <c:spPr>
            <a:solidFill>
              <a:schemeClr val="accent5"/>
            </a:solidFill>
            <a:ln>
              <a:noFill/>
            </a:ln>
            <a:effectLst/>
          </c:spPr>
          <c:invertIfNegative val="0"/>
          <c:cat>
            <c:strRef>
              <c:f>RESULTADOS!$C$23:$C$29</c:f>
              <c:strCache>
                <c:ptCount val="7"/>
                <c:pt idx="0">
                  <c:v>Infundado</c:v>
                </c:pt>
                <c:pt idx="1">
                  <c:v>Fundado / F.P</c:v>
                </c:pt>
                <c:pt idx="2">
                  <c:v>Nulidad</c:v>
                </c:pt>
                <c:pt idx="3">
                  <c:v>Improcedente</c:v>
                </c:pt>
                <c:pt idx="4">
                  <c:v>Desistimiento </c:v>
                </c:pt>
                <c:pt idx="5">
                  <c:v>Otros </c:v>
                </c:pt>
                <c:pt idx="6">
                  <c:v>TOTAL</c:v>
                </c:pt>
              </c:strCache>
            </c:strRef>
          </c:cat>
          <c:val>
            <c:numRef>
              <c:f>RESULTADOS!$E$23:$E$29</c:f>
              <c:numCache>
                <c:formatCode>0.00%</c:formatCode>
                <c:ptCount val="7"/>
                <c:pt idx="0">
                  <c:v>0.89722222222222225</c:v>
                </c:pt>
                <c:pt idx="1">
                  <c:v>2.6851851851851852E-2</c:v>
                </c:pt>
                <c:pt idx="2">
                  <c:v>5.5555555555555552E-2</c:v>
                </c:pt>
                <c:pt idx="3">
                  <c:v>0</c:v>
                </c:pt>
                <c:pt idx="4">
                  <c:v>9.2592592592592596E-4</c:v>
                </c:pt>
                <c:pt idx="5">
                  <c:v>1.9444444444444445E-2</c:v>
                </c:pt>
                <c:pt idx="6">
                  <c:v>1</c:v>
                </c:pt>
              </c:numCache>
            </c:numRef>
          </c:val>
          <c:extLst>
            <c:ext xmlns:c16="http://schemas.microsoft.com/office/drawing/2014/chart" uri="{C3380CC4-5D6E-409C-BE32-E72D297353CC}">
              <c16:uniqueId val="{00000001-5CB3-4F1C-9A47-59AE2AEBCE3F}"/>
            </c:ext>
          </c:extLst>
        </c:ser>
        <c:dLbls>
          <c:showLegendKey val="0"/>
          <c:showVal val="0"/>
          <c:showCatName val="0"/>
          <c:showSerName val="0"/>
          <c:showPercent val="0"/>
          <c:showBubbleSize val="0"/>
        </c:dLbls>
        <c:gapWidth val="150"/>
        <c:axId val="592604288"/>
        <c:axId val="592581824"/>
      </c:barChart>
      <c:catAx>
        <c:axId val="592604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s-PE"/>
          </a:p>
        </c:txPr>
        <c:crossAx val="592581824"/>
        <c:crosses val="autoZero"/>
        <c:auto val="1"/>
        <c:lblAlgn val="ctr"/>
        <c:lblOffset val="100"/>
        <c:noMultiLvlLbl val="0"/>
      </c:catAx>
      <c:valAx>
        <c:axId val="592581824"/>
        <c:scaling>
          <c:orientation val="minMax"/>
        </c:scaling>
        <c:delete val="0"/>
        <c:axPos val="l"/>
        <c:majorGridlines>
          <c:spPr>
            <a:ln w="6350" cap="flat" cmpd="sng" algn="ctr">
              <a:solidFill>
                <a:schemeClr val="accent6"/>
              </a:solidFill>
              <a:prstDash val="solid"/>
              <a:miter lim="800000"/>
            </a:ln>
            <a:effectLst/>
          </c:spPr>
        </c:majorGridlines>
        <c:title>
          <c:tx>
            <c:rich>
              <a:bodyPr rot="-54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s-PE"/>
                  <a:t>TOTALES</a:t>
                </a:r>
              </a:p>
            </c:rich>
          </c:tx>
          <c:overlay val="0"/>
          <c:spPr>
            <a:noFill/>
            <a:ln>
              <a:noFill/>
            </a:ln>
            <a:effectLst/>
          </c:spPr>
          <c:txPr>
            <a:bodyPr rot="-54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s-P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s-PE"/>
          </a:p>
        </c:txPr>
        <c:crossAx val="592604288"/>
        <c:crosses val="autoZero"/>
        <c:crossBetween val="between"/>
      </c:valAx>
      <c:dTable>
        <c:showHorzBorder val="1"/>
        <c:showVertBorder val="1"/>
        <c:showOutline val="1"/>
        <c:showKeys val="1"/>
        <c:spPr>
          <a:noFill/>
          <a:ln w="6350" cap="flat" cmpd="sng" algn="ctr">
            <a:solidFill>
              <a:srgbClr val="00B050"/>
            </a:solidFill>
            <a:prstDash val="solid"/>
            <a:miter lim="800000"/>
          </a:ln>
          <a:effectLst/>
        </c:spPr>
        <c:txPr>
          <a:bodyPr rot="0" spcFirstLastPara="1" vertOverflow="ellipsis" vert="horz" wrap="square" anchor="ctr" anchorCtr="1"/>
          <a:lstStyle/>
          <a:p>
            <a:pPr rtl="0">
              <a:defRPr sz="1400" b="1" i="0" u="none" strike="noStrike" kern="1200" baseline="0">
                <a:solidFill>
                  <a:sysClr val="windowText" lastClr="000000"/>
                </a:solidFill>
                <a:latin typeface="+mn-lt"/>
                <a:ea typeface="+mn-ea"/>
                <a:cs typeface="+mn-cs"/>
              </a:defRPr>
            </a:pPr>
            <a:endParaRPr lang="es-PE"/>
          </a:p>
        </c:txPr>
      </c:dTable>
      <c:spPr>
        <a:noFill/>
        <a:ln>
          <a:solidFill>
            <a:srgbClr val="00B050"/>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12700" cap="flat" cmpd="sng" algn="ctr">
      <a:solidFill>
        <a:srgbClr val="00B050"/>
      </a:solidFill>
      <a:prstDash val="solid"/>
      <a:miter lim="800000"/>
    </a:ln>
    <a:effectLst/>
  </c:spPr>
  <c:txPr>
    <a:bodyPr/>
    <a:lstStyle/>
    <a:p>
      <a:pPr>
        <a:defRPr sz="1400">
          <a:solidFill>
            <a:sysClr val="windowText" lastClr="000000"/>
          </a:solidFill>
          <a:latin typeface="+mn-lt"/>
          <a:ea typeface="+mn-ea"/>
          <a:cs typeface="+mn-cs"/>
        </a:defRPr>
      </a:pPr>
      <a:endParaRPr lang="es-PE"/>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404CA8B4-C47F-4E03-8EAA-AEC2E933409F}" type="datetimeFigureOut">
              <a:rPr lang="es-419" smtClean="0"/>
              <a:t>22/4/2024</a:t>
            </a:fld>
            <a:endParaRPr lang="es-419"/>
          </a:p>
        </p:txBody>
      </p:sp>
      <p:sp>
        <p:nvSpPr>
          <p:cNvPr id="4" name="Marcador de imagen de diapositiva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E516A85C-24F3-4956-8CAF-0400FEF1FA9B}" type="slidenum">
              <a:rPr lang="es-419" smtClean="0"/>
              <a:t>‹Nº›</a:t>
            </a:fld>
            <a:endParaRPr lang="es-419"/>
          </a:p>
        </p:txBody>
      </p:sp>
    </p:spTree>
    <p:extLst>
      <p:ext uri="{BB962C8B-B14F-4D97-AF65-F5344CB8AC3E}">
        <p14:creationId xmlns:p14="http://schemas.microsoft.com/office/powerpoint/2010/main" val="3198014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Tree>
    <p:extLst>
      <p:ext uri="{BB962C8B-B14F-4D97-AF65-F5344CB8AC3E}">
        <p14:creationId xmlns:p14="http://schemas.microsoft.com/office/powerpoint/2010/main" val="538018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463742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572045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860884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184599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998175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674116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932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796963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517108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1002357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439261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816063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783641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288594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16390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472246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0517524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4137821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3536721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05974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50717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A2E7F3-3903-4E1D-8084-0DC05C8375E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209DFAA0-BBEA-496B-B217-FE1EC3FC6F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54098F06-736E-46C7-AC7E-A0DD35FB243F}"/>
              </a:ext>
            </a:extLst>
          </p:cNvPr>
          <p:cNvSpPr>
            <a:spLocks noGrp="1"/>
          </p:cNvSpPr>
          <p:nvPr>
            <p:ph type="dt" sz="half" idx="10"/>
          </p:nvPr>
        </p:nvSpPr>
        <p:spPr/>
        <p:txBody>
          <a:bodyPr/>
          <a:lstStyle/>
          <a:p>
            <a:fld id="{8F29FD26-0981-4205-871D-895179B88314}" type="datetimeFigureOut">
              <a:rPr lang="es-419" smtClean="0"/>
              <a:t>22/4/2024</a:t>
            </a:fld>
            <a:endParaRPr lang="es-419"/>
          </a:p>
        </p:txBody>
      </p:sp>
      <p:sp>
        <p:nvSpPr>
          <p:cNvPr id="5" name="Marcador de pie de página 4">
            <a:extLst>
              <a:ext uri="{FF2B5EF4-FFF2-40B4-BE49-F238E27FC236}">
                <a16:creationId xmlns:a16="http://schemas.microsoft.com/office/drawing/2014/main" id="{481D53AD-021E-420D-A45A-5DE972D76032}"/>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7DC73AE-0F49-420F-9711-F965FF344AE1}"/>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29678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D202-F60F-418F-B356-03CA7D8770D6}"/>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0177AA28-DEE3-4FC1-BAE1-E6AFA62A67F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CE078544-1F2E-444D-B8E8-0B5B534EB17A}"/>
              </a:ext>
            </a:extLst>
          </p:cNvPr>
          <p:cNvSpPr>
            <a:spLocks noGrp="1"/>
          </p:cNvSpPr>
          <p:nvPr>
            <p:ph type="dt" sz="half" idx="10"/>
          </p:nvPr>
        </p:nvSpPr>
        <p:spPr/>
        <p:txBody>
          <a:bodyPr/>
          <a:lstStyle/>
          <a:p>
            <a:fld id="{8F29FD26-0981-4205-871D-895179B88314}" type="datetimeFigureOut">
              <a:rPr lang="es-419" smtClean="0"/>
              <a:t>22/4/2024</a:t>
            </a:fld>
            <a:endParaRPr lang="es-419"/>
          </a:p>
        </p:txBody>
      </p:sp>
      <p:sp>
        <p:nvSpPr>
          <p:cNvPr id="5" name="Marcador de pie de página 4">
            <a:extLst>
              <a:ext uri="{FF2B5EF4-FFF2-40B4-BE49-F238E27FC236}">
                <a16:creationId xmlns:a16="http://schemas.microsoft.com/office/drawing/2014/main" id="{9D1F83FC-A60B-49E6-9E1C-9B1D745BCAC6}"/>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24E286A2-7561-4B7D-870F-6CB2A62559D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514938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A48F86-2D3F-45D5-85FF-32D590E8B45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94BDD57E-75F5-4414-AE43-24ACDFE27C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EF39EB2-DC1A-4B76-A607-540E2AFB0DA1}"/>
              </a:ext>
            </a:extLst>
          </p:cNvPr>
          <p:cNvSpPr>
            <a:spLocks noGrp="1"/>
          </p:cNvSpPr>
          <p:nvPr>
            <p:ph type="dt" sz="half" idx="10"/>
          </p:nvPr>
        </p:nvSpPr>
        <p:spPr/>
        <p:txBody>
          <a:bodyPr/>
          <a:lstStyle/>
          <a:p>
            <a:fld id="{8F29FD26-0981-4205-871D-895179B88314}" type="datetimeFigureOut">
              <a:rPr lang="es-419" smtClean="0"/>
              <a:t>22/4/2024</a:t>
            </a:fld>
            <a:endParaRPr lang="es-419"/>
          </a:p>
        </p:txBody>
      </p:sp>
      <p:sp>
        <p:nvSpPr>
          <p:cNvPr id="5" name="Marcador de pie de página 4">
            <a:extLst>
              <a:ext uri="{FF2B5EF4-FFF2-40B4-BE49-F238E27FC236}">
                <a16:creationId xmlns:a16="http://schemas.microsoft.com/office/drawing/2014/main" id="{5C659A66-CE9C-4AE2-A43D-391CFF4BB353}"/>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78C4C05F-D418-4BB8-A63F-FADB2BE6219A}"/>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14609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5F591-1D41-441E-AA95-DA0B740C62D5}"/>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5084C426-4ABF-47B5-96A8-7DD4863F6E9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contenido 3">
            <a:extLst>
              <a:ext uri="{FF2B5EF4-FFF2-40B4-BE49-F238E27FC236}">
                <a16:creationId xmlns:a16="http://schemas.microsoft.com/office/drawing/2014/main" id="{9D581556-4EC1-4E5D-AD7B-E4330322EAB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fecha 4">
            <a:extLst>
              <a:ext uri="{FF2B5EF4-FFF2-40B4-BE49-F238E27FC236}">
                <a16:creationId xmlns:a16="http://schemas.microsoft.com/office/drawing/2014/main" id="{D8E6A027-3C79-48A2-86B5-F99135D1CB3B}"/>
              </a:ext>
            </a:extLst>
          </p:cNvPr>
          <p:cNvSpPr>
            <a:spLocks noGrp="1"/>
          </p:cNvSpPr>
          <p:nvPr>
            <p:ph type="dt" sz="half" idx="10"/>
          </p:nvPr>
        </p:nvSpPr>
        <p:spPr/>
        <p:txBody>
          <a:bodyPr/>
          <a:lstStyle/>
          <a:p>
            <a:fld id="{8F29FD26-0981-4205-871D-895179B88314}" type="datetimeFigureOut">
              <a:rPr lang="es-419" smtClean="0"/>
              <a:t>22/4/2024</a:t>
            </a:fld>
            <a:endParaRPr lang="es-419"/>
          </a:p>
        </p:txBody>
      </p:sp>
      <p:sp>
        <p:nvSpPr>
          <p:cNvPr id="6" name="Marcador de pie de página 5">
            <a:extLst>
              <a:ext uri="{FF2B5EF4-FFF2-40B4-BE49-F238E27FC236}">
                <a16:creationId xmlns:a16="http://schemas.microsoft.com/office/drawing/2014/main" id="{3A8F9C01-F48E-4887-981C-40097F8B77FF}"/>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CE930058-3E70-4688-9D37-132281FE19F4}"/>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378534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440B37-FCF7-4B55-85DF-F62FF1FE84A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AC1896B5-9EE8-47E4-91A2-0128335D29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63FB78-B243-4B5C-A4B0-899B095F2C1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texto 4">
            <a:extLst>
              <a:ext uri="{FF2B5EF4-FFF2-40B4-BE49-F238E27FC236}">
                <a16:creationId xmlns:a16="http://schemas.microsoft.com/office/drawing/2014/main" id="{BC4E062D-1FBD-4740-9591-FF15F6C44B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D08BE8A-A2D5-4B6E-9DAB-EB6E6AC7A1F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7" name="Marcador de fecha 6">
            <a:extLst>
              <a:ext uri="{FF2B5EF4-FFF2-40B4-BE49-F238E27FC236}">
                <a16:creationId xmlns:a16="http://schemas.microsoft.com/office/drawing/2014/main" id="{F20B8163-EA4D-4292-B02E-3B806C4D0FC6}"/>
              </a:ext>
            </a:extLst>
          </p:cNvPr>
          <p:cNvSpPr>
            <a:spLocks noGrp="1"/>
          </p:cNvSpPr>
          <p:nvPr>
            <p:ph type="dt" sz="half" idx="10"/>
          </p:nvPr>
        </p:nvSpPr>
        <p:spPr/>
        <p:txBody>
          <a:bodyPr/>
          <a:lstStyle/>
          <a:p>
            <a:fld id="{8F29FD26-0981-4205-871D-895179B88314}" type="datetimeFigureOut">
              <a:rPr lang="es-419" smtClean="0"/>
              <a:t>22/4/2024</a:t>
            </a:fld>
            <a:endParaRPr lang="es-419"/>
          </a:p>
        </p:txBody>
      </p:sp>
      <p:sp>
        <p:nvSpPr>
          <p:cNvPr id="8" name="Marcador de pie de página 7">
            <a:extLst>
              <a:ext uri="{FF2B5EF4-FFF2-40B4-BE49-F238E27FC236}">
                <a16:creationId xmlns:a16="http://schemas.microsoft.com/office/drawing/2014/main" id="{AC7E4B2C-AF8F-4065-8F2C-A533637C5C20}"/>
              </a:ext>
            </a:extLst>
          </p:cNvPr>
          <p:cNvSpPr>
            <a:spLocks noGrp="1"/>
          </p:cNvSpPr>
          <p:nvPr>
            <p:ph type="ftr" sz="quarter" idx="11"/>
          </p:nvPr>
        </p:nvSpPr>
        <p:spPr/>
        <p:txBody>
          <a:bodyPr/>
          <a:lstStyle/>
          <a:p>
            <a:endParaRPr lang="es-419"/>
          </a:p>
        </p:txBody>
      </p:sp>
      <p:sp>
        <p:nvSpPr>
          <p:cNvPr id="9" name="Marcador de número de diapositiva 8">
            <a:extLst>
              <a:ext uri="{FF2B5EF4-FFF2-40B4-BE49-F238E27FC236}">
                <a16:creationId xmlns:a16="http://schemas.microsoft.com/office/drawing/2014/main" id="{487D1464-F0F0-4D16-876F-A49A009F2D80}"/>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3923004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7D1B32-8CD9-4E07-A705-16F56C6A82AA}"/>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fecha 2">
            <a:extLst>
              <a:ext uri="{FF2B5EF4-FFF2-40B4-BE49-F238E27FC236}">
                <a16:creationId xmlns:a16="http://schemas.microsoft.com/office/drawing/2014/main" id="{BB89AFFA-5546-4BDE-9DCC-0D9185A3EA3A}"/>
              </a:ext>
            </a:extLst>
          </p:cNvPr>
          <p:cNvSpPr>
            <a:spLocks noGrp="1"/>
          </p:cNvSpPr>
          <p:nvPr>
            <p:ph type="dt" sz="half" idx="10"/>
          </p:nvPr>
        </p:nvSpPr>
        <p:spPr/>
        <p:txBody>
          <a:bodyPr/>
          <a:lstStyle/>
          <a:p>
            <a:fld id="{8F29FD26-0981-4205-871D-895179B88314}" type="datetimeFigureOut">
              <a:rPr lang="es-419" smtClean="0"/>
              <a:t>22/4/2024</a:t>
            </a:fld>
            <a:endParaRPr lang="es-419"/>
          </a:p>
        </p:txBody>
      </p:sp>
      <p:sp>
        <p:nvSpPr>
          <p:cNvPr id="4" name="Marcador de pie de página 3">
            <a:extLst>
              <a:ext uri="{FF2B5EF4-FFF2-40B4-BE49-F238E27FC236}">
                <a16:creationId xmlns:a16="http://schemas.microsoft.com/office/drawing/2014/main" id="{D1868871-4F2B-468C-A281-03B39AC18DB5}"/>
              </a:ext>
            </a:extLst>
          </p:cNvPr>
          <p:cNvSpPr>
            <a:spLocks noGrp="1"/>
          </p:cNvSpPr>
          <p:nvPr>
            <p:ph type="ftr" sz="quarter" idx="11"/>
          </p:nvPr>
        </p:nvSpPr>
        <p:spPr/>
        <p:txBody>
          <a:bodyPr/>
          <a:lstStyle/>
          <a:p>
            <a:endParaRPr lang="es-419"/>
          </a:p>
        </p:txBody>
      </p:sp>
      <p:sp>
        <p:nvSpPr>
          <p:cNvPr id="5" name="Marcador de número de diapositiva 4">
            <a:extLst>
              <a:ext uri="{FF2B5EF4-FFF2-40B4-BE49-F238E27FC236}">
                <a16:creationId xmlns:a16="http://schemas.microsoft.com/office/drawing/2014/main" id="{F11548AD-0797-49CF-8A32-489DE78F23B0}"/>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98229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1BBACE8-1FF9-4DCE-BDFF-781E4EDB7229}"/>
              </a:ext>
            </a:extLst>
          </p:cNvPr>
          <p:cNvSpPr>
            <a:spLocks noGrp="1"/>
          </p:cNvSpPr>
          <p:nvPr>
            <p:ph type="dt" sz="half" idx="10"/>
          </p:nvPr>
        </p:nvSpPr>
        <p:spPr/>
        <p:txBody>
          <a:bodyPr/>
          <a:lstStyle/>
          <a:p>
            <a:fld id="{8F29FD26-0981-4205-871D-895179B88314}" type="datetimeFigureOut">
              <a:rPr lang="es-419" smtClean="0"/>
              <a:t>22/4/2024</a:t>
            </a:fld>
            <a:endParaRPr lang="es-419"/>
          </a:p>
        </p:txBody>
      </p:sp>
      <p:sp>
        <p:nvSpPr>
          <p:cNvPr id="3" name="Marcador de pie de página 2">
            <a:extLst>
              <a:ext uri="{FF2B5EF4-FFF2-40B4-BE49-F238E27FC236}">
                <a16:creationId xmlns:a16="http://schemas.microsoft.com/office/drawing/2014/main" id="{3F8F2886-0965-4D8B-9448-88DEC9E044D9}"/>
              </a:ext>
            </a:extLst>
          </p:cNvPr>
          <p:cNvSpPr>
            <a:spLocks noGrp="1"/>
          </p:cNvSpPr>
          <p:nvPr>
            <p:ph type="ftr" sz="quarter" idx="11"/>
          </p:nvPr>
        </p:nvSpPr>
        <p:spPr/>
        <p:txBody>
          <a:bodyPr/>
          <a:lstStyle/>
          <a:p>
            <a:endParaRPr lang="es-419"/>
          </a:p>
        </p:txBody>
      </p:sp>
      <p:sp>
        <p:nvSpPr>
          <p:cNvPr id="4" name="Marcador de número de diapositiva 3">
            <a:extLst>
              <a:ext uri="{FF2B5EF4-FFF2-40B4-BE49-F238E27FC236}">
                <a16:creationId xmlns:a16="http://schemas.microsoft.com/office/drawing/2014/main" id="{D57B9FB8-5854-4739-9885-76391E5F2741}"/>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86904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D4540F-ABF6-474A-AB91-401BF04179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750BA34A-F3A7-41F0-8235-DB969C0BD3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texto 3">
            <a:extLst>
              <a:ext uri="{FF2B5EF4-FFF2-40B4-BE49-F238E27FC236}">
                <a16:creationId xmlns:a16="http://schemas.microsoft.com/office/drawing/2014/main" id="{141FD3ED-E203-44F4-A13E-24C419080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34A6CC1-F911-4CB8-B9F6-56532672E168}"/>
              </a:ext>
            </a:extLst>
          </p:cNvPr>
          <p:cNvSpPr>
            <a:spLocks noGrp="1"/>
          </p:cNvSpPr>
          <p:nvPr>
            <p:ph type="dt" sz="half" idx="10"/>
          </p:nvPr>
        </p:nvSpPr>
        <p:spPr/>
        <p:txBody>
          <a:bodyPr/>
          <a:lstStyle/>
          <a:p>
            <a:fld id="{8F29FD26-0981-4205-871D-895179B88314}" type="datetimeFigureOut">
              <a:rPr lang="es-419" smtClean="0"/>
              <a:t>22/4/2024</a:t>
            </a:fld>
            <a:endParaRPr lang="es-419"/>
          </a:p>
        </p:txBody>
      </p:sp>
      <p:sp>
        <p:nvSpPr>
          <p:cNvPr id="6" name="Marcador de pie de página 5">
            <a:extLst>
              <a:ext uri="{FF2B5EF4-FFF2-40B4-BE49-F238E27FC236}">
                <a16:creationId xmlns:a16="http://schemas.microsoft.com/office/drawing/2014/main" id="{A36D7865-4AAB-4623-8FBD-249FC3217532}"/>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12940CCF-0F75-4D77-A0C3-8971815EEB2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594105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151275-DE27-4158-AA5F-44F5EE1C370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posición de imagen 2">
            <a:extLst>
              <a:ext uri="{FF2B5EF4-FFF2-40B4-BE49-F238E27FC236}">
                <a16:creationId xmlns:a16="http://schemas.microsoft.com/office/drawing/2014/main" id="{7FB01499-763F-47B5-BFD1-63E77D563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419"/>
          </a:p>
        </p:txBody>
      </p:sp>
      <p:sp>
        <p:nvSpPr>
          <p:cNvPr id="4" name="Marcador de texto 3">
            <a:extLst>
              <a:ext uri="{FF2B5EF4-FFF2-40B4-BE49-F238E27FC236}">
                <a16:creationId xmlns:a16="http://schemas.microsoft.com/office/drawing/2014/main" id="{D9CFD260-36E3-4D33-9F42-DC51279BB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D2EBD3E-F528-4CA4-A32B-F0A72B359747}"/>
              </a:ext>
            </a:extLst>
          </p:cNvPr>
          <p:cNvSpPr>
            <a:spLocks noGrp="1"/>
          </p:cNvSpPr>
          <p:nvPr>
            <p:ph type="dt" sz="half" idx="10"/>
          </p:nvPr>
        </p:nvSpPr>
        <p:spPr/>
        <p:txBody>
          <a:bodyPr/>
          <a:lstStyle/>
          <a:p>
            <a:fld id="{8F29FD26-0981-4205-871D-895179B88314}" type="datetimeFigureOut">
              <a:rPr lang="es-419" smtClean="0"/>
              <a:t>22/4/2024</a:t>
            </a:fld>
            <a:endParaRPr lang="es-419"/>
          </a:p>
        </p:txBody>
      </p:sp>
      <p:sp>
        <p:nvSpPr>
          <p:cNvPr id="6" name="Marcador de pie de página 5">
            <a:extLst>
              <a:ext uri="{FF2B5EF4-FFF2-40B4-BE49-F238E27FC236}">
                <a16:creationId xmlns:a16="http://schemas.microsoft.com/office/drawing/2014/main" id="{C627CDEF-92F2-40A0-BAE5-D2BD80227C19}"/>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58DBC24D-381D-41F8-9D66-8C221CD78554}"/>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731469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D31BD0-76AA-4609-B77F-1A62E9CA2C7F}"/>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95FDD779-50D6-40E5-BA33-7FF26DCF0DC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FC0CB4A4-EFE8-421F-935D-F071B90D42D2}"/>
              </a:ext>
            </a:extLst>
          </p:cNvPr>
          <p:cNvSpPr>
            <a:spLocks noGrp="1"/>
          </p:cNvSpPr>
          <p:nvPr>
            <p:ph type="dt" sz="half" idx="10"/>
          </p:nvPr>
        </p:nvSpPr>
        <p:spPr/>
        <p:txBody>
          <a:bodyPr/>
          <a:lstStyle/>
          <a:p>
            <a:fld id="{8F29FD26-0981-4205-871D-895179B88314}" type="datetimeFigureOut">
              <a:rPr lang="es-419" smtClean="0"/>
              <a:t>22/4/2024</a:t>
            </a:fld>
            <a:endParaRPr lang="es-419"/>
          </a:p>
        </p:txBody>
      </p:sp>
      <p:sp>
        <p:nvSpPr>
          <p:cNvPr id="5" name="Marcador de pie de página 4">
            <a:extLst>
              <a:ext uri="{FF2B5EF4-FFF2-40B4-BE49-F238E27FC236}">
                <a16:creationId xmlns:a16="http://schemas.microsoft.com/office/drawing/2014/main" id="{3E4501A0-A46C-4082-8991-E174E9FBA5E1}"/>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9D5DF1E6-391E-412D-BC62-BE28257C204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4291353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2A5389C-24F0-40B8-B3A4-5B618437AC7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80265058-8B96-46CE-A8EE-7F30DCB57C7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A04C2B80-5F54-469C-B95C-236E218AE644}"/>
              </a:ext>
            </a:extLst>
          </p:cNvPr>
          <p:cNvSpPr>
            <a:spLocks noGrp="1"/>
          </p:cNvSpPr>
          <p:nvPr>
            <p:ph type="dt" sz="half" idx="10"/>
          </p:nvPr>
        </p:nvSpPr>
        <p:spPr/>
        <p:txBody>
          <a:bodyPr/>
          <a:lstStyle/>
          <a:p>
            <a:fld id="{8F29FD26-0981-4205-871D-895179B88314}" type="datetimeFigureOut">
              <a:rPr lang="es-419" smtClean="0"/>
              <a:t>22/4/2024</a:t>
            </a:fld>
            <a:endParaRPr lang="es-419"/>
          </a:p>
        </p:txBody>
      </p:sp>
      <p:sp>
        <p:nvSpPr>
          <p:cNvPr id="5" name="Marcador de pie de página 4">
            <a:extLst>
              <a:ext uri="{FF2B5EF4-FFF2-40B4-BE49-F238E27FC236}">
                <a16:creationId xmlns:a16="http://schemas.microsoft.com/office/drawing/2014/main" id="{04E4A53C-1617-402F-AEA5-31668F35D65F}"/>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42DE16E-D827-4A85-B9BC-4058637C5C98}"/>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767156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olo el título">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8D7D316-AA24-4AA3-98FC-FDF5882A2030}"/>
              </a:ext>
            </a:extLst>
          </p:cNvPr>
          <p:cNvSpPr>
            <a:spLocks noGrp="1"/>
          </p:cNvSpPr>
          <p:nvPr>
            <p:ph type="title"/>
          </p:nvPr>
        </p:nvSpPr>
        <p:spPr>
          <a:xfrm>
            <a:off x="838204" y="133841"/>
            <a:ext cx="10224477" cy="1323807"/>
          </a:xfrm>
          <a:prstGeom prst="rect">
            <a:avLst/>
          </a:prstGeom>
        </p:spPr>
        <p:txBody>
          <a:bodyPr/>
          <a:lstStyle>
            <a:lvl1pPr>
              <a:defRPr sz="4263" b="1">
                <a:solidFill>
                  <a:schemeClr val="accent5">
                    <a:lumMod val="75000"/>
                  </a:schemeClr>
                </a:solidFill>
              </a:defRPr>
            </a:lvl1pPr>
          </a:lstStyle>
          <a:p>
            <a:r>
              <a:rPr lang="es-ES"/>
              <a:t>Haga clic para modificar el estilo de título del patrón</a:t>
            </a:r>
            <a:endParaRPr lang="es-PE"/>
          </a:p>
        </p:txBody>
      </p:sp>
    </p:spTree>
    <p:extLst>
      <p:ext uri="{BB962C8B-B14F-4D97-AF65-F5344CB8AC3E}">
        <p14:creationId xmlns:p14="http://schemas.microsoft.com/office/powerpoint/2010/main" val="2266310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04291EF-15E9-414F-95EC-8F59D36B1C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4A4EA333-6386-4D76-AC88-517C11CF86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17108574-E514-4EEB-B046-9A3DB5F397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9FD26-0981-4205-871D-895179B88314}" type="datetimeFigureOut">
              <a:rPr lang="es-419" smtClean="0"/>
              <a:t>22/4/2024</a:t>
            </a:fld>
            <a:endParaRPr lang="es-419"/>
          </a:p>
        </p:txBody>
      </p:sp>
      <p:sp>
        <p:nvSpPr>
          <p:cNvPr id="5" name="Marcador de pie de página 4">
            <a:extLst>
              <a:ext uri="{FF2B5EF4-FFF2-40B4-BE49-F238E27FC236}">
                <a16:creationId xmlns:a16="http://schemas.microsoft.com/office/drawing/2014/main" id="{0F92D44A-6FF1-4AA9-8628-83F79F65C5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419"/>
          </a:p>
        </p:txBody>
      </p:sp>
      <p:sp>
        <p:nvSpPr>
          <p:cNvPr id="6" name="Marcador de número de diapositiva 5">
            <a:extLst>
              <a:ext uri="{FF2B5EF4-FFF2-40B4-BE49-F238E27FC236}">
                <a16:creationId xmlns:a16="http://schemas.microsoft.com/office/drawing/2014/main" id="{90E3C7ED-7510-4B32-96A0-A10D7CC1A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2787B5-27E6-4680-BFC4-A185ECDA7C5B}" type="slidenum">
              <a:rPr lang="es-419" smtClean="0"/>
              <a:t>‹Nº›</a:t>
            </a:fld>
            <a:endParaRPr lang="es-419"/>
          </a:p>
        </p:txBody>
      </p:sp>
    </p:spTree>
    <p:extLst>
      <p:ext uri="{BB962C8B-B14F-4D97-AF65-F5344CB8AC3E}">
        <p14:creationId xmlns:p14="http://schemas.microsoft.com/office/powerpoint/2010/main" val="370057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2D66F62-5EF4-E640-8F00-37B5AB567BFE}"/>
              </a:ext>
            </a:extLst>
          </p:cNvPr>
          <p:cNvSpPr txBox="1">
            <a:spLocks noChangeArrowheads="1"/>
          </p:cNvSpPr>
          <p:nvPr/>
        </p:nvSpPr>
        <p:spPr>
          <a:xfrm>
            <a:off x="861147" y="3517621"/>
            <a:ext cx="10191750" cy="938981"/>
          </a:xfrm>
          <a:prstGeom prst="rect">
            <a:avLst/>
          </a:prstGeom>
        </p:spPr>
        <p:txBody>
          <a:bodyPr/>
          <a:lstStyle/>
          <a:p>
            <a:pPr algn="ctr" defTabSz="1217947">
              <a:defRPr/>
            </a:pPr>
            <a:r>
              <a:rPr lang="es-PE" sz="3600" b="1" dirty="0">
                <a:latin typeface="Arial"/>
                <a:ea typeface="+mj-ea"/>
                <a:cs typeface="Arial"/>
              </a:rPr>
              <a:t>GERENCIA DE ANÁLISIS DE FONDO ADUANAS</a:t>
            </a:r>
          </a:p>
          <a:p>
            <a:pPr algn="ctr" defTabSz="1217947">
              <a:defRPr/>
            </a:pPr>
            <a:endParaRPr lang="es-PE" sz="2400" b="1" dirty="0">
              <a:latin typeface="Arial"/>
              <a:ea typeface="+mj-ea"/>
              <a:cs typeface="Arial"/>
            </a:endParaRPr>
          </a:p>
        </p:txBody>
      </p:sp>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96326" y="267539"/>
            <a:ext cx="2060746" cy="572573"/>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6" name="Rectangle 2">
            <a:extLst>
              <a:ext uri="{FF2B5EF4-FFF2-40B4-BE49-F238E27FC236}">
                <a16:creationId xmlns:a16="http://schemas.microsoft.com/office/drawing/2014/main" id="{919B8A05-1ED3-443D-A7BD-4492F8B9CE89}"/>
              </a:ext>
            </a:extLst>
          </p:cNvPr>
          <p:cNvSpPr txBox="1">
            <a:spLocks noChangeArrowheads="1"/>
          </p:cNvSpPr>
          <p:nvPr/>
        </p:nvSpPr>
        <p:spPr>
          <a:xfrm>
            <a:off x="714375" y="2178278"/>
            <a:ext cx="10763250" cy="938981"/>
          </a:xfrm>
          <a:prstGeom prst="rect">
            <a:avLst/>
          </a:prstGeom>
        </p:spPr>
        <p:txBody>
          <a:bodyPr/>
          <a:lstStyle/>
          <a:p>
            <a:pPr algn="ctr" defTabSz="1217947">
              <a:defRPr/>
            </a:pPr>
            <a:r>
              <a:rPr lang="es-PE" sz="3500" b="1" dirty="0">
                <a:latin typeface="Arial"/>
                <a:ea typeface="+mj-ea"/>
                <a:cs typeface="Arial"/>
              </a:rPr>
              <a:t>INTENDENCIA NACIONAL DE IMPUGNACIONES</a:t>
            </a:r>
          </a:p>
          <a:p>
            <a:pPr algn="ctr" defTabSz="1217947">
              <a:defRPr/>
            </a:pPr>
            <a:endParaRPr lang="es-PE" sz="2400" b="1" dirty="0">
              <a:latin typeface="Arial"/>
              <a:ea typeface="+mj-ea"/>
              <a:cs typeface="Arial"/>
            </a:endParaRPr>
          </a:p>
        </p:txBody>
      </p:sp>
    </p:spTree>
    <p:extLst>
      <p:ext uri="{BB962C8B-B14F-4D97-AF65-F5344CB8AC3E}">
        <p14:creationId xmlns:p14="http://schemas.microsoft.com/office/powerpoint/2010/main" val="4069534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STOCK DE DOCUMENTOS– 2024</a:t>
            </a:r>
            <a:endParaRPr lang="es-PE" sz="2800" b="1" dirty="0">
              <a:latin typeface="Arial" panose="020B0604020202020204" pitchFamily="34" charset="0"/>
              <a:cs typeface="Arial" panose="020B0604020202020204" pitchFamily="34" charset="0"/>
            </a:endParaRPr>
          </a:p>
        </p:txBody>
      </p:sp>
      <p:sp>
        <p:nvSpPr>
          <p:cNvPr id="10" name="Flecha: a la derecha 9">
            <a:extLst>
              <a:ext uri="{FF2B5EF4-FFF2-40B4-BE49-F238E27FC236}">
                <a16:creationId xmlns:a16="http://schemas.microsoft.com/office/drawing/2014/main" id="{56F964CE-6A15-CC82-91F5-317A16FEDABD}"/>
              </a:ext>
            </a:extLst>
          </p:cNvPr>
          <p:cNvSpPr/>
          <p:nvPr/>
        </p:nvSpPr>
        <p:spPr>
          <a:xfrm>
            <a:off x="4582029" y="3101390"/>
            <a:ext cx="927907" cy="880323"/>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sz="1600" b="1" dirty="0"/>
              <a:t>TOTAL</a:t>
            </a:r>
            <a:endParaRPr lang="es-PE" sz="1600" b="1" dirty="0"/>
          </a:p>
        </p:txBody>
      </p:sp>
      <p:sp>
        <p:nvSpPr>
          <p:cNvPr id="14" name="CuadroTexto 13">
            <a:extLst>
              <a:ext uri="{FF2B5EF4-FFF2-40B4-BE49-F238E27FC236}">
                <a16:creationId xmlns:a16="http://schemas.microsoft.com/office/drawing/2014/main" id="{21B5B194-953F-4A69-9AA8-4D95C62A4561}"/>
              </a:ext>
            </a:extLst>
          </p:cNvPr>
          <p:cNvSpPr txBox="1"/>
          <p:nvPr/>
        </p:nvSpPr>
        <p:spPr>
          <a:xfrm>
            <a:off x="995362" y="5668686"/>
            <a:ext cx="3187700"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sz="1000" b="1" dirty="0">
                <a:solidFill>
                  <a:schemeClr val="tx1"/>
                </a:solidFill>
              </a:rPr>
              <a:t>Fuente SIGERI al 31.03.2024 y emitida el 01.04.2024</a:t>
            </a:r>
          </a:p>
          <a:p>
            <a:endParaRPr lang="es-ES" sz="1200" dirty="0"/>
          </a:p>
        </p:txBody>
      </p:sp>
      <p:graphicFrame>
        <p:nvGraphicFramePr>
          <p:cNvPr id="8" name="Tabla 7">
            <a:extLst>
              <a:ext uri="{FF2B5EF4-FFF2-40B4-BE49-F238E27FC236}">
                <a16:creationId xmlns:a16="http://schemas.microsoft.com/office/drawing/2014/main" id="{42F9C33F-9E22-4CEF-FF21-529EBFB9BABA}"/>
              </a:ext>
            </a:extLst>
          </p:cNvPr>
          <p:cNvGraphicFramePr>
            <a:graphicFrameLocks noGrp="1"/>
          </p:cNvGraphicFramePr>
          <p:nvPr>
            <p:extLst>
              <p:ext uri="{D42A27DB-BD31-4B8C-83A1-F6EECF244321}">
                <p14:modId xmlns:p14="http://schemas.microsoft.com/office/powerpoint/2010/main" val="2736066534"/>
              </p:ext>
            </p:extLst>
          </p:nvPr>
        </p:nvGraphicFramePr>
        <p:xfrm>
          <a:off x="538331" y="1398061"/>
          <a:ext cx="3400400" cy="1376279"/>
        </p:xfrm>
        <a:graphic>
          <a:graphicData uri="http://schemas.openxmlformats.org/drawingml/2006/table">
            <a:tbl>
              <a:tblPr/>
              <a:tblGrid>
                <a:gridCol w="1385719">
                  <a:extLst>
                    <a:ext uri="{9D8B030D-6E8A-4147-A177-3AD203B41FA5}">
                      <a16:colId xmlns:a16="http://schemas.microsoft.com/office/drawing/2014/main" val="303441847"/>
                    </a:ext>
                  </a:extLst>
                </a:gridCol>
                <a:gridCol w="314481">
                  <a:extLst>
                    <a:ext uri="{9D8B030D-6E8A-4147-A177-3AD203B41FA5}">
                      <a16:colId xmlns:a16="http://schemas.microsoft.com/office/drawing/2014/main" val="1716151770"/>
                    </a:ext>
                  </a:extLst>
                </a:gridCol>
                <a:gridCol w="581416">
                  <a:extLst>
                    <a:ext uri="{9D8B030D-6E8A-4147-A177-3AD203B41FA5}">
                      <a16:colId xmlns:a16="http://schemas.microsoft.com/office/drawing/2014/main" val="757411442"/>
                    </a:ext>
                  </a:extLst>
                </a:gridCol>
                <a:gridCol w="1118784">
                  <a:extLst>
                    <a:ext uri="{9D8B030D-6E8A-4147-A177-3AD203B41FA5}">
                      <a16:colId xmlns:a16="http://schemas.microsoft.com/office/drawing/2014/main" val="3639645170"/>
                    </a:ext>
                  </a:extLst>
                </a:gridCol>
              </a:tblGrid>
              <a:tr h="339555">
                <a:tc gridSpan="2">
                  <a:txBody>
                    <a:bodyPr/>
                    <a:lstStyle/>
                    <a:p>
                      <a:pPr algn="ctr" fontAlgn="ctr"/>
                      <a:r>
                        <a:rPr lang="es-PE" sz="1400" b="1" i="0" u="none" strike="noStrike" dirty="0">
                          <a:solidFill>
                            <a:srgbClr val="000000"/>
                          </a:solidFill>
                          <a:effectLst/>
                          <a:latin typeface="+mn-lt"/>
                        </a:rPr>
                        <a:t>DCCI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ES" sz="1400" b="1" i="0" u="none" strike="noStrike" dirty="0">
                          <a:solidFill>
                            <a:srgbClr val="000000"/>
                          </a:solidFill>
                          <a:effectLst/>
                          <a:latin typeface="+mn-lt"/>
                        </a:rPr>
                        <a:t>            SIGERI</a:t>
                      </a:r>
                      <a:endParaRPr lang="es-PE" sz="1400" b="1" i="0" u="none" strike="noStrike" dirty="0">
                        <a:solidFill>
                          <a:srgbClr val="000000"/>
                        </a:solidFill>
                        <a:effectLst/>
                        <a:latin typeface="+mn-lt"/>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pPr algn="ctr" fontAlgn="ctr"/>
                      <a:endParaRPr lang="es-PE" sz="1400" b="1" i="0" u="none" strike="noStrike" dirty="0">
                        <a:solidFill>
                          <a:srgbClr val="000000"/>
                        </a:solidFill>
                        <a:effectLst/>
                        <a:latin typeface="+mn-lt"/>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3528009855"/>
                  </a:ext>
                </a:extLst>
              </a:tr>
              <a:tr h="305002">
                <a:tc>
                  <a:txBody>
                    <a:bodyPr/>
                    <a:lstStyle/>
                    <a:p>
                      <a:pPr algn="l" fontAlgn="ctr"/>
                      <a:r>
                        <a:rPr lang="es-PE" sz="1400" b="1" i="0" u="none" strike="noStrike" dirty="0">
                          <a:solidFill>
                            <a:srgbClr val="000000"/>
                          </a:solidFill>
                          <a:effectLst/>
                          <a:latin typeface="+mn-lt"/>
                        </a:rPr>
                        <a:t>FONDO</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gridSpan="2">
                  <a:txBody>
                    <a:bodyPr/>
                    <a:lstStyle/>
                    <a:p>
                      <a:pPr algn="ctr" fontAlgn="ctr"/>
                      <a:r>
                        <a:rPr lang="es-ES" sz="1400" b="1" i="0" u="none" strike="noStrike" dirty="0">
                          <a:solidFill>
                            <a:schemeClr val="tx1"/>
                          </a:solidFill>
                          <a:effectLst/>
                          <a:latin typeface="+mn-lt"/>
                        </a:rPr>
                        <a:t>483</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s-PE"/>
                    </a:p>
                  </a:txBody>
                  <a:tcPr/>
                </a:tc>
                <a:tc>
                  <a:txBody>
                    <a:bodyPr/>
                    <a:lstStyle/>
                    <a:p>
                      <a:pPr algn="ctr" fontAlgn="ctr"/>
                      <a:r>
                        <a:rPr lang="es-ES" sz="1400" b="1" i="0" u="none" strike="noStrike" dirty="0">
                          <a:solidFill>
                            <a:schemeClr val="tx1"/>
                          </a:solidFill>
                          <a:effectLst/>
                          <a:latin typeface="+mn-lt"/>
                        </a:rPr>
                        <a:t>480</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944027070"/>
                  </a:ext>
                </a:extLst>
              </a:tr>
              <a:tr h="426720">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gridSpan="2">
                  <a:txBody>
                    <a:bodyPr/>
                    <a:lstStyle/>
                    <a:p>
                      <a:pPr algn="ctr" fontAlgn="ctr"/>
                      <a:r>
                        <a:rPr lang="es-ES" sz="1400" b="1" i="0" u="none" strike="noStrike" dirty="0">
                          <a:solidFill>
                            <a:schemeClr val="tx1"/>
                          </a:solidFill>
                          <a:effectLst/>
                          <a:latin typeface="+mn-lt"/>
                        </a:rPr>
                        <a:t>187</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hMerge="1">
                  <a:txBody>
                    <a:bodyPr/>
                    <a:lstStyle/>
                    <a:p>
                      <a:endParaRPr lang="es-PE"/>
                    </a:p>
                  </a:txBody>
                  <a:tcPr/>
                </a:tc>
                <a:tc>
                  <a:txBody>
                    <a:bodyPr/>
                    <a:lstStyle/>
                    <a:p>
                      <a:pPr algn="ctr" fontAlgn="ctr"/>
                      <a:r>
                        <a:rPr lang="es-ES" sz="1400" b="1" i="0" u="none" strike="noStrike" dirty="0">
                          <a:solidFill>
                            <a:schemeClr val="tx1"/>
                          </a:solidFill>
                          <a:effectLst/>
                          <a:latin typeface="+mn-lt"/>
                        </a:rPr>
                        <a:t>187</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05002">
                <a:tc>
                  <a:txBody>
                    <a:bodyPr/>
                    <a:lstStyle/>
                    <a:p>
                      <a:pPr algn="l" fontAlgn="ctr"/>
                      <a:r>
                        <a:rPr lang="es-PE" sz="1400" b="1" i="0" u="none" strike="noStrike" dirty="0">
                          <a:solidFill>
                            <a:srgbClr val="000000"/>
                          </a:solidFill>
                          <a:effectLst/>
                          <a:latin typeface="+mn-lt"/>
                        </a:rPr>
                        <a:t>TOTAL</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gridSpan="2">
                  <a:txBody>
                    <a:bodyPr/>
                    <a:lstStyle/>
                    <a:p>
                      <a:pPr algn="ctr" fontAlgn="ctr"/>
                      <a:r>
                        <a:rPr lang="es-ES" sz="1400" b="1" i="0" u="none" strike="noStrike" dirty="0">
                          <a:solidFill>
                            <a:schemeClr val="tx1"/>
                          </a:solidFill>
                          <a:effectLst/>
                          <a:latin typeface="+mn-lt"/>
                        </a:rPr>
                        <a:t>670</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s-PE"/>
                    </a:p>
                  </a:txBody>
                  <a:tcPr/>
                </a:tc>
                <a:tc>
                  <a:txBody>
                    <a:bodyPr/>
                    <a:lstStyle/>
                    <a:p>
                      <a:pPr algn="ctr" fontAlgn="ctr"/>
                      <a:r>
                        <a:rPr lang="es-ES" sz="1400" b="1" i="0" u="none" strike="noStrike" dirty="0">
                          <a:solidFill>
                            <a:schemeClr val="tx1"/>
                          </a:solidFill>
                          <a:effectLst/>
                          <a:latin typeface="+mn-lt"/>
                        </a:rPr>
                        <a:t>667</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331887893"/>
                  </a:ext>
                </a:extLst>
              </a:tr>
            </a:tbl>
          </a:graphicData>
        </a:graphic>
      </p:graphicFrame>
      <p:graphicFrame>
        <p:nvGraphicFramePr>
          <p:cNvPr id="11" name="Tabla 10">
            <a:extLst>
              <a:ext uri="{FF2B5EF4-FFF2-40B4-BE49-F238E27FC236}">
                <a16:creationId xmlns:a16="http://schemas.microsoft.com/office/drawing/2014/main" id="{E5EFB618-4604-09BB-AFE3-37F61C5C02EF}"/>
              </a:ext>
            </a:extLst>
          </p:cNvPr>
          <p:cNvGraphicFramePr>
            <a:graphicFrameLocks noGrp="1"/>
          </p:cNvGraphicFramePr>
          <p:nvPr>
            <p:extLst>
              <p:ext uri="{D42A27DB-BD31-4B8C-83A1-F6EECF244321}">
                <p14:modId xmlns:p14="http://schemas.microsoft.com/office/powerpoint/2010/main" val="1118324973"/>
              </p:ext>
            </p:extLst>
          </p:nvPr>
        </p:nvGraphicFramePr>
        <p:xfrm>
          <a:off x="538331" y="2890995"/>
          <a:ext cx="3385972" cy="1301115"/>
        </p:xfrm>
        <a:graphic>
          <a:graphicData uri="http://schemas.openxmlformats.org/drawingml/2006/table">
            <a:tbl>
              <a:tblPr/>
              <a:tblGrid>
                <a:gridCol w="1395244">
                  <a:extLst>
                    <a:ext uri="{9D8B030D-6E8A-4147-A177-3AD203B41FA5}">
                      <a16:colId xmlns:a16="http://schemas.microsoft.com/office/drawing/2014/main" val="2925254002"/>
                    </a:ext>
                  </a:extLst>
                </a:gridCol>
                <a:gridCol w="904876">
                  <a:extLst>
                    <a:ext uri="{9D8B030D-6E8A-4147-A177-3AD203B41FA5}">
                      <a16:colId xmlns:a16="http://schemas.microsoft.com/office/drawing/2014/main" val="867454367"/>
                    </a:ext>
                  </a:extLst>
                </a:gridCol>
                <a:gridCol w="1085852">
                  <a:extLst>
                    <a:ext uri="{9D8B030D-6E8A-4147-A177-3AD203B41FA5}">
                      <a16:colId xmlns:a16="http://schemas.microsoft.com/office/drawing/2014/main" val="2116818572"/>
                    </a:ext>
                  </a:extLst>
                </a:gridCol>
              </a:tblGrid>
              <a:tr h="287285">
                <a:tc>
                  <a:txBody>
                    <a:bodyPr/>
                    <a:lstStyle/>
                    <a:p>
                      <a:pPr algn="ctr"/>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DCCII</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tc gridSpan="2">
                  <a:txBody>
                    <a:bodyPr/>
                    <a:lstStyle/>
                    <a:p>
                      <a:r>
                        <a:rPr lang="es-ES" sz="1400" b="1" dirty="0">
                          <a:effectLst/>
                          <a:latin typeface="Calibri" panose="020F0502020204030204" pitchFamily="34" charset="0"/>
                          <a:ea typeface="Calibri" panose="020F0502020204030204" pitchFamily="34" charset="0"/>
                          <a:cs typeface="Times New Roman" panose="02020603050405020304" pitchFamily="18" charset="0"/>
                        </a:rPr>
                        <a:t>                            SIGERI</a:t>
                      </a:r>
                      <a:endParaRPr lang="es-PE" dirty="0"/>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tc hMerge="1">
                  <a:txBody>
                    <a:bodyPr/>
                    <a:lstStyle/>
                    <a:p>
                      <a:pPr algn="ct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extLst>
                  <a:ext uri="{0D108BD9-81ED-4DB2-BD59-A6C34878D82A}">
                    <a16:rowId xmlns:a16="http://schemas.microsoft.com/office/drawing/2014/main" val="2471929919"/>
                  </a:ext>
                </a:extLst>
              </a:tr>
              <a:tr h="301312">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FONDO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272</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263</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extLst>
                  <a:ext uri="{0D108BD9-81ED-4DB2-BD59-A6C34878D82A}">
                    <a16:rowId xmlns:a16="http://schemas.microsoft.com/office/drawing/2014/main" val="3243334386"/>
                  </a:ext>
                </a:extLst>
              </a:tr>
              <a:tr h="425233">
                <a:tc>
                  <a:txBody>
                    <a:bodyPr/>
                    <a:lstStyle/>
                    <a:p>
                      <a:r>
                        <a:rPr lang="es-PE" sz="1400" b="1" i="0" u="none" strike="noStrike" dirty="0">
                          <a:solidFill>
                            <a:srgbClr val="000000"/>
                          </a:solidFill>
                          <a:effectLst/>
                          <a:latin typeface="+mn-lt"/>
                        </a:rPr>
                        <a:t>ADMISIBILIDAD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95</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88</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611438467"/>
                  </a:ext>
                </a:extLst>
              </a:tr>
              <a:tr h="287285">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367</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351</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extLst>
                  <a:ext uri="{0D108BD9-81ED-4DB2-BD59-A6C34878D82A}">
                    <a16:rowId xmlns:a16="http://schemas.microsoft.com/office/drawing/2014/main" val="2508674559"/>
                  </a:ext>
                </a:extLst>
              </a:tr>
            </a:tbl>
          </a:graphicData>
        </a:graphic>
      </p:graphicFrame>
      <p:graphicFrame>
        <p:nvGraphicFramePr>
          <p:cNvPr id="12" name="Tabla 11">
            <a:extLst>
              <a:ext uri="{FF2B5EF4-FFF2-40B4-BE49-F238E27FC236}">
                <a16:creationId xmlns:a16="http://schemas.microsoft.com/office/drawing/2014/main" id="{11E47780-28B5-BC8F-2D32-D418E13A98E3}"/>
              </a:ext>
            </a:extLst>
          </p:cNvPr>
          <p:cNvGraphicFramePr>
            <a:graphicFrameLocks noGrp="1"/>
          </p:cNvGraphicFramePr>
          <p:nvPr>
            <p:extLst>
              <p:ext uri="{D42A27DB-BD31-4B8C-83A1-F6EECF244321}">
                <p14:modId xmlns:p14="http://schemas.microsoft.com/office/powerpoint/2010/main" val="81501860"/>
              </p:ext>
            </p:extLst>
          </p:nvPr>
        </p:nvGraphicFramePr>
        <p:xfrm>
          <a:off x="538330" y="4359468"/>
          <a:ext cx="3385972" cy="1302601"/>
        </p:xfrm>
        <a:graphic>
          <a:graphicData uri="http://schemas.openxmlformats.org/drawingml/2006/table">
            <a:tbl>
              <a:tblPr/>
              <a:tblGrid>
                <a:gridCol w="1338094">
                  <a:extLst>
                    <a:ext uri="{9D8B030D-6E8A-4147-A177-3AD203B41FA5}">
                      <a16:colId xmlns:a16="http://schemas.microsoft.com/office/drawing/2014/main" val="33698083"/>
                    </a:ext>
                  </a:extLst>
                </a:gridCol>
                <a:gridCol w="934310">
                  <a:extLst>
                    <a:ext uri="{9D8B030D-6E8A-4147-A177-3AD203B41FA5}">
                      <a16:colId xmlns:a16="http://schemas.microsoft.com/office/drawing/2014/main" val="1249015919"/>
                    </a:ext>
                  </a:extLst>
                </a:gridCol>
                <a:gridCol w="1113568">
                  <a:extLst>
                    <a:ext uri="{9D8B030D-6E8A-4147-A177-3AD203B41FA5}">
                      <a16:colId xmlns:a16="http://schemas.microsoft.com/office/drawing/2014/main" val="2207642921"/>
                    </a:ext>
                  </a:extLst>
                </a:gridCol>
              </a:tblGrid>
              <a:tr h="288619">
                <a:tc>
                  <a:txBody>
                    <a:bodyPr/>
                    <a:lstStyle/>
                    <a:p>
                      <a:pPr algn="ctr"/>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DCP</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tc gridSpan="2">
                  <a:txBody>
                    <a:bodyPr/>
                    <a:lstStyle/>
                    <a:p>
                      <a:r>
                        <a:rPr lang="es-ES" sz="1400" b="1" dirty="0">
                          <a:effectLst/>
                          <a:latin typeface="Calibri" panose="020F0502020204030204" pitchFamily="34" charset="0"/>
                          <a:ea typeface="Calibri" panose="020F0502020204030204" pitchFamily="34" charset="0"/>
                          <a:cs typeface="Times New Roman" panose="02020603050405020304" pitchFamily="18" charset="0"/>
                        </a:rPr>
                        <a:t>                               SIGERI</a:t>
                      </a:r>
                      <a:endParaRPr lang="es-PE" dirty="0"/>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tc hMerge="1">
                  <a:txBody>
                    <a:bodyPr/>
                    <a:lstStyle/>
                    <a:p>
                      <a:pPr algn="ct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extLst>
                  <a:ext uri="{0D108BD9-81ED-4DB2-BD59-A6C34878D82A}">
                    <a16:rowId xmlns:a16="http://schemas.microsoft.com/office/drawing/2014/main" val="168360316"/>
                  </a:ext>
                </a:extLst>
              </a:tr>
              <a:tr h="288619">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FONDO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26</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24</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extLst>
                  <a:ext uri="{0D108BD9-81ED-4DB2-BD59-A6C34878D82A}">
                    <a16:rowId xmlns:a16="http://schemas.microsoft.com/office/drawing/2014/main" val="1942616474"/>
                  </a:ext>
                </a:extLst>
              </a:tr>
              <a:tr h="436744">
                <a:tc>
                  <a:txBody>
                    <a:bodyPr/>
                    <a:lstStyle/>
                    <a:p>
                      <a:r>
                        <a:rPr lang="es-PE" sz="1400" b="1" dirty="0">
                          <a:effectLst/>
                          <a:latin typeface="Calibri" panose="020F0502020204030204" pitchFamily="34" charset="0"/>
                          <a:ea typeface="Calibri" panose="020F0502020204030204" pitchFamily="34" charset="0"/>
                          <a:cs typeface="Times New Roman" panose="02020603050405020304" pitchFamily="18" charset="0"/>
                        </a:rPr>
                        <a:t>ADMISIBILIDAD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F4B083"/>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1274527589"/>
                  </a:ext>
                </a:extLst>
              </a:tr>
              <a:tr h="288619">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36</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34</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extLst>
                  <a:ext uri="{0D108BD9-81ED-4DB2-BD59-A6C34878D82A}">
                    <a16:rowId xmlns:a16="http://schemas.microsoft.com/office/drawing/2014/main" val="3466549735"/>
                  </a:ext>
                </a:extLst>
              </a:tr>
            </a:tbl>
          </a:graphicData>
        </a:graphic>
      </p:graphicFrame>
      <p:graphicFrame>
        <p:nvGraphicFramePr>
          <p:cNvPr id="17" name="Tabla 16">
            <a:extLst>
              <a:ext uri="{FF2B5EF4-FFF2-40B4-BE49-F238E27FC236}">
                <a16:creationId xmlns:a16="http://schemas.microsoft.com/office/drawing/2014/main" id="{C33A2A62-036F-C383-8520-446B907B93C7}"/>
              </a:ext>
            </a:extLst>
          </p:cNvPr>
          <p:cNvGraphicFramePr>
            <a:graphicFrameLocks noGrp="1"/>
          </p:cNvGraphicFramePr>
          <p:nvPr>
            <p:extLst>
              <p:ext uri="{D42A27DB-BD31-4B8C-83A1-F6EECF244321}">
                <p14:modId xmlns:p14="http://schemas.microsoft.com/office/powerpoint/2010/main" val="468687736"/>
              </p:ext>
            </p:extLst>
          </p:nvPr>
        </p:nvGraphicFramePr>
        <p:xfrm>
          <a:off x="7038594" y="5334791"/>
          <a:ext cx="2419350" cy="765606"/>
        </p:xfrm>
        <a:graphic>
          <a:graphicData uri="http://schemas.openxmlformats.org/drawingml/2006/table">
            <a:tbl>
              <a:tblPr>
                <a:tableStyleId>{D7AC3CCA-C797-4891-BE02-D94E43425B78}</a:tableStyleId>
              </a:tblPr>
              <a:tblGrid>
                <a:gridCol w="806450">
                  <a:extLst>
                    <a:ext uri="{9D8B030D-6E8A-4147-A177-3AD203B41FA5}">
                      <a16:colId xmlns:a16="http://schemas.microsoft.com/office/drawing/2014/main" val="4025633932"/>
                    </a:ext>
                  </a:extLst>
                </a:gridCol>
                <a:gridCol w="806450">
                  <a:extLst>
                    <a:ext uri="{9D8B030D-6E8A-4147-A177-3AD203B41FA5}">
                      <a16:colId xmlns:a16="http://schemas.microsoft.com/office/drawing/2014/main" val="3397563117"/>
                    </a:ext>
                  </a:extLst>
                </a:gridCol>
                <a:gridCol w="806450">
                  <a:extLst>
                    <a:ext uri="{9D8B030D-6E8A-4147-A177-3AD203B41FA5}">
                      <a16:colId xmlns:a16="http://schemas.microsoft.com/office/drawing/2014/main" val="1535915550"/>
                    </a:ext>
                  </a:extLst>
                </a:gridCol>
              </a:tblGrid>
              <a:tr h="255202">
                <a:tc gridSpan="3">
                  <a:txBody>
                    <a:bodyPr/>
                    <a:lstStyle/>
                    <a:p>
                      <a:pPr algn="ctr" fontAlgn="ctr"/>
                      <a:r>
                        <a:rPr lang="es-PE" sz="1400" b="1" u="none" strike="noStrike" dirty="0">
                          <a:solidFill>
                            <a:srgbClr val="000000"/>
                          </a:solidFill>
                          <a:effectLst/>
                        </a:rPr>
                        <a:t>INGRESADOS</a:t>
                      </a:r>
                      <a:endParaRPr lang="es-PE" sz="1400" b="1" i="0" u="none" strike="noStrike" dirty="0">
                        <a:solidFill>
                          <a:srgbClr val="000000"/>
                        </a:solidFill>
                        <a:effectLst/>
                        <a:latin typeface="Calibri" panose="020F0502020204030204" pitchFamily="34" charset="0"/>
                      </a:endParaRPr>
                    </a:p>
                  </a:txBody>
                  <a:tcPr marL="0" marR="0" marT="0" marB="0" anchor="ct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959304820"/>
                  </a:ext>
                </a:extLst>
              </a:tr>
              <a:tr h="255202">
                <a:tc>
                  <a:txBody>
                    <a:bodyPr/>
                    <a:lstStyle/>
                    <a:p>
                      <a:pPr algn="ctr" fontAlgn="ctr"/>
                      <a:r>
                        <a:rPr lang="es-PE" sz="1400" b="1" u="none" strike="noStrike" dirty="0">
                          <a:solidFill>
                            <a:srgbClr val="000000"/>
                          </a:solidFill>
                          <a:effectLst/>
                        </a:rPr>
                        <a:t>DCCI</a:t>
                      </a:r>
                      <a:endParaRPr lang="es-PE" sz="1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400" b="1" u="none" strike="noStrike" dirty="0">
                          <a:solidFill>
                            <a:srgbClr val="000000"/>
                          </a:solidFill>
                          <a:effectLst/>
                        </a:rPr>
                        <a:t>DCCII</a:t>
                      </a:r>
                      <a:endParaRPr lang="es-PE" sz="1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400" b="1" u="none" strike="noStrike" dirty="0">
                          <a:solidFill>
                            <a:srgbClr val="000000"/>
                          </a:solidFill>
                          <a:effectLst/>
                        </a:rPr>
                        <a:t>DCP</a:t>
                      </a:r>
                      <a:endParaRPr lang="es-PE" sz="140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794528736"/>
                  </a:ext>
                </a:extLst>
              </a:tr>
              <a:tr h="255202">
                <a:tc>
                  <a:txBody>
                    <a:bodyPr/>
                    <a:lstStyle/>
                    <a:p>
                      <a:pPr algn="ctr" fontAlgn="b"/>
                      <a:r>
                        <a:rPr lang="es-ES" sz="1400" b="0" i="0" u="none" strike="noStrike" dirty="0">
                          <a:solidFill>
                            <a:schemeClr val="tx1"/>
                          </a:solidFill>
                          <a:effectLst/>
                          <a:latin typeface="Calibri" panose="020F0502020204030204" pitchFamily="34" charset="0"/>
                        </a:rPr>
                        <a:t>3</a:t>
                      </a:r>
                      <a:endParaRPr lang="es-PE" sz="1400" b="0" i="0" u="none" strike="noStrike" dirty="0">
                        <a:solidFill>
                          <a:schemeClr val="tx1"/>
                        </a:solidFill>
                        <a:effectLst/>
                        <a:latin typeface="Calibri" panose="020F0502020204030204" pitchFamily="34" charset="0"/>
                      </a:endParaRPr>
                    </a:p>
                  </a:txBody>
                  <a:tcPr marL="0" marR="0" marT="0" marB="0" anchor="b"/>
                </a:tc>
                <a:tc>
                  <a:txBody>
                    <a:bodyPr/>
                    <a:lstStyle/>
                    <a:p>
                      <a:pPr algn="ctr" fontAlgn="b"/>
                      <a:r>
                        <a:rPr lang="es-ES" sz="1400" b="0" i="0" u="none" strike="noStrike" dirty="0">
                          <a:solidFill>
                            <a:schemeClr val="tx1"/>
                          </a:solidFill>
                          <a:effectLst/>
                          <a:latin typeface="Calibri" panose="020F0502020204030204" pitchFamily="34" charset="0"/>
                        </a:rPr>
                        <a:t>2</a:t>
                      </a:r>
                    </a:p>
                  </a:txBody>
                  <a:tcPr marL="0" marR="0" marT="0" marB="0" anchor="b"/>
                </a:tc>
                <a:tc>
                  <a:txBody>
                    <a:bodyPr/>
                    <a:lstStyle/>
                    <a:p>
                      <a:pPr algn="ctr" fontAlgn="ctr"/>
                      <a:r>
                        <a:rPr lang="es-ES" sz="1400" b="0" i="0" u="none" strike="noStrike" dirty="0">
                          <a:solidFill>
                            <a:schemeClr val="tx1"/>
                          </a:solidFill>
                          <a:effectLst/>
                          <a:latin typeface="Calibri" panose="020F0502020204030204" pitchFamily="34" charset="0"/>
                        </a:rPr>
                        <a:t>0</a:t>
                      </a:r>
                      <a:endParaRPr lang="es-PE" sz="1400" b="0" i="0" u="none" strike="noStrike" dirty="0">
                        <a:solidFill>
                          <a:schemeClr val="tx1"/>
                        </a:solidFill>
                        <a:effectLst/>
                        <a:latin typeface="Calibri" panose="020F0502020204030204" pitchFamily="34" charset="0"/>
                      </a:endParaRPr>
                    </a:p>
                  </a:txBody>
                  <a:tcPr marL="0" marR="0" marT="0" marB="0" anchor="ctr"/>
                </a:tc>
                <a:extLst>
                  <a:ext uri="{0D108BD9-81ED-4DB2-BD59-A6C34878D82A}">
                    <a16:rowId xmlns:a16="http://schemas.microsoft.com/office/drawing/2014/main" val="293386828"/>
                  </a:ext>
                </a:extLst>
              </a:tr>
            </a:tbl>
          </a:graphicData>
        </a:graphic>
      </p:graphicFrame>
      <p:graphicFrame>
        <p:nvGraphicFramePr>
          <p:cNvPr id="4" name="Tabla 3">
            <a:extLst>
              <a:ext uri="{FF2B5EF4-FFF2-40B4-BE49-F238E27FC236}">
                <a16:creationId xmlns:a16="http://schemas.microsoft.com/office/drawing/2014/main" id="{CD214831-1EEE-0E2C-6FB1-F3E198B65B13}"/>
              </a:ext>
            </a:extLst>
          </p:cNvPr>
          <p:cNvGraphicFramePr>
            <a:graphicFrameLocks noGrp="1"/>
          </p:cNvGraphicFramePr>
          <p:nvPr>
            <p:extLst>
              <p:ext uri="{D42A27DB-BD31-4B8C-83A1-F6EECF244321}">
                <p14:modId xmlns:p14="http://schemas.microsoft.com/office/powerpoint/2010/main" val="906349664"/>
              </p:ext>
            </p:extLst>
          </p:nvPr>
        </p:nvGraphicFramePr>
        <p:xfrm>
          <a:off x="4453080" y="1523209"/>
          <a:ext cx="7237416" cy="504190"/>
        </p:xfrm>
        <a:graphic>
          <a:graphicData uri="http://schemas.openxmlformats.org/drawingml/2006/table">
            <a:tbl>
              <a:tblPr>
                <a:tableStyleId>{22838BEF-8BB2-4498-84A7-C5851F593DF1}</a:tableStyleId>
              </a:tblPr>
              <a:tblGrid>
                <a:gridCol w="603118">
                  <a:extLst>
                    <a:ext uri="{9D8B030D-6E8A-4147-A177-3AD203B41FA5}">
                      <a16:colId xmlns:a16="http://schemas.microsoft.com/office/drawing/2014/main" val="687687978"/>
                    </a:ext>
                  </a:extLst>
                </a:gridCol>
                <a:gridCol w="603118">
                  <a:extLst>
                    <a:ext uri="{9D8B030D-6E8A-4147-A177-3AD203B41FA5}">
                      <a16:colId xmlns:a16="http://schemas.microsoft.com/office/drawing/2014/main" val="546401759"/>
                    </a:ext>
                  </a:extLst>
                </a:gridCol>
                <a:gridCol w="603118">
                  <a:extLst>
                    <a:ext uri="{9D8B030D-6E8A-4147-A177-3AD203B41FA5}">
                      <a16:colId xmlns:a16="http://schemas.microsoft.com/office/drawing/2014/main" val="2745900932"/>
                    </a:ext>
                  </a:extLst>
                </a:gridCol>
                <a:gridCol w="603118">
                  <a:extLst>
                    <a:ext uri="{9D8B030D-6E8A-4147-A177-3AD203B41FA5}">
                      <a16:colId xmlns:a16="http://schemas.microsoft.com/office/drawing/2014/main" val="3051670821"/>
                    </a:ext>
                  </a:extLst>
                </a:gridCol>
                <a:gridCol w="603118">
                  <a:extLst>
                    <a:ext uri="{9D8B030D-6E8A-4147-A177-3AD203B41FA5}">
                      <a16:colId xmlns:a16="http://schemas.microsoft.com/office/drawing/2014/main" val="4199922304"/>
                    </a:ext>
                  </a:extLst>
                </a:gridCol>
                <a:gridCol w="603118">
                  <a:extLst>
                    <a:ext uri="{9D8B030D-6E8A-4147-A177-3AD203B41FA5}">
                      <a16:colId xmlns:a16="http://schemas.microsoft.com/office/drawing/2014/main" val="2317794277"/>
                    </a:ext>
                  </a:extLst>
                </a:gridCol>
                <a:gridCol w="603118">
                  <a:extLst>
                    <a:ext uri="{9D8B030D-6E8A-4147-A177-3AD203B41FA5}">
                      <a16:colId xmlns:a16="http://schemas.microsoft.com/office/drawing/2014/main" val="2127776071"/>
                    </a:ext>
                  </a:extLst>
                </a:gridCol>
                <a:gridCol w="603118">
                  <a:extLst>
                    <a:ext uri="{9D8B030D-6E8A-4147-A177-3AD203B41FA5}">
                      <a16:colId xmlns:a16="http://schemas.microsoft.com/office/drawing/2014/main" val="2171024288"/>
                    </a:ext>
                  </a:extLst>
                </a:gridCol>
                <a:gridCol w="603118">
                  <a:extLst>
                    <a:ext uri="{9D8B030D-6E8A-4147-A177-3AD203B41FA5}">
                      <a16:colId xmlns:a16="http://schemas.microsoft.com/office/drawing/2014/main" val="207245972"/>
                    </a:ext>
                  </a:extLst>
                </a:gridCol>
                <a:gridCol w="603118">
                  <a:extLst>
                    <a:ext uri="{9D8B030D-6E8A-4147-A177-3AD203B41FA5}">
                      <a16:colId xmlns:a16="http://schemas.microsoft.com/office/drawing/2014/main" val="323295596"/>
                    </a:ext>
                  </a:extLst>
                </a:gridCol>
                <a:gridCol w="603118">
                  <a:extLst>
                    <a:ext uri="{9D8B030D-6E8A-4147-A177-3AD203B41FA5}">
                      <a16:colId xmlns:a16="http://schemas.microsoft.com/office/drawing/2014/main" val="1727774328"/>
                    </a:ext>
                  </a:extLst>
                </a:gridCol>
                <a:gridCol w="603118">
                  <a:extLst>
                    <a:ext uri="{9D8B030D-6E8A-4147-A177-3AD203B41FA5}">
                      <a16:colId xmlns:a16="http://schemas.microsoft.com/office/drawing/2014/main" val="1512223914"/>
                    </a:ext>
                  </a:extLst>
                </a:gridCol>
              </a:tblGrid>
              <a:tr h="0">
                <a:tc gridSpan="12">
                  <a:txBody>
                    <a:bodyPr/>
                    <a:lstStyle/>
                    <a:p>
                      <a:pPr algn="ctr" fontAlgn="ctr"/>
                      <a:r>
                        <a:rPr lang="es-PE" sz="1050" b="1" u="none" strike="noStrike" dirty="0">
                          <a:solidFill>
                            <a:srgbClr val="000000"/>
                          </a:solidFill>
                          <a:effectLst/>
                        </a:rPr>
                        <a:t>FONDO</a:t>
                      </a:r>
                      <a:endParaRPr lang="es-PE" sz="105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050" b="1" u="none" strike="noStrike" dirty="0">
                          <a:solidFill>
                            <a:srgbClr val="000000"/>
                          </a:solidFill>
                          <a:effectLst/>
                        </a:rPr>
                        <a:t>FONDO</a:t>
                      </a:r>
                      <a:endParaRPr lang="es-PE" sz="105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200" b="1" u="none" strike="noStrike" dirty="0">
                          <a:solidFill>
                            <a:srgbClr val="000000"/>
                          </a:solidFill>
                          <a:effectLst/>
                        </a:rPr>
                        <a:t>FONDO</a:t>
                      </a:r>
                      <a:endParaRPr lang="es-PE" sz="120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200" b="1" u="none" strike="noStrike" dirty="0">
                          <a:solidFill>
                            <a:srgbClr val="000000"/>
                          </a:solidFill>
                          <a:effectLst/>
                        </a:rPr>
                        <a:t>FONDO</a:t>
                      </a:r>
                      <a:endParaRPr lang="es-PE" sz="1200" b="1" i="0" u="none" strike="noStrike" dirty="0">
                        <a:solidFill>
                          <a:srgbClr val="000000"/>
                        </a:solidFill>
                        <a:effectLst/>
                        <a:latin typeface="Calibri" panose="020F0502020204030204" pitchFamily="34" charset="0"/>
                      </a:endParaRPr>
                    </a:p>
                  </a:txBody>
                  <a:tcPr marL="0" marR="0" marT="0"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pPr algn="ctr" fontAlgn="ctr"/>
                      <a:endParaRPr lang="es-PE" sz="10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024197109"/>
                  </a:ext>
                </a:extLst>
              </a:tr>
              <a:tr h="138191">
                <a:tc>
                  <a:txBody>
                    <a:bodyPr/>
                    <a:lstStyle/>
                    <a:p>
                      <a:pPr algn="ctr" fontAlgn="ctr"/>
                      <a:r>
                        <a:rPr lang="es-ES" sz="1000" b="1" i="0" u="none" strike="noStrike" dirty="0">
                          <a:solidFill>
                            <a:srgbClr val="000000"/>
                          </a:solidFill>
                          <a:effectLst/>
                          <a:latin typeface="Calibri" panose="020F0502020204030204" pitchFamily="34" charset="0"/>
                        </a:rPr>
                        <a:t>DICIEMBRE</a:t>
                      </a:r>
                      <a:endParaRPr lang="es-PE" sz="10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00" b="1" i="0" u="none" strike="noStrike" dirty="0">
                          <a:solidFill>
                            <a:srgbClr val="000000"/>
                          </a:solidFill>
                          <a:effectLst/>
                          <a:latin typeface="Calibri" panose="020F0502020204030204" pitchFamily="34" charset="0"/>
                        </a:rPr>
                        <a:t>NOVIEMBRE</a:t>
                      </a:r>
                      <a:endParaRPr lang="es-PE" sz="9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1050" b="1" i="0" u="none" strike="noStrike" dirty="0">
                          <a:solidFill>
                            <a:srgbClr val="000000"/>
                          </a:solidFill>
                          <a:effectLst/>
                          <a:latin typeface="Calibri" panose="020F0502020204030204" pitchFamily="34" charset="0"/>
                        </a:rPr>
                        <a:t>OCTUBRE</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00" b="1" u="none" strike="noStrike" dirty="0">
                          <a:solidFill>
                            <a:srgbClr val="000000"/>
                          </a:solidFill>
                          <a:effectLst/>
                        </a:rPr>
                        <a:t>SETIEMBRE</a:t>
                      </a:r>
                      <a:endParaRPr lang="es-PE" sz="9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AGOSTO</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JULIO</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JUNIO</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MAYO</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ABRIL</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MARZO</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FEBRERO</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1050" b="1" i="0" u="none" strike="noStrike" dirty="0">
                          <a:solidFill>
                            <a:srgbClr val="000000"/>
                          </a:solidFill>
                          <a:effectLst/>
                          <a:latin typeface="Calibri" panose="020F0502020204030204" pitchFamily="34" charset="0"/>
                        </a:rPr>
                        <a:t>ENERO</a:t>
                      </a:r>
                      <a:endParaRPr lang="es-PE" sz="10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028356373"/>
                  </a:ext>
                </a:extLst>
              </a:tr>
              <a:tr h="184150">
                <a:tc>
                  <a:txBody>
                    <a:bodyPr/>
                    <a:lstStyle/>
                    <a:p>
                      <a:pPr algn="ctr" fontAlgn="b"/>
                      <a:r>
                        <a:rPr lang="es-ES" sz="1050" b="0" i="0" u="none" strike="noStrike" dirty="0">
                          <a:solidFill>
                            <a:srgbClr val="000000"/>
                          </a:solidFill>
                          <a:effectLst/>
                          <a:latin typeface="Calibri" panose="020F0502020204030204" pitchFamily="34" charset="0"/>
                        </a:rPr>
                        <a:t>633</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1050" b="0" i="0" u="none" strike="noStrike" dirty="0">
                          <a:solidFill>
                            <a:srgbClr val="000000"/>
                          </a:solidFill>
                          <a:effectLst/>
                          <a:latin typeface="Calibri" panose="020F0502020204030204" pitchFamily="34" charset="0"/>
                        </a:rPr>
                        <a:t>801</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1050" b="0" i="0" u="none" strike="noStrike" dirty="0">
                          <a:solidFill>
                            <a:srgbClr val="000000"/>
                          </a:solidFill>
                          <a:effectLst/>
                          <a:latin typeface="Calibri" panose="020F0502020204030204" pitchFamily="34" charset="0"/>
                        </a:rPr>
                        <a:t>800</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PE" sz="1050" b="0" u="none" strike="noStrike" dirty="0">
                          <a:solidFill>
                            <a:srgbClr val="000000"/>
                          </a:solidFill>
                          <a:effectLst/>
                        </a:rPr>
                        <a:t> 640</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1050" b="0" u="none" strike="noStrike" dirty="0">
                          <a:solidFill>
                            <a:srgbClr val="000000"/>
                          </a:solidFill>
                          <a:effectLst/>
                        </a:rPr>
                        <a:t>878</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ctr"/>
                      <a:r>
                        <a:rPr lang="es-PE" sz="1050" b="0" u="none" strike="noStrike" dirty="0">
                          <a:solidFill>
                            <a:srgbClr val="000000"/>
                          </a:solidFill>
                          <a:effectLst/>
                        </a:rPr>
                        <a:t>878</a:t>
                      </a:r>
                      <a:endParaRPr lang="es-PE" sz="10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0" u="none" strike="noStrike" dirty="0">
                          <a:solidFill>
                            <a:srgbClr val="000000"/>
                          </a:solidFill>
                          <a:effectLst/>
                        </a:rPr>
                        <a:t>1149</a:t>
                      </a:r>
                      <a:endParaRPr lang="es-PE" sz="10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0" u="none" strike="noStrike" dirty="0">
                          <a:solidFill>
                            <a:srgbClr val="000000"/>
                          </a:solidFill>
                          <a:effectLst/>
                        </a:rPr>
                        <a:t>1148</a:t>
                      </a:r>
                      <a:endParaRPr lang="es-PE" sz="10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0" u="none" strike="noStrike" dirty="0">
                          <a:solidFill>
                            <a:srgbClr val="000000"/>
                          </a:solidFill>
                          <a:effectLst/>
                        </a:rPr>
                        <a:t>1187</a:t>
                      </a:r>
                      <a:endParaRPr lang="es-PE" sz="10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0" u="none" strike="noStrike" dirty="0">
                          <a:solidFill>
                            <a:srgbClr val="000000"/>
                          </a:solidFill>
                          <a:effectLst/>
                        </a:rPr>
                        <a:t>1199</a:t>
                      </a:r>
                      <a:endParaRPr lang="es-PE" sz="10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0" u="none" strike="noStrike" dirty="0">
                          <a:solidFill>
                            <a:srgbClr val="000000"/>
                          </a:solidFill>
                          <a:effectLst/>
                        </a:rPr>
                        <a:t>1849</a:t>
                      </a:r>
                      <a:endParaRPr lang="es-PE" sz="10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1050" b="0" i="0" u="none" strike="noStrike">
                          <a:solidFill>
                            <a:srgbClr val="000000"/>
                          </a:solidFill>
                          <a:effectLst/>
                          <a:latin typeface="Calibri" panose="020F0502020204030204" pitchFamily="34" charset="0"/>
                        </a:rPr>
                        <a:t>1072</a:t>
                      </a:r>
                      <a:endParaRPr lang="es-PE" sz="105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705486867"/>
                  </a:ext>
                </a:extLst>
              </a:tr>
            </a:tbl>
          </a:graphicData>
        </a:graphic>
      </p:graphicFrame>
      <p:graphicFrame>
        <p:nvGraphicFramePr>
          <p:cNvPr id="5" name="Tabla 4">
            <a:extLst>
              <a:ext uri="{FF2B5EF4-FFF2-40B4-BE49-F238E27FC236}">
                <a16:creationId xmlns:a16="http://schemas.microsoft.com/office/drawing/2014/main" id="{918D9CD9-846E-CA12-4993-7367F43B10C0}"/>
              </a:ext>
            </a:extLst>
          </p:cNvPr>
          <p:cNvGraphicFramePr>
            <a:graphicFrameLocks noGrp="1"/>
          </p:cNvGraphicFramePr>
          <p:nvPr>
            <p:extLst>
              <p:ext uri="{D42A27DB-BD31-4B8C-83A1-F6EECF244321}">
                <p14:modId xmlns:p14="http://schemas.microsoft.com/office/powerpoint/2010/main" val="3129523266"/>
              </p:ext>
            </p:extLst>
          </p:nvPr>
        </p:nvGraphicFramePr>
        <p:xfrm>
          <a:off x="4453078" y="2273937"/>
          <a:ext cx="7237416" cy="558800"/>
        </p:xfrm>
        <a:graphic>
          <a:graphicData uri="http://schemas.openxmlformats.org/drawingml/2006/table">
            <a:tbl>
              <a:tblPr>
                <a:tableStyleId>{8A107856-5554-42FB-B03E-39F5DBC370BA}</a:tableStyleId>
              </a:tblPr>
              <a:tblGrid>
                <a:gridCol w="636217">
                  <a:extLst>
                    <a:ext uri="{9D8B030D-6E8A-4147-A177-3AD203B41FA5}">
                      <a16:colId xmlns:a16="http://schemas.microsoft.com/office/drawing/2014/main" val="2142693837"/>
                    </a:ext>
                  </a:extLst>
                </a:gridCol>
                <a:gridCol w="636217">
                  <a:extLst>
                    <a:ext uri="{9D8B030D-6E8A-4147-A177-3AD203B41FA5}">
                      <a16:colId xmlns:a16="http://schemas.microsoft.com/office/drawing/2014/main" val="1370211318"/>
                    </a:ext>
                  </a:extLst>
                </a:gridCol>
                <a:gridCol w="564001">
                  <a:extLst>
                    <a:ext uri="{9D8B030D-6E8A-4147-A177-3AD203B41FA5}">
                      <a16:colId xmlns:a16="http://schemas.microsoft.com/office/drawing/2014/main" val="2054814922"/>
                    </a:ext>
                  </a:extLst>
                </a:gridCol>
                <a:gridCol w="600109">
                  <a:extLst>
                    <a:ext uri="{9D8B030D-6E8A-4147-A177-3AD203B41FA5}">
                      <a16:colId xmlns:a16="http://schemas.microsoft.com/office/drawing/2014/main" val="3975625084"/>
                    </a:ext>
                  </a:extLst>
                </a:gridCol>
                <a:gridCol w="600109">
                  <a:extLst>
                    <a:ext uri="{9D8B030D-6E8A-4147-A177-3AD203B41FA5}">
                      <a16:colId xmlns:a16="http://schemas.microsoft.com/office/drawing/2014/main" val="3554692956"/>
                    </a:ext>
                  </a:extLst>
                </a:gridCol>
                <a:gridCol w="600109">
                  <a:extLst>
                    <a:ext uri="{9D8B030D-6E8A-4147-A177-3AD203B41FA5}">
                      <a16:colId xmlns:a16="http://schemas.microsoft.com/office/drawing/2014/main" val="197205624"/>
                    </a:ext>
                  </a:extLst>
                </a:gridCol>
                <a:gridCol w="600109">
                  <a:extLst>
                    <a:ext uri="{9D8B030D-6E8A-4147-A177-3AD203B41FA5}">
                      <a16:colId xmlns:a16="http://schemas.microsoft.com/office/drawing/2014/main" val="2401651185"/>
                    </a:ext>
                  </a:extLst>
                </a:gridCol>
                <a:gridCol w="600109">
                  <a:extLst>
                    <a:ext uri="{9D8B030D-6E8A-4147-A177-3AD203B41FA5}">
                      <a16:colId xmlns:a16="http://schemas.microsoft.com/office/drawing/2014/main" val="873600576"/>
                    </a:ext>
                  </a:extLst>
                </a:gridCol>
                <a:gridCol w="600109">
                  <a:extLst>
                    <a:ext uri="{9D8B030D-6E8A-4147-A177-3AD203B41FA5}">
                      <a16:colId xmlns:a16="http://schemas.microsoft.com/office/drawing/2014/main" val="1535469484"/>
                    </a:ext>
                  </a:extLst>
                </a:gridCol>
                <a:gridCol w="600109">
                  <a:extLst>
                    <a:ext uri="{9D8B030D-6E8A-4147-A177-3AD203B41FA5}">
                      <a16:colId xmlns:a16="http://schemas.microsoft.com/office/drawing/2014/main" val="1437924823"/>
                    </a:ext>
                  </a:extLst>
                </a:gridCol>
                <a:gridCol w="600109">
                  <a:extLst>
                    <a:ext uri="{9D8B030D-6E8A-4147-A177-3AD203B41FA5}">
                      <a16:colId xmlns:a16="http://schemas.microsoft.com/office/drawing/2014/main" val="992196290"/>
                    </a:ext>
                  </a:extLst>
                </a:gridCol>
                <a:gridCol w="600109">
                  <a:extLst>
                    <a:ext uri="{9D8B030D-6E8A-4147-A177-3AD203B41FA5}">
                      <a16:colId xmlns:a16="http://schemas.microsoft.com/office/drawing/2014/main" val="4189063994"/>
                    </a:ext>
                  </a:extLst>
                </a:gridCol>
              </a:tblGrid>
              <a:tr h="190500">
                <a:tc gridSpan="12">
                  <a:txBody>
                    <a:bodyPr/>
                    <a:lstStyle/>
                    <a:p>
                      <a:pPr algn="ctr" fontAlgn="ctr"/>
                      <a:r>
                        <a:rPr lang="es-PE" sz="950" b="1" u="none" strike="noStrike" dirty="0">
                          <a:solidFill>
                            <a:srgbClr val="000000"/>
                          </a:solidFill>
                          <a:effectLst/>
                        </a:rPr>
                        <a:t>ADMISIBILIDAD</a:t>
                      </a:r>
                      <a:endParaRPr lang="es-PE" sz="95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200" b="1" u="none" strike="noStrike" dirty="0">
                          <a:solidFill>
                            <a:srgbClr val="000000"/>
                          </a:solidFill>
                          <a:effectLst/>
                        </a:rPr>
                        <a:t>ADMISIBILIDAD</a:t>
                      </a:r>
                      <a:endParaRPr lang="es-PE" sz="120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200" b="1" u="none" strike="noStrike" dirty="0">
                          <a:solidFill>
                            <a:srgbClr val="000000"/>
                          </a:solidFill>
                          <a:effectLst/>
                        </a:rPr>
                        <a:t>ADMISIBILIDAD</a:t>
                      </a:r>
                      <a:endParaRPr lang="es-PE" sz="120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200" b="1" u="none" strike="noStrike" dirty="0">
                          <a:solidFill>
                            <a:srgbClr val="000000"/>
                          </a:solidFill>
                          <a:effectLst/>
                        </a:rPr>
                        <a:t>ADMISIBILIDAD</a:t>
                      </a:r>
                      <a:endParaRPr lang="es-PE" sz="1200" b="1" i="0" u="none" strike="noStrike" dirty="0">
                        <a:solidFill>
                          <a:srgbClr val="000000"/>
                        </a:solidFill>
                        <a:effectLst/>
                        <a:latin typeface="Calibri" panose="020F0502020204030204" pitchFamily="34" charset="0"/>
                      </a:endParaRPr>
                    </a:p>
                  </a:txBody>
                  <a:tcPr marL="0" marR="0" marT="0"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pPr algn="ctr" fontAlgn="ctr"/>
                      <a:endParaRPr lang="es-PE" sz="9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592534710"/>
                  </a:ext>
                </a:extLst>
              </a:tr>
              <a:tr h="184150">
                <a:tc>
                  <a:txBody>
                    <a:bodyPr/>
                    <a:lstStyle/>
                    <a:p>
                      <a:pPr algn="ctr" fontAlgn="ctr"/>
                      <a:r>
                        <a:rPr lang="es-ES" sz="950" b="1" i="0" u="none" strike="noStrike" dirty="0">
                          <a:solidFill>
                            <a:srgbClr val="000000"/>
                          </a:solidFill>
                          <a:effectLst/>
                          <a:latin typeface="Calibri" panose="020F0502020204030204" pitchFamily="34" charset="0"/>
                        </a:rPr>
                        <a:t>DICIEMBRE</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50" b="1" i="0" u="none" strike="noStrike" dirty="0">
                          <a:solidFill>
                            <a:srgbClr val="000000"/>
                          </a:solidFill>
                          <a:effectLst/>
                          <a:latin typeface="Calibri" panose="020F0502020204030204" pitchFamily="34" charset="0"/>
                        </a:rPr>
                        <a:t>NOVIEMBRE</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50" b="1" i="0" u="none" strike="noStrike" dirty="0">
                          <a:solidFill>
                            <a:srgbClr val="000000"/>
                          </a:solidFill>
                          <a:effectLst/>
                          <a:latin typeface="Calibri" panose="020F0502020204030204" pitchFamily="34" charset="0"/>
                        </a:rPr>
                        <a:t>OCTUBRE</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SETIEMBRE</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AGOSTO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JULIO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JUNIO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MAYO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ABRIL</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MARZO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FEBRERO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50" b="1" i="0" u="none" strike="noStrike" dirty="0">
                          <a:solidFill>
                            <a:srgbClr val="000000"/>
                          </a:solidFill>
                          <a:effectLst/>
                          <a:latin typeface="Calibri" panose="020F0502020204030204" pitchFamily="34" charset="0"/>
                        </a:rPr>
                        <a:t>ENERO</a:t>
                      </a:r>
                      <a:endParaRPr lang="es-PE" sz="9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627842348"/>
                  </a:ext>
                </a:extLst>
              </a:tr>
              <a:tr h="184150">
                <a:tc>
                  <a:txBody>
                    <a:bodyPr/>
                    <a:lstStyle/>
                    <a:p>
                      <a:pPr algn="ctr" fontAlgn="b"/>
                      <a:r>
                        <a:rPr lang="es-ES" sz="950" b="0" i="0" u="none" strike="noStrike" dirty="0">
                          <a:solidFill>
                            <a:srgbClr val="000000"/>
                          </a:solidFill>
                          <a:effectLst/>
                          <a:latin typeface="Calibri" panose="020F0502020204030204" pitchFamily="34" charset="0"/>
                        </a:rPr>
                        <a:t>511</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950" b="0" i="0" u="none" strike="noStrike" dirty="0">
                          <a:solidFill>
                            <a:srgbClr val="000000"/>
                          </a:solidFill>
                          <a:effectLst/>
                          <a:latin typeface="Calibri" panose="020F0502020204030204" pitchFamily="34" charset="0"/>
                        </a:rPr>
                        <a:t>493</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950" b="0" i="0" u="none" strike="noStrike" dirty="0">
                          <a:solidFill>
                            <a:srgbClr val="000000"/>
                          </a:solidFill>
                          <a:effectLst/>
                          <a:latin typeface="Calibri" panose="020F0502020204030204" pitchFamily="34" charset="0"/>
                        </a:rPr>
                        <a:t>435 </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PE" sz="950" b="0" u="none" strike="noStrike" dirty="0">
                          <a:solidFill>
                            <a:srgbClr val="000000"/>
                          </a:solidFill>
                          <a:effectLst/>
                        </a:rPr>
                        <a:t> 368</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950" b="0" u="none" strike="noStrike" dirty="0">
                          <a:solidFill>
                            <a:srgbClr val="000000"/>
                          </a:solidFill>
                          <a:effectLst/>
                        </a:rPr>
                        <a:t>3</a:t>
                      </a:r>
                      <a:r>
                        <a:rPr lang="es-PE" sz="950" b="0" u="none" strike="noStrike" dirty="0">
                          <a:solidFill>
                            <a:srgbClr val="000000"/>
                          </a:solidFill>
                          <a:effectLst/>
                        </a:rPr>
                        <a:t>27</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ctr"/>
                      <a:r>
                        <a:rPr lang="es-PE" sz="950" b="0" u="none" strike="noStrike" dirty="0">
                          <a:solidFill>
                            <a:srgbClr val="000000"/>
                          </a:solidFill>
                          <a:effectLst/>
                        </a:rPr>
                        <a:t>277</a:t>
                      </a:r>
                      <a:endParaRPr lang="es-PE" sz="9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0" u="none" strike="noStrike" dirty="0">
                          <a:solidFill>
                            <a:srgbClr val="000000"/>
                          </a:solidFill>
                          <a:effectLst/>
                        </a:rPr>
                        <a:t>271</a:t>
                      </a:r>
                      <a:endParaRPr lang="es-PE" sz="9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0" u="none" strike="noStrike" dirty="0">
                          <a:solidFill>
                            <a:srgbClr val="000000"/>
                          </a:solidFill>
                          <a:effectLst/>
                        </a:rPr>
                        <a:t>448</a:t>
                      </a:r>
                      <a:endParaRPr lang="es-PE" sz="9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0" u="none" strike="noStrike">
                          <a:solidFill>
                            <a:srgbClr val="000000"/>
                          </a:solidFill>
                          <a:effectLst/>
                        </a:rPr>
                        <a:t>808</a:t>
                      </a:r>
                      <a:endParaRPr lang="es-PE" sz="95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950" b="0" u="none" strike="noStrike" dirty="0">
                          <a:solidFill>
                            <a:srgbClr val="000000"/>
                          </a:solidFill>
                          <a:effectLst/>
                        </a:rPr>
                        <a:t>1334</a:t>
                      </a:r>
                      <a:endParaRPr lang="es-PE" sz="9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0" u="none" strike="noStrike" dirty="0">
                          <a:solidFill>
                            <a:srgbClr val="000000"/>
                          </a:solidFill>
                          <a:effectLst/>
                        </a:rPr>
                        <a:t>1853</a:t>
                      </a:r>
                      <a:endParaRPr lang="es-PE" sz="9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50" b="0" i="0" u="none" strike="noStrike" dirty="0">
                          <a:solidFill>
                            <a:srgbClr val="000000"/>
                          </a:solidFill>
                          <a:effectLst/>
                          <a:latin typeface="Calibri" panose="020F0502020204030204" pitchFamily="34" charset="0"/>
                        </a:rPr>
                        <a:t>1900</a:t>
                      </a:r>
                      <a:endParaRPr lang="es-PE" sz="95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186196319"/>
                  </a:ext>
                </a:extLst>
              </a:tr>
            </a:tbl>
          </a:graphicData>
        </a:graphic>
      </p:graphicFrame>
      <p:sp>
        <p:nvSpPr>
          <p:cNvPr id="6" name="CuadroTexto 5">
            <a:extLst>
              <a:ext uri="{FF2B5EF4-FFF2-40B4-BE49-F238E27FC236}">
                <a16:creationId xmlns:a16="http://schemas.microsoft.com/office/drawing/2014/main" id="{85348961-3E42-D777-9E0B-39E48E615938}"/>
              </a:ext>
            </a:extLst>
          </p:cNvPr>
          <p:cNvSpPr txBox="1"/>
          <p:nvPr/>
        </p:nvSpPr>
        <p:spPr>
          <a:xfrm>
            <a:off x="7268874" y="1046149"/>
            <a:ext cx="1457325" cy="369327"/>
          </a:xfrm>
          <a:prstGeom prst="rect">
            <a:avLst/>
          </a:prstGeom>
          <a:noFill/>
        </p:spPr>
        <p:txBody>
          <a:bodyPr wrap="square" rtlCol="0">
            <a:spAutoFit/>
          </a:bodyPr>
          <a:lstStyle/>
          <a:p>
            <a:pPr algn="ctr"/>
            <a:r>
              <a:rPr lang="es-ES" b="1" dirty="0"/>
              <a:t>2023</a:t>
            </a:r>
            <a:endParaRPr lang="es-PE" b="1" dirty="0"/>
          </a:p>
        </p:txBody>
      </p:sp>
      <p:sp>
        <p:nvSpPr>
          <p:cNvPr id="7" name="CuadroTexto 6">
            <a:extLst>
              <a:ext uri="{FF2B5EF4-FFF2-40B4-BE49-F238E27FC236}">
                <a16:creationId xmlns:a16="http://schemas.microsoft.com/office/drawing/2014/main" id="{18BA90EE-AAFF-1CB0-5F16-DB7D138D89F2}"/>
              </a:ext>
            </a:extLst>
          </p:cNvPr>
          <p:cNvSpPr txBox="1"/>
          <p:nvPr/>
        </p:nvSpPr>
        <p:spPr>
          <a:xfrm>
            <a:off x="7296806" y="3081268"/>
            <a:ext cx="1457325" cy="369327"/>
          </a:xfrm>
          <a:prstGeom prst="rect">
            <a:avLst/>
          </a:prstGeom>
          <a:noFill/>
        </p:spPr>
        <p:txBody>
          <a:bodyPr wrap="square" rtlCol="0">
            <a:spAutoFit/>
          </a:bodyPr>
          <a:lstStyle/>
          <a:p>
            <a:pPr algn="ctr"/>
            <a:r>
              <a:rPr lang="es-ES" b="1" dirty="0"/>
              <a:t>2024</a:t>
            </a:r>
            <a:endParaRPr lang="es-PE" b="1" dirty="0"/>
          </a:p>
        </p:txBody>
      </p:sp>
      <p:sp>
        <p:nvSpPr>
          <p:cNvPr id="19" name="Cerrar llave 18">
            <a:extLst>
              <a:ext uri="{FF2B5EF4-FFF2-40B4-BE49-F238E27FC236}">
                <a16:creationId xmlns:a16="http://schemas.microsoft.com/office/drawing/2014/main" id="{C92AC8BE-E273-CB5B-F901-4896BFC3E34F}"/>
              </a:ext>
            </a:extLst>
          </p:cNvPr>
          <p:cNvSpPr/>
          <p:nvPr/>
        </p:nvSpPr>
        <p:spPr>
          <a:xfrm>
            <a:off x="4014930" y="1460125"/>
            <a:ext cx="514350" cy="4093467"/>
          </a:xfrm>
          <a:prstGeom prst="rightBrace">
            <a:avLst>
              <a:gd name="adj1" fmla="val 8333"/>
              <a:gd name="adj2" fmla="val 50465"/>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PE" b="1" dirty="0"/>
          </a:p>
        </p:txBody>
      </p:sp>
      <p:graphicFrame>
        <p:nvGraphicFramePr>
          <p:cNvPr id="20" name="Tabla 19">
            <a:extLst>
              <a:ext uri="{FF2B5EF4-FFF2-40B4-BE49-F238E27FC236}">
                <a16:creationId xmlns:a16="http://schemas.microsoft.com/office/drawing/2014/main" id="{9E072081-596E-D3DB-9CDC-DBA31EFB64A1}"/>
              </a:ext>
            </a:extLst>
          </p:cNvPr>
          <p:cNvGraphicFramePr>
            <a:graphicFrameLocks noGrp="1"/>
          </p:cNvGraphicFramePr>
          <p:nvPr>
            <p:extLst>
              <p:ext uri="{D42A27DB-BD31-4B8C-83A1-F6EECF244321}">
                <p14:modId xmlns:p14="http://schemas.microsoft.com/office/powerpoint/2010/main" val="3488123799"/>
              </p:ext>
            </p:extLst>
          </p:nvPr>
        </p:nvGraphicFramePr>
        <p:xfrm>
          <a:off x="7428738" y="3573288"/>
          <a:ext cx="1639062" cy="639169"/>
        </p:xfrm>
        <a:graphic>
          <a:graphicData uri="http://schemas.openxmlformats.org/drawingml/2006/table">
            <a:tbl>
              <a:tblPr>
                <a:tableStyleId>{22838BEF-8BB2-4498-84A7-C5851F593DF1}</a:tableStyleId>
              </a:tblPr>
              <a:tblGrid>
                <a:gridCol w="546354">
                  <a:extLst>
                    <a:ext uri="{9D8B030D-6E8A-4147-A177-3AD203B41FA5}">
                      <a16:colId xmlns:a16="http://schemas.microsoft.com/office/drawing/2014/main" val="29440290"/>
                    </a:ext>
                  </a:extLst>
                </a:gridCol>
                <a:gridCol w="546354">
                  <a:extLst>
                    <a:ext uri="{9D8B030D-6E8A-4147-A177-3AD203B41FA5}">
                      <a16:colId xmlns:a16="http://schemas.microsoft.com/office/drawing/2014/main" val="546401759"/>
                    </a:ext>
                  </a:extLst>
                </a:gridCol>
                <a:gridCol w="546354">
                  <a:extLst>
                    <a:ext uri="{9D8B030D-6E8A-4147-A177-3AD203B41FA5}">
                      <a16:colId xmlns:a16="http://schemas.microsoft.com/office/drawing/2014/main" val="2583310273"/>
                    </a:ext>
                  </a:extLst>
                </a:gridCol>
              </a:tblGrid>
              <a:tr h="165370">
                <a:tc gridSpan="3">
                  <a:txBody>
                    <a:bodyPr/>
                    <a:lstStyle/>
                    <a:p>
                      <a:pPr algn="ctr" fontAlgn="ctr"/>
                      <a:r>
                        <a:rPr lang="es-PE" sz="1050" b="1" u="none" strike="noStrike" dirty="0">
                          <a:solidFill>
                            <a:srgbClr val="000000"/>
                          </a:solidFill>
                          <a:effectLst/>
                        </a:rPr>
                        <a:t>FONDO</a:t>
                      </a:r>
                      <a:endParaRPr lang="es-PE" sz="105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050" b="1" u="none" strike="noStrike" dirty="0">
                          <a:solidFill>
                            <a:srgbClr val="000000"/>
                          </a:solidFill>
                          <a:effectLst/>
                        </a:rPr>
                        <a:t>FONDO</a:t>
                      </a:r>
                      <a:endParaRPr lang="es-PE" sz="105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endParaRPr lang="es-PE" sz="10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024197109"/>
                  </a:ext>
                </a:extLst>
              </a:tr>
              <a:tr h="283492">
                <a:tc>
                  <a:txBody>
                    <a:bodyPr/>
                    <a:lstStyle/>
                    <a:p>
                      <a:pPr algn="ctr" fontAlgn="ctr"/>
                      <a:r>
                        <a:rPr lang="es-ES" sz="900" b="1" i="0" u="none" strike="noStrike" dirty="0">
                          <a:solidFill>
                            <a:srgbClr val="000000"/>
                          </a:solidFill>
                          <a:effectLst/>
                          <a:latin typeface="Calibri" panose="020F0502020204030204" pitchFamily="34" charset="0"/>
                        </a:rPr>
                        <a:t>MARZO</a:t>
                      </a:r>
                      <a:endParaRPr lang="es-PE" sz="9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00" b="1" i="0" u="none" strike="noStrike" dirty="0">
                          <a:solidFill>
                            <a:srgbClr val="000000"/>
                          </a:solidFill>
                          <a:effectLst/>
                          <a:latin typeface="Calibri" panose="020F0502020204030204" pitchFamily="34" charset="0"/>
                        </a:rPr>
                        <a:t>FEBRERO</a:t>
                      </a:r>
                      <a:endParaRPr lang="es-PE" sz="9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1000" b="1" i="0" u="none" strike="noStrike" dirty="0">
                          <a:solidFill>
                            <a:srgbClr val="000000"/>
                          </a:solidFill>
                          <a:effectLst/>
                          <a:latin typeface="Calibri" panose="020F0502020204030204" pitchFamily="34" charset="0"/>
                        </a:rPr>
                        <a:t>ENERO</a:t>
                      </a:r>
                      <a:endParaRPr lang="es-PE" sz="100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028356373"/>
                  </a:ext>
                </a:extLst>
              </a:tr>
              <a:tr h="190307">
                <a:tc>
                  <a:txBody>
                    <a:bodyPr/>
                    <a:lstStyle/>
                    <a:p>
                      <a:pPr algn="ctr" fontAlgn="b"/>
                      <a:r>
                        <a:rPr lang="es-ES" sz="1050" b="0" i="0" u="none" strike="noStrike" dirty="0">
                          <a:solidFill>
                            <a:srgbClr val="000000"/>
                          </a:solidFill>
                          <a:effectLst/>
                          <a:latin typeface="Calibri" panose="020F0502020204030204" pitchFamily="34" charset="0"/>
                        </a:rPr>
                        <a:t>767</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1050" b="0" i="0" u="none" strike="noStrike" dirty="0">
                          <a:solidFill>
                            <a:srgbClr val="000000"/>
                          </a:solidFill>
                          <a:effectLst/>
                          <a:latin typeface="Calibri" panose="020F0502020204030204" pitchFamily="34" charset="0"/>
                        </a:rPr>
                        <a:t>607</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1050" b="0" i="0" u="none" strike="noStrike" dirty="0">
                          <a:solidFill>
                            <a:srgbClr val="000000"/>
                          </a:solidFill>
                          <a:effectLst/>
                          <a:latin typeface="Calibri" panose="020F0502020204030204" pitchFamily="34" charset="0"/>
                        </a:rPr>
                        <a:t>799</a:t>
                      </a:r>
                      <a:endParaRPr lang="es-PE" sz="105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705486867"/>
                  </a:ext>
                </a:extLst>
              </a:tr>
            </a:tbl>
          </a:graphicData>
        </a:graphic>
      </p:graphicFrame>
      <p:graphicFrame>
        <p:nvGraphicFramePr>
          <p:cNvPr id="21" name="Tabla 20">
            <a:extLst>
              <a:ext uri="{FF2B5EF4-FFF2-40B4-BE49-F238E27FC236}">
                <a16:creationId xmlns:a16="http://schemas.microsoft.com/office/drawing/2014/main" id="{7ACC4C65-AE12-CAAA-27F1-6FAE490D2AAA}"/>
              </a:ext>
            </a:extLst>
          </p:cNvPr>
          <p:cNvGraphicFramePr>
            <a:graphicFrameLocks noGrp="1"/>
          </p:cNvGraphicFramePr>
          <p:nvPr>
            <p:extLst>
              <p:ext uri="{D42A27DB-BD31-4B8C-83A1-F6EECF244321}">
                <p14:modId xmlns:p14="http://schemas.microsoft.com/office/powerpoint/2010/main" val="2204294260"/>
              </p:ext>
            </p:extLst>
          </p:nvPr>
        </p:nvGraphicFramePr>
        <p:xfrm>
          <a:off x="7428738" y="4369427"/>
          <a:ext cx="1639062" cy="765606"/>
        </p:xfrm>
        <a:graphic>
          <a:graphicData uri="http://schemas.openxmlformats.org/drawingml/2006/table">
            <a:tbl>
              <a:tblPr>
                <a:tableStyleId>{8A107856-5554-42FB-B03E-39F5DBC370BA}</a:tableStyleId>
              </a:tblPr>
              <a:tblGrid>
                <a:gridCol w="546354">
                  <a:extLst>
                    <a:ext uri="{9D8B030D-6E8A-4147-A177-3AD203B41FA5}">
                      <a16:colId xmlns:a16="http://schemas.microsoft.com/office/drawing/2014/main" val="4290752176"/>
                    </a:ext>
                  </a:extLst>
                </a:gridCol>
                <a:gridCol w="546354">
                  <a:extLst>
                    <a:ext uri="{9D8B030D-6E8A-4147-A177-3AD203B41FA5}">
                      <a16:colId xmlns:a16="http://schemas.microsoft.com/office/drawing/2014/main" val="4253138498"/>
                    </a:ext>
                  </a:extLst>
                </a:gridCol>
                <a:gridCol w="546354">
                  <a:extLst>
                    <a:ext uri="{9D8B030D-6E8A-4147-A177-3AD203B41FA5}">
                      <a16:colId xmlns:a16="http://schemas.microsoft.com/office/drawing/2014/main" val="2142693837"/>
                    </a:ext>
                  </a:extLst>
                </a:gridCol>
              </a:tblGrid>
              <a:tr h="278520">
                <a:tc gridSpan="3">
                  <a:txBody>
                    <a:bodyPr/>
                    <a:lstStyle/>
                    <a:p>
                      <a:pPr algn="ctr" fontAlgn="ctr"/>
                      <a:r>
                        <a:rPr lang="es-PE" sz="950" b="1" u="none" strike="noStrike" dirty="0">
                          <a:solidFill>
                            <a:srgbClr val="000000"/>
                          </a:solidFill>
                          <a:effectLst/>
                        </a:rPr>
                        <a:t>ADMISIBILIDAD</a:t>
                      </a:r>
                      <a:endParaRPr lang="es-PE" sz="95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950" b="1" u="none" strike="noStrike" dirty="0">
                          <a:solidFill>
                            <a:srgbClr val="000000"/>
                          </a:solidFill>
                          <a:effectLst/>
                        </a:rPr>
                        <a:t>ADMISIBILIDAD</a:t>
                      </a:r>
                      <a:endParaRPr lang="es-PE" sz="95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950" b="1" u="none" strike="noStrike" dirty="0">
                          <a:solidFill>
                            <a:srgbClr val="000000"/>
                          </a:solidFill>
                          <a:effectLst/>
                        </a:rPr>
                        <a:t>ADMISIBILIDAD</a:t>
                      </a:r>
                      <a:endParaRPr lang="es-PE" sz="9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592534710"/>
                  </a:ext>
                </a:extLst>
              </a:tr>
              <a:tr h="297736">
                <a:tc>
                  <a:txBody>
                    <a:bodyPr/>
                    <a:lstStyle/>
                    <a:p>
                      <a:pPr algn="ctr" fontAlgn="ctr"/>
                      <a:r>
                        <a:rPr lang="es-ES" sz="950" b="1" i="0" u="none" strike="noStrike" dirty="0">
                          <a:solidFill>
                            <a:srgbClr val="000000"/>
                          </a:solidFill>
                          <a:effectLst/>
                          <a:latin typeface="Calibri" panose="020F0502020204030204" pitchFamily="34" charset="0"/>
                        </a:rPr>
                        <a:t>MARZO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50" b="1" i="0" u="none" strike="noStrike" dirty="0">
                          <a:solidFill>
                            <a:srgbClr val="000000"/>
                          </a:solidFill>
                          <a:effectLst/>
                          <a:latin typeface="Calibri" panose="020F0502020204030204" pitchFamily="34" charset="0"/>
                        </a:rPr>
                        <a:t>FEBRERO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50" b="1" i="0" u="none" strike="noStrike" dirty="0">
                          <a:solidFill>
                            <a:srgbClr val="000000"/>
                          </a:solidFill>
                          <a:effectLst/>
                          <a:latin typeface="Calibri" panose="020F0502020204030204" pitchFamily="34" charset="0"/>
                        </a:rPr>
                        <a:t>ENERO</a:t>
                      </a:r>
                      <a:endParaRPr lang="es-PE" sz="9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627842348"/>
                  </a:ext>
                </a:extLst>
              </a:tr>
              <a:tr h="189350">
                <a:tc>
                  <a:txBody>
                    <a:bodyPr/>
                    <a:lstStyle/>
                    <a:p>
                      <a:pPr algn="ctr" fontAlgn="b"/>
                      <a:r>
                        <a:rPr lang="es-ES" sz="950" b="0" i="0" u="none" strike="noStrike" dirty="0">
                          <a:solidFill>
                            <a:srgbClr val="000000"/>
                          </a:solidFill>
                          <a:effectLst/>
                          <a:latin typeface="Calibri" panose="020F0502020204030204" pitchFamily="34" charset="0"/>
                        </a:rPr>
                        <a:t>285</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950" b="0" i="0" u="none" strike="noStrike" dirty="0">
                          <a:solidFill>
                            <a:srgbClr val="000000"/>
                          </a:solidFill>
                          <a:effectLst/>
                          <a:latin typeface="Calibri" panose="020F0502020204030204" pitchFamily="34" charset="0"/>
                        </a:rPr>
                        <a:t>550</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950" b="0" i="0" u="none" strike="noStrike" dirty="0">
                          <a:solidFill>
                            <a:srgbClr val="000000"/>
                          </a:solidFill>
                          <a:effectLst/>
                          <a:latin typeface="Calibri" panose="020F0502020204030204" pitchFamily="34" charset="0"/>
                        </a:rPr>
                        <a:t>573</a:t>
                      </a:r>
                      <a:endParaRPr lang="es-PE" sz="95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86196319"/>
                  </a:ext>
                </a:extLst>
              </a:tr>
            </a:tbl>
          </a:graphicData>
        </a:graphic>
      </p:graphicFrame>
    </p:spTree>
    <p:extLst>
      <p:ext uri="{BB962C8B-B14F-4D97-AF65-F5344CB8AC3E}">
        <p14:creationId xmlns:p14="http://schemas.microsoft.com/office/powerpoint/2010/main" val="3776238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RECLAMOS – 2023 - 2024</a:t>
            </a:r>
            <a:endParaRPr lang="es-PE" sz="2800" b="1"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8FC8A378-12BC-4544-B033-50EA62648EBF}"/>
              </a:ext>
            </a:extLst>
          </p:cNvPr>
          <p:cNvSpPr txBox="1"/>
          <p:nvPr/>
        </p:nvSpPr>
        <p:spPr>
          <a:xfrm>
            <a:off x="533400" y="6007727"/>
            <a:ext cx="6676697" cy="461665"/>
          </a:xfrm>
          <a:prstGeom prst="rect">
            <a:avLst/>
          </a:prstGeom>
          <a:noFill/>
        </p:spPr>
        <p:txBody>
          <a:bodyPr wrap="square">
            <a:spAutoFit/>
          </a:bodyPr>
          <a:lstStyle/>
          <a:p>
            <a:r>
              <a:rPr lang="es-PE" sz="1200" dirty="0">
                <a:effectLst/>
                <a:latin typeface="+mj-lt"/>
                <a:ea typeface="Calibri" panose="020F0502020204030204" pitchFamily="34" charset="0"/>
              </a:rPr>
              <a:t> </a:t>
            </a:r>
          </a:p>
          <a:p>
            <a:r>
              <a:rPr lang="es-PE" sz="1200" dirty="0">
                <a:effectLst/>
                <a:latin typeface="+mj-lt"/>
                <a:ea typeface="Calibri" panose="020F0502020204030204" pitchFamily="34" charset="0"/>
              </a:rPr>
              <a:t>	</a:t>
            </a:r>
          </a:p>
        </p:txBody>
      </p:sp>
      <p:graphicFrame>
        <p:nvGraphicFramePr>
          <p:cNvPr id="2" name="Tabla 1">
            <a:extLst>
              <a:ext uri="{FF2B5EF4-FFF2-40B4-BE49-F238E27FC236}">
                <a16:creationId xmlns:a16="http://schemas.microsoft.com/office/drawing/2014/main" id="{F469929E-FDC0-9B34-9F7F-FC6CEAFB71B9}"/>
              </a:ext>
            </a:extLst>
          </p:cNvPr>
          <p:cNvGraphicFramePr>
            <a:graphicFrameLocks noGrp="1"/>
          </p:cNvGraphicFramePr>
          <p:nvPr>
            <p:extLst>
              <p:ext uri="{D42A27DB-BD31-4B8C-83A1-F6EECF244321}">
                <p14:modId xmlns:p14="http://schemas.microsoft.com/office/powerpoint/2010/main" val="3653121609"/>
              </p:ext>
            </p:extLst>
          </p:nvPr>
        </p:nvGraphicFramePr>
        <p:xfrm>
          <a:off x="533400" y="1212483"/>
          <a:ext cx="11001465" cy="4531076"/>
        </p:xfrm>
        <a:graphic>
          <a:graphicData uri="http://schemas.openxmlformats.org/drawingml/2006/table">
            <a:tbl>
              <a:tblPr/>
              <a:tblGrid>
                <a:gridCol w="2167775">
                  <a:extLst>
                    <a:ext uri="{9D8B030D-6E8A-4147-A177-3AD203B41FA5}">
                      <a16:colId xmlns:a16="http://schemas.microsoft.com/office/drawing/2014/main" val="2917298904"/>
                    </a:ext>
                  </a:extLst>
                </a:gridCol>
                <a:gridCol w="578074">
                  <a:extLst>
                    <a:ext uri="{9D8B030D-6E8A-4147-A177-3AD203B41FA5}">
                      <a16:colId xmlns:a16="http://schemas.microsoft.com/office/drawing/2014/main" val="1721117994"/>
                    </a:ext>
                  </a:extLst>
                </a:gridCol>
                <a:gridCol w="523879">
                  <a:extLst>
                    <a:ext uri="{9D8B030D-6E8A-4147-A177-3AD203B41FA5}">
                      <a16:colId xmlns:a16="http://schemas.microsoft.com/office/drawing/2014/main" val="3766073853"/>
                    </a:ext>
                  </a:extLst>
                </a:gridCol>
                <a:gridCol w="560009">
                  <a:extLst>
                    <a:ext uri="{9D8B030D-6E8A-4147-A177-3AD203B41FA5}">
                      <a16:colId xmlns:a16="http://schemas.microsoft.com/office/drawing/2014/main" val="1567370949"/>
                    </a:ext>
                  </a:extLst>
                </a:gridCol>
                <a:gridCol w="632268">
                  <a:extLst>
                    <a:ext uri="{9D8B030D-6E8A-4147-A177-3AD203B41FA5}">
                      <a16:colId xmlns:a16="http://schemas.microsoft.com/office/drawing/2014/main" val="2476321728"/>
                    </a:ext>
                  </a:extLst>
                </a:gridCol>
                <a:gridCol w="578074">
                  <a:extLst>
                    <a:ext uri="{9D8B030D-6E8A-4147-A177-3AD203B41FA5}">
                      <a16:colId xmlns:a16="http://schemas.microsoft.com/office/drawing/2014/main" val="273347508"/>
                    </a:ext>
                  </a:extLst>
                </a:gridCol>
                <a:gridCol w="523879">
                  <a:extLst>
                    <a:ext uri="{9D8B030D-6E8A-4147-A177-3AD203B41FA5}">
                      <a16:colId xmlns:a16="http://schemas.microsoft.com/office/drawing/2014/main" val="3870614027"/>
                    </a:ext>
                  </a:extLst>
                </a:gridCol>
                <a:gridCol w="505814">
                  <a:extLst>
                    <a:ext uri="{9D8B030D-6E8A-4147-A177-3AD203B41FA5}">
                      <a16:colId xmlns:a16="http://schemas.microsoft.com/office/drawing/2014/main" val="1875747922"/>
                    </a:ext>
                  </a:extLst>
                </a:gridCol>
                <a:gridCol w="578074">
                  <a:extLst>
                    <a:ext uri="{9D8B030D-6E8A-4147-A177-3AD203B41FA5}">
                      <a16:colId xmlns:a16="http://schemas.microsoft.com/office/drawing/2014/main" val="1209249387"/>
                    </a:ext>
                  </a:extLst>
                </a:gridCol>
                <a:gridCol w="614205">
                  <a:extLst>
                    <a:ext uri="{9D8B030D-6E8A-4147-A177-3AD203B41FA5}">
                      <a16:colId xmlns:a16="http://schemas.microsoft.com/office/drawing/2014/main" val="3458326233"/>
                    </a:ext>
                  </a:extLst>
                </a:gridCol>
                <a:gridCol w="632268">
                  <a:extLst>
                    <a:ext uri="{9D8B030D-6E8A-4147-A177-3AD203B41FA5}">
                      <a16:colId xmlns:a16="http://schemas.microsoft.com/office/drawing/2014/main" val="3027673746"/>
                    </a:ext>
                  </a:extLst>
                </a:gridCol>
                <a:gridCol w="578074">
                  <a:extLst>
                    <a:ext uri="{9D8B030D-6E8A-4147-A177-3AD203B41FA5}">
                      <a16:colId xmlns:a16="http://schemas.microsoft.com/office/drawing/2014/main" val="1238173908"/>
                    </a:ext>
                  </a:extLst>
                </a:gridCol>
                <a:gridCol w="632268">
                  <a:extLst>
                    <a:ext uri="{9D8B030D-6E8A-4147-A177-3AD203B41FA5}">
                      <a16:colId xmlns:a16="http://schemas.microsoft.com/office/drawing/2014/main" val="1801178834"/>
                    </a:ext>
                  </a:extLst>
                </a:gridCol>
                <a:gridCol w="632268">
                  <a:extLst>
                    <a:ext uri="{9D8B030D-6E8A-4147-A177-3AD203B41FA5}">
                      <a16:colId xmlns:a16="http://schemas.microsoft.com/office/drawing/2014/main" val="1532683247"/>
                    </a:ext>
                  </a:extLst>
                </a:gridCol>
                <a:gridCol w="632268">
                  <a:extLst>
                    <a:ext uri="{9D8B030D-6E8A-4147-A177-3AD203B41FA5}">
                      <a16:colId xmlns:a16="http://schemas.microsoft.com/office/drawing/2014/main" val="2549877228"/>
                    </a:ext>
                  </a:extLst>
                </a:gridCol>
                <a:gridCol w="632268">
                  <a:extLst>
                    <a:ext uri="{9D8B030D-6E8A-4147-A177-3AD203B41FA5}">
                      <a16:colId xmlns:a16="http://schemas.microsoft.com/office/drawing/2014/main" val="3096066248"/>
                    </a:ext>
                  </a:extLst>
                </a:gridCol>
              </a:tblGrid>
              <a:tr h="276128">
                <a:tc>
                  <a:txBody>
                    <a:bodyPr/>
                    <a:lstStyle/>
                    <a:p>
                      <a:pPr algn="ctr" fontAlgn="b"/>
                      <a:endParaRPr lang="es-PE" sz="1800" b="1" i="0" u="none" strike="noStrike">
                        <a:solidFill>
                          <a:srgbClr val="000000"/>
                        </a:solidFill>
                        <a:effectLst/>
                        <a:latin typeface="Calibri" panose="020F0502020204030204" pitchFamily="34" charset="0"/>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gridSpan="12">
                  <a:txBody>
                    <a:bodyPr/>
                    <a:lstStyle/>
                    <a:p>
                      <a:pPr algn="ctr" fontAlgn="b"/>
                      <a:r>
                        <a:rPr lang="es-PE" sz="1800" b="1" i="0" u="none" strike="noStrike" dirty="0">
                          <a:solidFill>
                            <a:srgbClr val="000000"/>
                          </a:solidFill>
                          <a:effectLst/>
                          <a:latin typeface="Calibri" panose="020F0502020204030204" pitchFamily="34" charset="0"/>
                        </a:rPr>
                        <a:t>2023</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2">
                  <a:txBody>
                    <a:bodyPr/>
                    <a:lstStyle/>
                    <a:p>
                      <a:pPr algn="ctr" fontAlgn="b"/>
                      <a:r>
                        <a:rPr lang="es-ES" sz="1800" b="1" i="0" u="none" strike="noStrike" dirty="0">
                          <a:solidFill>
                            <a:srgbClr val="000000"/>
                          </a:solidFill>
                          <a:effectLst/>
                          <a:latin typeface="Calibri" panose="020F0502020204030204" pitchFamily="34" charset="0"/>
                        </a:rPr>
                        <a:t>2024</a:t>
                      </a:r>
                      <a:endParaRPr lang="es-PE" sz="18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b"/>
                      <a:endParaRPr lang="es-PE" sz="18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endParaRPr lang="es-PE" sz="18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0092368"/>
                  </a:ext>
                </a:extLst>
              </a:tr>
              <a:tr h="552257">
                <a:tc>
                  <a:txBody>
                    <a:bodyPr/>
                    <a:lstStyle/>
                    <a:p>
                      <a:pPr algn="l" fontAlgn="ctr"/>
                      <a:r>
                        <a:rPr lang="es-PE" sz="1800" b="1" i="0" u="none" strike="noStrike">
                          <a:solidFill>
                            <a:srgbClr val="FFFFFF"/>
                          </a:solidFill>
                          <a:effectLst/>
                          <a:latin typeface="Calibri Light" panose="020F0302020204030204" pitchFamily="34" charset="0"/>
                        </a:rPr>
                        <a:t>DIVISIÓN DE CONTROL CONCURRENTE-I</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5B9BD5"/>
                      </a:solidFill>
                      <a:prstDash val="solid"/>
                      <a:round/>
                      <a:headEnd type="none" w="med" len="med"/>
                      <a:tailEnd type="none" w="med" len="med"/>
                    </a:lnR>
                    <a:lnT>
                      <a:noFill/>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8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5B9BD5"/>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FEB</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MAR</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ABR</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MAY</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JUN</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JUL</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AGO</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SET</a:t>
                      </a:r>
                    </a:p>
                  </a:txBody>
                  <a:tcPr marL="0" marR="0" marT="0" marB="0" anchor="ctr">
                    <a:lnL>
                      <a:noFill/>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dirty="0">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dirty="0">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ES" sz="1800" b="1" i="0" u="none" strike="noStrike" dirty="0">
                          <a:solidFill>
                            <a:srgbClr val="FFFFFF"/>
                          </a:solidFill>
                          <a:effectLst/>
                          <a:latin typeface="Calibri Light" panose="020F0302020204030204" pitchFamily="34" charset="0"/>
                        </a:rPr>
                        <a:t>ENE</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tc>
                  <a:txBody>
                    <a:bodyPr/>
                    <a:lstStyle/>
                    <a:p>
                      <a:pPr algn="ctr" fontAlgn="ctr"/>
                      <a:r>
                        <a:rPr lang="es-ES" sz="1800" b="1" i="0" u="none" strike="noStrike" dirty="0">
                          <a:solidFill>
                            <a:srgbClr val="FFFFFF"/>
                          </a:solidFill>
                          <a:effectLst/>
                          <a:latin typeface="Calibri Light" panose="020F0302020204030204" pitchFamily="34" charset="0"/>
                        </a:rPr>
                        <a:t>FEB</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tc>
                  <a:txBody>
                    <a:bodyPr/>
                    <a:lstStyle/>
                    <a:p>
                      <a:pPr algn="ctr" fontAlgn="ctr"/>
                      <a:r>
                        <a:rPr lang="es-ES" sz="1800" b="1" i="0" u="none" strike="noStrike" dirty="0">
                          <a:solidFill>
                            <a:srgbClr val="FFFFFF"/>
                          </a:solidFill>
                          <a:effectLst/>
                          <a:latin typeface="Calibri Light" panose="020F0302020204030204" pitchFamily="34" charset="0"/>
                        </a:rPr>
                        <a:t>MAR</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extLst>
                  <a:ext uri="{0D108BD9-81ED-4DB2-BD59-A6C34878D82A}">
                    <a16:rowId xmlns:a16="http://schemas.microsoft.com/office/drawing/2014/main" val="377238303"/>
                  </a:ext>
                </a:extLst>
              </a:tr>
              <a:tr h="276128">
                <a:tc>
                  <a:txBody>
                    <a:bodyPr/>
                    <a:lstStyle/>
                    <a:p>
                      <a:pPr algn="l" fontAlgn="ctr"/>
                      <a:r>
                        <a:rPr lang="es-PE" sz="18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800" b="0" i="0" u="none" strike="noStrike">
                          <a:solidFill>
                            <a:srgbClr val="000000"/>
                          </a:solidFill>
                          <a:effectLst/>
                          <a:latin typeface="Calibri Light" panose="020F0302020204030204" pitchFamily="34" charset="0"/>
                        </a:rPr>
                        <a:t>311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310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 401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419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415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368 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368 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309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297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209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188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dirty="0">
                          <a:solidFill>
                            <a:srgbClr val="000000"/>
                          </a:solidFill>
                          <a:effectLst/>
                          <a:latin typeface="Calibri Light" panose="020F0302020204030204" pitchFamily="34" charset="0"/>
                        </a:rPr>
                        <a:t>242</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ES" sz="1800" b="0" i="0" u="none" strike="noStrike" dirty="0">
                          <a:solidFill>
                            <a:srgbClr val="000000"/>
                          </a:solidFill>
                          <a:effectLst/>
                          <a:latin typeface="Calibri Light" panose="020F0302020204030204" pitchFamily="34" charset="0"/>
                        </a:rPr>
                        <a:t>285</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rtl="0" fontAlgn="ctr"/>
                      <a:r>
                        <a:rPr lang="es-ES" sz="1800" b="0" i="0" u="none" strike="noStrike" dirty="0">
                          <a:solidFill>
                            <a:srgbClr val="000000"/>
                          </a:solidFill>
                          <a:effectLst/>
                          <a:latin typeface="Calibri Light" panose="020F0302020204030204" pitchFamily="34" charset="0"/>
                        </a:rPr>
                        <a:t>264</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rtl="0" fontAlgn="ctr"/>
                      <a:r>
                        <a:rPr lang="es-ES" sz="1800" b="0" i="0" u="none" strike="noStrike" dirty="0">
                          <a:solidFill>
                            <a:srgbClr val="000000"/>
                          </a:solidFill>
                          <a:effectLst/>
                          <a:latin typeface="Calibri Light" panose="020F0302020204030204" pitchFamily="34" charset="0"/>
                        </a:rPr>
                        <a:t>236</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79059873"/>
                  </a:ext>
                </a:extLst>
              </a:tr>
              <a:tr h="276128">
                <a:tc>
                  <a:txBody>
                    <a:bodyPr/>
                    <a:lstStyle/>
                    <a:p>
                      <a:pPr algn="l" fontAlgn="ctr"/>
                      <a:r>
                        <a:rPr lang="es-PE" sz="18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15.8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 20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22.1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19.9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18.9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10.1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dirty="0">
                          <a:solidFill>
                            <a:srgbClr val="000000"/>
                          </a:solidFill>
                          <a:effectLst/>
                          <a:latin typeface="Calibri Light" panose="020F0302020204030204" pitchFamily="34" charset="0"/>
                        </a:rPr>
                        <a:t>17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ES" sz="1800" b="0" i="0" u="none" strike="noStrike" dirty="0">
                          <a:solidFill>
                            <a:srgbClr val="000000"/>
                          </a:solidFill>
                          <a:effectLst/>
                          <a:latin typeface="Calibri Light" panose="020F0302020204030204" pitchFamily="34" charset="0"/>
                        </a:rPr>
                        <a:t>16.7</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ES" sz="1800" b="0" i="0" u="none" strike="noStrike" dirty="0">
                          <a:solidFill>
                            <a:srgbClr val="000000"/>
                          </a:solidFill>
                          <a:effectLst/>
                          <a:latin typeface="Calibri Light" panose="020F0302020204030204" pitchFamily="34" charset="0"/>
                        </a:rPr>
                        <a:t>17.6</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ES" sz="1800" b="0" i="0" u="none" strike="noStrike" dirty="0">
                          <a:solidFill>
                            <a:srgbClr val="000000"/>
                          </a:solidFill>
                          <a:effectLst/>
                          <a:latin typeface="Calibri Light" panose="020F0302020204030204" pitchFamily="34" charset="0"/>
                        </a:rPr>
                        <a:t>19.2</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41783133"/>
                  </a:ext>
                </a:extLst>
              </a:tr>
              <a:tr h="300121">
                <a:tc>
                  <a:txBody>
                    <a:bodyPr/>
                    <a:lstStyle/>
                    <a:p>
                      <a:pPr algn="l" fontAlgn="ctr"/>
                      <a:r>
                        <a:rPr lang="es-PE" sz="18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800" b="1"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19.6</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 20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 18.96</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20.24</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20.69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18.80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dirty="0">
                          <a:solidFill>
                            <a:srgbClr val="000000"/>
                          </a:solidFill>
                          <a:effectLst/>
                          <a:latin typeface="Calibri Light" panose="020F0302020204030204" pitchFamily="34" charset="0"/>
                        </a:rPr>
                        <a:t>14.24</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ES" sz="1800" b="1" i="0" u="none" strike="noStrike" dirty="0">
                          <a:solidFill>
                            <a:srgbClr val="000000"/>
                          </a:solidFill>
                          <a:effectLst/>
                          <a:latin typeface="Calibri Light" panose="020F0302020204030204" pitchFamily="34" charset="0"/>
                        </a:rPr>
                        <a:t>17.07</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rtl="0" fontAlgn="ctr"/>
                      <a:r>
                        <a:rPr lang="es-ES" sz="1800" b="1" i="0" u="none" strike="noStrike" dirty="0">
                          <a:solidFill>
                            <a:srgbClr val="000000"/>
                          </a:solidFill>
                          <a:effectLst/>
                          <a:latin typeface="Calibri Light" panose="020F0302020204030204" pitchFamily="34" charset="0"/>
                        </a:rPr>
                        <a:t>15.00</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rtl="0" fontAlgn="ctr"/>
                      <a:r>
                        <a:rPr lang="es-ES" sz="1800" b="1" i="0" u="none" strike="noStrike" dirty="0">
                          <a:solidFill>
                            <a:srgbClr val="000000"/>
                          </a:solidFill>
                          <a:effectLst/>
                          <a:latin typeface="Calibri Light" panose="020F0302020204030204" pitchFamily="34" charset="0"/>
                        </a:rPr>
                        <a:t>12.29</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30432342"/>
                  </a:ext>
                </a:extLst>
              </a:tr>
              <a:tr h="552257">
                <a:tc>
                  <a:txBody>
                    <a:bodyPr/>
                    <a:lstStyle/>
                    <a:p>
                      <a:pPr algn="l" fontAlgn="ctr"/>
                      <a:r>
                        <a:rPr lang="es-PE" sz="1800" b="1" i="0" u="none" strike="noStrike">
                          <a:solidFill>
                            <a:srgbClr val="FFFFFF"/>
                          </a:solidFill>
                          <a:effectLst/>
                          <a:latin typeface="Calibri Light" panose="020F0302020204030204" pitchFamily="34" charset="0"/>
                        </a:rPr>
                        <a:t>DIVISIÓN DE CONTROL CONCURRENTE-II</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8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5B9BD5"/>
                      </a:solidFill>
                      <a:prstDash val="solid"/>
                      <a:round/>
                      <a:headEnd type="none" w="med" len="med"/>
                      <a:tailEnd type="none" w="med" len="med"/>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FEB</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MAR</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ABR</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MAY</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JUN</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JUL</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AGO</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SET</a:t>
                      </a:r>
                    </a:p>
                  </a:txBody>
                  <a:tcPr marL="0" marR="0" marT="0" marB="0" anchor="ctr">
                    <a:lnL>
                      <a:noFill/>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dirty="0">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ES" sz="1800" b="1" i="0" u="none" strike="noStrike" dirty="0">
                          <a:solidFill>
                            <a:srgbClr val="FFFFFF"/>
                          </a:solidFill>
                          <a:effectLst/>
                          <a:latin typeface="Calibri Light" panose="020F0302020204030204" pitchFamily="34" charset="0"/>
                        </a:rPr>
                        <a:t>ENE</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tc>
                  <a:txBody>
                    <a:bodyPr/>
                    <a:lstStyle/>
                    <a:p>
                      <a:pPr algn="ctr" fontAlgn="ctr"/>
                      <a:r>
                        <a:rPr lang="es-ES" sz="1800" b="1" i="0" u="none" strike="noStrike" dirty="0">
                          <a:solidFill>
                            <a:srgbClr val="FFFFFF"/>
                          </a:solidFill>
                          <a:effectLst/>
                          <a:latin typeface="Calibri Light" panose="020F0302020204030204" pitchFamily="34" charset="0"/>
                        </a:rPr>
                        <a:t>FEB</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tc>
                  <a:txBody>
                    <a:bodyPr/>
                    <a:lstStyle/>
                    <a:p>
                      <a:pPr algn="ctr" fontAlgn="ctr"/>
                      <a:r>
                        <a:rPr lang="es-ES" sz="1800" b="1" i="0" u="none" strike="noStrike" dirty="0">
                          <a:solidFill>
                            <a:srgbClr val="FFFFFF"/>
                          </a:solidFill>
                          <a:effectLst/>
                          <a:latin typeface="Calibri Light" panose="020F0302020204030204" pitchFamily="34" charset="0"/>
                        </a:rPr>
                        <a:t>MAR</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extLst>
                  <a:ext uri="{0D108BD9-81ED-4DB2-BD59-A6C34878D82A}">
                    <a16:rowId xmlns:a16="http://schemas.microsoft.com/office/drawing/2014/main" val="4209192784"/>
                  </a:ext>
                </a:extLst>
              </a:tr>
              <a:tr h="276128">
                <a:tc>
                  <a:txBody>
                    <a:bodyPr/>
                    <a:lstStyle/>
                    <a:p>
                      <a:pPr algn="l" fontAlgn="ctr"/>
                      <a:r>
                        <a:rPr lang="es-PE" sz="18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800" b="0" i="0" u="none" strike="noStrike">
                          <a:solidFill>
                            <a:srgbClr val="000000"/>
                          </a:solidFill>
                          <a:effectLst/>
                          <a:latin typeface="Calibri Light" panose="020F0302020204030204" pitchFamily="34" charset="0"/>
                        </a:rPr>
                        <a:t>113</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111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 107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109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107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dirty="0">
                          <a:solidFill>
                            <a:srgbClr val="000000"/>
                          </a:solidFill>
                          <a:effectLst/>
                          <a:latin typeface="Calibri Light" panose="020F0302020204030204" pitchFamily="34" charset="0"/>
                        </a:rPr>
                        <a:t>104 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99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105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76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83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dirty="0">
                          <a:solidFill>
                            <a:srgbClr val="000000"/>
                          </a:solidFill>
                          <a:effectLst/>
                          <a:latin typeface="Calibri Light" panose="020F0302020204030204" pitchFamily="34" charset="0"/>
                        </a:rPr>
                        <a:t>81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ES" sz="1800" b="0" i="0" u="none" strike="noStrike" dirty="0">
                          <a:solidFill>
                            <a:srgbClr val="000000"/>
                          </a:solidFill>
                          <a:effectLst/>
                          <a:latin typeface="Calibri Light" panose="020F0302020204030204" pitchFamily="34" charset="0"/>
                        </a:rPr>
                        <a:t>79</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fontAlgn="ctr"/>
                      <a:r>
                        <a:rPr lang="es-ES" sz="1800" b="0" i="0" u="none" strike="noStrike" dirty="0">
                          <a:solidFill>
                            <a:srgbClr val="000000"/>
                          </a:solidFill>
                          <a:effectLst/>
                          <a:latin typeface="Calibri Light" panose="020F0302020204030204" pitchFamily="34" charset="0"/>
                        </a:rPr>
                        <a:t>83</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fontAlgn="ctr"/>
                      <a:r>
                        <a:rPr lang="es-ES" sz="1800" b="0" i="0" u="none" strike="noStrike" dirty="0">
                          <a:solidFill>
                            <a:srgbClr val="000000"/>
                          </a:solidFill>
                          <a:effectLst/>
                          <a:latin typeface="Calibri Light" panose="020F0302020204030204" pitchFamily="34" charset="0"/>
                        </a:rPr>
                        <a:t>  77*</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983604498"/>
                  </a:ext>
                </a:extLst>
              </a:tr>
              <a:tr h="276128">
                <a:tc>
                  <a:txBody>
                    <a:bodyPr/>
                    <a:lstStyle/>
                    <a:p>
                      <a:pPr algn="l" fontAlgn="ctr"/>
                      <a:r>
                        <a:rPr lang="es-PE" sz="18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13</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13.5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 11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12</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11.5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12.5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10.9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7.8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8.6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dirty="0">
                          <a:solidFill>
                            <a:srgbClr val="000000"/>
                          </a:solidFill>
                          <a:effectLst/>
                          <a:latin typeface="Calibri Light" panose="020F0302020204030204" pitchFamily="34" charset="0"/>
                        </a:rPr>
                        <a:t>8.8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ES" sz="1800" b="0" i="0" u="none" strike="noStrike" dirty="0">
                          <a:solidFill>
                            <a:srgbClr val="000000"/>
                          </a:solidFill>
                          <a:effectLst/>
                          <a:latin typeface="Calibri Light" panose="020F0302020204030204" pitchFamily="34" charset="0"/>
                        </a:rPr>
                        <a:t>8.7</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ES" sz="1800" b="0" i="0" u="none" strike="noStrike" dirty="0">
                          <a:solidFill>
                            <a:srgbClr val="000000"/>
                          </a:solidFill>
                          <a:effectLst/>
                          <a:latin typeface="Calibri Light" panose="020F0302020204030204" pitchFamily="34" charset="0"/>
                        </a:rPr>
                        <a:t>7.9</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ES" sz="1800" b="0" i="0" u="none" strike="noStrike" dirty="0">
                          <a:solidFill>
                            <a:srgbClr val="000000"/>
                          </a:solidFill>
                          <a:effectLst/>
                          <a:latin typeface="Calibri Light" panose="020F0302020204030204" pitchFamily="34" charset="0"/>
                        </a:rPr>
                        <a:t>7.6</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2612411869"/>
                  </a:ext>
                </a:extLst>
              </a:tr>
              <a:tr h="300121">
                <a:tc>
                  <a:txBody>
                    <a:bodyPr/>
                    <a:lstStyle/>
                    <a:p>
                      <a:pPr algn="l" fontAlgn="ctr"/>
                      <a:r>
                        <a:rPr lang="es-PE" sz="18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800" b="1" i="0" u="none" strike="noStrike">
                          <a:solidFill>
                            <a:srgbClr val="000000"/>
                          </a:solidFill>
                          <a:effectLst/>
                          <a:latin typeface="Calibri Light" panose="020F0302020204030204" pitchFamily="34" charset="0"/>
                        </a:rPr>
                        <a:t>8.69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8.22</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 9.72</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9.08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9.30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8.23</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9.08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10.00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10.50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9.74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9.65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dirty="0">
                          <a:solidFill>
                            <a:srgbClr val="000000"/>
                          </a:solidFill>
                          <a:effectLst/>
                          <a:latin typeface="Calibri Light" panose="020F0302020204030204" pitchFamily="34" charset="0"/>
                        </a:rPr>
                        <a:t>9.20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ES" sz="1800" b="1" i="0" u="none" strike="noStrike" dirty="0">
                          <a:solidFill>
                            <a:srgbClr val="000000"/>
                          </a:solidFill>
                          <a:effectLst/>
                          <a:latin typeface="Calibri Light" panose="020F0302020204030204" pitchFamily="34" charset="0"/>
                        </a:rPr>
                        <a:t>9.08</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fontAlgn="ctr"/>
                      <a:r>
                        <a:rPr lang="es-ES" sz="1800" b="1" i="0" u="none" strike="noStrike" dirty="0">
                          <a:solidFill>
                            <a:srgbClr val="000000"/>
                          </a:solidFill>
                          <a:effectLst/>
                          <a:latin typeface="Calibri Light" panose="020F0302020204030204" pitchFamily="34" charset="0"/>
                        </a:rPr>
                        <a:t>10.50</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fontAlgn="ctr"/>
                      <a:r>
                        <a:rPr lang="es-ES" sz="1800" b="1" i="0" u="none" strike="noStrike" dirty="0">
                          <a:solidFill>
                            <a:srgbClr val="000000"/>
                          </a:solidFill>
                          <a:effectLst/>
                          <a:latin typeface="Calibri Light" panose="020F0302020204030204" pitchFamily="34" charset="0"/>
                        </a:rPr>
                        <a:t>10.13 </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93569207"/>
                  </a:ext>
                </a:extLst>
              </a:tr>
              <a:tr h="593303">
                <a:tc>
                  <a:txBody>
                    <a:bodyPr/>
                    <a:lstStyle/>
                    <a:p>
                      <a:pPr algn="l" fontAlgn="ctr"/>
                      <a:r>
                        <a:rPr lang="es-PE" sz="1800" b="1" i="0" u="none" strike="noStrike">
                          <a:solidFill>
                            <a:srgbClr val="FFFFFF"/>
                          </a:solidFill>
                          <a:effectLst/>
                          <a:latin typeface="Calibri Light" panose="020F0302020204030204" pitchFamily="34" charset="0"/>
                        </a:rPr>
                        <a:t>DIVISIÓN DE CONTROL POSTERIOR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8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5B9BD5"/>
                      </a:solidFill>
                      <a:prstDash val="solid"/>
                      <a:round/>
                      <a:headEnd type="none" w="med" len="med"/>
                      <a:tailEnd type="none" w="med" len="med"/>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FEB</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MAR</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ABR</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MAY</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JUN</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JUL</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AGO</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SET</a:t>
                      </a:r>
                    </a:p>
                  </a:txBody>
                  <a:tcPr marL="0" marR="0" marT="0" marB="0" anchor="ctr">
                    <a:lnL>
                      <a:noFill/>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dirty="0">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ES" sz="1800" b="1" i="0" u="none" strike="noStrike" dirty="0">
                          <a:solidFill>
                            <a:srgbClr val="FFFFFF"/>
                          </a:solidFill>
                          <a:effectLst/>
                          <a:latin typeface="Calibri Light" panose="020F0302020204030204" pitchFamily="34" charset="0"/>
                        </a:rPr>
                        <a:t>ENE</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tc>
                  <a:txBody>
                    <a:bodyPr/>
                    <a:lstStyle/>
                    <a:p>
                      <a:pPr algn="ctr" fontAlgn="ctr"/>
                      <a:r>
                        <a:rPr lang="es-ES" sz="1800" b="1" i="0" u="none" strike="noStrike" dirty="0">
                          <a:solidFill>
                            <a:srgbClr val="FFFFFF"/>
                          </a:solidFill>
                          <a:effectLst/>
                          <a:latin typeface="Calibri Light" panose="020F0302020204030204" pitchFamily="34" charset="0"/>
                        </a:rPr>
                        <a:t>FEB</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tc>
                  <a:txBody>
                    <a:bodyPr/>
                    <a:lstStyle/>
                    <a:p>
                      <a:pPr algn="ctr" fontAlgn="ctr"/>
                      <a:r>
                        <a:rPr lang="es-ES" sz="1800" b="1" i="0" u="none" strike="noStrike" dirty="0">
                          <a:solidFill>
                            <a:srgbClr val="FFFFFF"/>
                          </a:solidFill>
                          <a:effectLst/>
                          <a:latin typeface="Calibri Light" panose="020F0302020204030204" pitchFamily="34" charset="0"/>
                        </a:rPr>
                        <a:t>MAR</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extLst>
                  <a:ext uri="{0D108BD9-81ED-4DB2-BD59-A6C34878D82A}">
                    <a16:rowId xmlns:a16="http://schemas.microsoft.com/office/drawing/2014/main" val="1775365080"/>
                  </a:ext>
                </a:extLst>
              </a:tr>
              <a:tr h="276128">
                <a:tc>
                  <a:txBody>
                    <a:bodyPr/>
                    <a:lstStyle/>
                    <a:p>
                      <a:pPr algn="l" fontAlgn="ctr"/>
                      <a:r>
                        <a:rPr lang="es-PE" sz="18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800" b="0"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 29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38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37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38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25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37*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dirty="0">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ES" sz="1800" b="0" i="0" u="none" strike="noStrike" dirty="0">
                          <a:solidFill>
                            <a:srgbClr val="000000"/>
                          </a:solidFill>
                          <a:effectLst/>
                          <a:latin typeface="Calibri Light" panose="020F0302020204030204" pitchFamily="34" charset="0"/>
                        </a:rPr>
                        <a:t>19</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fontAlgn="ctr"/>
                      <a:r>
                        <a:rPr lang="es-ES" sz="1800" b="0" i="0" u="none" strike="noStrike" dirty="0">
                          <a:solidFill>
                            <a:srgbClr val="000000"/>
                          </a:solidFill>
                          <a:effectLst/>
                          <a:latin typeface="Calibri Light" panose="020F0302020204030204" pitchFamily="34" charset="0"/>
                        </a:rPr>
                        <a:t>19</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fontAlgn="ctr"/>
                      <a:r>
                        <a:rPr lang="es-ES" sz="1800" b="0" i="0" u="none" strike="noStrike" dirty="0">
                          <a:solidFill>
                            <a:srgbClr val="000000"/>
                          </a:solidFill>
                          <a:effectLst/>
                          <a:latin typeface="Calibri Light" panose="020F0302020204030204" pitchFamily="34" charset="0"/>
                        </a:rPr>
                        <a:t>21</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96636613"/>
                  </a:ext>
                </a:extLst>
              </a:tr>
              <a:tr h="276128">
                <a:tc>
                  <a:txBody>
                    <a:bodyPr/>
                    <a:lstStyle/>
                    <a:p>
                      <a:pPr algn="l" fontAlgn="ctr"/>
                      <a:r>
                        <a:rPr lang="es-PE" sz="18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 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8 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5.36</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2.21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2.1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3.4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dirty="0">
                          <a:solidFill>
                            <a:srgbClr val="000000"/>
                          </a:solidFill>
                          <a:effectLst/>
                          <a:latin typeface="Calibri Light" panose="020F0302020204030204" pitchFamily="34" charset="0"/>
                        </a:rPr>
                        <a:t>5.11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ES" sz="1800" b="0" i="0" u="none" strike="noStrike" dirty="0">
                          <a:solidFill>
                            <a:srgbClr val="000000"/>
                          </a:solidFill>
                          <a:effectLst/>
                          <a:latin typeface="Calibri Light" panose="020F0302020204030204" pitchFamily="34" charset="0"/>
                        </a:rPr>
                        <a:t>6.36</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ES" sz="1800" b="0" i="0" u="none" strike="noStrike" dirty="0">
                          <a:solidFill>
                            <a:srgbClr val="000000"/>
                          </a:solidFill>
                          <a:effectLst/>
                          <a:latin typeface="Calibri Light" panose="020F0302020204030204" pitchFamily="34" charset="0"/>
                        </a:rPr>
                        <a:t>4.95</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ES" sz="1800" b="0" i="0" u="none" strike="noStrike" dirty="0">
                          <a:solidFill>
                            <a:srgbClr val="000000"/>
                          </a:solidFill>
                          <a:effectLst/>
                          <a:latin typeface="Calibri Light" panose="020F0302020204030204" pitchFamily="34" charset="0"/>
                        </a:rPr>
                        <a:t>4.89</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3399743521"/>
                  </a:ext>
                </a:extLst>
              </a:tr>
              <a:tr h="300121">
                <a:tc>
                  <a:txBody>
                    <a:bodyPr/>
                    <a:lstStyle/>
                    <a:p>
                      <a:pPr algn="l" fontAlgn="ctr"/>
                      <a:r>
                        <a:rPr lang="es-PE" sz="18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800" b="1"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 3.63</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4.75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4.63</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4.75 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3.57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6.90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7.24</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8.10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5.00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dirty="0">
                          <a:solidFill>
                            <a:srgbClr val="000000"/>
                          </a:solidFill>
                          <a:effectLst/>
                          <a:latin typeface="Calibri Light" panose="020F0302020204030204" pitchFamily="34" charset="0"/>
                        </a:rPr>
                        <a:t>3.72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ES" sz="1800" b="1" i="0" u="none" strike="noStrike" dirty="0">
                          <a:solidFill>
                            <a:srgbClr val="000000"/>
                          </a:solidFill>
                          <a:effectLst/>
                          <a:latin typeface="Calibri Light" panose="020F0302020204030204" pitchFamily="34" charset="0"/>
                        </a:rPr>
                        <a:t>2.99</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fontAlgn="ctr"/>
                      <a:r>
                        <a:rPr lang="es-ES" sz="1800" b="1" i="0" u="none" strike="noStrike" dirty="0">
                          <a:solidFill>
                            <a:srgbClr val="000000"/>
                          </a:solidFill>
                          <a:effectLst/>
                          <a:latin typeface="Calibri Light" panose="020F0302020204030204" pitchFamily="34" charset="0"/>
                        </a:rPr>
                        <a:t>3.84</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fontAlgn="ctr"/>
                      <a:r>
                        <a:rPr lang="es-ES" sz="1800" b="1" i="0" u="none" strike="noStrike" dirty="0">
                          <a:solidFill>
                            <a:srgbClr val="000000"/>
                          </a:solidFill>
                          <a:effectLst/>
                          <a:latin typeface="Calibri Light" panose="020F0302020204030204" pitchFamily="34" charset="0"/>
                        </a:rPr>
                        <a:t>4.29*</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594709325"/>
                  </a:ext>
                </a:extLst>
              </a:tr>
            </a:tbl>
          </a:graphicData>
        </a:graphic>
      </p:graphicFrame>
      <p:sp>
        <p:nvSpPr>
          <p:cNvPr id="3" name="CuadroTexto 2">
            <a:extLst>
              <a:ext uri="{FF2B5EF4-FFF2-40B4-BE49-F238E27FC236}">
                <a16:creationId xmlns:a16="http://schemas.microsoft.com/office/drawing/2014/main" id="{6AC7FF14-AFAE-C3D9-DF53-AD47ADD2BB03}"/>
              </a:ext>
            </a:extLst>
          </p:cNvPr>
          <p:cNvSpPr txBox="1"/>
          <p:nvPr/>
        </p:nvSpPr>
        <p:spPr>
          <a:xfrm>
            <a:off x="533400" y="6007727"/>
            <a:ext cx="6362700" cy="600164"/>
          </a:xfrm>
          <a:prstGeom prst="rect">
            <a:avLst/>
          </a:prstGeom>
          <a:noFill/>
        </p:spPr>
        <p:txBody>
          <a:bodyPr wrap="square" rtlCol="0">
            <a:spAutoFit/>
          </a:bodyPr>
          <a:lstStyle/>
          <a:p>
            <a:r>
              <a:rPr lang="es-PE" sz="1100" dirty="0"/>
              <a:t>(*) Incluye 1 informe para demanda; se resolvió 20 reclamos por monto S/ 13.9 millones</a:t>
            </a:r>
          </a:p>
          <a:p>
            <a:r>
              <a:rPr lang="es-PE" sz="1100" dirty="0"/>
              <a:t>(*) Se incluye las RD complementarias </a:t>
            </a:r>
          </a:p>
          <a:p>
            <a:endParaRPr lang="es-PE" sz="1100" dirty="0"/>
          </a:p>
        </p:txBody>
      </p:sp>
    </p:spTree>
    <p:extLst>
      <p:ext uri="{BB962C8B-B14F-4D97-AF65-F5344CB8AC3E}">
        <p14:creationId xmlns:p14="http://schemas.microsoft.com/office/powerpoint/2010/main" val="3750528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FEBRERO 2024</a:t>
            </a:r>
            <a:endParaRPr lang="es-PE" sz="2800" b="1" dirty="0">
              <a:latin typeface="Arial" panose="020B0604020202020204" pitchFamily="34" charset="0"/>
              <a:cs typeface="Arial" panose="020B0604020202020204" pitchFamily="34" charset="0"/>
            </a:endParaRPr>
          </a:p>
        </p:txBody>
      </p:sp>
      <p:graphicFrame>
        <p:nvGraphicFramePr>
          <p:cNvPr id="8" name="Tabla 7">
            <a:extLst>
              <a:ext uri="{FF2B5EF4-FFF2-40B4-BE49-F238E27FC236}">
                <a16:creationId xmlns:a16="http://schemas.microsoft.com/office/drawing/2014/main" id="{5DCBF7E6-D327-F7EC-950D-E13591629145}"/>
              </a:ext>
            </a:extLst>
          </p:cNvPr>
          <p:cNvGraphicFramePr>
            <a:graphicFrameLocks noGrp="1"/>
          </p:cNvGraphicFramePr>
          <p:nvPr>
            <p:extLst>
              <p:ext uri="{D42A27DB-BD31-4B8C-83A1-F6EECF244321}">
                <p14:modId xmlns:p14="http://schemas.microsoft.com/office/powerpoint/2010/main" val="3432400350"/>
              </p:ext>
            </p:extLst>
          </p:nvPr>
        </p:nvGraphicFramePr>
        <p:xfrm>
          <a:off x="292043" y="1040573"/>
          <a:ext cx="11657648" cy="5518046"/>
        </p:xfrm>
        <a:graphic>
          <a:graphicData uri="http://schemas.openxmlformats.org/drawingml/2006/table">
            <a:tbl>
              <a:tblPr firstRow="1" firstCol="1" bandRow="1"/>
              <a:tblGrid>
                <a:gridCol w="1543430">
                  <a:extLst>
                    <a:ext uri="{9D8B030D-6E8A-4147-A177-3AD203B41FA5}">
                      <a16:colId xmlns:a16="http://schemas.microsoft.com/office/drawing/2014/main" val="925094151"/>
                    </a:ext>
                  </a:extLst>
                </a:gridCol>
                <a:gridCol w="843202">
                  <a:extLst>
                    <a:ext uri="{9D8B030D-6E8A-4147-A177-3AD203B41FA5}">
                      <a16:colId xmlns:a16="http://schemas.microsoft.com/office/drawing/2014/main" val="477222435"/>
                    </a:ext>
                  </a:extLst>
                </a:gridCol>
                <a:gridCol w="1304558">
                  <a:extLst>
                    <a:ext uri="{9D8B030D-6E8A-4147-A177-3AD203B41FA5}">
                      <a16:colId xmlns:a16="http://schemas.microsoft.com/office/drawing/2014/main" val="2282184332"/>
                    </a:ext>
                  </a:extLst>
                </a:gridCol>
                <a:gridCol w="1324782">
                  <a:extLst>
                    <a:ext uri="{9D8B030D-6E8A-4147-A177-3AD203B41FA5}">
                      <a16:colId xmlns:a16="http://schemas.microsoft.com/office/drawing/2014/main" val="889253127"/>
                    </a:ext>
                  </a:extLst>
                </a:gridCol>
                <a:gridCol w="930382">
                  <a:extLst>
                    <a:ext uri="{9D8B030D-6E8A-4147-A177-3AD203B41FA5}">
                      <a16:colId xmlns:a16="http://schemas.microsoft.com/office/drawing/2014/main" val="3618495769"/>
                    </a:ext>
                  </a:extLst>
                </a:gridCol>
                <a:gridCol w="1173092">
                  <a:extLst>
                    <a:ext uri="{9D8B030D-6E8A-4147-A177-3AD203B41FA5}">
                      <a16:colId xmlns:a16="http://schemas.microsoft.com/office/drawing/2014/main" val="3676107308"/>
                    </a:ext>
                  </a:extLst>
                </a:gridCol>
                <a:gridCol w="1304558">
                  <a:extLst>
                    <a:ext uri="{9D8B030D-6E8A-4147-A177-3AD203B41FA5}">
                      <a16:colId xmlns:a16="http://schemas.microsoft.com/office/drawing/2014/main" val="343955240"/>
                    </a:ext>
                  </a:extLst>
                </a:gridCol>
                <a:gridCol w="687896">
                  <a:extLst>
                    <a:ext uri="{9D8B030D-6E8A-4147-A177-3AD203B41FA5}">
                      <a16:colId xmlns:a16="http://schemas.microsoft.com/office/drawing/2014/main" val="1609030641"/>
                    </a:ext>
                  </a:extLst>
                </a:gridCol>
                <a:gridCol w="1576552">
                  <a:extLst>
                    <a:ext uri="{9D8B030D-6E8A-4147-A177-3AD203B41FA5}">
                      <a16:colId xmlns:a16="http://schemas.microsoft.com/office/drawing/2014/main" val="1343854734"/>
                    </a:ext>
                  </a:extLst>
                </a:gridCol>
                <a:gridCol w="969196">
                  <a:extLst>
                    <a:ext uri="{9D8B030D-6E8A-4147-A177-3AD203B41FA5}">
                      <a16:colId xmlns:a16="http://schemas.microsoft.com/office/drawing/2014/main" val="2417700680"/>
                    </a:ext>
                  </a:extLst>
                </a:gridCol>
              </a:tblGrid>
              <a:tr h="208115">
                <a:tc gridSpan="10">
                  <a:txBody>
                    <a:bodyPr/>
                    <a:lstStyle/>
                    <a:p>
                      <a:pPr algn="ctr"/>
                      <a:r>
                        <a:rPr lang="es-PE" sz="1300" b="1" dirty="0">
                          <a:solidFill>
                            <a:srgbClr val="000000"/>
                          </a:solidFill>
                          <a:effectLst/>
                          <a:latin typeface="Calibri" panose="020F0502020204030204" pitchFamily="34" charset="0"/>
                          <a:cs typeface="Calibri" panose="020F0502020204030204" pitchFamily="34" charset="0"/>
                        </a:rPr>
                        <a:t>PRODUCCIÓN</a:t>
                      </a:r>
                      <a:endParaRPr lang="es-PE" sz="1300" dirty="0">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hMerge="1">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PRODUCCIÓN</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3958888204"/>
                  </a:ext>
                </a:extLst>
              </a:tr>
              <a:tr h="208115">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UUOO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DCCI</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hMerge="1">
                  <a:txBody>
                    <a:bodyPr/>
                    <a:lstStyle/>
                    <a:p>
                      <a:endParaRPr lang="es-PE"/>
                    </a:p>
                  </a:txBody>
                  <a:tcPr/>
                </a:tc>
                <a:tc hMerge="1">
                  <a:txBody>
                    <a:bodyPr/>
                    <a:lstStyle/>
                    <a:p>
                      <a:endParaRPr lang="es-PE"/>
                    </a:p>
                  </a:txBody>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DCCII</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hMerge="1">
                  <a:txBody>
                    <a:bodyPr/>
                    <a:lstStyle/>
                    <a:p>
                      <a:endParaRPr lang="es-PE"/>
                    </a:p>
                  </a:txBody>
                  <a:tcPr/>
                </a:tc>
                <a:tc hMerge="1">
                  <a:txBody>
                    <a:bodyPr/>
                    <a:lstStyle/>
                    <a:p>
                      <a:endParaRPr lang="es-PE"/>
                    </a:p>
                  </a:txBody>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DCP</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2824672310"/>
                  </a:ext>
                </a:extLst>
              </a:tr>
              <a:tr h="745424">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MATERIA</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PE" sz="13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RD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LC</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(IAMC)</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 APELACIÓN</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792160857"/>
                  </a:ext>
                </a:extLst>
              </a:tr>
              <a:tr h="3201763">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PRODUCTO RESUELTO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236</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77</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r>
                        <a:rPr lang="es-ES"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-260 expedientes de reclamo evaluados: de los cuales 136 reclamos admitidos a fondo; 34 reclamos con RD de inadmisibilidad; 26 Reclamos con proyecto de RD inadmisible; 41 reclamos con requerimiento de admisibilidad</a:t>
                      </a:r>
                      <a:endParaRPr lang="es-PE"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21</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96122694"/>
                  </a:ext>
                </a:extLst>
              </a:tr>
              <a:tr h="447254">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RESOLUTOR</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19.2</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7.6</a:t>
                      </a:r>
                      <a:endParaRPr kumimoji="0" lang="es-PE"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4.89</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36962428"/>
                  </a:ext>
                </a:extLst>
              </a:tr>
              <a:tr h="707375">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PRODUCCIÓN PROMEDIO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12.29</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10.13</a:t>
                      </a:r>
                      <a:endParaRPr kumimoji="0" lang="es-PE"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130</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4.29*</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351006160"/>
                  </a:ext>
                </a:extLst>
              </a:tr>
            </a:tbl>
          </a:graphicData>
        </a:graphic>
      </p:graphicFrame>
    </p:spTree>
    <p:extLst>
      <p:ext uri="{BB962C8B-B14F-4D97-AF65-F5344CB8AC3E}">
        <p14:creationId xmlns:p14="http://schemas.microsoft.com/office/powerpoint/2010/main" val="2244531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PROGRAMACIÓN Y PRODUCCIÓN–2023-2024</a:t>
            </a:r>
            <a:endParaRPr lang="es-PE" sz="2800" b="1" dirty="0">
              <a:latin typeface="Arial" panose="020B0604020202020204" pitchFamily="34" charset="0"/>
              <a:cs typeface="Arial" panose="020B0604020202020204" pitchFamily="34" charset="0"/>
            </a:endParaRPr>
          </a:p>
        </p:txBody>
      </p:sp>
      <p:graphicFrame>
        <p:nvGraphicFramePr>
          <p:cNvPr id="5" name="Tabla 4">
            <a:extLst>
              <a:ext uri="{FF2B5EF4-FFF2-40B4-BE49-F238E27FC236}">
                <a16:creationId xmlns:a16="http://schemas.microsoft.com/office/drawing/2014/main" id="{CFC2ABA1-B454-A51E-4921-26238E396334}"/>
              </a:ext>
            </a:extLst>
          </p:cNvPr>
          <p:cNvGraphicFramePr>
            <a:graphicFrameLocks noGrp="1"/>
          </p:cNvGraphicFramePr>
          <p:nvPr>
            <p:extLst>
              <p:ext uri="{D42A27DB-BD31-4B8C-83A1-F6EECF244321}">
                <p14:modId xmlns:p14="http://schemas.microsoft.com/office/powerpoint/2010/main" val="1523458358"/>
              </p:ext>
            </p:extLst>
          </p:nvPr>
        </p:nvGraphicFramePr>
        <p:xfrm>
          <a:off x="992466" y="1511051"/>
          <a:ext cx="9467847" cy="3341121"/>
        </p:xfrm>
        <a:graphic>
          <a:graphicData uri="http://schemas.openxmlformats.org/drawingml/2006/table">
            <a:tbl>
              <a:tblPr/>
              <a:tblGrid>
                <a:gridCol w="661485">
                  <a:extLst>
                    <a:ext uri="{9D8B030D-6E8A-4147-A177-3AD203B41FA5}">
                      <a16:colId xmlns:a16="http://schemas.microsoft.com/office/drawing/2014/main" val="1618482016"/>
                    </a:ext>
                  </a:extLst>
                </a:gridCol>
                <a:gridCol w="624738">
                  <a:extLst>
                    <a:ext uri="{9D8B030D-6E8A-4147-A177-3AD203B41FA5}">
                      <a16:colId xmlns:a16="http://schemas.microsoft.com/office/drawing/2014/main" val="1856879478"/>
                    </a:ext>
                  </a:extLst>
                </a:gridCol>
                <a:gridCol w="526737">
                  <a:extLst>
                    <a:ext uri="{9D8B030D-6E8A-4147-A177-3AD203B41FA5}">
                      <a16:colId xmlns:a16="http://schemas.microsoft.com/office/drawing/2014/main" val="3149995394"/>
                    </a:ext>
                  </a:extLst>
                </a:gridCol>
                <a:gridCol w="649239">
                  <a:extLst>
                    <a:ext uri="{9D8B030D-6E8A-4147-A177-3AD203B41FA5}">
                      <a16:colId xmlns:a16="http://schemas.microsoft.com/office/drawing/2014/main" val="814693575"/>
                    </a:ext>
                  </a:extLst>
                </a:gridCol>
                <a:gridCol w="502239">
                  <a:extLst>
                    <a:ext uri="{9D8B030D-6E8A-4147-A177-3AD203B41FA5}">
                      <a16:colId xmlns:a16="http://schemas.microsoft.com/office/drawing/2014/main" val="1074761190"/>
                    </a:ext>
                  </a:extLst>
                </a:gridCol>
                <a:gridCol w="636987">
                  <a:extLst>
                    <a:ext uri="{9D8B030D-6E8A-4147-A177-3AD203B41FA5}">
                      <a16:colId xmlns:a16="http://schemas.microsoft.com/office/drawing/2014/main" val="3692527559"/>
                    </a:ext>
                  </a:extLst>
                </a:gridCol>
                <a:gridCol w="526737">
                  <a:extLst>
                    <a:ext uri="{9D8B030D-6E8A-4147-A177-3AD203B41FA5}">
                      <a16:colId xmlns:a16="http://schemas.microsoft.com/office/drawing/2014/main" val="4061206135"/>
                    </a:ext>
                  </a:extLst>
                </a:gridCol>
                <a:gridCol w="636987">
                  <a:extLst>
                    <a:ext uri="{9D8B030D-6E8A-4147-A177-3AD203B41FA5}">
                      <a16:colId xmlns:a16="http://schemas.microsoft.com/office/drawing/2014/main" val="693005033"/>
                    </a:ext>
                  </a:extLst>
                </a:gridCol>
                <a:gridCol w="783783">
                  <a:extLst>
                    <a:ext uri="{9D8B030D-6E8A-4147-A177-3AD203B41FA5}">
                      <a16:colId xmlns:a16="http://schemas.microsoft.com/office/drawing/2014/main" val="2232056816"/>
                    </a:ext>
                  </a:extLst>
                </a:gridCol>
                <a:gridCol w="783783">
                  <a:extLst>
                    <a:ext uri="{9D8B030D-6E8A-4147-A177-3AD203B41FA5}">
                      <a16:colId xmlns:a16="http://schemas.microsoft.com/office/drawing/2014/main" val="2387940828"/>
                    </a:ext>
                  </a:extLst>
                </a:gridCol>
                <a:gridCol w="783783">
                  <a:extLst>
                    <a:ext uri="{9D8B030D-6E8A-4147-A177-3AD203B41FA5}">
                      <a16:colId xmlns:a16="http://schemas.microsoft.com/office/drawing/2014/main" val="2569707495"/>
                    </a:ext>
                  </a:extLst>
                </a:gridCol>
                <a:gridCol w="783783">
                  <a:extLst>
                    <a:ext uri="{9D8B030D-6E8A-4147-A177-3AD203B41FA5}">
                      <a16:colId xmlns:a16="http://schemas.microsoft.com/office/drawing/2014/main" val="3784964087"/>
                    </a:ext>
                  </a:extLst>
                </a:gridCol>
                <a:gridCol w="783783">
                  <a:extLst>
                    <a:ext uri="{9D8B030D-6E8A-4147-A177-3AD203B41FA5}">
                      <a16:colId xmlns:a16="http://schemas.microsoft.com/office/drawing/2014/main" val="1713751460"/>
                    </a:ext>
                  </a:extLst>
                </a:gridCol>
                <a:gridCol w="783783">
                  <a:extLst>
                    <a:ext uri="{9D8B030D-6E8A-4147-A177-3AD203B41FA5}">
                      <a16:colId xmlns:a16="http://schemas.microsoft.com/office/drawing/2014/main" val="2001209396"/>
                    </a:ext>
                  </a:extLst>
                </a:gridCol>
              </a:tblGrid>
              <a:tr h="333598">
                <a:tc rowSpan="2">
                  <a:txBody>
                    <a:bodyPr/>
                    <a:lstStyle/>
                    <a:p>
                      <a:pPr algn="ctr" fontAlgn="b"/>
                      <a:endParaRPr lang="es-PE" sz="1450" b="0" i="0" u="none" strike="noStrike">
                        <a:solidFill>
                          <a:srgbClr val="000000"/>
                        </a:solidFill>
                        <a:effectLst/>
                        <a:latin typeface="Calibri Light" panose="020F0302020204030204" pitchFamily="34" charset="0"/>
                      </a:endParaRPr>
                    </a:p>
                  </a:txBody>
                  <a:tcPr marL="0" marR="0" marT="0" marB="0" anchor="b">
                    <a:lnL>
                      <a:noFill/>
                    </a:lnL>
                    <a:lnR w="12700" cap="flat" cmpd="sng" algn="ctr">
                      <a:solidFill>
                        <a:srgbClr val="305496"/>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gridSpan="6">
                  <a:txBody>
                    <a:bodyPr/>
                    <a:lstStyle/>
                    <a:p>
                      <a:pPr algn="ctr" fontAlgn="b"/>
                      <a:r>
                        <a:rPr lang="es-ES" sz="1450" b="1" i="0" u="none" strike="noStrike" dirty="0">
                          <a:solidFill>
                            <a:srgbClr val="FFFFFF"/>
                          </a:solidFill>
                          <a:effectLst/>
                          <a:latin typeface="Calibri Light" panose="020F0302020204030204" pitchFamily="34" charset="0"/>
                        </a:rPr>
                        <a:t>2023</a:t>
                      </a:r>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gridSpan="5">
                  <a:txBody>
                    <a:bodyPr/>
                    <a:lstStyle/>
                    <a:p>
                      <a:pPr algn="ctr" fontAlgn="b"/>
                      <a:r>
                        <a:rPr lang="es-PE" sz="1450" b="1" i="0" u="none" strike="noStrike" dirty="0">
                          <a:solidFill>
                            <a:srgbClr val="FFFFFF"/>
                          </a:solidFill>
                          <a:effectLst/>
                          <a:latin typeface="Calibri Light" panose="020F0302020204030204" pitchFamily="34" charset="0"/>
                        </a:rPr>
                        <a:t>2024</a:t>
                      </a: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extLst>
                  <a:ext uri="{0D108BD9-81ED-4DB2-BD59-A6C34878D82A}">
                    <a16:rowId xmlns:a16="http://schemas.microsoft.com/office/drawing/2014/main" val="628447104"/>
                  </a:ext>
                </a:extLst>
              </a:tr>
              <a:tr h="539779">
                <a:tc vMerge="1">
                  <a:txBody>
                    <a:bodyPr/>
                    <a:lstStyle/>
                    <a:p>
                      <a:endParaRPr lang="es-PE"/>
                    </a:p>
                  </a:txBody>
                  <a:tcPr/>
                </a:tc>
                <a:tc gridSpan="2">
                  <a:txBody>
                    <a:bodyPr/>
                    <a:lstStyle/>
                    <a:p>
                      <a:pPr algn="ctr" fontAlgn="ctr"/>
                      <a:r>
                        <a:rPr lang="es-PE" sz="1450" b="1" i="0" u="none" strike="noStrike">
                          <a:solidFill>
                            <a:srgbClr val="FFFFFF"/>
                          </a:solidFill>
                          <a:effectLst/>
                          <a:latin typeface="Calibri Light" panose="020F0302020204030204" pitchFamily="34" charset="0"/>
                        </a:rPr>
                        <a:t>OCTUBRE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450" b="1" i="0" u="none" strike="noStrike">
                          <a:solidFill>
                            <a:srgbClr val="FFFFFF"/>
                          </a:solidFill>
                          <a:effectLst/>
                          <a:latin typeface="Calibri Light" panose="020F0302020204030204" pitchFamily="34" charset="0"/>
                        </a:rPr>
                        <a:t>NOVIEMBRE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450" b="1" i="0" u="none" strike="noStrike">
                          <a:solidFill>
                            <a:srgbClr val="FFFFFF"/>
                          </a:solidFill>
                          <a:effectLst/>
                          <a:latin typeface="Calibri Light" panose="020F0302020204030204" pitchFamily="34" charset="0"/>
                        </a:rPr>
                        <a:t>DICIEMBRE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450" b="1" i="0" u="none" strike="noStrike" dirty="0">
                          <a:solidFill>
                            <a:srgbClr val="FFFFFF"/>
                          </a:solidFill>
                          <a:effectLst/>
                          <a:latin typeface="Calibri Light" panose="020F0302020204030204" pitchFamily="34" charset="0"/>
                        </a:rPr>
                        <a:t>ENERO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endParaRPr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450" b="1" i="0" u="none" strike="noStrike" dirty="0">
                          <a:solidFill>
                            <a:srgbClr val="FFFFFF"/>
                          </a:solidFill>
                          <a:effectLst/>
                          <a:latin typeface="Calibri Light" panose="020F0302020204030204" pitchFamily="34" charset="0"/>
                        </a:rPr>
                        <a:t>FEBRERO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r>
                        <a:rPr lang="es-ES" sz="1450" b="1" i="0" u="none" strike="noStrike" dirty="0">
                          <a:solidFill>
                            <a:srgbClr val="FFFFFF"/>
                          </a:solidFill>
                          <a:effectLst/>
                          <a:latin typeface="Calibri Light" panose="020F0302020204030204" pitchFamily="34" charset="0"/>
                        </a:rPr>
                        <a:t>MARZO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450" b="1" i="0" u="none" strike="noStrike" dirty="0">
                          <a:solidFill>
                            <a:srgbClr val="FFFFFF"/>
                          </a:solidFill>
                          <a:effectLst/>
                          <a:latin typeface="Calibri Light" panose="020F0302020204030204" pitchFamily="34" charset="0"/>
                        </a:rPr>
                        <a:t>MARZO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ABRIL</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2051194752"/>
                  </a:ext>
                </a:extLst>
              </a:tr>
              <a:tr h="1054588">
                <a:tc>
                  <a:txBody>
                    <a:bodyPr/>
                    <a:lstStyle/>
                    <a:p>
                      <a:pPr algn="ctr" fontAlgn="ctr"/>
                      <a:r>
                        <a:rPr lang="es-PE" sz="1450" b="1" i="0" u="none" strike="noStrike">
                          <a:solidFill>
                            <a:srgbClr val="FFFFFF"/>
                          </a:solidFill>
                          <a:effectLst/>
                          <a:latin typeface="Calibri Light" panose="020F0302020204030204" pitchFamily="34" charset="0"/>
                        </a:rPr>
                        <a:t>UUOO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PROG</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PROG</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3240945064"/>
                  </a:ext>
                </a:extLst>
              </a:tr>
              <a:tr h="539779">
                <a:tc>
                  <a:txBody>
                    <a:bodyPr/>
                    <a:lstStyle/>
                    <a:p>
                      <a:pPr algn="ctr" fontAlgn="ctr"/>
                      <a:r>
                        <a:rPr lang="es-PE" sz="1450" b="1" i="0" u="none" strike="noStrike">
                          <a:solidFill>
                            <a:srgbClr val="FFFFFF"/>
                          </a:solidFill>
                          <a:effectLst/>
                          <a:latin typeface="Calibri Light" panose="020F0302020204030204" pitchFamily="34" charset="0"/>
                        </a:rPr>
                        <a:t>DCCI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50" b="1" i="0" u="none" strike="noStrike" dirty="0">
                          <a:solidFill>
                            <a:srgbClr val="833C0C"/>
                          </a:solidFill>
                          <a:effectLst/>
                          <a:latin typeface="Calibri Light" panose="020F0302020204030204" pitchFamily="34" charset="0"/>
                        </a:rPr>
                        <a:t>150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209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833C0C"/>
                          </a:solidFill>
                          <a:effectLst/>
                          <a:latin typeface="Calibri Light" panose="020F0302020204030204" pitchFamily="34" charset="0"/>
                        </a:rPr>
                        <a:t>150 (*)</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188</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314</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242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dirty="0">
                          <a:solidFill>
                            <a:srgbClr val="833C0C"/>
                          </a:solidFill>
                          <a:effectLst/>
                          <a:latin typeface="Calibri Light" panose="020F0302020204030204" pitchFamily="34" charset="0"/>
                        </a:rPr>
                        <a:t>300</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285</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rgbClr val="833C0C"/>
                          </a:solidFill>
                          <a:effectLst/>
                          <a:latin typeface="Calibri Light" panose="020F0302020204030204" pitchFamily="34" charset="0"/>
                        </a:rPr>
                        <a:t>300</a:t>
                      </a:r>
                      <a:endParaRPr lang="es-PE" sz="145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264</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250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236</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250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extLst>
                  <a:ext uri="{0D108BD9-81ED-4DB2-BD59-A6C34878D82A}">
                    <a16:rowId xmlns:a16="http://schemas.microsoft.com/office/drawing/2014/main" val="3368564924"/>
                  </a:ext>
                </a:extLst>
              </a:tr>
              <a:tr h="333598">
                <a:tc>
                  <a:txBody>
                    <a:bodyPr/>
                    <a:lstStyle/>
                    <a:p>
                      <a:pPr algn="ctr" fontAlgn="ctr"/>
                      <a:r>
                        <a:rPr lang="es-PE" sz="1450" b="1" i="0" u="none" strike="noStrike">
                          <a:solidFill>
                            <a:srgbClr val="FFFFFF"/>
                          </a:solidFill>
                          <a:effectLst/>
                          <a:latin typeface="Calibri Light" panose="020F0302020204030204" pitchFamily="34" charset="0"/>
                        </a:rPr>
                        <a:t>DCCII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50" b="1" i="0" u="none" strike="noStrike">
                          <a:solidFill>
                            <a:srgbClr val="833C0C"/>
                          </a:solidFill>
                          <a:effectLst/>
                          <a:latin typeface="Calibri Light" panose="020F0302020204030204" pitchFamily="34" charset="0"/>
                        </a:rPr>
                        <a:t>104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000000"/>
                          </a:solidFill>
                          <a:effectLst/>
                          <a:latin typeface="Calibri Light" panose="020F0302020204030204" pitchFamily="34" charset="0"/>
                        </a:rPr>
                        <a:t>76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80</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000000"/>
                          </a:solidFill>
                          <a:effectLst/>
                          <a:latin typeface="Calibri Light" panose="020F0302020204030204" pitchFamily="34" charset="0"/>
                        </a:rPr>
                        <a:t>83</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96</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000000"/>
                          </a:solidFill>
                          <a:effectLst/>
                          <a:latin typeface="Calibri Light" panose="020F0302020204030204" pitchFamily="34" charset="0"/>
                        </a:rPr>
                        <a:t>81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dirty="0">
                          <a:solidFill>
                            <a:srgbClr val="833C0C"/>
                          </a:solidFill>
                          <a:effectLst/>
                          <a:latin typeface="Calibri Light" panose="020F0302020204030204" pitchFamily="34" charset="0"/>
                        </a:rPr>
                        <a:t>92</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50" b="1" i="0" u="none" strike="noStrike" dirty="0">
                          <a:solidFill>
                            <a:schemeClr val="tx1"/>
                          </a:solidFill>
                          <a:effectLst/>
                          <a:latin typeface="Calibri Light" panose="020F0302020204030204" pitchFamily="34" charset="0"/>
                        </a:rPr>
                        <a:t>79</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50" b="1" i="0" u="none" strike="noStrike" dirty="0">
                          <a:solidFill>
                            <a:srgbClr val="833C0C"/>
                          </a:solidFill>
                          <a:effectLst/>
                          <a:latin typeface="Calibri Light" panose="020F0302020204030204" pitchFamily="34" charset="0"/>
                        </a:rPr>
                        <a:t>8</a:t>
                      </a:r>
                      <a:r>
                        <a:rPr lang="es-PE" sz="1450" b="1" i="0" u="none" strike="noStrike" dirty="0">
                          <a:solidFill>
                            <a:srgbClr val="833C0C"/>
                          </a:solidFill>
                          <a:effectLst/>
                          <a:latin typeface="Calibri Light" panose="020F0302020204030204" pitchFamily="34" charset="0"/>
                        </a:rPr>
                        <a:t>2</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50" b="1" i="0" u="none" strike="noStrike" dirty="0">
                          <a:solidFill>
                            <a:schemeClr val="tx1"/>
                          </a:solidFill>
                          <a:effectLst/>
                          <a:latin typeface="Calibri Light" panose="020F0302020204030204" pitchFamily="34" charset="0"/>
                        </a:rPr>
                        <a:t>83</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81</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77</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90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extLst>
                  <a:ext uri="{0D108BD9-81ED-4DB2-BD59-A6C34878D82A}">
                    <a16:rowId xmlns:a16="http://schemas.microsoft.com/office/drawing/2014/main" val="3056038957"/>
                  </a:ext>
                </a:extLst>
              </a:tr>
              <a:tr h="539779">
                <a:tc>
                  <a:txBody>
                    <a:bodyPr/>
                    <a:lstStyle/>
                    <a:p>
                      <a:pPr algn="ctr" fontAlgn="ctr"/>
                      <a:r>
                        <a:rPr lang="es-PE" sz="1450" b="1" i="0" u="none" strike="noStrike">
                          <a:solidFill>
                            <a:srgbClr val="FFFFFF"/>
                          </a:solidFill>
                          <a:effectLst/>
                          <a:latin typeface="Calibri Light" panose="020F0302020204030204" pitchFamily="34" charset="0"/>
                        </a:rPr>
                        <a:t>DCP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50" b="1" i="0" u="none" strike="noStrike" dirty="0">
                          <a:solidFill>
                            <a:srgbClr val="833C0C"/>
                          </a:solidFill>
                          <a:effectLst/>
                          <a:latin typeface="Calibri Light" panose="020F0302020204030204" pitchFamily="34" charset="0"/>
                        </a:rPr>
                        <a:t>14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833C0C"/>
                          </a:solidFill>
                          <a:effectLst/>
                          <a:latin typeface="Calibri Light" panose="020F0302020204030204" pitchFamily="34" charset="0"/>
                        </a:rPr>
                        <a:t>15 (*)</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20*</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dirty="0">
                          <a:solidFill>
                            <a:srgbClr val="833C0C"/>
                          </a:solidFill>
                          <a:effectLst/>
                          <a:latin typeface="Calibri Light" panose="020F0302020204030204" pitchFamily="34" charset="0"/>
                        </a:rPr>
                        <a:t>20</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19</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rgbClr val="833C0C"/>
                          </a:solidFill>
                          <a:effectLst/>
                          <a:latin typeface="Calibri Light" panose="020F0302020204030204" pitchFamily="34" charset="0"/>
                        </a:rPr>
                        <a:t>17</a:t>
                      </a:r>
                      <a:endParaRPr lang="es-PE" sz="145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19</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18</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chemeClr val="tx1"/>
                          </a:solidFill>
                          <a:effectLst/>
                          <a:latin typeface="Calibri Light" panose="020F0302020204030204" pitchFamily="34" charset="0"/>
                          <a:ea typeface="+mn-ea"/>
                          <a:cs typeface="+mn-cs"/>
                        </a:rPr>
                        <a:t>21</a:t>
                      </a:r>
                      <a:endParaRPr lang="es-PE" sz="145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18</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extLst>
                  <a:ext uri="{0D108BD9-81ED-4DB2-BD59-A6C34878D82A}">
                    <a16:rowId xmlns:a16="http://schemas.microsoft.com/office/drawing/2014/main" val="576731200"/>
                  </a:ext>
                </a:extLst>
              </a:tr>
            </a:tbl>
          </a:graphicData>
        </a:graphic>
      </p:graphicFrame>
      <p:graphicFrame>
        <p:nvGraphicFramePr>
          <p:cNvPr id="4" name="Tabla 3">
            <a:extLst>
              <a:ext uri="{FF2B5EF4-FFF2-40B4-BE49-F238E27FC236}">
                <a16:creationId xmlns:a16="http://schemas.microsoft.com/office/drawing/2014/main" id="{D87AF17A-BFED-46AC-919E-84361237190B}"/>
              </a:ext>
            </a:extLst>
          </p:cNvPr>
          <p:cNvGraphicFramePr>
            <a:graphicFrameLocks noGrp="1"/>
          </p:cNvGraphicFramePr>
          <p:nvPr>
            <p:extLst>
              <p:ext uri="{D42A27DB-BD31-4B8C-83A1-F6EECF244321}">
                <p14:modId xmlns:p14="http://schemas.microsoft.com/office/powerpoint/2010/main" val="3176615438"/>
              </p:ext>
            </p:extLst>
          </p:nvPr>
        </p:nvGraphicFramePr>
        <p:xfrm>
          <a:off x="1049103" y="5500375"/>
          <a:ext cx="1916285" cy="960250"/>
        </p:xfrm>
        <a:graphic>
          <a:graphicData uri="http://schemas.openxmlformats.org/drawingml/2006/table">
            <a:tbl>
              <a:tblPr firstRow="1" firstCol="1" bandRow="1">
                <a:tableStyleId>{5C22544A-7EE6-4342-B048-85BDC9FD1C3A}</a:tableStyleId>
              </a:tblPr>
              <a:tblGrid>
                <a:gridCol w="573455">
                  <a:extLst>
                    <a:ext uri="{9D8B030D-6E8A-4147-A177-3AD203B41FA5}">
                      <a16:colId xmlns:a16="http://schemas.microsoft.com/office/drawing/2014/main" val="400669114"/>
                    </a:ext>
                  </a:extLst>
                </a:gridCol>
                <a:gridCol w="621363">
                  <a:extLst>
                    <a:ext uri="{9D8B030D-6E8A-4147-A177-3AD203B41FA5}">
                      <a16:colId xmlns:a16="http://schemas.microsoft.com/office/drawing/2014/main" val="47251755"/>
                    </a:ext>
                  </a:extLst>
                </a:gridCol>
                <a:gridCol w="721467">
                  <a:extLst>
                    <a:ext uri="{9D8B030D-6E8A-4147-A177-3AD203B41FA5}">
                      <a16:colId xmlns:a16="http://schemas.microsoft.com/office/drawing/2014/main" val="53380357"/>
                    </a:ext>
                  </a:extLst>
                </a:gridCol>
              </a:tblGrid>
              <a:tr h="245664">
                <a:tc>
                  <a:txBody>
                    <a:bodyPr/>
                    <a:lstStyle/>
                    <a:p>
                      <a:r>
                        <a:rPr lang="es-PE" sz="1100" dirty="0">
                          <a:effectLst/>
                        </a:rPr>
                        <a:t>UUOO</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2022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a:effectLst/>
                        </a:rPr>
                        <a:t>2024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8351491"/>
                  </a:ext>
                </a:extLst>
              </a:tr>
              <a:tr h="234461">
                <a:tc>
                  <a:txBody>
                    <a:bodyPr/>
                    <a:lstStyle/>
                    <a:p>
                      <a:r>
                        <a:rPr lang="es-PE" sz="1100">
                          <a:effectLst/>
                        </a:rPr>
                        <a:t>DCCI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22</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17</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4503170"/>
                  </a:ext>
                </a:extLst>
              </a:tr>
              <a:tr h="245664">
                <a:tc>
                  <a:txBody>
                    <a:bodyPr/>
                    <a:lstStyle/>
                    <a:p>
                      <a:r>
                        <a:rPr lang="es-PE" sz="1100">
                          <a:effectLst/>
                        </a:rPr>
                        <a:t>DCCII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4.5</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10</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6236002"/>
                  </a:ext>
                </a:extLst>
              </a:tr>
              <a:tr h="234461">
                <a:tc>
                  <a:txBody>
                    <a:bodyPr/>
                    <a:lstStyle/>
                    <a:p>
                      <a:r>
                        <a:rPr lang="es-PE" sz="1100" dirty="0">
                          <a:effectLst/>
                        </a:rPr>
                        <a:t>DCP</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a:effectLst/>
                        </a:rPr>
                        <a:t>2.2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4.29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7154280"/>
                  </a:ext>
                </a:extLst>
              </a:tr>
            </a:tbl>
          </a:graphicData>
        </a:graphic>
      </p:graphicFrame>
      <p:sp>
        <p:nvSpPr>
          <p:cNvPr id="6" name="Rectangle 2">
            <a:extLst>
              <a:ext uri="{FF2B5EF4-FFF2-40B4-BE49-F238E27FC236}">
                <a16:creationId xmlns:a16="http://schemas.microsoft.com/office/drawing/2014/main" id="{BA891A4B-9BC0-4C39-B620-0738C91CD272}"/>
              </a:ext>
            </a:extLst>
          </p:cNvPr>
          <p:cNvSpPr>
            <a:spLocks noChangeArrowheads="1"/>
          </p:cNvSpPr>
          <p:nvPr/>
        </p:nvSpPr>
        <p:spPr bwMode="auto">
          <a:xfrm>
            <a:off x="5245100" y="533024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PE"/>
          </a:p>
        </p:txBody>
      </p:sp>
      <p:sp>
        <p:nvSpPr>
          <p:cNvPr id="10" name="Título 94">
            <a:extLst>
              <a:ext uri="{FF2B5EF4-FFF2-40B4-BE49-F238E27FC236}">
                <a16:creationId xmlns:a16="http://schemas.microsoft.com/office/drawing/2014/main" id="{5E639BFF-C474-4303-B9F1-6A675CBE0E77}"/>
              </a:ext>
            </a:extLst>
          </p:cNvPr>
          <p:cNvSpPr txBox="1">
            <a:spLocks/>
          </p:cNvSpPr>
          <p:nvPr/>
        </p:nvSpPr>
        <p:spPr>
          <a:xfrm>
            <a:off x="394707" y="4820616"/>
            <a:ext cx="3040702" cy="5943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000" b="1" dirty="0">
                <a:latin typeface="Arial" panose="020B0604020202020204" pitchFamily="34" charset="0"/>
                <a:cs typeface="Arial" panose="020B0604020202020204" pitchFamily="34" charset="0"/>
              </a:rPr>
              <a:t>               </a:t>
            </a:r>
          </a:p>
          <a:p>
            <a:r>
              <a:rPr lang="es-ES" sz="1000" b="1" dirty="0">
                <a:latin typeface="Arial" panose="020B0604020202020204" pitchFamily="34" charset="0"/>
                <a:cs typeface="Arial" panose="020B0604020202020204" pitchFamily="34" charset="0"/>
              </a:rPr>
              <a:t>                </a:t>
            </a:r>
          </a:p>
          <a:p>
            <a:r>
              <a:rPr lang="es-ES" sz="1000" b="1" dirty="0">
                <a:latin typeface="Arial" panose="020B0604020202020204" pitchFamily="34" charset="0"/>
                <a:cs typeface="Arial" panose="020B0604020202020204" pitchFamily="34" charset="0"/>
              </a:rPr>
              <a:t>               Antecedente </a:t>
            </a:r>
            <a:endParaRPr lang="es-PE" sz="1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5960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POR SUPERVISIÓN</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657226" y="183959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657226" y="3439416"/>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647698" y="4915686"/>
            <a:ext cx="1028700" cy="638174"/>
          </a:xfrm>
          <a:prstGeom prst="rightArrow">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3" name="Tabla 2">
            <a:extLst>
              <a:ext uri="{FF2B5EF4-FFF2-40B4-BE49-F238E27FC236}">
                <a16:creationId xmlns:a16="http://schemas.microsoft.com/office/drawing/2014/main" id="{F0ADA2C1-AAD1-1A2B-5E48-C4B607DCDAF6}"/>
              </a:ext>
            </a:extLst>
          </p:cNvPr>
          <p:cNvGraphicFramePr>
            <a:graphicFrameLocks noGrp="1"/>
          </p:cNvGraphicFramePr>
          <p:nvPr>
            <p:extLst>
              <p:ext uri="{D42A27DB-BD31-4B8C-83A1-F6EECF244321}">
                <p14:modId xmlns:p14="http://schemas.microsoft.com/office/powerpoint/2010/main" val="2154057732"/>
              </p:ext>
            </p:extLst>
          </p:nvPr>
        </p:nvGraphicFramePr>
        <p:xfrm>
          <a:off x="2393298" y="3270180"/>
          <a:ext cx="8693802" cy="1400897"/>
        </p:xfrm>
        <a:graphic>
          <a:graphicData uri="http://schemas.openxmlformats.org/drawingml/2006/table">
            <a:tbl>
              <a:tblPr firstRow="1" firstCol="1" bandRow="1">
                <a:tableStyleId>{00A15C55-8517-42AA-B614-E9B94910E393}</a:tableStyleId>
              </a:tblPr>
              <a:tblGrid>
                <a:gridCol w="1455080">
                  <a:extLst>
                    <a:ext uri="{9D8B030D-6E8A-4147-A177-3AD203B41FA5}">
                      <a16:colId xmlns:a16="http://schemas.microsoft.com/office/drawing/2014/main" val="3257801786"/>
                    </a:ext>
                  </a:extLst>
                </a:gridCol>
                <a:gridCol w="2136188">
                  <a:extLst>
                    <a:ext uri="{9D8B030D-6E8A-4147-A177-3AD203B41FA5}">
                      <a16:colId xmlns:a16="http://schemas.microsoft.com/office/drawing/2014/main" val="1776142972"/>
                    </a:ext>
                  </a:extLst>
                </a:gridCol>
                <a:gridCol w="1096282">
                  <a:extLst>
                    <a:ext uri="{9D8B030D-6E8A-4147-A177-3AD203B41FA5}">
                      <a16:colId xmlns:a16="http://schemas.microsoft.com/office/drawing/2014/main" val="153233266"/>
                    </a:ext>
                  </a:extLst>
                </a:gridCol>
                <a:gridCol w="1192082">
                  <a:extLst>
                    <a:ext uri="{9D8B030D-6E8A-4147-A177-3AD203B41FA5}">
                      <a16:colId xmlns:a16="http://schemas.microsoft.com/office/drawing/2014/main" val="1566383420"/>
                    </a:ext>
                  </a:extLst>
                </a:gridCol>
                <a:gridCol w="1378511">
                  <a:extLst>
                    <a:ext uri="{9D8B030D-6E8A-4147-A177-3AD203B41FA5}">
                      <a16:colId xmlns:a16="http://schemas.microsoft.com/office/drawing/2014/main" val="2882639219"/>
                    </a:ext>
                  </a:extLst>
                </a:gridCol>
                <a:gridCol w="1435659">
                  <a:extLst>
                    <a:ext uri="{9D8B030D-6E8A-4147-A177-3AD203B41FA5}">
                      <a16:colId xmlns:a16="http://schemas.microsoft.com/office/drawing/2014/main" val="2536285859"/>
                    </a:ext>
                  </a:extLst>
                </a:gridCol>
              </a:tblGrid>
              <a:tr h="424874">
                <a:tc>
                  <a:txBody>
                    <a:bodyPr/>
                    <a:lstStyle/>
                    <a:p>
                      <a:pPr algn="ctr"/>
                      <a:r>
                        <a:rPr lang="es-PE" sz="1600" b="1" dirty="0">
                          <a:solidFill>
                            <a:srgbClr val="FFFFFF"/>
                          </a:solidFill>
                          <a:effectLst/>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a:solidFill>
                            <a:srgbClr val="FFFFFF"/>
                          </a:solidFill>
                          <a:effectLst/>
                        </a:rPr>
                        <a:t>Resolución aplicada</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extLst>
                  <a:ext uri="{0D108BD9-81ED-4DB2-BD59-A6C34878D82A}">
                    <a16:rowId xmlns:a16="http://schemas.microsoft.com/office/drawing/2014/main" val="1468347544"/>
                  </a:ext>
                </a:extLst>
              </a:tr>
              <a:tr h="410828">
                <a:tc>
                  <a:txBody>
                    <a:bodyPr/>
                    <a:lstStyle/>
                    <a:p>
                      <a:pPr algn="ctr"/>
                      <a:r>
                        <a:rPr lang="es-PE" sz="1600" b="1" dirty="0">
                          <a:solidFill>
                            <a:srgbClr val="FFFFFF"/>
                          </a:solidFill>
                          <a:effectLst/>
                        </a:rPr>
                        <a:t>7U7201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r>
                        <a:rPr lang="es-PE" sz="1800" dirty="0">
                          <a:solidFill>
                            <a:srgbClr val="000000"/>
                          </a:solidFill>
                          <a:effectLst/>
                        </a:rPr>
                        <a:t>Yessenia Salcedo</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30</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2.8</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PE" sz="1800" b="0" kern="1200" dirty="0">
                          <a:solidFill>
                            <a:schemeClr val="tx1"/>
                          </a:solidFill>
                          <a:effectLst/>
                          <a:latin typeface="+mn-lt"/>
                          <a:ea typeface="+mn-ea"/>
                          <a:cs typeface="+mn-cs"/>
                        </a:rPr>
                        <a:t>MEDIO/ALTA</a:t>
                      </a:r>
                    </a:p>
                  </a:txBody>
                  <a:tcPr marL="68580" marR="68580" marT="9525" marB="0" anchor="ctr">
                    <a:solidFill>
                      <a:srgbClr val="FFCCFF"/>
                    </a:solidFill>
                  </a:tcPr>
                </a:tc>
                <a:tc>
                  <a:txBody>
                    <a:bodyPr/>
                    <a:lstStyle/>
                    <a:p>
                      <a:pPr marL="0" algn="ctr" defTabSz="914400" rtl="0" eaLnBrk="1" latinLnBrk="0" hangingPunct="1"/>
                      <a:r>
                        <a:rPr lang="es-ES" sz="1800" b="0" kern="1200" dirty="0">
                          <a:solidFill>
                            <a:schemeClr val="tx1"/>
                          </a:solidFill>
                          <a:effectLst/>
                          <a:latin typeface="+mn-lt"/>
                          <a:ea typeface="+mn-ea"/>
                          <a:cs typeface="+mn-cs"/>
                        </a:rPr>
                        <a:t>10.71 *</a:t>
                      </a:r>
                      <a:endParaRPr lang="es-PE" sz="1800" b="0" kern="1200" dirty="0">
                        <a:solidFill>
                          <a:schemeClr val="tx1"/>
                        </a:solidFill>
                        <a:effectLst/>
                        <a:latin typeface="+mn-lt"/>
                        <a:ea typeface="+mn-ea"/>
                        <a:cs typeface="+mn-cs"/>
                      </a:endParaRPr>
                    </a:p>
                  </a:txBody>
                  <a:tcPr marL="68580" marR="68580" marT="9525" marB="0" anchor="ctr">
                    <a:solidFill>
                      <a:srgbClr val="FFCCFF"/>
                    </a:solidFill>
                  </a:tcPr>
                </a:tc>
                <a:extLst>
                  <a:ext uri="{0D108BD9-81ED-4DB2-BD59-A6C34878D82A}">
                    <a16:rowId xmlns:a16="http://schemas.microsoft.com/office/drawing/2014/main" val="160037749"/>
                  </a:ext>
                </a:extLst>
              </a:tr>
              <a:tr h="502389">
                <a:tc>
                  <a:txBody>
                    <a:bodyPr/>
                    <a:lstStyle/>
                    <a:p>
                      <a:pPr algn="ctr"/>
                      <a:r>
                        <a:rPr lang="es-ES" sz="1600" b="1" dirty="0">
                          <a:solidFill>
                            <a:srgbClr val="FFFFFF"/>
                          </a:solidFill>
                          <a:effectLst/>
                        </a:rPr>
                        <a:t>7U7202</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r>
                        <a:rPr lang="es-PE" sz="1800" kern="1200" dirty="0">
                          <a:solidFill>
                            <a:schemeClr val="tx1"/>
                          </a:solidFill>
                          <a:effectLst/>
                        </a:rPr>
                        <a:t>Allison Castro</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46</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4.8</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PE" sz="1800" b="0" kern="1200" dirty="0">
                          <a:solidFill>
                            <a:schemeClr val="tx1"/>
                          </a:solidFill>
                          <a:effectLst/>
                          <a:latin typeface="+mn-lt"/>
                          <a:ea typeface="+mn-ea"/>
                          <a:cs typeface="+mn-cs"/>
                        </a:rPr>
                        <a:t>MEDIO/ALTA</a:t>
                      </a:r>
                    </a:p>
                  </a:txBody>
                  <a:tcPr marL="68580" marR="68580" marT="9525" marB="0" anchor="ctr">
                    <a:solidFill>
                      <a:srgbClr val="FFCCFF"/>
                    </a:solidFill>
                  </a:tcPr>
                </a:tc>
                <a:tc>
                  <a:txBody>
                    <a:bodyPr/>
                    <a:lstStyle/>
                    <a:p>
                      <a:pPr marL="0" algn="ctr" defTabSz="914400" rtl="0" eaLnBrk="1" latinLnBrk="0" hangingPunct="1"/>
                      <a:r>
                        <a:rPr lang="es-ES" sz="1800" b="0" kern="1200" dirty="0">
                          <a:solidFill>
                            <a:schemeClr val="tx1"/>
                          </a:solidFill>
                          <a:effectLst/>
                          <a:latin typeface="+mn-lt"/>
                          <a:ea typeface="+mn-ea"/>
                          <a:cs typeface="+mn-cs"/>
                        </a:rPr>
                        <a:t>9.58 *</a:t>
                      </a:r>
                      <a:endParaRPr lang="es-PE" sz="1800" b="0" kern="1200" dirty="0">
                        <a:solidFill>
                          <a:schemeClr val="tx1"/>
                        </a:solidFill>
                        <a:effectLst/>
                        <a:latin typeface="+mn-lt"/>
                        <a:ea typeface="+mn-ea"/>
                        <a:cs typeface="+mn-cs"/>
                      </a:endParaRPr>
                    </a:p>
                  </a:txBody>
                  <a:tcPr marL="68580" marR="68580" marT="9525" marB="0" anchor="ctr">
                    <a:solidFill>
                      <a:srgbClr val="FFCCFF"/>
                    </a:solidFill>
                  </a:tcPr>
                </a:tc>
                <a:extLst>
                  <a:ext uri="{0D108BD9-81ED-4DB2-BD59-A6C34878D82A}">
                    <a16:rowId xmlns:a16="http://schemas.microsoft.com/office/drawing/2014/main" val="660552211"/>
                  </a:ext>
                </a:extLst>
              </a:tr>
            </a:tbl>
          </a:graphicData>
        </a:graphic>
      </p:graphicFrame>
      <p:graphicFrame>
        <p:nvGraphicFramePr>
          <p:cNvPr id="4" name="Tabla 3">
            <a:extLst>
              <a:ext uri="{FF2B5EF4-FFF2-40B4-BE49-F238E27FC236}">
                <a16:creationId xmlns:a16="http://schemas.microsoft.com/office/drawing/2014/main" id="{0D7F5025-96FD-A7EE-5367-617ABB2327E9}"/>
              </a:ext>
            </a:extLst>
          </p:cNvPr>
          <p:cNvGraphicFramePr>
            <a:graphicFrameLocks noGrp="1"/>
          </p:cNvGraphicFramePr>
          <p:nvPr>
            <p:extLst>
              <p:ext uri="{D42A27DB-BD31-4B8C-83A1-F6EECF244321}">
                <p14:modId xmlns:p14="http://schemas.microsoft.com/office/powerpoint/2010/main" val="3580872482"/>
              </p:ext>
            </p:extLst>
          </p:nvPr>
        </p:nvGraphicFramePr>
        <p:xfrm>
          <a:off x="2393298" y="4800995"/>
          <a:ext cx="8636651" cy="1153306"/>
        </p:xfrm>
        <a:graphic>
          <a:graphicData uri="http://schemas.openxmlformats.org/drawingml/2006/table">
            <a:tbl>
              <a:tblPr firstRow="1" firstCol="1" bandRow="1"/>
              <a:tblGrid>
                <a:gridCol w="1584015">
                  <a:extLst>
                    <a:ext uri="{9D8B030D-6E8A-4147-A177-3AD203B41FA5}">
                      <a16:colId xmlns:a16="http://schemas.microsoft.com/office/drawing/2014/main" val="1791917023"/>
                    </a:ext>
                  </a:extLst>
                </a:gridCol>
                <a:gridCol w="1998876">
                  <a:extLst>
                    <a:ext uri="{9D8B030D-6E8A-4147-A177-3AD203B41FA5}">
                      <a16:colId xmlns:a16="http://schemas.microsoft.com/office/drawing/2014/main" val="778085126"/>
                    </a:ext>
                  </a:extLst>
                </a:gridCol>
                <a:gridCol w="1093724">
                  <a:extLst>
                    <a:ext uri="{9D8B030D-6E8A-4147-A177-3AD203B41FA5}">
                      <a16:colId xmlns:a16="http://schemas.microsoft.com/office/drawing/2014/main" val="3808763990"/>
                    </a:ext>
                  </a:extLst>
                </a:gridCol>
                <a:gridCol w="1169154">
                  <a:extLst>
                    <a:ext uri="{9D8B030D-6E8A-4147-A177-3AD203B41FA5}">
                      <a16:colId xmlns:a16="http://schemas.microsoft.com/office/drawing/2014/main" val="2363829853"/>
                    </a:ext>
                  </a:extLst>
                </a:gridCol>
                <a:gridCol w="1395441">
                  <a:extLst>
                    <a:ext uri="{9D8B030D-6E8A-4147-A177-3AD203B41FA5}">
                      <a16:colId xmlns:a16="http://schemas.microsoft.com/office/drawing/2014/main" val="3525508578"/>
                    </a:ext>
                  </a:extLst>
                </a:gridCol>
                <a:gridCol w="1395441">
                  <a:extLst>
                    <a:ext uri="{9D8B030D-6E8A-4147-A177-3AD203B41FA5}">
                      <a16:colId xmlns:a16="http://schemas.microsoft.com/office/drawing/2014/main" val="3174711922"/>
                    </a:ext>
                  </a:extLst>
                </a:gridCol>
              </a:tblGrid>
              <a:tr h="60466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aplicada</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803327267"/>
                  </a:ext>
                </a:extLst>
              </a:tr>
              <a:tr h="0">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7U7301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l"/>
                      <a:r>
                        <a:rPr lang="es-PE"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Ellsworth Carpio</a:t>
                      </a:r>
                    </a:p>
                    <a:p>
                      <a:pPr algn="ct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kern="1200" dirty="0">
                          <a:solidFill>
                            <a:schemeClr val="tx1"/>
                          </a:solidFill>
                          <a:effectLst/>
                          <a:latin typeface="+mn-lt"/>
                          <a:ea typeface="+mn-ea"/>
                          <a:cs typeface="+mn-cs"/>
                        </a:rPr>
                        <a:t>21</a:t>
                      </a:r>
                      <a:endParaRPr lang="es-PE" sz="1800" kern="1200" dirty="0">
                        <a:solidFill>
                          <a:schemeClr val="tx1"/>
                        </a:solidFill>
                        <a:effectLst/>
                        <a:latin typeface="+mn-lt"/>
                        <a:ea typeface="+mn-ea"/>
                        <a:cs typeface="+mn-cs"/>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dirty="0">
                          <a:effectLst/>
                          <a:latin typeface="Calibri" panose="020F0502020204030204" pitchFamily="34" charset="0"/>
                          <a:ea typeface="Calibri" panose="020F0502020204030204" pitchFamily="34" charset="0"/>
                          <a:cs typeface="Times New Roman" panose="02020603050405020304" pitchFamily="18" charset="0"/>
                        </a:rPr>
                        <a:t>4.89</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l"/>
                      <a:r>
                        <a:rPr lang="es-ES" sz="1800" b="0" dirty="0">
                          <a:effectLst/>
                          <a:latin typeface="Calibri" panose="020F0502020204030204" pitchFamily="34" charset="0"/>
                          <a:ea typeface="Calibri" panose="020F0502020204030204" pitchFamily="34" charset="0"/>
                          <a:cs typeface="Times New Roman" panose="02020603050405020304" pitchFamily="18" charset="0"/>
                        </a:rPr>
                        <a:t>10 ALTA</a:t>
                      </a:r>
                    </a:p>
                    <a:p>
                      <a:pPr algn="l"/>
                      <a:r>
                        <a:rPr lang="es-ES" sz="1800" b="0" dirty="0">
                          <a:effectLst/>
                          <a:latin typeface="Calibri" panose="020F0502020204030204" pitchFamily="34" charset="0"/>
                          <a:ea typeface="Calibri" panose="020F0502020204030204" pitchFamily="34" charset="0"/>
                          <a:cs typeface="Times New Roman" panose="02020603050405020304" pitchFamily="18" charset="0"/>
                        </a:rPr>
                        <a:t>10 MEDIA</a:t>
                      </a: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b="0" kern="1200" dirty="0">
                          <a:solidFill>
                            <a:schemeClr val="tx1"/>
                          </a:solidFill>
                          <a:effectLst/>
                          <a:latin typeface="+mn-lt"/>
                          <a:ea typeface="+mn-ea"/>
                          <a:cs typeface="+mn-cs"/>
                        </a:rPr>
                        <a:t>4.29</a:t>
                      </a:r>
                      <a:endParaRPr lang="es-PE" sz="1800" b="0" kern="1200" dirty="0">
                        <a:solidFill>
                          <a:schemeClr val="tx1"/>
                        </a:solidFill>
                        <a:effectLst/>
                        <a:latin typeface="+mn-lt"/>
                        <a:ea typeface="+mn-ea"/>
                        <a:cs typeface="+mn-cs"/>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639818158"/>
                  </a:ext>
                </a:extLst>
              </a:tr>
            </a:tbl>
          </a:graphicData>
        </a:graphic>
      </p:graphicFrame>
      <p:graphicFrame>
        <p:nvGraphicFramePr>
          <p:cNvPr id="5" name="Tabla 4">
            <a:extLst>
              <a:ext uri="{FF2B5EF4-FFF2-40B4-BE49-F238E27FC236}">
                <a16:creationId xmlns:a16="http://schemas.microsoft.com/office/drawing/2014/main" id="{99B5AFAD-2AB6-6CDE-A9C3-4DCFAEE25A1E}"/>
              </a:ext>
            </a:extLst>
          </p:cNvPr>
          <p:cNvGraphicFramePr>
            <a:graphicFrameLocks noGrp="1"/>
          </p:cNvGraphicFramePr>
          <p:nvPr>
            <p:extLst>
              <p:ext uri="{D42A27DB-BD31-4B8C-83A1-F6EECF244321}">
                <p14:modId xmlns:p14="http://schemas.microsoft.com/office/powerpoint/2010/main" val="2445309072"/>
              </p:ext>
            </p:extLst>
          </p:nvPr>
        </p:nvGraphicFramePr>
        <p:xfrm>
          <a:off x="2393298" y="1177101"/>
          <a:ext cx="8636653" cy="1963161"/>
        </p:xfrm>
        <a:graphic>
          <a:graphicData uri="http://schemas.openxmlformats.org/drawingml/2006/table">
            <a:tbl>
              <a:tblPr firstRow="1" firstCol="1" bandRow="1"/>
              <a:tblGrid>
                <a:gridCol w="1469809">
                  <a:extLst>
                    <a:ext uri="{9D8B030D-6E8A-4147-A177-3AD203B41FA5}">
                      <a16:colId xmlns:a16="http://schemas.microsoft.com/office/drawing/2014/main" val="2785956031"/>
                    </a:ext>
                  </a:extLst>
                </a:gridCol>
                <a:gridCol w="2101353">
                  <a:extLst>
                    <a:ext uri="{9D8B030D-6E8A-4147-A177-3AD203B41FA5}">
                      <a16:colId xmlns:a16="http://schemas.microsoft.com/office/drawing/2014/main" val="1033099074"/>
                    </a:ext>
                  </a:extLst>
                </a:gridCol>
                <a:gridCol w="1056369">
                  <a:extLst>
                    <a:ext uri="{9D8B030D-6E8A-4147-A177-3AD203B41FA5}">
                      <a16:colId xmlns:a16="http://schemas.microsoft.com/office/drawing/2014/main" val="1980848825"/>
                    </a:ext>
                  </a:extLst>
                </a:gridCol>
                <a:gridCol w="1165860">
                  <a:extLst>
                    <a:ext uri="{9D8B030D-6E8A-4147-A177-3AD203B41FA5}">
                      <a16:colId xmlns:a16="http://schemas.microsoft.com/office/drawing/2014/main" val="176937328"/>
                    </a:ext>
                  </a:extLst>
                </a:gridCol>
                <a:gridCol w="1421631">
                  <a:extLst>
                    <a:ext uri="{9D8B030D-6E8A-4147-A177-3AD203B41FA5}">
                      <a16:colId xmlns:a16="http://schemas.microsoft.com/office/drawing/2014/main" val="1472209076"/>
                    </a:ext>
                  </a:extLst>
                </a:gridCol>
                <a:gridCol w="1421631">
                  <a:extLst>
                    <a:ext uri="{9D8B030D-6E8A-4147-A177-3AD203B41FA5}">
                      <a16:colId xmlns:a16="http://schemas.microsoft.com/office/drawing/2014/main" val="1870332436"/>
                    </a:ext>
                  </a:extLst>
                </a:gridCol>
              </a:tblGrid>
              <a:tr h="85578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aplicada</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785748822"/>
                  </a:ext>
                </a:extLst>
              </a:tr>
              <a:tr h="361856">
                <a:tc>
                  <a:txBody>
                    <a:bodyPr/>
                    <a:lstStyle/>
                    <a:p>
                      <a:pPr algn="ctr"/>
                      <a:r>
                        <a:rPr lang="es-PE"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7U7101</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Roberto Vera Tudela</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89</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7.5</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11.9</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67962714"/>
                  </a:ext>
                </a:extLst>
              </a:tr>
              <a:tr h="317626">
                <a:tc>
                  <a:txBody>
                    <a:bodyPr/>
                    <a:lstStyle/>
                    <a:p>
                      <a:pPr algn="ctr"/>
                      <a:r>
                        <a:rPr lang="es-ES"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7U7102</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Vanesa Chávez</a:t>
                      </a:r>
                      <a:endParaRPr lang="es-PE"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57</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4.5</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12.7</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extLst>
                  <a:ext uri="{0D108BD9-81ED-4DB2-BD59-A6C34878D82A}">
                    <a16:rowId xmlns:a16="http://schemas.microsoft.com/office/drawing/2014/main" val="839718254"/>
                  </a:ext>
                </a:extLst>
              </a:tr>
              <a:tr h="427893">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7U7103</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Angelita Santillan</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90</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7.1</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12.7</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981451865"/>
                  </a:ext>
                </a:extLst>
              </a:tr>
            </a:tbl>
          </a:graphicData>
        </a:graphic>
      </p:graphicFrame>
      <p:sp>
        <p:nvSpPr>
          <p:cNvPr id="12" name="CuadroTexto 11">
            <a:extLst>
              <a:ext uri="{FF2B5EF4-FFF2-40B4-BE49-F238E27FC236}">
                <a16:creationId xmlns:a16="http://schemas.microsoft.com/office/drawing/2014/main" id="{F1A3A9A0-10E0-46A6-8403-828918BD052E}"/>
              </a:ext>
            </a:extLst>
          </p:cNvPr>
          <p:cNvSpPr txBox="1"/>
          <p:nvPr/>
        </p:nvSpPr>
        <p:spPr>
          <a:xfrm>
            <a:off x="2437703" y="6158729"/>
            <a:ext cx="2427912" cy="261610"/>
          </a:xfrm>
          <a:prstGeom prst="rect">
            <a:avLst/>
          </a:prstGeom>
          <a:noFill/>
        </p:spPr>
        <p:txBody>
          <a:bodyPr wrap="square" rtlCol="0">
            <a:spAutoFit/>
          </a:bodyPr>
          <a:lstStyle/>
          <a:p>
            <a:r>
              <a:rPr lang="es-PE" sz="1100" dirty="0"/>
              <a:t>(*) Se incluye las RD complementarias </a:t>
            </a:r>
          </a:p>
        </p:txBody>
      </p:sp>
    </p:spTree>
    <p:extLst>
      <p:ext uri="{BB962C8B-B14F-4D97-AF65-F5344CB8AC3E}">
        <p14:creationId xmlns:p14="http://schemas.microsoft.com/office/powerpoint/2010/main" val="772513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PROYECTADO Y NO APLICADO </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657226" y="183959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723902" y="4202223"/>
            <a:ext cx="1028700" cy="638174"/>
          </a:xfrm>
          <a:prstGeom prst="rightArrow">
            <a:avLst/>
          </a:prstGeom>
          <a:ln w="28575">
            <a:solidFill>
              <a:srgbClr val="FF66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723902" y="5793585"/>
            <a:ext cx="1028700" cy="638174"/>
          </a:xfrm>
          <a:prstGeom prst="rightArrow">
            <a:avLst/>
          </a:prstGeom>
          <a:ln w="28575">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2" name="Tabla 1">
            <a:extLst>
              <a:ext uri="{FF2B5EF4-FFF2-40B4-BE49-F238E27FC236}">
                <a16:creationId xmlns:a16="http://schemas.microsoft.com/office/drawing/2014/main" id="{7D983311-D5D2-D4A1-1B19-7BD4F56B92BF}"/>
              </a:ext>
            </a:extLst>
          </p:cNvPr>
          <p:cNvGraphicFramePr>
            <a:graphicFrameLocks noGrp="1"/>
          </p:cNvGraphicFramePr>
          <p:nvPr>
            <p:extLst>
              <p:ext uri="{D42A27DB-BD31-4B8C-83A1-F6EECF244321}">
                <p14:modId xmlns:p14="http://schemas.microsoft.com/office/powerpoint/2010/main" val="2532780111"/>
              </p:ext>
            </p:extLst>
          </p:nvPr>
        </p:nvGraphicFramePr>
        <p:xfrm>
          <a:off x="2349855" y="1022521"/>
          <a:ext cx="9012794" cy="2488693"/>
        </p:xfrm>
        <a:graphic>
          <a:graphicData uri="http://schemas.openxmlformats.org/drawingml/2006/table">
            <a:tbl>
              <a:tblPr firstRow="1" firstCol="1" bandRow="1"/>
              <a:tblGrid>
                <a:gridCol w="1363960">
                  <a:extLst>
                    <a:ext uri="{9D8B030D-6E8A-4147-A177-3AD203B41FA5}">
                      <a16:colId xmlns:a16="http://schemas.microsoft.com/office/drawing/2014/main" val="2785956031"/>
                    </a:ext>
                  </a:extLst>
                </a:gridCol>
                <a:gridCol w="1946617">
                  <a:extLst>
                    <a:ext uri="{9D8B030D-6E8A-4147-A177-3AD203B41FA5}">
                      <a16:colId xmlns:a16="http://schemas.microsoft.com/office/drawing/2014/main" val="1033099074"/>
                    </a:ext>
                  </a:extLst>
                </a:gridCol>
                <a:gridCol w="1403098">
                  <a:extLst>
                    <a:ext uri="{9D8B030D-6E8A-4147-A177-3AD203B41FA5}">
                      <a16:colId xmlns:a16="http://schemas.microsoft.com/office/drawing/2014/main" val="1980848825"/>
                    </a:ext>
                  </a:extLst>
                </a:gridCol>
                <a:gridCol w="1249960">
                  <a:extLst>
                    <a:ext uri="{9D8B030D-6E8A-4147-A177-3AD203B41FA5}">
                      <a16:colId xmlns:a16="http://schemas.microsoft.com/office/drawing/2014/main" val="176937328"/>
                    </a:ext>
                  </a:extLst>
                </a:gridCol>
                <a:gridCol w="1837189">
                  <a:extLst>
                    <a:ext uri="{9D8B030D-6E8A-4147-A177-3AD203B41FA5}">
                      <a16:colId xmlns:a16="http://schemas.microsoft.com/office/drawing/2014/main" val="1870332436"/>
                    </a:ext>
                  </a:extLst>
                </a:gridCol>
                <a:gridCol w="1211970">
                  <a:extLst>
                    <a:ext uri="{9D8B030D-6E8A-4147-A177-3AD203B41FA5}">
                      <a16:colId xmlns:a16="http://schemas.microsoft.com/office/drawing/2014/main" val="617388905"/>
                    </a:ext>
                  </a:extLst>
                </a:gridCol>
              </a:tblGrid>
              <a:tr h="46520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Motivo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785748822"/>
                  </a:ext>
                </a:extLst>
              </a:tr>
              <a:tr h="304916">
                <a:tc>
                  <a:txBody>
                    <a:bodyPr/>
                    <a:lstStyle/>
                    <a:p>
                      <a:pPr algn="l"/>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Roberto Vera Tudela</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89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kern="1200" dirty="0">
                          <a:solidFill>
                            <a:schemeClr val="tx1"/>
                          </a:solidFill>
                          <a:effectLst/>
                          <a:latin typeface="+mn-lt"/>
                          <a:ea typeface="+mn-ea"/>
                          <a:cs typeface="+mn-cs"/>
                        </a:rPr>
                        <a:t>89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l"/>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67962714"/>
                  </a:ext>
                </a:extLst>
              </a:tr>
              <a:tr h="536229">
                <a:tc>
                  <a:txBody>
                    <a:bodyPr/>
                    <a:lstStyle/>
                    <a:p>
                      <a:pPr algn="l"/>
                      <a:r>
                        <a:rPr lang="es-ES"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7U7102</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Vanesa Chávez</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59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57</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l" defTabSz="914400" rtl="0" eaLnBrk="1" latinLnBrk="0" hangingPunct="1"/>
                      <a:r>
                        <a:rPr lang="es-ES" sz="1200" b="0" kern="1200" dirty="0">
                          <a:solidFill>
                            <a:schemeClr val="tx1"/>
                          </a:solidFill>
                          <a:effectLst/>
                          <a:latin typeface="Calibri" panose="020F0502020204030204" pitchFamily="34" charset="0"/>
                          <a:ea typeface="+mn-ea"/>
                          <a:cs typeface="Times New Roman" panose="02020603050405020304" pitchFamily="18" charset="0"/>
                        </a:rPr>
                        <a:t>Consulta al sector</a:t>
                      </a:r>
                    </a:p>
                    <a:p>
                      <a:pPr marL="0" algn="l" defTabSz="914400" rtl="0" eaLnBrk="1" latinLnBrk="0" hangingPunct="1"/>
                      <a:r>
                        <a:rPr lang="es-ES" sz="1200" b="0" kern="1200" dirty="0">
                          <a:solidFill>
                            <a:schemeClr val="tx1"/>
                          </a:solidFill>
                          <a:effectLst/>
                          <a:latin typeface="Calibri" panose="020F0502020204030204" pitchFamily="34" charset="0"/>
                          <a:ea typeface="+mn-ea"/>
                          <a:cs typeface="Times New Roman" panose="02020603050405020304" pitchFamily="18" charset="0"/>
                        </a:rPr>
                        <a:t>Falta de </a:t>
                      </a:r>
                      <a:r>
                        <a:rPr lang="es-ES" sz="1200" b="0" kern="1200" dirty="0" err="1">
                          <a:solidFill>
                            <a:schemeClr val="tx1"/>
                          </a:solidFill>
                          <a:effectLst/>
                          <a:latin typeface="Calibri" panose="020F0502020204030204" pitchFamily="34" charset="0"/>
                          <a:ea typeface="+mn-ea"/>
                          <a:cs typeface="Times New Roman" panose="02020603050405020304" pitchFamily="18" charset="0"/>
                        </a:rPr>
                        <a:t>vcto</a:t>
                      </a:r>
                      <a:r>
                        <a:rPr lang="es-ES" sz="1200" b="0" kern="1200" dirty="0">
                          <a:solidFill>
                            <a:schemeClr val="tx1"/>
                          </a:solidFill>
                          <a:effectLst/>
                          <a:latin typeface="Calibri" panose="020F0502020204030204" pitchFamily="34" charset="0"/>
                          <a:ea typeface="+mn-ea"/>
                          <a:cs typeface="Times New Roman" panose="02020603050405020304" pitchFamily="18" charset="0"/>
                        </a:rPr>
                        <a:t> de 30 días</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400" b="0" kern="1200" dirty="0">
                          <a:solidFill>
                            <a:schemeClr val="tx1"/>
                          </a:solidFill>
                          <a:effectLst/>
                          <a:latin typeface="Calibri" panose="020F0502020204030204" pitchFamily="34" charset="0"/>
                          <a:ea typeface="+mn-ea"/>
                          <a:cs typeface="Times New Roman" panose="02020603050405020304" pitchFamily="18" charset="0"/>
                        </a:rPr>
                        <a:t>-</a:t>
                      </a:r>
                      <a:endParaRPr lang="es-PE" sz="1400" b="0" kern="1200" dirty="0">
                        <a:solidFill>
                          <a:schemeClr val="tx1"/>
                        </a:solidFill>
                        <a:effectLst/>
                        <a:latin typeface="Calibri" panose="020F0502020204030204" pitchFamily="34" charset="0"/>
                        <a:ea typeface="+mn-ea"/>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extLst>
                  <a:ext uri="{0D108BD9-81ED-4DB2-BD59-A6C34878D82A}">
                    <a16:rowId xmlns:a16="http://schemas.microsoft.com/office/drawing/2014/main" val="839718254"/>
                  </a:ext>
                </a:extLst>
              </a:tr>
              <a:tr h="1159868">
                <a:tc>
                  <a:txBody>
                    <a:bodyPr/>
                    <a:lstStyle/>
                    <a:p>
                      <a:pPr algn="l"/>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7U7103</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Angelita Santillan</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kern="1200" dirty="0">
                          <a:solidFill>
                            <a:schemeClr val="tx1"/>
                          </a:solidFill>
                          <a:effectLst/>
                          <a:latin typeface="+mn-lt"/>
                          <a:ea typeface="+mn-ea"/>
                          <a:cs typeface="+mn-cs"/>
                        </a:rPr>
                        <a:t>96</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PE" sz="1400" kern="1200" dirty="0">
                          <a:solidFill>
                            <a:schemeClr val="tx1"/>
                          </a:solidFill>
                          <a:effectLst/>
                          <a:latin typeface="+mn-lt"/>
                          <a:ea typeface="+mn-ea"/>
                          <a:cs typeface="+mn-cs"/>
                        </a:rPr>
                        <a:t>90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l"/>
                      <a:r>
                        <a:rPr lang="es-ES" sz="1200" kern="1200" dirty="0">
                          <a:solidFill>
                            <a:schemeClr val="tx1"/>
                          </a:solidFill>
                          <a:effectLst/>
                          <a:latin typeface="+mn-lt"/>
                          <a:ea typeface="+mn-ea"/>
                          <a:cs typeface="+mn-cs"/>
                        </a:rPr>
                        <a:t>Consulta al MTC.</a:t>
                      </a:r>
                    </a:p>
                    <a:p>
                      <a:pPr algn="l"/>
                      <a:r>
                        <a:rPr lang="es-ES" sz="1200" kern="1200" dirty="0">
                          <a:solidFill>
                            <a:schemeClr val="tx1"/>
                          </a:solidFill>
                          <a:effectLst/>
                          <a:latin typeface="+mn-lt"/>
                          <a:ea typeface="+mn-ea"/>
                          <a:cs typeface="+mn-cs"/>
                        </a:rPr>
                        <a:t>Dos rehacer proyecto.</a:t>
                      </a:r>
                    </a:p>
                    <a:p>
                      <a:pPr algn="l"/>
                      <a:r>
                        <a:rPr lang="es-ES" sz="1200" kern="1200" dirty="0">
                          <a:solidFill>
                            <a:schemeClr val="tx1"/>
                          </a:solidFill>
                          <a:effectLst/>
                          <a:latin typeface="+mn-lt"/>
                          <a:ea typeface="+mn-ea"/>
                          <a:cs typeface="+mn-cs"/>
                        </a:rPr>
                        <a:t>Memo a INDIA.</a:t>
                      </a:r>
                    </a:p>
                    <a:p>
                      <a:pPr algn="l"/>
                      <a:r>
                        <a:rPr lang="es-ES" sz="1200" kern="1200" dirty="0">
                          <a:solidFill>
                            <a:schemeClr val="tx1"/>
                          </a:solidFill>
                          <a:effectLst/>
                          <a:latin typeface="+mn-lt"/>
                          <a:ea typeface="+mn-ea"/>
                          <a:cs typeface="+mn-cs"/>
                        </a:rPr>
                        <a:t>No </a:t>
                      </a:r>
                      <a:r>
                        <a:rPr lang="es-ES" sz="1200" kern="1200" dirty="0" err="1">
                          <a:solidFill>
                            <a:schemeClr val="tx1"/>
                          </a:solidFill>
                          <a:effectLst/>
                          <a:latin typeface="+mn-lt"/>
                          <a:ea typeface="+mn-ea"/>
                          <a:cs typeface="+mn-cs"/>
                        </a:rPr>
                        <a:t>habia</a:t>
                      </a:r>
                      <a:r>
                        <a:rPr lang="es-ES" sz="1200" kern="1200" dirty="0">
                          <a:solidFill>
                            <a:schemeClr val="tx1"/>
                          </a:solidFill>
                          <a:effectLst/>
                          <a:latin typeface="+mn-lt"/>
                          <a:ea typeface="+mn-ea"/>
                          <a:cs typeface="+mn-cs"/>
                        </a:rPr>
                        <a:t> cumplido 30 días.</a:t>
                      </a:r>
                    </a:p>
                    <a:p>
                      <a:pPr algn="l"/>
                      <a:r>
                        <a:rPr lang="es-ES" sz="1200" kern="1200" dirty="0">
                          <a:solidFill>
                            <a:schemeClr val="tx1"/>
                          </a:solidFill>
                          <a:effectLst/>
                          <a:latin typeface="+mn-lt"/>
                          <a:ea typeface="+mn-ea"/>
                          <a:cs typeface="+mn-cs"/>
                        </a:rPr>
                        <a:t>Consulta a</a:t>
                      </a:r>
                      <a:r>
                        <a:rPr lang="es-ES" sz="1400" kern="1200" dirty="0">
                          <a:solidFill>
                            <a:schemeClr val="tx1"/>
                          </a:solidFill>
                          <a:effectLst/>
                          <a:latin typeface="+mn-lt"/>
                          <a:ea typeface="+mn-ea"/>
                          <a:cs typeface="+mn-cs"/>
                        </a:rPr>
                        <a:t>l Bco.</a:t>
                      </a:r>
                      <a:endParaRPr lang="es-PE" sz="1400" kern="1200" dirty="0">
                        <a:solidFill>
                          <a:schemeClr val="tx1"/>
                        </a:solidFill>
                        <a:effectLst/>
                        <a:latin typeface="+mn-lt"/>
                        <a:ea typeface="+mn-ea"/>
                        <a:cs typeface="+mn-cs"/>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PE" sz="1400" kern="1200" dirty="0">
                          <a:solidFill>
                            <a:schemeClr val="tx1"/>
                          </a:solidFill>
                          <a:effectLst/>
                          <a:latin typeface="+mn-lt"/>
                          <a:ea typeface="+mn-ea"/>
                          <a:cs typeface="+mn-cs"/>
                        </a:rPr>
                        <a:t>-</a:t>
                      </a:r>
                      <a:endParaRPr lang="es-PE" sz="1400" kern="1200" dirty="0">
                        <a:solidFill>
                          <a:schemeClr val="tx1"/>
                        </a:solidFill>
                        <a:effectLst/>
                        <a:highlight>
                          <a:srgbClr val="FFFF00"/>
                        </a:highlight>
                        <a:latin typeface="+mn-lt"/>
                        <a:ea typeface="+mn-ea"/>
                        <a:cs typeface="+mn-cs"/>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981451865"/>
                  </a:ext>
                </a:extLst>
              </a:tr>
            </a:tbl>
          </a:graphicData>
        </a:graphic>
      </p:graphicFrame>
      <p:graphicFrame>
        <p:nvGraphicFramePr>
          <p:cNvPr id="3" name="Tabla 2">
            <a:extLst>
              <a:ext uri="{FF2B5EF4-FFF2-40B4-BE49-F238E27FC236}">
                <a16:creationId xmlns:a16="http://schemas.microsoft.com/office/drawing/2014/main" id="{DF7A7C28-D61E-7992-8D2D-1107C72400A6}"/>
              </a:ext>
            </a:extLst>
          </p:cNvPr>
          <p:cNvGraphicFramePr>
            <a:graphicFrameLocks noGrp="1"/>
          </p:cNvGraphicFramePr>
          <p:nvPr>
            <p:extLst>
              <p:ext uri="{D42A27DB-BD31-4B8C-83A1-F6EECF244321}">
                <p14:modId xmlns:p14="http://schemas.microsoft.com/office/powerpoint/2010/main" val="1745301905"/>
              </p:ext>
            </p:extLst>
          </p:nvPr>
        </p:nvGraphicFramePr>
        <p:xfrm>
          <a:off x="2345422" y="3616752"/>
          <a:ext cx="9017226" cy="1809318"/>
        </p:xfrm>
        <a:graphic>
          <a:graphicData uri="http://schemas.openxmlformats.org/drawingml/2006/table">
            <a:tbl>
              <a:tblPr firstRow="1" firstCol="1" bandRow="1"/>
              <a:tblGrid>
                <a:gridCol w="1372640">
                  <a:extLst>
                    <a:ext uri="{9D8B030D-6E8A-4147-A177-3AD203B41FA5}">
                      <a16:colId xmlns:a16="http://schemas.microsoft.com/office/drawing/2014/main" val="3257801786"/>
                    </a:ext>
                  </a:extLst>
                </a:gridCol>
                <a:gridCol w="1978063">
                  <a:extLst>
                    <a:ext uri="{9D8B030D-6E8A-4147-A177-3AD203B41FA5}">
                      <a16:colId xmlns:a16="http://schemas.microsoft.com/office/drawing/2014/main" val="1776142972"/>
                    </a:ext>
                  </a:extLst>
                </a:gridCol>
                <a:gridCol w="1350627">
                  <a:extLst>
                    <a:ext uri="{9D8B030D-6E8A-4147-A177-3AD203B41FA5}">
                      <a16:colId xmlns:a16="http://schemas.microsoft.com/office/drawing/2014/main" val="153233266"/>
                    </a:ext>
                  </a:extLst>
                </a:gridCol>
                <a:gridCol w="1291905">
                  <a:extLst>
                    <a:ext uri="{9D8B030D-6E8A-4147-A177-3AD203B41FA5}">
                      <a16:colId xmlns:a16="http://schemas.microsoft.com/office/drawing/2014/main" val="1566383420"/>
                    </a:ext>
                  </a:extLst>
                </a:gridCol>
                <a:gridCol w="1786855">
                  <a:extLst>
                    <a:ext uri="{9D8B030D-6E8A-4147-A177-3AD203B41FA5}">
                      <a16:colId xmlns:a16="http://schemas.microsoft.com/office/drawing/2014/main" val="2536285859"/>
                    </a:ext>
                  </a:extLst>
                </a:gridCol>
                <a:gridCol w="1237136">
                  <a:extLst>
                    <a:ext uri="{9D8B030D-6E8A-4147-A177-3AD203B41FA5}">
                      <a16:colId xmlns:a16="http://schemas.microsoft.com/office/drawing/2014/main" val="2628142879"/>
                    </a:ext>
                  </a:extLst>
                </a:gridCol>
              </a:tblGrid>
              <a:tr h="480075">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Motivo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extLst>
                  <a:ext uri="{0D108BD9-81ED-4DB2-BD59-A6C34878D82A}">
                    <a16:rowId xmlns:a16="http://schemas.microsoft.com/office/drawing/2014/main" val="1468347544"/>
                  </a:ext>
                </a:extLst>
              </a:tr>
              <a:tr h="468198">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7U7201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r>
                        <a:rPr lang="es-PE"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Yessenia Salcedo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0</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0</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extLst>
                  <a:ext uri="{0D108BD9-81ED-4DB2-BD59-A6C34878D82A}">
                    <a16:rowId xmlns:a16="http://schemas.microsoft.com/office/drawing/2014/main" val="160037749"/>
                  </a:ext>
                </a:extLst>
              </a:tr>
              <a:tr h="468198">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7U7202</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r>
                        <a:rPr lang="es-PE" sz="1400" kern="1200" dirty="0">
                          <a:solidFill>
                            <a:schemeClr val="tx1"/>
                          </a:solidFill>
                          <a:effectLst/>
                          <a:latin typeface="+mn-lt"/>
                          <a:ea typeface="+mn-ea"/>
                          <a:cs typeface="+mn-cs"/>
                        </a:rPr>
                        <a:t>Allison Castro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1</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0</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Carta no notificada por Admisibilidad/ se </a:t>
                      </a:r>
                      <a:r>
                        <a:rPr lang="es-ES" sz="14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devolvio</a:t>
                      </a: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 Admisibilidad</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MEDIA/ALTA</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extLst>
                  <a:ext uri="{0D108BD9-81ED-4DB2-BD59-A6C34878D82A}">
                    <a16:rowId xmlns:a16="http://schemas.microsoft.com/office/drawing/2014/main" val="660552211"/>
                  </a:ext>
                </a:extLst>
              </a:tr>
            </a:tbl>
          </a:graphicData>
        </a:graphic>
      </p:graphicFrame>
      <p:graphicFrame>
        <p:nvGraphicFramePr>
          <p:cNvPr id="4" name="Tabla 3">
            <a:extLst>
              <a:ext uri="{FF2B5EF4-FFF2-40B4-BE49-F238E27FC236}">
                <a16:creationId xmlns:a16="http://schemas.microsoft.com/office/drawing/2014/main" id="{CED00117-3C55-7947-AD48-A563CEB4C5F1}"/>
              </a:ext>
            </a:extLst>
          </p:cNvPr>
          <p:cNvGraphicFramePr>
            <a:graphicFrameLocks noGrp="1"/>
          </p:cNvGraphicFramePr>
          <p:nvPr>
            <p:extLst>
              <p:ext uri="{D42A27DB-BD31-4B8C-83A1-F6EECF244321}">
                <p14:modId xmlns:p14="http://schemas.microsoft.com/office/powerpoint/2010/main" val="3633496852"/>
              </p:ext>
            </p:extLst>
          </p:nvPr>
        </p:nvGraphicFramePr>
        <p:xfrm>
          <a:off x="2345422" y="5538659"/>
          <a:ext cx="9017226" cy="1194372"/>
        </p:xfrm>
        <a:graphic>
          <a:graphicData uri="http://schemas.openxmlformats.org/drawingml/2006/table">
            <a:tbl>
              <a:tblPr firstRow="1" firstCol="1" bandRow="1"/>
              <a:tblGrid>
                <a:gridCol w="1383294">
                  <a:extLst>
                    <a:ext uri="{9D8B030D-6E8A-4147-A177-3AD203B41FA5}">
                      <a16:colId xmlns:a16="http://schemas.microsoft.com/office/drawing/2014/main" val="1791917023"/>
                    </a:ext>
                  </a:extLst>
                </a:gridCol>
                <a:gridCol w="2017743">
                  <a:extLst>
                    <a:ext uri="{9D8B030D-6E8A-4147-A177-3AD203B41FA5}">
                      <a16:colId xmlns:a16="http://schemas.microsoft.com/office/drawing/2014/main" val="778085126"/>
                    </a:ext>
                  </a:extLst>
                </a:gridCol>
                <a:gridCol w="1308682">
                  <a:extLst>
                    <a:ext uri="{9D8B030D-6E8A-4147-A177-3AD203B41FA5}">
                      <a16:colId xmlns:a16="http://schemas.microsoft.com/office/drawing/2014/main" val="3808763990"/>
                    </a:ext>
                  </a:extLst>
                </a:gridCol>
                <a:gridCol w="1266738">
                  <a:extLst>
                    <a:ext uri="{9D8B030D-6E8A-4147-A177-3AD203B41FA5}">
                      <a16:colId xmlns:a16="http://schemas.microsoft.com/office/drawing/2014/main" val="2363829853"/>
                    </a:ext>
                  </a:extLst>
                </a:gridCol>
                <a:gridCol w="1795244">
                  <a:extLst>
                    <a:ext uri="{9D8B030D-6E8A-4147-A177-3AD203B41FA5}">
                      <a16:colId xmlns:a16="http://schemas.microsoft.com/office/drawing/2014/main" val="3174711922"/>
                    </a:ext>
                  </a:extLst>
                </a:gridCol>
                <a:gridCol w="1245525">
                  <a:extLst>
                    <a:ext uri="{9D8B030D-6E8A-4147-A177-3AD203B41FA5}">
                      <a16:colId xmlns:a16="http://schemas.microsoft.com/office/drawing/2014/main" val="2946329490"/>
                    </a:ext>
                  </a:extLst>
                </a:gridCol>
              </a:tblGrid>
              <a:tr h="60466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803327267"/>
                  </a:ext>
                </a:extLst>
              </a:tr>
              <a:tr h="58970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7U7301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PE"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Ellsworth Carpio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400" kern="1200" dirty="0">
                          <a:solidFill>
                            <a:schemeClr val="tx1"/>
                          </a:solidFill>
                          <a:effectLst/>
                          <a:latin typeface="+mn-lt"/>
                          <a:ea typeface="+mn-ea"/>
                          <a:cs typeface="+mn-cs"/>
                        </a:rPr>
                        <a:t>0</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400" kern="1200" dirty="0">
                          <a:solidFill>
                            <a:schemeClr val="tx1"/>
                          </a:solidFill>
                          <a:effectLst/>
                          <a:latin typeface="+mn-lt"/>
                          <a:ea typeface="+mn-ea"/>
                          <a:cs typeface="+mn-cs"/>
                        </a:rPr>
                        <a:t>No </a:t>
                      </a:r>
                      <a:endParaRPr lang="es-PE" sz="1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639818158"/>
                  </a:ext>
                </a:extLst>
              </a:tr>
            </a:tbl>
          </a:graphicData>
        </a:graphic>
      </p:graphicFrame>
    </p:spTree>
    <p:extLst>
      <p:ext uri="{BB962C8B-B14F-4D97-AF65-F5344CB8AC3E}">
        <p14:creationId xmlns:p14="http://schemas.microsoft.com/office/powerpoint/2010/main" val="69990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RESOLUTOR-DCCI</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506BF35C-A620-14C5-709B-343B3BA7CF6A}"/>
              </a:ext>
            </a:extLst>
          </p:cNvPr>
          <p:cNvGraphicFramePr>
            <a:graphicFrameLocks noGrp="1"/>
          </p:cNvGraphicFramePr>
          <p:nvPr>
            <p:extLst>
              <p:ext uri="{D42A27DB-BD31-4B8C-83A1-F6EECF244321}">
                <p14:modId xmlns:p14="http://schemas.microsoft.com/office/powerpoint/2010/main" val="3832803091"/>
              </p:ext>
            </p:extLst>
          </p:nvPr>
        </p:nvGraphicFramePr>
        <p:xfrm>
          <a:off x="1157969" y="1181294"/>
          <a:ext cx="8226890" cy="4944470"/>
        </p:xfrm>
        <a:graphic>
          <a:graphicData uri="http://schemas.openxmlformats.org/drawingml/2006/table">
            <a:tbl>
              <a:tblPr firstRow="1" firstCol="1" bandRow="1"/>
              <a:tblGrid>
                <a:gridCol w="1401112">
                  <a:extLst>
                    <a:ext uri="{9D8B030D-6E8A-4147-A177-3AD203B41FA5}">
                      <a16:colId xmlns:a16="http://schemas.microsoft.com/office/drawing/2014/main" val="2775420412"/>
                    </a:ext>
                  </a:extLst>
                </a:gridCol>
                <a:gridCol w="1493959">
                  <a:extLst>
                    <a:ext uri="{9D8B030D-6E8A-4147-A177-3AD203B41FA5}">
                      <a16:colId xmlns:a16="http://schemas.microsoft.com/office/drawing/2014/main" val="1302868493"/>
                    </a:ext>
                  </a:extLst>
                </a:gridCol>
                <a:gridCol w="1193749">
                  <a:extLst>
                    <a:ext uri="{9D8B030D-6E8A-4147-A177-3AD203B41FA5}">
                      <a16:colId xmlns:a16="http://schemas.microsoft.com/office/drawing/2014/main" val="2619335631"/>
                    </a:ext>
                  </a:extLst>
                </a:gridCol>
                <a:gridCol w="2253856">
                  <a:extLst>
                    <a:ext uri="{9D8B030D-6E8A-4147-A177-3AD203B41FA5}">
                      <a16:colId xmlns:a16="http://schemas.microsoft.com/office/drawing/2014/main" val="3518194475"/>
                    </a:ext>
                  </a:extLst>
                </a:gridCol>
                <a:gridCol w="942107">
                  <a:extLst>
                    <a:ext uri="{9D8B030D-6E8A-4147-A177-3AD203B41FA5}">
                      <a16:colId xmlns:a16="http://schemas.microsoft.com/office/drawing/2014/main" val="2121101367"/>
                    </a:ext>
                  </a:extLst>
                </a:gridCol>
                <a:gridCol w="942107">
                  <a:extLst>
                    <a:ext uri="{9D8B030D-6E8A-4147-A177-3AD203B41FA5}">
                      <a16:colId xmlns:a16="http://schemas.microsoft.com/office/drawing/2014/main" val="2184007081"/>
                    </a:ext>
                  </a:extLst>
                </a:gridCol>
              </a:tblGrid>
              <a:tr h="667188">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UUOO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SUPERVISIONES</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REGISTRO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FUNCIONARIO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CARGO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PRODUCCIÓN PROMEDIO MENSUAL</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991739676"/>
                  </a:ext>
                </a:extLst>
              </a:tr>
              <a:tr h="166797">
                <a:tc rowSpan="25">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7U7100 DIVISION DE CONTROL CONCURRENTE I</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5877</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Roberto Vera Tudela Gallesi</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a:solidFill>
                            <a:srgbClr val="000000"/>
                          </a:solidFill>
                          <a:effectLst/>
                          <a:latin typeface="+mn-lt"/>
                          <a:ea typeface="Times New Roman" panose="02020603050405020304" pitchFamily="18" charset="0"/>
                          <a:cs typeface="Times New Roman" panose="02020603050405020304" pitchFamily="18" charset="0"/>
                        </a:rPr>
                        <a:t> </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4833311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2900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Carolina Cavero Carrion</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15828024"/>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4469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Maria Hurtado Custodio</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30240523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5534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Celso Sanchez Garrido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04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70242721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3284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Ana Diaz Jurado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839885504"/>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3085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Edgar Cosio Jara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62390817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8351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Debra Araoz Laines</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327649333"/>
                  </a:ext>
                </a:extLst>
              </a:tr>
              <a:tr h="253922">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5565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Victoria Santa Cruz Martinez</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85652611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4644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Cesar Linares Alcantara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1587912357"/>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7580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Vanesa Chavez Silva</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280707567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2968</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Maria Chire Tunque</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62267223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4949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Javier Oyarse Cruz</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6447011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4504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Hugo Jimenez Suclla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7</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35737977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8319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Carla </a:t>
                      </a:r>
                      <a:r>
                        <a:rPr lang="es-PE" sz="1100" dirty="0" err="1">
                          <a:solidFill>
                            <a:srgbClr val="000000"/>
                          </a:solidFill>
                          <a:effectLst/>
                          <a:latin typeface="+mn-lt"/>
                          <a:ea typeface="Times New Roman" panose="02020603050405020304" pitchFamily="18" charset="0"/>
                          <a:cs typeface="Times New Roman" panose="02020603050405020304" pitchFamily="18" charset="0"/>
                        </a:rPr>
                        <a:t>Vilcapaza</a:t>
                      </a:r>
                      <a:r>
                        <a:rPr lang="es-PE" sz="1100" dirty="0">
                          <a:solidFill>
                            <a:srgbClr val="000000"/>
                          </a:solidFill>
                          <a:effectLst/>
                          <a:latin typeface="+mn-lt"/>
                          <a:ea typeface="Times New Roman" panose="02020603050405020304" pitchFamily="18" charset="0"/>
                          <a:cs typeface="Times New Roman" panose="02020603050405020304" pitchFamily="18" charset="0"/>
                        </a:rPr>
                        <a:t> Amaro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33121407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3977</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William Godoy Escalante</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40233209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7324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Zaira Carbajal Jara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290309015"/>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5569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Gladys Santillan Valdivia</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286574934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7625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Teresita Quezada Villar</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406761203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7330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Tania Rosales Ochoa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97364243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4770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Maritza Mollinedo Catunta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7</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409429120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2858</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Julio Castañeda Calderon</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060839985"/>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7611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err="1">
                          <a:solidFill>
                            <a:srgbClr val="000000"/>
                          </a:solidFill>
                          <a:effectLst/>
                          <a:latin typeface="+mn-lt"/>
                          <a:ea typeface="Times New Roman" panose="02020603050405020304" pitchFamily="18" charset="0"/>
                          <a:cs typeface="Times New Roman" panose="02020603050405020304" pitchFamily="18" charset="0"/>
                        </a:rPr>
                        <a:t>Azhir</a:t>
                      </a:r>
                      <a:r>
                        <a:rPr lang="es-PE" sz="1100" dirty="0">
                          <a:solidFill>
                            <a:srgbClr val="000000"/>
                          </a:solidFill>
                          <a:effectLst/>
                          <a:latin typeface="+mn-lt"/>
                          <a:ea typeface="Times New Roman" panose="02020603050405020304" pitchFamily="18" charset="0"/>
                          <a:cs typeface="Times New Roman" panose="02020603050405020304" pitchFamily="18" charset="0"/>
                        </a:rPr>
                        <a:t> Sandoval Guevara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411588770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7661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Luis Cordova Meza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654128652"/>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7674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Andres Angulo Farfan</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33306802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5556</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Jorge </a:t>
                      </a:r>
                      <a:r>
                        <a:rPr lang="es-PE" sz="1100" dirty="0" err="1">
                          <a:solidFill>
                            <a:srgbClr val="000000"/>
                          </a:solidFill>
                          <a:effectLst/>
                          <a:latin typeface="+mn-lt"/>
                          <a:ea typeface="Times New Roman" panose="02020603050405020304" pitchFamily="18" charset="0"/>
                          <a:cs typeface="Times New Roman" panose="02020603050405020304" pitchFamily="18" charset="0"/>
                        </a:rPr>
                        <a:t>Sanchez</a:t>
                      </a:r>
                      <a:r>
                        <a:rPr lang="es-PE" sz="1100" dirty="0">
                          <a:solidFill>
                            <a:srgbClr val="000000"/>
                          </a:solidFill>
                          <a:effectLst/>
                          <a:latin typeface="+mn-lt"/>
                          <a:ea typeface="Times New Roman" panose="02020603050405020304" pitchFamily="18" charset="0"/>
                          <a:cs typeface="Times New Roman" panose="02020603050405020304" pitchFamily="18" charset="0"/>
                        </a:rPr>
                        <a:t> Torres</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3290609114"/>
                  </a:ext>
                </a:extLst>
              </a:tr>
            </a:tbl>
          </a:graphicData>
        </a:graphic>
      </p:graphicFrame>
    </p:spTree>
    <p:extLst>
      <p:ext uri="{BB962C8B-B14F-4D97-AF65-F5344CB8AC3E}">
        <p14:creationId xmlns:p14="http://schemas.microsoft.com/office/powerpoint/2010/main" val="2629915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RESOLUTOR-DCCII</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2E864E31-624B-DBA5-F636-0330773E385F}"/>
              </a:ext>
            </a:extLst>
          </p:cNvPr>
          <p:cNvGraphicFramePr>
            <a:graphicFrameLocks noGrp="1"/>
          </p:cNvGraphicFramePr>
          <p:nvPr>
            <p:extLst>
              <p:ext uri="{D42A27DB-BD31-4B8C-83A1-F6EECF244321}">
                <p14:modId xmlns:p14="http://schemas.microsoft.com/office/powerpoint/2010/main" val="2935052648"/>
              </p:ext>
            </p:extLst>
          </p:nvPr>
        </p:nvGraphicFramePr>
        <p:xfrm>
          <a:off x="1201409" y="1383544"/>
          <a:ext cx="8597395" cy="4283456"/>
        </p:xfrm>
        <a:graphic>
          <a:graphicData uri="http://schemas.openxmlformats.org/drawingml/2006/table">
            <a:tbl>
              <a:tblPr/>
              <a:tblGrid>
                <a:gridCol w="1089162">
                  <a:extLst>
                    <a:ext uri="{9D8B030D-6E8A-4147-A177-3AD203B41FA5}">
                      <a16:colId xmlns:a16="http://schemas.microsoft.com/office/drawing/2014/main" val="2857257721"/>
                    </a:ext>
                  </a:extLst>
                </a:gridCol>
                <a:gridCol w="1089162">
                  <a:extLst>
                    <a:ext uri="{9D8B030D-6E8A-4147-A177-3AD203B41FA5}">
                      <a16:colId xmlns:a16="http://schemas.microsoft.com/office/drawing/2014/main" val="4161489616"/>
                    </a:ext>
                  </a:extLst>
                </a:gridCol>
                <a:gridCol w="1584051">
                  <a:extLst>
                    <a:ext uri="{9D8B030D-6E8A-4147-A177-3AD203B41FA5}">
                      <a16:colId xmlns:a16="http://schemas.microsoft.com/office/drawing/2014/main" val="1630339697"/>
                    </a:ext>
                  </a:extLst>
                </a:gridCol>
                <a:gridCol w="2314575">
                  <a:extLst>
                    <a:ext uri="{9D8B030D-6E8A-4147-A177-3AD203B41FA5}">
                      <a16:colId xmlns:a16="http://schemas.microsoft.com/office/drawing/2014/main" val="1004286328"/>
                    </a:ext>
                  </a:extLst>
                </a:gridCol>
                <a:gridCol w="1205995">
                  <a:extLst>
                    <a:ext uri="{9D8B030D-6E8A-4147-A177-3AD203B41FA5}">
                      <a16:colId xmlns:a16="http://schemas.microsoft.com/office/drawing/2014/main" val="3904268956"/>
                    </a:ext>
                  </a:extLst>
                </a:gridCol>
                <a:gridCol w="1314450">
                  <a:extLst>
                    <a:ext uri="{9D8B030D-6E8A-4147-A177-3AD203B41FA5}">
                      <a16:colId xmlns:a16="http://schemas.microsoft.com/office/drawing/2014/main" val="781816914"/>
                    </a:ext>
                  </a:extLst>
                </a:gridCol>
              </a:tblGrid>
              <a:tr h="683285">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UUOO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SUPERVISIONES</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REGISTRO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FUNCIONARIO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CARGO</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PRODUCCIÓN PROMEDIO MENSUAL</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50195547"/>
                  </a:ext>
                </a:extLst>
              </a:tr>
              <a:tr h="188207">
                <a:tc rowSpan="15">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7U7200 DIVISION DE CONTROL CONCURRENTE II</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7U7201 </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7587</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Yessenia Salcedo Diaz</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 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extLst>
                  <a:ext uri="{0D108BD9-81ED-4DB2-BD59-A6C34878D82A}">
                    <a16:rowId xmlns:a16="http://schemas.microsoft.com/office/drawing/2014/main" val="3937105208"/>
                  </a:ext>
                </a:extLst>
              </a:tr>
              <a:tr h="188207">
                <a:tc vMerge="1">
                  <a:txBody>
                    <a:bodyPr/>
                    <a:lstStyle/>
                    <a:p>
                      <a:endParaRPr lang="es-PE"/>
                    </a:p>
                  </a:txBody>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7342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Juan Cuya Velarde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927316586"/>
                  </a:ext>
                </a:extLst>
              </a:tr>
              <a:tr h="317718">
                <a:tc vMerge="1">
                  <a:txBody>
                    <a:bodyPr/>
                    <a:lstStyle/>
                    <a:p>
                      <a:endParaRPr lang="es-PE"/>
                    </a:p>
                  </a:txBody>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4644</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Carlos Malaga Portocarrero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4120784360"/>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4569</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Jose Linarez Amacifuen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 (*)</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001276232"/>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AO21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Renierd Rios Gomez</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261432791"/>
                  </a:ext>
                </a:extLst>
              </a:tr>
              <a:tr h="317718">
                <a:tc vMerge="1">
                  <a:txBody>
                    <a:bodyPr/>
                    <a:lstStyle/>
                    <a:p>
                      <a:endParaRPr lang="es-PE"/>
                    </a:p>
                  </a:txBody>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7211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Roberto Rivarola Hidalgo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2</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525078045"/>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7624</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Poul Valdivia Charca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2</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857867095"/>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5844</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Richard Vela Nuñez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 (*)</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386600010"/>
                  </a:ext>
                </a:extLst>
              </a:tr>
              <a:tr h="188207">
                <a:tc vMerge="1">
                  <a:txBody>
                    <a:bodyPr/>
                    <a:lstStyle/>
                    <a:p>
                      <a:endParaRPr lang="es-PE"/>
                    </a:p>
                  </a:txBody>
                  <a:tcPr/>
                </a:tc>
                <a:tc>
                  <a:txBody>
                    <a:bodyPr/>
                    <a:lstStyle/>
                    <a:p>
                      <a:pPr algn="ctr"/>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7575</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Allison Castro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 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endParaRPr lang="es-PE" sz="1100" dirty="0">
                        <a:solidFill>
                          <a:schemeClr val="tx1"/>
                        </a:solidFill>
                        <a:effectLst/>
                        <a:latin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extLst>
                  <a:ext uri="{0D108BD9-81ED-4DB2-BD59-A6C34878D82A}">
                    <a16:rowId xmlns:a16="http://schemas.microsoft.com/office/drawing/2014/main" val="1716248280"/>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2423</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Cecilia Acosta Salazar</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4</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113725865"/>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7326</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Lydia Arestegui Pereyra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612536542"/>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AT75</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Victoria Flores Alvitez</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60215262"/>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7151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Lourdes Pretel Noblecilla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613490926"/>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5749</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Wilder Ulloa Ascencio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5</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4053996281"/>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AX34</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Enrique Villanueva Hurtado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887998396"/>
                  </a:ext>
                </a:extLst>
              </a:tr>
            </a:tbl>
          </a:graphicData>
        </a:graphic>
      </p:graphicFrame>
      <p:sp>
        <p:nvSpPr>
          <p:cNvPr id="3" name="CuadroTexto 2">
            <a:extLst>
              <a:ext uri="{FF2B5EF4-FFF2-40B4-BE49-F238E27FC236}">
                <a16:creationId xmlns:a16="http://schemas.microsoft.com/office/drawing/2014/main" id="{A4297732-1CBF-489B-83DA-EBDAF5C6C335}"/>
              </a:ext>
            </a:extLst>
          </p:cNvPr>
          <p:cNvSpPr txBox="1"/>
          <p:nvPr/>
        </p:nvSpPr>
        <p:spPr>
          <a:xfrm>
            <a:off x="1133474" y="5667001"/>
            <a:ext cx="9286875" cy="577081"/>
          </a:xfrm>
          <a:prstGeom prst="rect">
            <a:avLst/>
          </a:prstGeom>
          <a:noFill/>
        </p:spPr>
        <p:txBody>
          <a:bodyPr wrap="square" rtlCol="0">
            <a:spAutoFit/>
          </a:bodyPr>
          <a:lstStyle/>
          <a:p>
            <a:r>
              <a:rPr lang="es-ES" sz="1050" dirty="0"/>
              <a:t>(*) Resolutores asignados a División de admisibilidad para brindar apoyo mes de marzo en evaluación de reclamos</a:t>
            </a:r>
          </a:p>
          <a:p>
            <a:r>
              <a:rPr lang="es-ES" sz="1050" dirty="0"/>
              <a:t>-José Linarez </a:t>
            </a:r>
          </a:p>
          <a:p>
            <a:r>
              <a:rPr lang="es-ES" sz="1050" dirty="0"/>
              <a:t>-Richard Vela</a:t>
            </a:r>
            <a:endParaRPr lang="es-PE" sz="1050" dirty="0"/>
          </a:p>
        </p:txBody>
      </p:sp>
    </p:spTree>
    <p:extLst>
      <p:ext uri="{BB962C8B-B14F-4D97-AF65-F5344CB8AC3E}">
        <p14:creationId xmlns:p14="http://schemas.microsoft.com/office/powerpoint/2010/main" val="1035626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RESOLUTOR-DCP</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EB7C2AC0-86A4-ABEE-06F2-450F63287B6F}"/>
              </a:ext>
            </a:extLst>
          </p:cNvPr>
          <p:cNvGraphicFramePr>
            <a:graphicFrameLocks noGrp="1"/>
          </p:cNvGraphicFramePr>
          <p:nvPr>
            <p:extLst>
              <p:ext uri="{D42A27DB-BD31-4B8C-83A1-F6EECF244321}">
                <p14:modId xmlns:p14="http://schemas.microsoft.com/office/powerpoint/2010/main" val="2147856885"/>
              </p:ext>
            </p:extLst>
          </p:nvPr>
        </p:nvGraphicFramePr>
        <p:xfrm>
          <a:off x="2301715" y="1751700"/>
          <a:ext cx="6911134" cy="3761231"/>
        </p:xfrm>
        <a:graphic>
          <a:graphicData uri="http://schemas.openxmlformats.org/drawingml/2006/table">
            <a:tbl>
              <a:tblPr firstRow="1" firstCol="1" bandRow="1"/>
              <a:tblGrid>
                <a:gridCol w="1185506">
                  <a:extLst>
                    <a:ext uri="{9D8B030D-6E8A-4147-A177-3AD203B41FA5}">
                      <a16:colId xmlns:a16="http://schemas.microsoft.com/office/drawing/2014/main" val="850406056"/>
                    </a:ext>
                  </a:extLst>
                </a:gridCol>
                <a:gridCol w="1075569">
                  <a:extLst>
                    <a:ext uri="{9D8B030D-6E8A-4147-A177-3AD203B41FA5}">
                      <a16:colId xmlns:a16="http://schemas.microsoft.com/office/drawing/2014/main" val="973022981"/>
                    </a:ext>
                  </a:extLst>
                </a:gridCol>
                <a:gridCol w="916110">
                  <a:extLst>
                    <a:ext uri="{9D8B030D-6E8A-4147-A177-3AD203B41FA5}">
                      <a16:colId xmlns:a16="http://schemas.microsoft.com/office/drawing/2014/main" val="2347363923"/>
                    </a:ext>
                  </a:extLst>
                </a:gridCol>
                <a:gridCol w="1802019">
                  <a:extLst>
                    <a:ext uri="{9D8B030D-6E8A-4147-A177-3AD203B41FA5}">
                      <a16:colId xmlns:a16="http://schemas.microsoft.com/office/drawing/2014/main" val="2396742907"/>
                    </a:ext>
                  </a:extLst>
                </a:gridCol>
                <a:gridCol w="1006766">
                  <a:extLst>
                    <a:ext uri="{9D8B030D-6E8A-4147-A177-3AD203B41FA5}">
                      <a16:colId xmlns:a16="http://schemas.microsoft.com/office/drawing/2014/main" val="4024969280"/>
                    </a:ext>
                  </a:extLst>
                </a:gridCol>
                <a:gridCol w="925164">
                  <a:extLst>
                    <a:ext uri="{9D8B030D-6E8A-4147-A177-3AD203B41FA5}">
                      <a16:colId xmlns:a16="http://schemas.microsoft.com/office/drawing/2014/main" val="2141008519"/>
                    </a:ext>
                  </a:extLst>
                </a:gridCol>
              </a:tblGrid>
              <a:tr h="567112">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UUOO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SUPERVISIONES</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REGISTRO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FUNCIONARIO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CARGO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PRODUCCIÓN PROMEDIO MENSUAL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2539397411"/>
                  </a:ext>
                </a:extLst>
              </a:tr>
              <a:tr h="347695">
                <a:tc rowSpan="7">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7U7300 DIVISION DE CONTROL POSTERIOR</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2834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l"/>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Ellsworth Carpio Charres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Supervisor 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extLst>
                  <a:ext uri="{0D108BD9-81ED-4DB2-BD59-A6C34878D82A}">
                    <a16:rowId xmlns:a16="http://schemas.microsoft.com/office/drawing/2014/main" val="124970691"/>
                  </a:ext>
                </a:extLst>
              </a:tr>
              <a:tr h="406632">
                <a:tc vMerge="1">
                  <a:txBody>
                    <a:bodyPr/>
                    <a:lstStyle/>
                    <a:p>
                      <a:endParaRPr lang="es-PE"/>
                    </a:p>
                  </a:txBody>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2694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Gustavo Bernuy Nuñez</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4</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367585655"/>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4700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Carlos Mauro Sampen</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5</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1670296521"/>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7660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Marco Fournier Castillo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6</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991154502"/>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7148</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Jesus Garcia Rodriguez</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3</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960929415"/>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4594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Carlos Lopez Cornelio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1</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4155215880"/>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4990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Cecilia Pantoja Urizar Garfias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2</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559747884"/>
                  </a:ext>
                </a:extLst>
              </a:tr>
              <a:tr h="406632">
                <a:tc gridSpan="4">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l"/>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200" dirty="0">
                          <a:effectLst/>
                          <a:latin typeface="Calibri" panose="020F0502020204030204" pitchFamily="34" charset="0"/>
                          <a:ea typeface="Calibri" panose="020F0502020204030204" pitchFamily="34" charset="0"/>
                          <a:cs typeface="Times New Roman" panose="02020603050405020304" pitchFamily="18" charset="0"/>
                        </a:rPr>
                        <a:t>TOTAL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21</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801576743"/>
                  </a:ext>
                </a:extLst>
              </a:tr>
            </a:tbl>
          </a:graphicData>
        </a:graphic>
      </p:graphicFrame>
    </p:spTree>
    <p:extLst>
      <p:ext uri="{BB962C8B-B14F-4D97-AF65-F5344CB8AC3E}">
        <p14:creationId xmlns:p14="http://schemas.microsoft.com/office/powerpoint/2010/main" val="563388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STOCK VENCIDOS</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1285875" y="139746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1285875" y="3163517"/>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1285875" y="4929570"/>
            <a:ext cx="1028700" cy="638174"/>
          </a:xfrm>
          <a:prstGeom prst="rightArrow">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sp>
        <p:nvSpPr>
          <p:cNvPr id="2" name="CuadroTexto 1">
            <a:extLst>
              <a:ext uri="{FF2B5EF4-FFF2-40B4-BE49-F238E27FC236}">
                <a16:creationId xmlns:a16="http://schemas.microsoft.com/office/drawing/2014/main" id="{39315DDD-5468-DE29-D6F6-5BBFA86E57E4}"/>
              </a:ext>
            </a:extLst>
          </p:cNvPr>
          <p:cNvSpPr txBox="1"/>
          <p:nvPr/>
        </p:nvSpPr>
        <p:spPr>
          <a:xfrm>
            <a:off x="1285874" y="6238635"/>
            <a:ext cx="3124201" cy="276999"/>
          </a:xfrm>
          <a:prstGeom prst="rect">
            <a:avLst/>
          </a:prstGeom>
          <a:noFill/>
        </p:spPr>
        <p:txBody>
          <a:bodyPr wrap="square">
            <a:spAutoFit/>
          </a:bodyPr>
          <a:lstStyle/>
          <a:p>
            <a:r>
              <a:rPr lang="es-PE" sz="1200" b="1" dirty="0">
                <a:latin typeface="Calibri Light" panose="020F0302020204030204" pitchFamily="34" charset="0"/>
                <a:ea typeface="Calibri" panose="020F0502020204030204" pitchFamily="34" charset="0"/>
              </a:rPr>
              <a:t>Fuente</a:t>
            </a:r>
            <a:r>
              <a:rPr lang="es-PE" sz="1200" dirty="0">
                <a:latin typeface="Calibri Light" panose="020F0302020204030204" pitchFamily="34" charset="0"/>
                <a:ea typeface="Calibri" panose="020F0502020204030204" pitchFamily="34" charset="0"/>
              </a:rPr>
              <a:t>: Módulo SIGERI al 01.04.2024</a:t>
            </a:r>
          </a:p>
        </p:txBody>
      </p:sp>
      <p:sp>
        <p:nvSpPr>
          <p:cNvPr id="3" name="Bocadillo nube: nube 2">
            <a:extLst>
              <a:ext uri="{FF2B5EF4-FFF2-40B4-BE49-F238E27FC236}">
                <a16:creationId xmlns:a16="http://schemas.microsoft.com/office/drawing/2014/main" id="{2CDF9045-FFEB-A6E3-8A64-92964C7B93F3}"/>
              </a:ext>
            </a:extLst>
          </p:cNvPr>
          <p:cNvSpPr/>
          <p:nvPr/>
        </p:nvSpPr>
        <p:spPr>
          <a:xfrm>
            <a:off x="9321799" y="1034932"/>
            <a:ext cx="2300202" cy="1076003"/>
          </a:xfrm>
          <a:prstGeom prst="cloudCallout">
            <a:avLst>
              <a:gd name="adj1" fmla="val -63383"/>
              <a:gd name="adj2" fmla="val -19035"/>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12 total (13/12/11/17/15/10/12/17/07)</a:t>
            </a:r>
            <a:endParaRPr lang="es-PE" sz="1400" dirty="0">
              <a:solidFill>
                <a:schemeClr val="tx1"/>
              </a:solidFill>
            </a:endParaRPr>
          </a:p>
        </p:txBody>
      </p:sp>
      <p:sp>
        <p:nvSpPr>
          <p:cNvPr id="4" name="Bocadillo nube: nube 3">
            <a:extLst>
              <a:ext uri="{FF2B5EF4-FFF2-40B4-BE49-F238E27FC236}">
                <a16:creationId xmlns:a16="http://schemas.microsoft.com/office/drawing/2014/main" id="{30F3CF21-67BC-6869-D144-28C16A383425}"/>
              </a:ext>
            </a:extLst>
          </p:cNvPr>
          <p:cNvSpPr/>
          <p:nvPr/>
        </p:nvSpPr>
        <p:spPr>
          <a:xfrm>
            <a:off x="9321799" y="2833275"/>
            <a:ext cx="2300202" cy="1076003"/>
          </a:xfrm>
          <a:prstGeom prst="cloudCallout">
            <a:avLst>
              <a:gd name="adj1" fmla="val -63383"/>
              <a:gd name="adj2" fmla="val -19035"/>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10 total (06/09/08/5/16/17/5/40/15)</a:t>
            </a:r>
            <a:endParaRPr lang="es-PE" sz="1400" dirty="0">
              <a:solidFill>
                <a:schemeClr val="tx1"/>
              </a:solidFill>
            </a:endParaRPr>
          </a:p>
        </p:txBody>
      </p:sp>
      <p:sp>
        <p:nvSpPr>
          <p:cNvPr id="5" name="Bocadillo nube: nube 4">
            <a:extLst>
              <a:ext uri="{FF2B5EF4-FFF2-40B4-BE49-F238E27FC236}">
                <a16:creationId xmlns:a16="http://schemas.microsoft.com/office/drawing/2014/main" id="{9E55A7AD-D2BB-78A2-7C74-0EE92587C86C}"/>
              </a:ext>
            </a:extLst>
          </p:cNvPr>
          <p:cNvSpPr/>
          <p:nvPr/>
        </p:nvSpPr>
        <p:spPr>
          <a:xfrm>
            <a:off x="9321799" y="4710655"/>
            <a:ext cx="2193925" cy="1076003"/>
          </a:xfrm>
          <a:prstGeom prst="cloudCallout">
            <a:avLst>
              <a:gd name="adj1" fmla="val -63383"/>
              <a:gd name="adj2" fmla="val -19035"/>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0 total (0/0/1/1/3/3/5/0)</a:t>
            </a:r>
            <a:endParaRPr lang="es-PE" sz="1400" dirty="0">
              <a:solidFill>
                <a:schemeClr val="tx1"/>
              </a:solidFill>
            </a:endParaRPr>
          </a:p>
        </p:txBody>
      </p:sp>
      <p:graphicFrame>
        <p:nvGraphicFramePr>
          <p:cNvPr id="6" name="Tabla 5">
            <a:extLst>
              <a:ext uri="{FF2B5EF4-FFF2-40B4-BE49-F238E27FC236}">
                <a16:creationId xmlns:a16="http://schemas.microsoft.com/office/drawing/2014/main" id="{7A1E3C9B-1922-2F33-DB7C-BE5BC2DDBA90}"/>
              </a:ext>
            </a:extLst>
          </p:cNvPr>
          <p:cNvGraphicFramePr>
            <a:graphicFrameLocks noGrp="1"/>
          </p:cNvGraphicFramePr>
          <p:nvPr>
            <p:extLst>
              <p:ext uri="{D42A27DB-BD31-4B8C-83A1-F6EECF244321}">
                <p14:modId xmlns:p14="http://schemas.microsoft.com/office/powerpoint/2010/main" val="305176431"/>
              </p:ext>
            </p:extLst>
          </p:nvPr>
        </p:nvGraphicFramePr>
        <p:xfrm>
          <a:off x="2946400" y="1116590"/>
          <a:ext cx="5988049" cy="1164424"/>
        </p:xfrm>
        <a:graphic>
          <a:graphicData uri="http://schemas.openxmlformats.org/drawingml/2006/table">
            <a:tbl>
              <a:tblPr firstRow="1" firstCol="1" bandRow="1"/>
              <a:tblGrid>
                <a:gridCol w="1003584">
                  <a:extLst>
                    <a:ext uri="{9D8B030D-6E8A-4147-A177-3AD203B41FA5}">
                      <a16:colId xmlns:a16="http://schemas.microsoft.com/office/drawing/2014/main" val="3074884351"/>
                    </a:ext>
                  </a:extLst>
                </a:gridCol>
                <a:gridCol w="1321384">
                  <a:extLst>
                    <a:ext uri="{9D8B030D-6E8A-4147-A177-3AD203B41FA5}">
                      <a16:colId xmlns:a16="http://schemas.microsoft.com/office/drawing/2014/main" val="1526047758"/>
                    </a:ext>
                  </a:extLst>
                </a:gridCol>
                <a:gridCol w="1655913">
                  <a:extLst>
                    <a:ext uri="{9D8B030D-6E8A-4147-A177-3AD203B41FA5}">
                      <a16:colId xmlns:a16="http://schemas.microsoft.com/office/drawing/2014/main" val="436782002"/>
                    </a:ext>
                  </a:extLst>
                </a:gridCol>
                <a:gridCol w="1003584">
                  <a:extLst>
                    <a:ext uri="{9D8B030D-6E8A-4147-A177-3AD203B41FA5}">
                      <a16:colId xmlns:a16="http://schemas.microsoft.com/office/drawing/2014/main" val="2134817539"/>
                    </a:ext>
                  </a:extLst>
                </a:gridCol>
                <a:gridCol w="1003584">
                  <a:extLst>
                    <a:ext uri="{9D8B030D-6E8A-4147-A177-3AD203B41FA5}">
                      <a16:colId xmlns:a16="http://schemas.microsoft.com/office/drawing/2014/main" val="3157735613"/>
                    </a:ext>
                  </a:extLst>
                </a:gridCol>
              </a:tblGrid>
              <a:tr h="547964">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UUOO</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8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7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2434845465"/>
                  </a:ext>
                </a:extLst>
              </a:tr>
              <a:tr h="308230">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DCCI</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dirty="0">
                          <a:solidFill>
                            <a:schemeClr val="tx1"/>
                          </a:solidFill>
                          <a:effectLst/>
                          <a:latin typeface="+mj-lt"/>
                          <a:ea typeface="Calibri" panose="020F0502020204030204" pitchFamily="34" charset="0"/>
                        </a:rPr>
                        <a:t>3</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2</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7</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16544557"/>
                  </a:ext>
                </a:extLst>
              </a:tr>
              <a:tr h="308230">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074556671"/>
                  </a:ext>
                </a:extLst>
              </a:tr>
            </a:tbl>
          </a:graphicData>
        </a:graphic>
      </p:graphicFrame>
      <p:graphicFrame>
        <p:nvGraphicFramePr>
          <p:cNvPr id="11" name="Tabla 10">
            <a:extLst>
              <a:ext uri="{FF2B5EF4-FFF2-40B4-BE49-F238E27FC236}">
                <a16:creationId xmlns:a16="http://schemas.microsoft.com/office/drawing/2014/main" id="{21873085-0F54-8216-09FC-126BB27871B1}"/>
              </a:ext>
            </a:extLst>
          </p:cNvPr>
          <p:cNvGraphicFramePr>
            <a:graphicFrameLocks noGrp="1"/>
          </p:cNvGraphicFramePr>
          <p:nvPr>
            <p:extLst>
              <p:ext uri="{D42A27DB-BD31-4B8C-83A1-F6EECF244321}">
                <p14:modId xmlns:p14="http://schemas.microsoft.com/office/powerpoint/2010/main" val="3664713179"/>
              </p:ext>
            </p:extLst>
          </p:nvPr>
        </p:nvGraphicFramePr>
        <p:xfrm>
          <a:off x="2946402" y="2856991"/>
          <a:ext cx="5988047" cy="1164421"/>
        </p:xfrm>
        <a:graphic>
          <a:graphicData uri="http://schemas.openxmlformats.org/drawingml/2006/table">
            <a:tbl>
              <a:tblPr firstRow="1" firstCol="1" bandRow="1"/>
              <a:tblGrid>
                <a:gridCol w="1003583">
                  <a:extLst>
                    <a:ext uri="{9D8B030D-6E8A-4147-A177-3AD203B41FA5}">
                      <a16:colId xmlns:a16="http://schemas.microsoft.com/office/drawing/2014/main" val="3114367696"/>
                    </a:ext>
                  </a:extLst>
                </a:gridCol>
                <a:gridCol w="1321385">
                  <a:extLst>
                    <a:ext uri="{9D8B030D-6E8A-4147-A177-3AD203B41FA5}">
                      <a16:colId xmlns:a16="http://schemas.microsoft.com/office/drawing/2014/main" val="4084865074"/>
                    </a:ext>
                  </a:extLst>
                </a:gridCol>
                <a:gridCol w="1655913">
                  <a:extLst>
                    <a:ext uri="{9D8B030D-6E8A-4147-A177-3AD203B41FA5}">
                      <a16:colId xmlns:a16="http://schemas.microsoft.com/office/drawing/2014/main" val="1706993894"/>
                    </a:ext>
                  </a:extLst>
                </a:gridCol>
                <a:gridCol w="1003583">
                  <a:extLst>
                    <a:ext uri="{9D8B030D-6E8A-4147-A177-3AD203B41FA5}">
                      <a16:colId xmlns:a16="http://schemas.microsoft.com/office/drawing/2014/main" val="871379910"/>
                    </a:ext>
                  </a:extLst>
                </a:gridCol>
                <a:gridCol w="1003583">
                  <a:extLst>
                    <a:ext uri="{9D8B030D-6E8A-4147-A177-3AD203B41FA5}">
                      <a16:colId xmlns:a16="http://schemas.microsoft.com/office/drawing/2014/main" val="1362448182"/>
                    </a:ext>
                  </a:extLst>
                </a:gridCol>
              </a:tblGrid>
              <a:tr h="527759">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UUOO</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8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7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extLst>
                  <a:ext uri="{0D108BD9-81ED-4DB2-BD59-A6C34878D82A}">
                    <a16:rowId xmlns:a16="http://schemas.microsoft.com/office/drawing/2014/main" val="2637099436"/>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DCCII</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4</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2</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2</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2</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3189419138"/>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extLst>
                  <a:ext uri="{0D108BD9-81ED-4DB2-BD59-A6C34878D82A}">
                    <a16:rowId xmlns:a16="http://schemas.microsoft.com/office/drawing/2014/main" val="3621642096"/>
                  </a:ext>
                </a:extLst>
              </a:tr>
            </a:tbl>
          </a:graphicData>
        </a:graphic>
      </p:graphicFrame>
      <p:graphicFrame>
        <p:nvGraphicFramePr>
          <p:cNvPr id="12" name="Tabla 11">
            <a:extLst>
              <a:ext uri="{FF2B5EF4-FFF2-40B4-BE49-F238E27FC236}">
                <a16:creationId xmlns:a16="http://schemas.microsoft.com/office/drawing/2014/main" id="{7C375469-0EF9-D038-F02C-458E309B4E33}"/>
              </a:ext>
            </a:extLst>
          </p:cNvPr>
          <p:cNvGraphicFramePr>
            <a:graphicFrameLocks noGrp="1"/>
          </p:cNvGraphicFramePr>
          <p:nvPr>
            <p:extLst>
              <p:ext uri="{D42A27DB-BD31-4B8C-83A1-F6EECF244321}">
                <p14:modId xmlns:p14="http://schemas.microsoft.com/office/powerpoint/2010/main" val="2718198951"/>
              </p:ext>
            </p:extLst>
          </p:nvPr>
        </p:nvGraphicFramePr>
        <p:xfrm>
          <a:off x="2946400" y="4622237"/>
          <a:ext cx="5988047" cy="1164421"/>
        </p:xfrm>
        <a:graphic>
          <a:graphicData uri="http://schemas.openxmlformats.org/drawingml/2006/table">
            <a:tbl>
              <a:tblPr firstRow="1" firstCol="1" bandRow="1"/>
              <a:tblGrid>
                <a:gridCol w="1003583">
                  <a:extLst>
                    <a:ext uri="{9D8B030D-6E8A-4147-A177-3AD203B41FA5}">
                      <a16:colId xmlns:a16="http://schemas.microsoft.com/office/drawing/2014/main" val="3114367696"/>
                    </a:ext>
                  </a:extLst>
                </a:gridCol>
                <a:gridCol w="1321385">
                  <a:extLst>
                    <a:ext uri="{9D8B030D-6E8A-4147-A177-3AD203B41FA5}">
                      <a16:colId xmlns:a16="http://schemas.microsoft.com/office/drawing/2014/main" val="4084865074"/>
                    </a:ext>
                  </a:extLst>
                </a:gridCol>
                <a:gridCol w="1655913">
                  <a:extLst>
                    <a:ext uri="{9D8B030D-6E8A-4147-A177-3AD203B41FA5}">
                      <a16:colId xmlns:a16="http://schemas.microsoft.com/office/drawing/2014/main" val="1706993894"/>
                    </a:ext>
                  </a:extLst>
                </a:gridCol>
                <a:gridCol w="1003583">
                  <a:extLst>
                    <a:ext uri="{9D8B030D-6E8A-4147-A177-3AD203B41FA5}">
                      <a16:colId xmlns:a16="http://schemas.microsoft.com/office/drawing/2014/main" val="871379910"/>
                    </a:ext>
                  </a:extLst>
                </a:gridCol>
                <a:gridCol w="1003583">
                  <a:extLst>
                    <a:ext uri="{9D8B030D-6E8A-4147-A177-3AD203B41FA5}">
                      <a16:colId xmlns:a16="http://schemas.microsoft.com/office/drawing/2014/main" val="1362448182"/>
                    </a:ext>
                  </a:extLst>
                </a:gridCol>
              </a:tblGrid>
              <a:tr h="527759">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UUOO</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9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8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7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637099436"/>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DCP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3189419138"/>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PE" sz="1800" b="1" dirty="0">
                          <a:solidFill>
                            <a:schemeClr val="tx1"/>
                          </a:solidFill>
                          <a:effectLst/>
                          <a:latin typeface="Calibri Light" panose="020F0302020204030204" pitchFamily="34" charset="0"/>
                          <a:ea typeface="Calibri" panose="020F0502020204030204" pitchFamily="34" charset="0"/>
                        </a:rPr>
                        <a:t> 0</a:t>
                      </a:r>
                      <a:endParaRPr lang="es-PE" sz="14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621642096"/>
                  </a:ext>
                </a:extLst>
              </a:tr>
            </a:tbl>
          </a:graphicData>
        </a:graphic>
      </p:graphicFrame>
    </p:spTree>
    <p:extLst>
      <p:ext uri="{BB962C8B-B14F-4D97-AF65-F5344CB8AC3E}">
        <p14:creationId xmlns:p14="http://schemas.microsoft.com/office/powerpoint/2010/main" val="1854213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NO GESTIONABLE Y REINGRESADOS </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1285875" y="139746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1285875" y="3163517"/>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graphicFrame>
        <p:nvGraphicFramePr>
          <p:cNvPr id="2" name="Tabla 1">
            <a:extLst>
              <a:ext uri="{FF2B5EF4-FFF2-40B4-BE49-F238E27FC236}">
                <a16:creationId xmlns:a16="http://schemas.microsoft.com/office/drawing/2014/main" id="{5D48A263-D39C-6FFA-07AD-924DAA71C7EB}"/>
              </a:ext>
            </a:extLst>
          </p:cNvPr>
          <p:cNvGraphicFramePr>
            <a:graphicFrameLocks noGrp="1"/>
          </p:cNvGraphicFramePr>
          <p:nvPr>
            <p:extLst>
              <p:ext uri="{D42A27DB-BD31-4B8C-83A1-F6EECF244321}">
                <p14:modId xmlns:p14="http://schemas.microsoft.com/office/powerpoint/2010/main" val="644410896"/>
              </p:ext>
            </p:extLst>
          </p:nvPr>
        </p:nvGraphicFramePr>
        <p:xfrm>
          <a:off x="2766026" y="1152524"/>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DCCI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mn-lt"/>
                        </a:rPr>
                        <a:t>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187</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algn="l" fontAlgn="ct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mn-lt"/>
                        </a:rPr>
                        <a:t>25</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331887893"/>
                  </a:ext>
                </a:extLst>
              </a:tr>
            </a:tbl>
          </a:graphicData>
        </a:graphic>
      </p:graphicFrame>
      <p:graphicFrame>
        <p:nvGraphicFramePr>
          <p:cNvPr id="6" name="Tabla 5">
            <a:extLst>
              <a:ext uri="{FF2B5EF4-FFF2-40B4-BE49-F238E27FC236}">
                <a16:creationId xmlns:a16="http://schemas.microsoft.com/office/drawing/2014/main" id="{7D8D1F39-161B-98DA-5982-C2CD772C41D2}"/>
              </a:ext>
            </a:extLst>
          </p:cNvPr>
          <p:cNvGraphicFramePr>
            <a:graphicFrameLocks noGrp="1"/>
          </p:cNvGraphicFramePr>
          <p:nvPr>
            <p:extLst>
              <p:ext uri="{D42A27DB-BD31-4B8C-83A1-F6EECF244321}">
                <p14:modId xmlns:p14="http://schemas.microsoft.com/office/powerpoint/2010/main" val="688579929"/>
              </p:ext>
            </p:extLst>
          </p:nvPr>
        </p:nvGraphicFramePr>
        <p:xfrm>
          <a:off x="2766026" y="2837033"/>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DCCII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99FF"/>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fontAlgn="ctr"/>
                      <a:r>
                        <a:rPr lang="es-ES" sz="1400" b="1" i="0" u="none" strike="noStrike" dirty="0">
                          <a:solidFill>
                            <a:schemeClr val="tx1"/>
                          </a:solidFill>
                          <a:effectLst/>
                          <a:latin typeface="+mn-lt"/>
                        </a:rPr>
                        <a:t>29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88</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fontAlgn="ctr"/>
                      <a:r>
                        <a:rPr lang="es-ES" sz="1400" b="1" i="0" u="none" strike="noStrike" dirty="0">
                          <a:solidFill>
                            <a:schemeClr val="tx1"/>
                          </a:solidFill>
                          <a:effectLst/>
                          <a:latin typeface="+mn-lt"/>
                        </a:rPr>
                        <a:t>9</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2331887893"/>
                  </a:ext>
                </a:extLst>
              </a:tr>
            </a:tbl>
          </a:graphicData>
        </a:graphic>
      </p:graphicFrame>
      <p:graphicFrame>
        <p:nvGraphicFramePr>
          <p:cNvPr id="7" name="Tabla 6">
            <a:extLst>
              <a:ext uri="{FF2B5EF4-FFF2-40B4-BE49-F238E27FC236}">
                <a16:creationId xmlns:a16="http://schemas.microsoft.com/office/drawing/2014/main" id="{0F487CDF-AEF2-6A89-6E62-3C2229D25977}"/>
              </a:ext>
            </a:extLst>
          </p:cNvPr>
          <p:cNvGraphicFramePr>
            <a:graphicFrameLocks noGrp="1"/>
          </p:cNvGraphicFramePr>
          <p:nvPr>
            <p:extLst>
              <p:ext uri="{D42A27DB-BD31-4B8C-83A1-F6EECF244321}">
                <p14:modId xmlns:p14="http://schemas.microsoft.com/office/powerpoint/2010/main" val="1643170079"/>
              </p:ext>
            </p:extLst>
          </p:nvPr>
        </p:nvGraphicFramePr>
        <p:xfrm>
          <a:off x="2766026" y="4603086"/>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DCP</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B050"/>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fontAlgn="ctr"/>
                      <a:r>
                        <a:rPr lang="es-ES" sz="1400" b="1" i="0" u="none" strike="noStrike" dirty="0">
                          <a:solidFill>
                            <a:srgbClr val="000000"/>
                          </a:solidFill>
                          <a:effectLst/>
                          <a:latin typeface="+mn-lt"/>
                        </a:rPr>
                        <a:t>0 </a:t>
                      </a:r>
                      <a:endParaRPr lang="es-PE" sz="1400" b="1" i="0" u="none" strike="noStrike" dirty="0">
                        <a:solidFill>
                          <a:srgbClr val="000000"/>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10</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fontAlgn="ctr"/>
                      <a:r>
                        <a:rPr lang="es-ES" sz="1400" b="1" i="0" u="none" strike="noStrike" dirty="0">
                          <a:solidFill>
                            <a:schemeClr val="tx1"/>
                          </a:solidFill>
                          <a:effectLst/>
                          <a:latin typeface="+mn-lt"/>
                        </a:rPr>
                        <a:t>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2331887893"/>
                  </a:ext>
                </a:extLst>
              </a:tr>
            </a:tbl>
          </a:graphicData>
        </a:graphic>
      </p:graphicFrame>
      <p:sp>
        <p:nvSpPr>
          <p:cNvPr id="3" name="Flecha: a la derecha 2">
            <a:extLst>
              <a:ext uri="{FF2B5EF4-FFF2-40B4-BE49-F238E27FC236}">
                <a16:creationId xmlns:a16="http://schemas.microsoft.com/office/drawing/2014/main" id="{A7976BD3-E52B-5499-C044-AC7EC4328524}"/>
              </a:ext>
            </a:extLst>
          </p:cNvPr>
          <p:cNvSpPr/>
          <p:nvPr/>
        </p:nvSpPr>
        <p:spPr>
          <a:xfrm>
            <a:off x="1285875" y="4929569"/>
            <a:ext cx="1028700" cy="638174"/>
          </a:xfrm>
          <a:prstGeom prst="rightArrow">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s-ES" dirty="0"/>
              <a:t>DCP</a:t>
            </a:r>
            <a:endParaRPr lang="es-PE" dirty="0"/>
          </a:p>
        </p:txBody>
      </p:sp>
      <p:sp>
        <p:nvSpPr>
          <p:cNvPr id="11" name="CuadroTexto 10">
            <a:extLst>
              <a:ext uri="{FF2B5EF4-FFF2-40B4-BE49-F238E27FC236}">
                <a16:creationId xmlns:a16="http://schemas.microsoft.com/office/drawing/2014/main" id="{DEEB20DA-1378-47AA-A835-431E4B5135F4}"/>
              </a:ext>
            </a:extLst>
          </p:cNvPr>
          <p:cNvSpPr txBox="1"/>
          <p:nvPr/>
        </p:nvSpPr>
        <p:spPr>
          <a:xfrm>
            <a:off x="1285874" y="6238635"/>
            <a:ext cx="3124201" cy="276999"/>
          </a:xfrm>
          <a:prstGeom prst="rect">
            <a:avLst/>
          </a:prstGeom>
          <a:noFill/>
        </p:spPr>
        <p:txBody>
          <a:bodyPr wrap="square">
            <a:spAutoFit/>
          </a:bodyPr>
          <a:lstStyle/>
          <a:p>
            <a:r>
              <a:rPr lang="es-PE" sz="1200" b="1" dirty="0">
                <a:latin typeface="Calibri Light" panose="020F0302020204030204" pitchFamily="34" charset="0"/>
                <a:ea typeface="Calibri" panose="020F0502020204030204" pitchFamily="34" charset="0"/>
              </a:rPr>
              <a:t>Fuente</a:t>
            </a:r>
            <a:r>
              <a:rPr lang="es-PE" sz="1200" dirty="0">
                <a:latin typeface="Calibri Light" panose="020F0302020204030204" pitchFamily="34" charset="0"/>
                <a:ea typeface="Calibri" panose="020F0502020204030204" pitchFamily="34" charset="0"/>
              </a:rPr>
              <a:t>: Módulo SIGERI al 01.04.2024</a:t>
            </a:r>
          </a:p>
        </p:txBody>
      </p:sp>
    </p:spTree>
    <p:extLst>
      <p:ext uri="{BB962C8B-B14F-4D97-AF65-F5344CB8AC3E}">
        <p14:creationId xmlns:p14="http://schemas.microsoft.com/office/powerpoint/2010/main" val="2838625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ITOP REPORTADOS–2023</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D55D1268-DC29-7290-F4BC-4E91D0CD92F1}"/>
              </a:ext>
            </a:extLst>
          </p:cNvPr>
          <p:cNvGraphicFramePr>
            <a:graphicFrameLocks noGrp="1"/>
          </p:cNvGraphicFramePr>
          <p:nvPr>
            <p:extLst>
              <p:ext uri="{D42A27DB-BD31-4B8C-83A1-F6EECF244321}">
                <p14:modId xmlns:p14="http://schemas.microsoft.com/office/powerpoint/2010/main" val="3613146293"/>
              </p:ext>
            </p:extLst>
          </p:nvPr>
        </p:nvGraphicFramePr>
        <p:xfrm>
          <a:off x="3230173" y="1205009"/>
          <a:ext cx="5731653" cy="4537985"/>
        </p:xfrm>
        <a:graphic>
          <a:graphicData uri="http://schemas.openxmlformats.org/drawingml/2006/table">
            <a:tbl>
              <a:tblPr firstRow="1" firstCol="1" bandRow="1"/>
              <a:tblGrid>
                <a:gridCol w="982265">
                  <a:extLst>
                    <a:ext uri="{9D8B030D-6E8A-4147-A177-3AD203B41FA5}">
                      <a16:colId xmlns:a16="http://schemas.microsoft.com/office/drawing/2014/main" val="1329933936"/>
                    </a:ext>
                  </a:extLst>
                </a:gridCol>
                <a:gridCol w="1288433">
                  <a:extLst>
                    <a:ext uri="{9D8B030D-6E8A-4147-A177-3AD203B41FA5}">
                      <a16:colId xmlns:a16="http://schemas.microsoft.com/office/drawing/2014/main" val="63170076"/>
                    </a:ext>
                  </a:extLst>
                </a:gridCol>
                <a:gridCol w="3460955">
                  <a:extLst>
                    <a:ext uri="{9D8B030D-6E8A-4147-A177-3AD203B41FA5}">
                      <a16:colId xmlns:a16="http://schemas.microsoft.com/office/drawing/2014/main" val="3005957556"/>
                    </a:ext>
                  </a:extLst>
                </a:gridCol>
              </a:tblGrid>
              <a:tr h="190431">
                <a:tc gridSpan="3">
                  <a:txBody>
                    <a:bodyPr/>
                    <a:lstStyle/>
                    <a:p>
                      <a:pPr algn="ctr"/>
                      <a:r>
                        <a:rPr lang="es-PE" sz="1000" b="1" dirty="0">
                          <a:effectLst/>
                          <a:latin typeface="Calibri" panose="020F0502020204030204" pitchFamily="34" charset="0"/>
                          <a:ea typeface="Calibri" panose="020F0502020204030204" pitchFamily="34" charset="0"/>
                          <a:cs typeface="Times New Roman" panose="02020603050405020304" pitchFamily="18" charset="0"/>
                        </a:rPr>
                        <a:t>ITOP REPORTADOS</a:t>
                      </a: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28575" cap="flat" cmpd="sng" algn="ctr">
                      <a:solidFill>
                        <a:srgbClr val="70AD47"/>
                      </a:solidFill>
                      <a:prstDash val="solid"/>
                      <a:round/>
                      <a:headEnd type="none" w="med" len="med"/>
                      <a:tailEnd type="none" w="med" len="med"/>
                    </a:lnB>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tcPr>
                </a:tc>
                <a:extLst>
                  <a:ext uri="{0D108BD9-81ED-4DB2-BD59-A6C34878D82A}">
                    <a16:rowId xmlns:a16="http://schemas.microsoft.com/office/drawing/2014/main" val="1785700418"/>
                  </a:ext>
                </a:extLst>
              </a:tr>
              <a:tr h="190431">
                <a:tc>
                  <a:txBody>
                    <a:bodyPr/>
                    <a:lstStyle/>
                    <a:p>
                      <a:r>
                        <a:rPr lang="es-PE"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28575"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gridSpan="2">
                  <a:txBody>
                    <a:bodyPr/>
                    <a:lstStyle/>
                    <a:p>
                      <a:pPr algn="ctr"/>
                      <a:r>
                        <a:rPr lang="es-ES" sz="1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a:t>
                      </a:r>
                      <a:r>
                        <a:rPr lang="es-PE" sz="1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ICIEMBRE</a:t>
                      </a: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B w="12700" cap="flat" cmpd="sng" algn="ctr">
                      <a:solidFill>
                        <a:srgbClr val="70AD47"/>
                      </a:solidFill>
                      <a:prstDash val="solid"/>
                      <a:round/>
                      <a:headEnd type="none" w="med" len="med"/>
                      <a:tailEnd type="none" w="med" len="med"/>
                    </a:lnB>
                    <a:solidFill>
                      <a:srgbClr val="EBF1E9"/>
                    </a:solidFill>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rgbClr val="70AD47"/>
                      </a:solidFill>
                      <a:prstDash val="solid"/>
                      <a:round/>
                      <a:headEnd type="none" w="med" len="med"/>
                      <a:tailEnd type="none" w="med" len="med"/>
                    </a:lnR>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1129546492"/>
                  </a:ext>
                </a:extLst>
              </a:tr>
              <a:tr h="371524">
                <a:tc>
                  <a:txBody>
                    <a:bodyPr/>
                    <a:lstStyle/>
                    <a:p>
                      <a:r>
                        <a:rPr lang="es-PE" sz="1000" b="1">
                          <a:effectLst/>
                          <a:latin typeface="Calibri" panose="020F0502020204030204" pitchFamily="34" charset="0"/>
                          <a:ea typeface="Calibri" panose="020F0502020204030204" pitchFamily="34" charset="0"/>
                          <a:cs typeface="Times New Roman" panose="02020603050405020304" pitchFamily="18" charset="0"/>
                        </a:rPr>
                        <a:t> </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00" b="1" dirty="0" err="1">
                          <a:effectLst/>
                          <a:latin typeface="Calibri" panose="020F0502020204030204" pitchFamily="34" charset="0"/>
                          <a:ea typeface="Calibri" panose="020F0502020204030204" pitchFamily="34" charset="0"/>
                          <a:cs typeface="Times New Roman" panose="02020603050405020304" pitchFamily="18" charset="0"/>
                        </a:rPr>
                        <a:t>N°</a:t>
                      </a:r>
                      <a:r>
                        <a:rPr lang="es-PE" sz="1000" b="1" dirty="0">
                          <a:effectLst/>
                          <a:latin typeface="Calibri" panose="020F0502020204030204" pitchFamily="34" charset="0"/>
                          <a:ea typeface="Calibri" panose="020F0502020204030204" pitchFamily="34" charset="0"/>
                          <a:cs typeface="Times New Roman" panose="02020603050405020304" pitchFamily="18" charset="0"/>
                        </a:rPr>
                        <a:t> ITOP</a:t>
                      </a: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00" b="1" dirty="0">
                          <a:effectLst/>
                          <a:latin typeface="Calibri" panose="020F0502020204030204" pitchFamily="34" charset="0"/>
                          <a:ea typeface="Calibri" panose="020F0502020204030204" pitchFamily="34" charset="0"/>
                          <a:cs typeface="Times New Roman" panose="02020603050405020304" pitchFamily="18" charset="0"/>
                        </a:rPr>
                        <a:t> ASUNTO</a:t>
                      </a: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393214133"/>
                  </a:ext>
                </a:extLst>
              </a:tr>
              <a:tr h="353681">
                <a:tc>
                  <a:txBody>
                    <a:bodyPr/>
                    <a:lstStyle/>
                    <a:p>
                      <a:r>
                        <a:rPr lang="es-PE"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DCCI</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algn="l"/>
                      <a:endParaRPr lang="es-PE" sz="1000" u="none" kern="1200" dirty="0">
                        <a:solidFill>
                          <a:srgbClr val="FF000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2877909416"/>
                  </a:ext>
                </a:extLst>
              </a:tr>
              <a:tr h="2003605">
                <a:tc>
                  <a:txBody>
                    <a:bodyPr/>
                    <a:lstStyle/>
                    <a:p>
                      <a:r>
                        <a:rPr lang="es-ES" sz="1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DCCII</a:t>
                      </a:r>
                      <a:endParaRPr lang="es-PE"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ctr"/>
                      <a:r>
                        <a:rPr lang="es-ES"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01</a:t>
                      </a:r>
                      <a:endParaRPr lang="es-PE"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RECTIFICACIÓN DE RESULTADO RECLAMACION en SIGERI 4090340002839 vinculado a la LC 019-2022-003784 (GISIS SA)</a:t>
                      </a:r>
                      <a:endParaRPr lang="pt-B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707347665"/>
                  </a:ext>
                </a:extLst>
              </a:tr>
              <a:tr h="1237882">
                <a:tc>
                  <a:txBody>
                    <a:bodyPr/>
                    <a:lstStyle/>
                    <a:p>
                      <a:r>
                        <a:rPr lang="es-PE"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DCP</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algn="ctr"/>
                      <a:r>
                        <a:rPr lang="es-ES" sz="1000" b="1" dirty="0">
                          <a:effectLst/>
                          <a:latin typeface="Calibri" panose="020F0502020204030204" pitchFamily="34" charset="0"/>
                          <a:ea typeface="Calibri" panose="020F0502020204030204" pitchFamily="34" charset="0"/>
                          <a:cs typeface="Times New Roman" panose="02020603050405020304" pitchFamily="18" charset="0"/>
                        </a:rPr>
                        <a:t>2</a:t>
                      </a:r>
                      <a:endParaRPr lang="es-PE"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000" dirty="0">
                          <a:effectLst/>
                          <a:latin typeface="Calibri" panose="020F0502020204030204" pitchFamily="34" charset="0"/>
                          <a:ea typeface="Calibri" panose="020F0502020204030204" pitchFamily="34" charset="0"/>
                          <a:cs typeface="Times New Roman" panose="02020603050405020304" pitchFamily="18" charset="0"/>
                        </a:rPr>
                        <a:t>I-868280 No generó SINE</a:t>
                      </a:r>
                    </a:p>
                    <a:p>
                      <a:pPr marL="0" marR="0" lvl="0" indent="0" algn="l" defTabSz="914400" rtl="0" eaLnBrk="1" fontAlgn="auto" latinLnBrk="0" hangingPunct="1">
                        <a:lnSpc>
                          <a:spcPct val="100000"/>
                        </a:lnSpc>
                        <a:spcBef>
                          <a:spcPts val="0"/>
                        </a:spcBef>
                        <a:spcAft>
                          <a:spcPts val="0"/>
                        </a:spcAft>
                        <a:buClrTx/>
                        <a:buSzTx/>
                        <a:buFontTx/>
                        <a:buNone/>
                        <a:tabLst/>
                        <a:defRPr/>
                      </a:pPr>
                      <a:r>
                        <a:rPr lang="es-PE" sz="1000" dirty="0">
                          <a:effectLst/>
                          <a:latin typeface="Calibri" panose="020F0502020204030204" pitchFamily="34" charset="0"/>
                          <a:ea typeface="Calibri" panose="020F0502020204030204" pitchFamily="34" charset="0"/>
                          <a:cs typeface="Times New Roman" panose="02020603050405020304" pitchFamily="18" charset="0"/>
                        </a:rPr>
                        <a:t>I-833175 No generó SINE</a:t>
                      </a:r>
                    </a:p>
                    <a:p>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476787184"/>
                  </a:ext>
                </a:extLst>
              </a:tr>
              <a:tr h="190431">
                <a:tc>
                  <a:txBody>
                    <a:bodyPr/>
                    <a:lstStyle/>
                    <a:p>
                      <a:r>
                        <a:rPr lang="es-PE" sz="1000" b="1">
                          <a:effectLst/>
                          <a:latin typeface="Calibri" panose="020F0502020204030204" pitchFamily="34" charset="0"/>
                          <a:ea typeface="Calibri" panose="020F0502020204030204" pitchFamily="34" charset="0"/>
                          <a:cs typeface="Times New Roman" panose="02020603050405020304" pitchFamily="18" charset="0"/>
                        </a:rPr>
                        <a:t>TOTAL</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ctr"/>
                      <a:r>
                        <a:rPr lang="es-ES" sz="1000" b="1" dirty="0">
                          <a:effectLst/>
                          <a:latin typeface="Calibri" panose="020F0502020204030204" pitchFamily="34" charset="0"/>
                          <a:ea typeface="Calibri" panose="020F0502020204030204" pitchFamily="34" charset="0"/>
                          <a:cs typeface="Times New Roman" panose="02020603050405020304" pitchFamily="18" charset="0"/>
                        </a:rPr>
                        <a:t>3</a:t>
                      </a:r>
                      <a:endParaRPr lang="es-PE"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168371186"/>
                  </a:ext>
                </a:extLst>
              </a:tr>
            </a:tbl>
          </a:graphicData>
        </a:graphic>
      </p:graphicFrame>
    </p:spTree>
    <p:extLst>
      <p:ext uri="{BB962C8B-B14F-4D97-AF65-F5344CB8AC3E}">
        <p14:creationId xmlns:p14="http://schemas.microsoft.com/office/powerpoint/2010/main" val="2728671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RESULTADOS DE RECLAMO - 2024</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6" name="Tabla 5">
            <a:extLst>
              <a:ext uri="{FF2B5EF4-FFF2-40B4-BE49-F238E27FC236}">
                <a16:creationId xmlns:a16="http://schemas.microsoft.com/office/drawing/2014/main" id="{5C1F8767-F3D1-FC7C-4DC5-DC221001CBFC}"/>
              </a:ext>
            </a:extLst>
          </p:cNvPr>
          <p:cNvGraphicFramePr>
            <a:graphicFrameLocks noGrp="1"/>
          </p:cNvGraphicFramePr>
          <p:nvPr>
            <p:extLst>
              <p:ext uri="{D42A27DB-BD31-4B8C-83A1-F6EECF244321}">
                <p14:modId xmlns:p14="http://schemas.microsoft.com/office/powerpoint/2010/main" val="12744579"/>
              </p:ext>
            </p:extLst>
          </p:nvPr>
        </p:nvGraphicFramePr>
        <p:xfrm>
          <a:off x="742949" y="1342634"/>
          <a:ext cx="10262909" cy="4581915"/>
        </p:xfrm>
        <a:graphic>
          <a:graphicData uri="http://schemas.openxmlformats.org/drawingml/2006/table">
            <a:tbl>
              <a:tblPr/>
              <a:tblGrid>
                <a:gridCol w="1299885">
                  <a:extLst>
                    <a:ext uri="{9D8B030D-6E8A-4147-A177-3AD203B41FA5}">
                      <a16:colId xmlns:a16="http://schemas.microsoft.com/office/drawing/2014/main" val="1830478753"/>
                    </a:ext>
                  </a:extLst>
                </a:gridCol>
                <a:gridCol w="584910">
                  <a:extLst>
                    <a:ext uri="{9D8B030D-6E8A-4147-A177-3AD203B41FA5}">
                      <a16:colId xmlns:a16="http://schemas.microsoft.com/office/drawing/2014/main" val="976110479"/>
                    </a:ext>
                  </a:extLst>
                </a:gridCol>
                <a:gridCol w="680930">
                  <a:extLst>
                    <a:ext uri="{9D8B030D-6E8A-4147-A177-3AD203B41FA5}">
                      <a16:colId xmlns:a16="http://schemas.microsoft.com/office/drawing/2014/main" val="2657161292"/>
                    </a:ext>
                  </a:extLst>
                </a:gridCol>
                <a:gridCol w="962148">
                  <a:extLst>
                    <a:ext uri="{9D8B030D-6E8A-4147-A177-3AD203B41FA5}">
                      <a16:colId xmlns:a16="http://schemas.microsoft.com/office/drawing/2014/main" val="2571861186"/>
                    </a:ext>
                  </a:extLst>
                </a:gridCol>
                <a:gridCol w="962148">
                  <a:extLst>
                    <a:ext uri="{9D8B030D-6E8A-4147-A177-3AD203B41FA5}">
                      <a16:colId xmlns:a16="http://schemas.microsoft.com/office/drawing/2014/main" val="3123508407"/>
                    </a:ext>
                  </a:extLst>
                </a:gridCol>
                <a:gridCol w="962148">
                  <a:extLst>
                    <a:ext uri="{9D8B030D-6E8A-4147-A177-3AD203B41FA5}">
                      <a16:colId xmlns:a16="http://schemas.microsoft.com/office/drawing/2014/main" val="1761037411"/>
                    </a:ext>
                  </a:extLst>
                </a:gridCol>
                <a:gridCol w="962148">
                  <a:extLst>
                    <a:ext uri="{9D8B030D-6E8A-4147-A177-3AD203B41FA5}">
                      <a16:colId xmlns:a16="http://schemas.microsoft.com/office/drawing/2014/main" val="4069715718"/>
                    </a:ext>
                  </a:extLst>
                </a:gridCol>
                <a:gridCol w="962148">
                  <a:extLst>
                    <a:ext uri="{9D8B030D-6E8A-4147-A177-3AD203B41FA5}">
                      <a16:colId xmlns:a16="http://schemas.microsoft.com/office/drawing/2014/main" val="2827311752"/>
                    </a:ext>
                  </a:extLst>
                </a:gridCol>
                <a:gridCol w="962148">
                  <a:extLst>
                    <a:ext uri="{9D8B030D-6E8A-4147-A177-3AD203B41FA5}">
                      <a16:colId xmlns:a16="http://schemas.microsoft.com/office/drawing/2014/main" val="3158204159"/>
                    </a:ext>
                  </a:extLst>
                </a:gridCol>
                <a:gridCol w="962148">
                  <a:extLst>
                    <a:ext uri="{9D8B030D-6E8A-4147-A177-3AD203B41FA5}">
                      <a16:colId xmlns:a16="http://schemas.microsoft.com/office/drawing/2014/main" val="1845870146"/>
                    </a:ext>
                  </a:extLst>
                </a:gridCol>
                <a:gridCol w="962148">
                  <a:extLst>
                    <a:ext uri="{9D8B030D-6E8A-4147-A177-3AD203B41FA5}">
                      <a16:colId xmlns:a16="http://schemas.microsoft.com/office/drawing/2014/main" val="345460417"/>
                    </a:ext>
                  </a:extLst>
                </a:gridCol>
              </a:tblGrid>
              <a:tr h="290625">
                <a:tc rowSpan="2">
                  <a:txBody>
                    <a:bodyPr/>
                    <a:lstStyle/>
                    <a:p>
                      <a:pPr algn="ctr" fontAlgn="b"/>
                      <a:r>
                        <a:rPr lang="es-PE" sz="1700" b="0" i="0" u="none" strike="noStrike" dirty="0">
                          <a:solidFill>
                            <a:srgbClr val="000000"/>
                          </a:solidFill>
                          <a:effectLst/>
                          <a:latin typeface="Times New Roman" panose="02020603050405020304" pitchFamily="18" charset="0"/>
                        </a:rPr>
                        <a:t> </a:t>
                      </a:r>
                    </a:p>
                  </a:txBody>
                  <a:tcPr marL="6350" marR="6350" marT="6350"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gridSpan="3">
                  <a:txBody>
                    <a:bodyPr/>
                    <a:lstStyle/>
                    <a:p>
                      <a:pPr algn="ctr" fontAlgn="ctr"/>
                      <a:r>
                        <a:rPr lang="es-PE" sz="1700" b="0" i="0" u="none" strike="noStrike">
                          <a:solidFill>
                            <a:srgbClr val="000000"/>
                          </a:solidFill>
                          <a:effectLst/>
                          <a:latin typeface="Calibri" panose="020F0502020204030204" pitchFamily="34" charset="0"/>
                        </a:rPr>
                        <a:t>ENERO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gridSpan="3">
                  <a:txBody>
                    <a:bodyPr/>
                    <a:lstStyle/>
                    <a:p>
                      <a:pPr algn="ctr" fontAlgn="ctr"/>
                      <a:r>
                        <a:rPr lang="es-ES" sz="1700" b="0" i="0" u="none" strike="noStrike" dirty="0">
                          <a:solidFill>
                            <a:srgbClr val="000000"/>
                          </a:solidFill>
                          <a:effectLst/>
                          <a:latin typeface="Calibri" panose="020F0502020204030204" pitchFamily="34" charset="0"/>
                        </a:rPr>
                        <a:t>FEBRERO</a:t>
                      </a: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700" b="0" i="0" u="none" strike="noStrike" dirty="0">
                          <a:solidFill>
                            <a:srgbClr val="000000"/>
                          </a:solidFill>
                          <a:effectLst/>
                          <a:latin typeface="Calibri" panose="020F0502020204030204" pitchFamily="34" charset="0"/>
                        </a:rPr>
                        <a:t>MARZO</a:t>
                      </a: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5952588"/>
                  </a:ext>
                </a:extLst>
              </a:tr>
              <a:tr h="363126">
                <a:tc vMerge="1">
                  <a:txBody>
                    <a:bodyPr/>
                    <a:lstStyle/>
                    <a:p>
                      <a:endParaRPr lang="es-PE"/>
                    </a:p>
                  </a:txBody>
                  <a:tcPr/>
                </a:tc>
                <a:tc>
                  <a:txBody>
                    <a:bodyPr/>
                    <a:lstStyle/>
                    <a:p>
                      <a:pPr algn="ctr" fontAlgn="ctr"/>
                      <a:r>
                        <a:rPr lang="es-PE" sz="17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700" b="1" i="0" u="none" strike="noStrike" dirty="0">
                          <a:solidFill>
                            <a:srgbClr val="FFFFFF"/>
                          </a:solidFill>
                          <a:effectLst/>
                          <a:latin typeface="Calibri Light" panose="020F0302020204030204" pitchFamily="34" charset="0"/>
                        </a:rPr>
                        <a:t>TOTAL</a:t>
                      </a:r>
                      <a:endParaRPr lang="es-PE" sz="17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3661435629"/>
                  </a:ext>
                </a:extLst>
              </a:tr>
              <a:tr h="563507">
                <a:tc>
                  <a:txBody>
                    <a:bodyPr/>
                    <a:lstStyle/>
                    <a:p>
                      <a:pPr algn="ctr" fontAlgn="ctr"/>
                      <a:r>
                        <a:rPr lang="es-PE" sz="1700" b="1" i="0" u="none" strike="noStrike" dirty="0">
                          <a:solidFill>
                            <a:srgbClr val="FFFFFF"/>
                          </a:solidFill>
                          <a:effectLst/>
                          <a:latin typeface="Calibri Light" panose="020F0302020204030204" pitchFamily="34" charset="0"/>
                        </a:rPr>
                        <a:t>Infundado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255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75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14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236</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s-ES" sz="900" b="1" i="0" u="none" strike="noStrike" kern="1200" dirty="0">
                        <a:solidFill>
                          <a:schemeClr val="tx1"/>
                        </a:solidFill>
                        <a:effectLst/>
                        <a:latin typeface="Calibri Light" panose="020F0302020204030204" pitchFamily="34" charset="0"/>
                        <a:ea typeface="+mn-ea"/>
                        <a:cs typeface="+mn-cs"/>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78</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17</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206</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70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18</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969</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595509009"/>
                  </a:ext>
                </a:extLst>
              </a:tr>
              <a:tr h="716698">
                <a:tc>
                  <a:txBody>
                    <a:bodyPr/>
                    <a:lstStyle/>
                    <a:p>
                      <a:pPr algn="ctr" fontAlgn="ctr"/>
                      <a:r>
                        <a:rPr lang="es-PE" sz="1700" b="1" i="0" u="none" strike="noStrike" dirty="0">
                          <a:solidFill>
                            <a:srgbClr val="FFFFFF"/>
                          </a:solidFill>
                          <a:effectLst/>
                          <a:latin typeface="Calibri Light" panose="020F0302020204030204" pitchFamily="34" charset="0"/>
                        </a:rPr>
                        <a:t>Fundado / F.P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700" b="1" i="0" u="none" strike="noStrike" kern="1200" dirty="0">
                          <a:solidFill>
                            <a:schemeClr val="tx1"/>
                          </a:solidFill>
                          <a:effectLst/>
                          <a:latin typeface="Calibri Light" panose="020F0302020204030204" pitchFamily="34" charset="0"/>
                          <a:ea typeface="+mn-ea"/>
                          <a:cs typeface="+mn-cs"/>
                        </a:rPr>
                        <a:t>16</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700" b="1" i="0" u="none" strike="noStrike" kern="1200" dirty="0">
                          <a:solidFill>
                            <a:schemeClr val="tx1"/>
                          </a:solidFill>
                          <a:effectLst/>
                          <a:latin typeface="Calibri Light" panose="020F0302020204030204" pitchFamily="34" charset="0"/>
                          <a:ea typeface="+mn-ea"/>
                          <a:cs typeface="+mn-cs"/>
                        </a:rPr>
                        <a:t>0</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2</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4</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s-ES" sz="1700" b="1" i="0" u="none" strike="noStrike" dirty="0">
                          <a:solidFill>
                            <a:srgbClr val="833C0C"/>
                          </a:solidFill>
                          <a:effectLst/>
                          <a:latin typeface="Calibri Light" panose="020F0302020204030204" pitchFamily="34" charset="0"/>
                        </a:rPr>
                        <a:t>29</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423245537"/>
                  </a:ext>
                </a:extLst>
              </a:tr>
              <a:tr h="363126">
                <a:tc>
                  <a:txBody>
                    <a:bodyPr/>
                    <a:lstStyle/>
                    <a:p>
                      <a:pPr algn="ctr" fontAlgn="ctr"/>
                      <a:r>
                        <a:rPr lang="es-PE" sz="1700" b="1" i="0" u="none" strike="noStrike">
                          <a:solidFill>
                            <a:srgbClr val="FFFFFF"/>
                          </a:solidFill>
                          <a:effectLst/>
                          <a:latin typeface="Calibri Light" panose="020F0302020204030204" pitchFamily="34" charset="0"/>
                        </a:rPr>
                        <a:t>Nulidad</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16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9</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0</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25</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a:solidFill>
                            <a:srgbClr val="000000"/>
                          </a:solidFill>
                          <a:effectLst/>
                          <a:latin typeface="Calibri Light" panose="020F0302020204030204" pitchFamily="34" charset="0"/>
                        </a:rPr>
                        <a:t>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60</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848495558"/>
                  </a:ext>
                </a:extLst>
              </a:tr>
              <a:tr h="841883">
                <a:tc>
                  <a:txBody>
                    <a:bodyPr/>
                    <a:lstStyle/>
                    <a:p>
                      <a:pPr algn="ctr" fontAlgn="ctr"/>
                      <a:r>
                        <a:rPr lang="es-PE" sz="1700" b="1" i="0" u="none" strike="noStrike">
                          <a:solidFill>
                            <a:srgbClr val="FFFFFF"/>
                          </a:solidFill>
                          <a:effectLst/>
                          <a:latin typeface="Calibri Light" panose="020F0302020204030204" pitchFamily="34" charset="0"/>
                        </a:rPr>
                        <a:t>Improcedente</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0</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0</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0</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0</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0</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611323000"/>
                  </a:ext>
                </a:extLst>
              </a:tr>
              <a:tr h="716698">
                <a:tc>
                  <a:txBody>
                    <a:bodyPr/>
                    <a:lstStyle/>
                    <a:p>
                      <a:pPr algn="ctr" fontAlgn="ctr"/>
                      <a:r>
                        <a:rPr lang="es-PE" sz="1700" b="1" i="0" u="none" strike="noStrike">
                          <a:solidFill>
                            <a:srgbClr val="FFFFFF"/>
                          </a:solidFill>
                          <a:effectLst/>
                          <a:latin typeface="Calibri Light" panose="020F0302020204030204" pitchFamily="34" charset="0"/>
                        </a:rPr>
                        <a:t>Desistimiento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0</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1</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0</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0</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1</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1532965810"/>
                  </a:ext>
                </a:extLst>
              </a:tr>
              <a:tr h="363126">
                <a:tc>
                  <a:txBody>
                    <a:bodyPr/>
                    <a:lstStyle/>
                    <a:p>
                      <a:pPr algn="ctr" fontAlgn="ctr"/>
                      <a:r>
                        <a:rPr lang="es-PE" sz="1700" b="1" i="0" u="none" strike="noStrike">
                          <a:solidFill>
                            <a:srgbClr val="FFFFFF"/>
                          </a:solidFill>
                          <a:effectLst/>
                          <a:latin typeface="Calibri Light" panose="020F0302020204030204" pitchFamily="34" charset="0"/>
                        </a:rPr>
                        <a:t>Otros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a:solidFill>
                            <a:schemeClr val="tx1"/>
                          </a:solidFill>
                          <a:effectLst/>
                          <a:latin typeface="Calibri Light" panose="020F0302020204030204" pitchFamily="34" charset="0"/>
                          <a:ea typeface="+mn-ea"/>
                          <a:cs typeface="+mn-cs"/>
                        </a:rPr>
                        <a:t>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1</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0</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1</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7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21</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58868893"/>
                  </a:ext>
                </a:extLst>
              </a:tr>
              <a:tr h="363126">
                <a:tc>
                  <a:txBody>
                    <a:bodyPr/>
                    <a:lstStyle/>
                    <a:p>
                      <a:pPr algn="ctr" fontAlgn="ctr"/>
                      <a:r>
                        <a:rPr lang="es-PE" sz="1700" b="1" i="0" u="none" strike="noStrike">
                          <a:solidFill>
                            <a:srgbClr val="FFFFFF"/>
                          </a:solidFill>
                          <a:effectLst/>
                          <a:latin typeface="Calibri Light" panose="020F0302020204030204" pitchFamily="34" charset="0"/>
                        </a:rPr>
                        <a:t>TOTAL</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285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79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700" b="1" i="0" u="none" strike="noStrike" kern="1200" dirty="0">
                          <a:solidFill>
                            <a:schemeClr val="tx1"/>
                          </a:solidFill>
                          <a:effectLst/>
                          <a:latin typeface="Calibri Light" panose="020F0302020204030204" pitchFamily="34" charset="0"/>
                          <a:ea typeface="+mn-ea"/>
                          <a:cs typeface="+mn-cs"/>
                        </a:rPr>
                        <a:t> 19*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262</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83</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19</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700" b="1" i="0" u="none" strike="noStrike" kern="1200" dirty="0">
                          <a:solidFill>
                            <a:srgbClr val="000000"/>
                          </a:solidFill>
                          <a:effectLst/>
                          <a:latin typeface="Calibri Light" panose="020F0302020204030204" pitchFamily="34" charset="0"/>
                          <a:ea typeface="+mn-ea"/>
                          <a:cs typeface="+mn-cs"/>
                        </a:rPr>
                        <a:t>236</a:t>
                      </a:r>
                      <a:endParaRPr lang="es-PE" sz="17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77</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20</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800" b="1" i="0" u="none" strike="noStrike" dirty="0">
                          <a:solidFill>
                            <a:srgbClr val="833C0C"/>
                          </a:solidFill>
                          <a:effectLst/>
                          <a:latin typeface="Calibri Light" panose="020F0302020204030204" pitchFamily="34" charset="0"/>
                        </a:rPr>
                        <a:t>1080</a:t>
                      </a:r>
                      <a:endParaRPr lang="es-PE" sz="18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544681814"/>
                  </a:ext>
                </a:extLst>
              </a:tr>
            </a:tbl>
          </a:graphicData>
        </a:graphic>
      </p:graphicFrame>
    </p:spTree>
    <p:extLst>
      <p:ext uri="{BB962C8B-B14F-4D97-AF65-F5344CB8AC3E}">
        <p14:creationId xmlns:p14="http://schemas.microsoft.com/office/powerpoint/2010/main" val="3394085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000" b="1" dirty="0">
                <a:latin typeface="Arial" panose="020B0604020202020204" pitchFamily="34" charset="0"/>
                <a:cs typeface="Arial" panose="020B0604020202020204" pitchFamily="34" charset="0"/>
              </a:rPr>
              <a:t>SUMILLAS DE NULIDADES DECLARADAS POR LA GAFA MARZO-DCCI</a:t>
            </a:r>
            <a:endParaRPr lang="es-PE" sz="2000" b="1" dirty="0">
              <a:latin typeface="Arial" panose="020B0604020202020204" pitchFamily="34" charset="0"/>
              <a:cs typeface="Arial" panose="020B0604020202020204" pitchFamily="34" charset="0"/>
            </a:endParaRPr>
          </a:p>
        </p:txBody>
      </p:sp>
      <p:graphicFrame>
        <p:nvGraphicFramePr>
          <p:cNvPr id="3" name="Tabla 2">
            <a:extLst>
              <a:ext uri="{FF2B5EF4-FFF2-40B4-BE49-F238E27FC236}">
                <a16:creationId xmlns:a16="http://schemas.microsoft.com/office/drawing/2014/main" id="{C7AFA5F9-8E7D-2013-F299-5B02EA058F1B}"/>
              </a:ext>
            </a:extLst>
          </p:cNvPr>
          <p:cNvGraphicFramePr>
            <a:graphicFrameLocks noGrp="1"/>
          </p:cNvGraphicFramePr>
          <p:nvPr>
            <p:extLst>
              <p:ext uri="{D42A27DB-BD31-4B8C-83A1-F6EECF244321}">
                <p14:modId xmlns:p14="http://schemas.microsoft.com/office/powerpoint/2010/main" val="2383976798"/>
              </p:ext>
            </p:extLst>
          </p:nvPr>
        </p:nvGraphicFramePr>
        <p:xfrm>
          <a:off x="955040" y="1086269"/>
          <a:ext cx="9800872" cy="5687928"/>
        </p:xfrm>
        <a:graphic>
          <a:graphicData uri="http://schemas.openxmlformats.org/drawingml/2006/table">
            <a:tbl>
              <a:tblPr firstRow="1" firstCol="1" bandRow="1"/>
              <a:tblGrid>
                <a:gridCol w="995401">
                  <a:extLst>
                    <a:ext uri="{9D8B030D-6E8A-4147-A177-3AD203B41FA5}">
                      <a16:colId xmlns:a16="http://schemas.microsoft.com/office/drawing/2014/main" val="3020146729"/>
                    </a:ext>
                  </a:extLst>
                </a:gridCol>
                <a:gridCol w="995401">
                  <a:extLst>
                    <a:ext uri="{9D8B030D-6E8A-4147-A177-3AD203B41FA5}">
                      <a16:colId xmlns:a16="http://schemas.microsoft.com/office/drawing/2014/main" val="12035844"/>
                    </a:ext>
                  </a:extLst>
                </a:gridCol>
                <a:gridCol w="1276155">
                  <a:extLst>
                    <a:ext uri="{9D8B030D-6E8A-4147-A177-3AD203B41FA5}">
                      <a16:colId xmlns:a16="http://schemas.microsoft.com/office/drawing/2014/main" val="3668074573"/>
                    </a:ext>
                  </a:extLst>
                </a:gridCol>
                <a:gridCol w="6533915">
                  <a:extLst>
                    <a:ext uri="{9D8B030D-6E8A-4147-A177-3AD203B41FA5}">
                      <a16:colId xmlns:a16="http://schemas.microsoft.com/office/drawing/2014/main" val="784308741"/>
                    </a:ext>
                  </a:extLst>
                </a:gridCol>
              </a:tblGrid>
              <a:tr h="281851">
                <a:tc>
                  <a:txBody>
                    <a:bodyPr/>
                    <a:lstStyle/>
                    <a:p>
                      <a:pPr algn="ctr"/>
                      <a:r>
                        <a:rPr lang="es-PE" sz="10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Dependencia</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r>
                        <a:rPr lang="es-PE" sz="10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FECHA</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r>
                        <a:rPr lang="es-PE" sz="10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 RI</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algn="ctr"/>
                      <a:r>
                        <a:rPr lang="es-PE" sz="1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SUMILLA</a:t>
                      </a: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188901169"/>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4090140007163</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536265"/>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4090140007162</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0791637"/>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4090140007161</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4775611"/>
                  </a:ext>
                </a:extLst>
              </a:tr>
              <a:tr h="281851">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15/03/2024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4090140007184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FUNDADO EN PARTE, APLICACIÓN 3ER METODO REFERENCIA MAS PROXIMA ART. 13 INCISO B D.S N° 186-99-EF</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9639234"/>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06/03/2024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4090140007073</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FALTA DE MOTIVACION NO SE EVALUARON DOCUMENTOS CONTABLES EN IDV</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8400918"/>
                  </a:ext>
                </a:extLst>
              </a:tr>
              <a:tr h="281851">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08/03/2024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4090140007106</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IDV no evaluó expediente presentado por la recurrente en la etapa de duda razonable.</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943168"/>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4090140007398</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FUNDADO, mercancía inmovilizada se sustenta en el BL declarado.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7622148"/>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4090140007405</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FUNDADO,  DEL ANALISIS DE LAS PRUEBAS NO SE VERIFICA FALTANTE DE MERCANCÍA</a:t>
                      </a: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5044586"/>
                  </a:ext>
                </a:extLst>
              </a:tr>
              <a:tr h="3048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4090140007276</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NO SE HA MOTIVADO CORRECTAMENTE LA NOTIFICACION DE DUDA RAZONABLE Y CONFIRMACION DE DUDA RAZONABLE</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6902944"/>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29/02/2024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4090140007033</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NO SE SIGUIO EL PROCEDIMIENTO ESTABLECIDO PARA ATENDER LA DEVOLUCION</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7916283"/>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4090140007453</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256361"/>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4090140007279</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9785123"/>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26/03/2024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4090140007365</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74465"/>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4090140007284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1715761"/>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4090140007273</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3206575"/>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4090140007274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60981341"/>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21/03/2024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4090140007238</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8269909"/>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4090140007234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7001004"/>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26/03/2024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4090140007364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3669069"/>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4090140007219</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FALTA DE MOTIVACION NO SE EVALUARON DOCUMENTOS CONTABLES EN IDV</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20649"/>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4090140007409</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5059735"/>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4090140007410</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5500510"/>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4090140007222</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NULO,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442805"/>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25/03/2024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4090140007321</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el IDV no analizó documentación contable presentada por el usuario.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8323048"/>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25/03/2024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4090140007326</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el IDV no analizó documentación contable presentada por el usuario.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8723410"/>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22/03/2024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4090140007274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REFERENCIAS MULTIPLES NO SE REALIZO REQUERIMIENTO</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3837185"/>
                  </a:ext>
                </a:extLst>
              </a:tr>
              <a:tr h="422775">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4090140007193</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NO SE SIGUIO EL PROCEDIMIENTO ESTABLECIDO PARA LA VERIFICACION DE ORIGEN DE ACURDO CON EL ACUERDO Perú-Corea y lo señalado por el Procedimiento Específico DESPA-PE.01.26</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2327629"/>
                  </a:ext>
                </a:extLst>
              </a:tr>
              <a:tr h="152400">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25/03/2024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4090140007308</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SE EMITIERON DOS RESOLUCIONES POR UNA MISMA SOLICITUD DE DEVOLUCION</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4337321"/>
                  </a:ext>
                </a:extLst>
              </a:tr>
              <a:tr h="457199">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IAMC</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27/03/2024</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4090140007461</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s-PE" sz="1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NULIDAD, SE CUMPLE CON LOS REQUISITOS ADMISIBILIDAD (ESCRITO SE ENCUENTRA FUNDAMENTADO), EL NO CONSIGNAR EXPRESAMENTE EL TPI AL CUAL SE ACOGE POSTERIORMENTE NO CONSTITUYE CAUSAL PARA DECLARAR INADMISBLE LA SOLICITUD.</a:t>
                      </a: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6300" marR="463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5516976"/>
                  </a:ext>
                </a:extLst>
              </a:tr>
            </a:tbl>
          </a:graphicData>
        </a:graphic>
      </p:graphicFrame>
    </p:spTree>
    <p:extLst>
      <p:ext uri="{BB962C8B-B14F-4D97-AF65-F5344CB8AC3E}">
        <p14:creationId xmlns:p14="http://schemas.microsoft.com/office/powerpoint/2010/main" val="4101742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8" name="Título 94">
            <a:extLst>
              <a:ext uri="{FF2B5EF4-FFF2-40B4-BE49-F238E27FC236}">
                <a16:creationId xmlns:a16="http://schemas.microsoft.com/office/drawing/2014/main" id="{1EB64A6E-130E-BC7D-B2AF-91C94A288A85}"/>
              </a:ext>
            </a:extLst>
          </p:cNvPr>
          <p:cNvSpPr>
            <a:spLocks noGrp="1"/>
          </p:cNvSpPr>
          <p:nvPr>
            <p:ph type="title"/>
          </p:nvPr>
        </p:nvSpPr>
        <p:spPr>
          <a:xfrm>
            <a:off x="239713" y="338138"/>
            <a:ext cx="10515600" cy="849312"/>
          </a:xfrm>
        </p:spPr>
        <p:txBody>
          <a:bodyPr>
            <a:noAutofit/>
          </a:bodyPr>
          <a:lstStyle/>
          <a:p>
            <a:r>
              <a:rPr lang="es-ES" sz="2400" b="1" dirty="0">
                <a:latin typeface="Arial" panose="020B0604020202020204" pitchFamily="34" charset="0"/>
                <a:cs typeface="Arial" panose="020B0604020202020204" pitchFamily="34" charset="0"/>
              </a:rPr>
              <a:t>SUMILLAS DE NULIDADES DECLARADAS POR LA GAFA-DCCII</a:t>
            </a:r>
            <a:endParaRPr lang="es-PE" sz="24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E946DBAE-3560-0033-5997-16674474345B}"/>
              </a:ext>
            </a:extLst>
          </p:cNvPr>
          <p:cNvGraphicFramePr>
            <a:graphicFrameLocks noGrp="1"/>
          </p:cNvGraphicFramePr>
          <p:nvPr>
            <p:extLst>
              <p:ext uri="{D42A27DB-BD31-4B8C-83A1-F6EECF244321}">
                <p14:modId xmlns:p14="http://schemas.microsoft.com/office/powerpoint/2010/main" val="1936843193"/>
              </p:ext>
            </p:extLst>
          </p:nvPr>
        </p:nvGraphicFramePr>
        <p:xfrm>
          <a:off x="676274" y="1480399"/>
          <a:ext cx="10515599" cy="3609975"/>
        </p:xfrm>
        <a:graphic>
          <a:graphicData uri="http://schemas.openxmlformats.org/drawingml/2006/table">
            <a:tbl>
              <a:tblPr>
                <a:tableStyleId>{5940675A-B579-460E-94D1-54222C63F5DA}</a:tableStyleId>
              </a:tblPr>
              <a:tblGrid>
                <a:gridCol w="3004457">
                  <a:extLst>
                    <a:ext uri="{9D8B030D-6E8A-4147-A177-3AD203B41FA5}">
                      <a16:colId xmlns:a16="http://schemas.microsoft.com/office/drawing/2014/main" val="4291070278"/>
                    </a:ext>
                  </a:extLst>
                </a:gridCol>
                <a:gridCol w="1852263">
                  <a:extLst>
                    <a:ext uri="{9D8B030D-6E8A-4147-A177-3AD203B41FA5}">
                      <a16:colId xmlns:a16="http://schemas.microsoft.com/office/drawing/2014/main" val="2257077776"/>
                    </a:ext>
                  </a:extLst>
                </a:gridCol>
                <a:gridCol w="1910601">
                  <a:extLst>
                    <a:ext uri="{9D8B030D-6E8A-4147-A177-3AD203B41FA5}">
                      <a16:colId xmlns:a16="http://schemas.microsoft.com/office/drawing/2014/main" val="175789409"/>
                    </a:ext>
                  </a:extLst>
                </a:gridCol>
                <a:gridCol w="3748278">
                  <a:extLst>
                    <a:ext uri="{9D8B030D-6E8A-4147-A177-3AD203B41FA5}">
                      <a16:colId xmlns:a16="http://schemas.microsoft.com/office/drawing/2014/main" val="3120402646"/>
                    </a:ext>
                  </a:extLst>
                </a:gridCol>
              </a:tblGrid>
              <a:tr h="300831">
                <a:tc>
                  <a:txBody>
                    <a:bodyPr/>
                    <a:lstStyle/>
                    <a:p>
                      <a:pPr algn="ctr" fontAlgn="b"/>
                      <a:r>
                        <a:rPr lang="es-PE" sz="1400" b="1" u="none" strike="noStrike" dirty="0">
                          <a:solidFill>
                            <a:srgbClr val="000000"/>
                          </a:solidFill>
                          <a:effectLst/>
                          <a:latin typeface="Calibri" panose="020F0502020204030204" pitchFamily="34" charset="0"/>
                          <a:cs typeface="Calibri" panose="020F0502020204030204" pitchFamily="34" charset="0"/>
                        </a:rPr>
                        <a:t>DEPENDENCIA</a:t>
                      </a:r>
                      <a:endParaRPr lang="es-PE" sz="1400" b="1" i="0" u="none" strike="noStrike" dirty="0">
                        <a:solidFill>
                          <a:srgbClr val="000000"/>
                        </a:solidFill>
                        <a:effectLst/>
                        <a:latin typeface="Calibri" panose="020F0502020204030204" pitchFamily="34" charset="0"/>
                        <a:cs typeface="Calibri" panose="020F0502020204030204" pitchFamily="34" charset="0"/>
                      </a:endParaRPr>
                    </a:p>
                  </a:txBody>
                  <a:tcPr marL="6350" marR="6350" marT="6350" marB="0" anchor="b">
                    <a:solidFill>
                      <a:srgbClr val="FF99FF"/>
                    </a:solidFill>
                  </a:tcPr>
                </a:tc>
                <a:tc>
                  <a:txBody>
                    <a:bodyPr/>
                    <a:lstStyle/>
                    <a:p>
                      <a:pPr algn="ctr" fontAlgn="b"/>
                      <a:r>
                        <a:rPr lang="es-PE" sz="1400" b="1" u="none" strike="noStrike" dirty="0">
                          <a:solidFill>
                            <a:srgbClr val="000000"/>
                          </a:solidFill>
                          <a:effectLst/>
                          <a:latin typeface="Calibri" panose="020F0502020204030204" pitchFamily="34" charset="0"/>
                          <a:cs typeface="Calibri" panose="020F0502020204030204" pitchFamily="34" charset="0"/>
                        </a:rPr>
                        <a:t>MES</a:t>
                      </a:r>
                      <a:endParaRPr lang="es-PE" sz="1400" b="1" i="0" u="none" strike="noStrike" dirty="0">
                        <a:solidFill>
                          <a:srgbClr val="000000"/>
                        </a:solidFill>
                        <a:effectLst/>
                        <a:latin typeface="Calibri" panose="020F0502020204030204" pitchFamily="34" charset="0"/>
                        <a:cs typeface="Calibri" panose="020F0502020204030204" pitchFamily="34" charset="0"/>
                      </a:endParaRPr>
                    </a:p>
                  </a:txBody>
                  <a:tcPr marL="6350" marR="6350" marT="6350" marB="0" anchor="b">
                    <a:solidFill>
                      <a:srgbClr val="FF99FF"/>
                    </a:solidFill>
                  </a:tcPr>
                </a:tc>
                <a:tc>
                  <a:txBody>
                    <a:bodyPr/>
                    <a:lstStyle/>
                    <a:p>
                      <a:pPr algn="ctr" fontAlgn="b"/>
                      <a:r>
                        <a:rPr lang="es-PE" sz="1400" b="1" u="none" strike="noStrike" dirty="0" err="1">
                          <a:solidFill>
                            <a:srgbClr val="000000"/>
                          </a:solidFill>
                          <a:effectLst/>
                          <a:latin typeface="Calibri" panose="020F0502020204030204" pitchFamily="34" charset="0"/>
                          <a:cs typeface="Calibri" panose="020F0502020204030204" pitchFamily="34" charset="0"/>
                        </a:rPr>
                        <a:t>N°</a:t>
                      </a:r>
                      <a:r>
                        <a:rPr lang="es-PE" sz="1400" b="1" u="none" strike="noStrike" dirty="0">
                          <a:solidFill>
                            <a:srgbClr val="000000"/>
                          </a:solidFill>
                          <a:effectLst/>
                          <a:latin typeface="Calibri" panose="020F0502020204030204" pitchFamily="34" charset="0"/>
                          <a:cs typeface="Calibri" panose="020F0502020204030204" pitchFamily="34" charset="0"/>
                        </a:rPr>
                        <a:t> RI</a:t>
                      </a:r>
                      <a:endParaRPr lang="es-PE" sz="1400" b="1" i="0" u="none" strike="noStrike" dirty="0">
                        <a:solidFill>
                          <a:srgbClr val="000000"/>
                        </a:solidFill>
                        <a:effectLst/>
                        <a:latin typeface="Calibri" panose="020F0502020204030204" pitchFamily="34" charset="0"/>
                        <a:cs typeface="Calibri" panose="020F0502020204030204" pitchFamily="34" charset="0"/>
                      </a:endParaRPr>
                    </a:p>
                  </a:txBody>
                  <a:tcPr marL="6350" marR="6350" marT="6350" marB="0" anchor="b">
                    <a:solidFill>
                      <a:srgbClr val="FF99FF"/>
                    </a:solidFill>
                  </a:tcPr>
                </a:tc>
                <a:tc>
                  <a:txBody>
                    <a:bodyPr/>
                    <a:lstStyle/>
                    <a:p>
                      <a:pPr algn="ctr" fontAlgn="b"/>
                      <a:r>
                        <a:rPr lang="es-PE" sz="1400" b="1" u="none" strike="noStrike" dirty="0">
                          <a:solidFill>
                            <a:srgbClr val="000000"/>
                          </a:solidFill>
                          <a:effectLst/>
                          <a:latin typeface="Calibri" panose="020F0502020204030204" pitchFamily="34" charset="0"/>
                          <a:cs typeface="Calibri" panose="020F0502020204030204" pitchFamily="34" charset="0"/>
                        </a:rPr>
                        <a:t>SUMILLA MOTIVO REVOCA/NULA</a:t>
                      </a:r>
                      <a:endParaRPr lang="es-PE" sz="1400" b="1" i="0" u="none" strike="noStrike" dirty="0">
                        <a:solidFill>
                          <a:srgbClr val="000000"/>
                        </a:solidFill>
                        <a:effectLst/>
                        <a:latin typeface="Calibri" panose="020F0502020204030204" pitchFamily="34" charset="0"/>
                        <a:cs typeface="Calibri" panose="020F0502020204030204" pitchFamily="34" charset="0"/>
                      </a:endParaRPr>
                    </a:p>
                  </a:txBody>
                  <a:tcPr marL="6350" marR="6350" marT="6350" marB="0" anchor="b">
                    <a:solidFill>
                      <a:srgbClr val="FF99FF"/>
                    </a:solidFill>
                  </a:tcPr>
                </a:tc>
                <a:extLst>
                  <a:ext uri="{0D108BD9-81ED-4DB2-BD59-A6C34878D82A}">
                    <a16:rowId xmlns:a16="http://schemas.microsoft.com/office/drawing/2014/main" val="1441691622"/>
                  </a:ext>
                </a:extLst>
              </a:tr>
              <a:tr h="902494">
                <a:tc>
                  <a:txBody>
                    <a:bodyPr/>
                    <a:lstStyle/>
                    <a:p>
                      <a:pPr algn="l" fontAlgn="ctr"/>
                      <a:r>
                        <a:rPr lang="es-ES" sz="1400" b="0" u="none" strike="noStrike">
                          <a:solidFill>
                            <a:srgbClr val="000000"/>
                          </a:solidFill>
                          <a:effectLst/>
                          <a:latin typeface="Calibri" panose="020F0502020204030204" pitchFamily="34" charset="0"/>
                          <a:cs typeface="Calibri" panose="020F0502020204030204" pitchFamily="34" charset="0"/>
                        </a:rPr>
                        <a:t>I.A. Aérea y Postal</a:t>
                      </a:r>
                      <a:endParaRPr lang="es-ES" sz="1400" b="0" i="0" u="none" strike="noStrike">
                        <a:solidFill>
                          <a:srgbClr val="000000"/>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fontAlgn="ctr"/>
                      <a:r>
                        <a:rPr lang="es-PE" sz="1400" b="0" u="none" strike="noStrike">
                          <a:solidFill>
                            <a:srgbClr val="000000"/>
                          </a:solidFill>
                          <a:effectLst/>
                          <a:latin typeface="Calibri" panose="020F0502020204030204" pitchFamily="34" charset="0"/>
                          <a:cs typeface="Calibri" panose="020F0502020204030204" pitchFamily="34" charset="0"/>
                        </a:rPr>
                        <a:t>Marzo</a:t>
                      </a:r>
                      <a:endParaRPr lang="es-PE" sz="1400" b="0" i="0" u="none" strike="noStrike">
                        <a:solidFill>
                          <a:srgbClr val="000000"/>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fontAlgn="ctr"/>
                      <a:r>
                        <a:rPr lang="es-PE" sz="1400" b="0" u="none" strike="noStrike">
                          <a:solidFill>
                            <a:srgbClr val="000000"/>
                          </a:solidFill>
                          <a:effectLst/>
                          <a:latin typeface="Calibri" panose="020F0502020204030204" pitchFamily="34" charset="0"/>
                          <a:cs typeface="Calibri" panose="020F0502020204030204" pitchFamily="34" charset="0"/>
                        </a:rPr>
                        <a:t>409014007258</a:t>
                      </a:r>
                      <a:endParaRPr lang="es-PE" sz="1400" b="0" i="0" u="none" strike="noStrike">
                        <a:solidFill>
                          <a:srgbClr val="000000"/>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just" fontAlgn="t"/>
                      <a:r>
                        <a:rPr lang="es-ES" sz="1400" b="0" u="none" strike="noStrike" dirty="0">
                          <a:solidFill>
                            <a:srgbClr val="000000"/>
                          </a:solidFill>
                          <a:effectLst/>
                          <a:latin typeface="Calibri" panose="020F0502020204030204" pitchFamily="34" charset="0"/>
                          <a:cs typeface="Calibri" panose="020F0502020204030204" pitchFamily="34" charset="0"/>
                        </a:rPr>
                        <a:t>NULIDAD Se declaró el comiso del bien, sin tener en cuenta el plazo de ley para que el usuario solicite el reembarque de la mercancía.</a:t>
                      </a:r>
                      <a:endParaRPr lang="es-ES" sz="1400" b="0" i="0" u="none" strike="noStrike" dirty="0">
                        <a:solidFill>
                          <a:srgbClr val="000000"/>
                        </a:solidFill>
                        <a:effectLst/>
                        <a:latin typeface="Calibri" panose="020F0502020204030204" pitchFamily="34" charset="0"/>
                        <a:cs typeface="Calibri" panose="020F0502020204030204" pitchFamily="34" charset="0"/>
                      </a:endParaRPr>
                    </a:p>
                  </a:txBody>
                  <a:tcPr marL="6350" marR="6350" marT="6350" marB="0"/>
                </a:tc>
                <a:extLst>
                  <a:ext uri="{0D108BD9-81ED-4DB2-BD59-A6C34878D82A}">
                    <a16:rowId xmlns:a16="http://schemas.microsoft.com/office/drawing/2014/main" val="3804911904"/>
                  </a:ext>
                </a:extLst>
              </a:tr>
              <a:tr h="1203325">
                <a:tc>
                  <a:txBody>
                    <a:bodyPr/>
                    <a:lstStyle/>
                    <a:p>
                      <a:pPr algn="l" fontAlgn="ctr"/>
                      <a:r>
                        <a:rPr lang="es-PE" sz="1400" b="0" u="none" strike="noStrike" dirty="0">
                          <a:solidFill>
                            <a:srgbClr val="000000"/>
                          </a:solidFill>
                          <a:effectLst/>
                          <a:latin typeface="Calibri" panose="020F0502020204030204" pitchFamily="34" charset="0"/>
                          <a:cs typeface="Calibri" panose="020F0502020204030204" pitchFamily="34" charset="0"/>
                        </a:rPr>
                        <a:t>I.A. Tumbes</a:t>
                      </a:r>
                      <a:endParaRPr lang="es-PE" sz="1400" b="0" i="0" u="none" strike="noStrike" dirty="0">
                        <a:solidFill>
                          <a:srgbClr val="000000"/>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fontAlgn="ctr"/>
                      <a:r>
                        <a:rPr lang="es-PE" sz="1400" b="0" u="none" strike="noStrike" dirty="0">
                          <a:solidFill>
                            <a:srgbClr val="000000"/>
                          </a:solidFill>
                          <a:effectLst/>
                          <a:latin typeface="Calibri" panose="020F0502020204030204" pitchFamily="34" charset="0"/>
                          <a:cs typeface="Calibri" panose="020F0502020204030204" pitchFamily="34" charset="0"/>
                        </a:rPr>
                        <a:t>Marzo</a:t>
                      </a:r>
                      <a:endParaRPr lang="es-PE" sz="1400" b="0" i="0" u="none" strike="noStrike" dirty="0">
                        <a:solidFill>
                          <a:srgbClr val="000000"/>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fontAlgn="ctr"/>
                      <a:r>
                        <a:rPr lang="es-PE" sz="1400" b="0" u="none" strike="noStrike">
                          <a:solidFill>
                            <a:srgbClr val="000000"/>
                          </a:solidFill>
                          <a:effectLst/>
                          <a:latin typeface="Calibri" panose="020F0502020204030204" pitchFamily="34" charset="0"/>
                          <a:cs typeface="Calibri" panose="020F0502020204030204" pitchFamily="34" charset="0"/>
                        </a:rPr>
                        <a:t>409014007282</a:t>
                      </a:r>
                      <a:endParaRPr lang="es-PE" sz="1400" b="0" i="0" u="none" strike="noStrike">
                        <a:solidFill>
                          <a:srgbClr val="000000"/>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just" fontAlgn="t"/>
                      <a:r>
                        <a:rPr lang="es-ES" sz="1400" b="0" u="none" strike="noStrike" dirty="0">
                          <a:solidFill>
                            <a:srgbClr val="000000"/>
                          </a:solidFill>
                          <a:effectLst/>
                          <a:latin typeface="Calibri" panose="020F0502020204030204" pitchFamily="34" charset="0"/>
                          <a:cs typeface="Calibri" panose="020F0502020204030204" pitchFamily="34" charset="0"/>
                        </a:rPr>
                        <a:t>NULIDAD Se sancionó por no regularizar dentro del plazo la DAM de Exportación, cuando existía un pedido de suspensión de plazo que </a:t>
                      </a:r>
                      <a:r>
                        <a:rPr lang="es-ES" sz="1400" b="0" u="none" strike="noStrike" dirty="0" err="1">
                          <a:solidFill>
                            <a:srgbClr val="000000"/>
                          </a:solidFill>
                          <a:effectLst/>
                          <a:latin typeface="Calibri" panose="020F0502020204030204" pitchFamily="34" charset="0"/>
                          <a:cs typeface="Calibri" panose="020F0502020204030204" pitchFamily="34" charset="0"/>
                        </a:rPr>
                        <a:t>habia</a:t>
                      </a:r>
                      <a:r>
                        <a:rPr lang="es-ES" sz="1400" b="0" u="none" strike="noStrike" dirty="0">
                          <a:solidFill>
                            <a:srgbClr val="000000"/>
                          </a:solidFill>
                          <a:effectLst/>
                          <a:latin typeface="Calibri" panose="020F0502020204030204" pitchFamily="34" charset="0"/>
                          <a:cs typeface="Calibri" panose="020F0502020204030204" pitchFamily="34" charset="0"/>
                        </a:rPr>
                        <a:t> sido declarado procedente.</a:t>
                      </a:r>
                      <a:endParaRPr lang="es-ES" sz="1400" b="0" i="0" u="none" strike="noStrike" dirty="0">
                        <a:solidFill>
                          <a:srgbClr val="000000"/>
                        </a:solidFill>
                        <a:effectLst/>
                        <a:latin typeface="Calibri" panose="020F0502020204030204" pitchFamily="34" charset="0"/>
                        <a:cs typeface="Calibri" panose="020F0502020204030204" pitchFamily="34" charset="0"/>
                      </a:endParaRPr>
                    </a:p>
                  </a:txBody>
                  <a:tcPr marL="6350" marR="6350" marT="6350" marB="0"/>
                </a:tc>
                <a:extLst>
                  <a:ext uri="{0D108BD9-81ED-4DB2-BD59-A6C34878D82A}">
                    <a16:rowId xmlns:a16="http://schemas.microsoft.com/office/drawing/2014/main" val="1988217449"/>
                  </a:ext>
                </a:extLst>
              </a:tr>
              <a:tr h="1203325">
                <a:tc>
                  <a:txBody>
                    <a:bodyPr/>
                    <a:lstStyle/>
                    <a:p>
                      <a:pPr algn="l" fontAlgn="ctr"/>
                      <a:r>
                        <a:rPr lang="es-PE" sz="1400" b="0" u="none" strike="noStrike" dirty="0">
                          <a:solidFill>
                            <a:srgbClr val="000000"/>
                          </a:solidFill>
                          <a:effectLst/>
                          <a:latin typeface="Calibri" panose="020F0502020204030204" pitchFamily="34" charset="0"/>
                          <a:cs typeface="Calibri" panose="020F0502020204030204" pitchFamily="34" charset="0"/>
                        </a:rPr>
                        <a:t>I.A. Tumbes</a:t>
                      </a:r>
                      <a:endParaRPr lang="es-PE" sz="1400" b="0" i="0" u="none" strike="noStrike" dirty="0">
                        <a:solidFill>
                          <a:srgbClr val="000000"/>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fontAlgn="ctr"/>
                      <a:r>
                        <a:rPr lang="es-PE" sz="1400" b="0" u="none" strike="noStrike" dirty="0">
                          <a:solidFill>
                            <a:srgbClr val="000000"/>
                          </a:solidFill>
                          <a:effectLst/>
                          <a:latin typeface="Calibri" panose="020F0502020204030204" pitchFamily="34" charset="0"/>
                          <a:cs typeface="Calibri" panose="020F0502020204030204" pitchFamily="34" charset="0"/>
                        </a:rPr>
                        <a:t>Marzo</a:t>
                      </a:r>
                      <a:endParaRPr lang="es-PE" sz="1400" b="0" i="0" u="none" strike="noStrike" dirty="0">
                        <a:solidFill>
                          <a:srgbClr val="000000"/>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ctr" fontAlgn="ctr"/>
                      <a:r>
                        <a:rPr lang="es-PE" sz="1400" b="0" u="none" strike="noStrike" dirty="0">
                          <a:solidFill>
                            <a:srgbClr val="000000"/>
                          </a:solidFill>
                          <a:effectLst/>
                          <a:latin typeface="Calibri" panose="020F0502020204030204" pitchFamily="34" charset="0"/>
                          <a:cs typeface="Calibri" panose="020F0502020204030204" pitchFamily="34" charset="0"/>
                        </a:rPr>
                        <a:t>409014007310</a:t>
                      </a:r>
                      <a:endParaRPr lang="es-PE" sz="1400" b="0" i="0" u="none" strike="noStrike" dirty="0">
                        <a:solidFill>
                          <a:srgbClr val="000000"/>
                        </a:solidFill>
                        <a:effectLst/>
                        <a:latin typeface="Calibri" panose="020F0502020204030204" pitchFamily="34" charset="0"/>
                        <a:cs typeface="Calibri" panose="020F0502020204030204" pitchFamily="34" charset="0"/>
                      </a:endParaRPr>
                    </a:p>
                  </a:txBody>
                  <a:tcPr marL="6350" marR="6350" marT="6350" marB="0" anchor="ctr"/>
                </a:tc>
                <a:tc>
                  <a:txBody>
                    <a:bodyPr/>
                    <a:lstStyle/>
                    <a:p>
                      <a:pPr algn="just" fontAlgn="t"/>
                      <a:r>
                        <a:rPr lang="es-ES" sz="1400" b="0" u="none" strike="noStrike" dirty="0">
                          <a:solidFill>
                            <a:srgbClr val="000000"/>
                          </a:solidFill>
                          <a:effectLst/>
                          <a:latin typeface="Calibri" panose="020F0502020204030204" pitchFamily="34" charset="0"/>
                          <a:cs typeface="Calibri" panose="020F0502020204030204" pitchFamily="34" charset="0"/>
                        </a:rPr>
                        <a:t>NULIDAD se sancionó al usuario con multa por Ley de delitos Aduaneros, </a:t>
                      </a:r>
                      <a:r>
                        <a:rPr lang="es-ES" sz="1400" b="0" u="none" strike="noStrike" dirty="0" err="1">
                          <a:solidFill>
                            <a:srgbClr val="000000"/>
                          </a:solidFill>
                          <a:effectLst/>
                          <a:latin typeface="Calibri" panose="020F0502020204030204" pitchFamily="34" charset="0"/>
                          <a:cs typeface="Calibri" panose="020F0502020204030204" pitchFamily="34" charset="0"/>
                        </a:rPr>
                        <a:t>considerandolo</a:t>
                      </a:r>
                      <a:r>
                        <a:rPr lang="es-ES" sz="1400" b="0" u="none" strike="noStrike" dirty="0">
                          <a:solidFill>
                            <a:srgbClr val="000000"/>
                          </a:solidFill>
                          <a:effectLst/>
                          <a:latin typeface="Calibri" panose="020F0502020204030204" pitchFamily="34" charset="0"/>
                          <a:cs typeface="Calibri" panose="020F0502020204030204" pitchFamily="34" charset="0"/>
                        </a:rPr>
                        <a:t> como remitente (Art. 36°), sin embargo, según lo indicado por la empresa de transportes, era el destinatario del bien.</a:t>
                      </a:r>
                      <a:endParaRPr lang="es-ES" sz="1400" b="0" i="0" u="none" strike="noStrike" dirty="0">
                        <a:solidFill>
                          <a:srgbClr val="000000"/>
                        </a:solidFill>
                        <a:effectLst/>
                        <a:latin typeface="Calibri" panose="020F0502020204030204" pitchFamily="34" charset="0"/>
                        <a:cs typeface="Calibri" panose="020F0502020204030204" pitchFamily="34" charset="0"/>
                      </a:endParaRPr>
                    </a:p>
                  </a:txBody>
                  <a:tcPr marL="6350" marR="6350" marT="6350" marB="0"/>
                </a:tc>
                <a:extLst>
                  <a:ext uri="{0D108BD9-81ED-4DB2-BD59-A6C34878D82A}">
                    <a16:rowId xmlns:a16="http://schemas.microsoft.com/office/drawing/2014/main" val="2010908951"/>
                  </a:ext>
                </a:extLst>
              </a:tr>
            </a:tbl>
          </a:graphicData>
        </a:graphic>
      </p:graphicFrame>
    </p:spTree>
    <p:extLst>
      <p:ext uri="{BB962C8B-B14F-4D97-AF65-F5344CB8AC3E}">
        <p14:creationId xmlns:p14="http://schemas.microsoft.com/office/powerpoint/2010/main" val="991603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8" name="Título 94">
            <a:extLst>
              <a:ext uri="{FF2B5EF4-FFF2-40B4-BE49-F238E27FC236}">
                <a16:creationId xmlns:a16="http://schemas.microsoft.com/office/drawing/2014/main" id="{1EB64A6E-130E-BC7D-B2AF-91C94A288A85}"/>
              </a:ext>
            </a:extLst>
          </p:cNvPr>
          <p:cNvSpPr>
            <a:spLocks noGrp="1"/>
          </p:cNvSpPr>
          <p:nvPr>
            <p:ph type="title"/>
          </p:nvPr>
        </p:nvSpPr>
        <p:spPr>
          <a:xfrm>
            <a:off x="239713" y="338138"/>
            <a:ext cx="10515600" cy="849312"/>
          </a:xfrm>
        </p:spPr>
        <p:txBody>
          <a:bodyPr>
            <a:noAutofit/>
          </a:bodyPr>
          <a:lstStyle/>
          <a:p>
            <a:r>
              <a:rPr lang="es-ES" sz="2400" b="1" dirty="0">
                <a:latin typeface="Arial" panose="020B0604020202020204" pitchFamily="34" charset="0"/>
                <a:cs typeface="Arial" panose="020B0604020202020204" pitchFamily="34" charset="0"/>
              </a:rPr>
              <a:t>SUMILLAS DE NULIDADES DECLARADAS POR LA GAFA-DCP</a:t>
            </a:r>
            <a:endParaRPr lang="es-PE" sz="24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8852AF54-8147-AA52-4DCF-1C669347D523}"/>
              </a:ext>
            </a:extLst>
          </p:cNvPr>
          <p:cNvGraphicFramePr>
            <a:graphicFrameLocks noGrp="1"/>
          </p:cNvGraphicFramePr>
          <p:nvPr>
            <p:extLst>
              <p:ext uri="{D42A27DB-BD31-4B8C-83A1-F6EECF244321}">
                <p14:modId xmlns:p14="http://schemas.microsoft.com/office/powerpoint/2010/main" val="3640897627"/>
              </p:ext>
            </p:extLst>
          </p:nvPr>
        </p:nvGraphicFramePr>
        <p:xfrm>
          <a:off x="613497" y="1569607"/>
          <a:ext cx="10515600" cy="3421491"/>
        </p:xfrm>
        <a:graphic>
          <a:graphicData uri="http://schemas.openxmlformats.org/drawingml/2006/table">
            <a:tbl>
              <a:tblPr/>
              <a:tblGrid>
                <a:gridCol w="1740860">
                  <a:extLst>
                    <a:ext uri="{9D8B030D-6E8A-4147-A177-3AD203B41FA5}">
                      <a16:colId xmlns:a16="http://schemas.microsoft.com/office/drawing/2014/main" val="3990448159"/>
                    </a:ext>
                  </a:extLst>
                </a:gridCol>
                <a:gridCol w="633955">
                  <a:extLst>
                    <a:ext uri="{9D8B030D-6E8A-4147-A177-3AD203B41FA5}">
                      <a16:colId xmlns:a16="http://schemas.microsoft.com/office/drawing/2014/main" val="677657572"/>
                    </a:ext>
                  </a:extLst>
                </a:gridCol>
                <a:gridCol w="1529542">
                  <a:extLst>
                    <a:ext uri="{9D8B030D-6E8A-4147-A177-3AD203B41FA5}">
                      <a16:colId xmlns:a16="http://schemas.microsoft.com/office/drawing/2014/main" val="2199484021"/>
                    </a:ext>
                  </a:extLst>
                </a:gridCol>
                <a:gridCol w="6611243">
                  <a:extLst>
                    <a:ext uri="{9D8B030D-6E8A-4147-A177-3AD203B41FA5}">
                      <a16:colId xmlns:a16="http://schemas.microsoft.com/office/drawing/2014/main" val="4112902871"/>
                    </a:ext>
                  </a:extLst>
                </a:gridCol>
              </a:tblGrid>
              <a:tr h="317221">
                <a:tc>
                  <a:txBody>
                    <a:bodyPr/>
                    <a:lstStyle/>
                    <a:p>
                      <a:pPr algn="ctr" fontAlgn="b"/>
                      <a:r>
                        <a:rPr lang="es-PE" sz="1200" b="1" i="0" u="none" strike="noStrike" dirty="0">
                          <a:solidFill>
                            <a:srgbClr val="000000"/>
                          </a:solidFill>
                          <a:effectLst/>
                          <a:latin typeface="Calibri" panose="020F0502020204030204" pitchFamily="34" charset="0"/>
                        </a:rPr>
                        <a:t>DEPENDENCIA</a:t>
                      </a:r>
                    </a:p>
                  </a:txBody>
                  <a:tcPr marL="5031" marR="5031" marT="503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s-PE" sz="1200" b="1" i="0" u="none" strike="noStrike">
                          <a:solidFill>
                            <a:srgbClr val="000000"/>
                          </a:solidFill>
                          <a:effectLst/>
                          <a:latin typeface="Calibri" panose="020F0502020204030204" pitchFamily="34" charset="0"/>
                        </a:rPr>
                        <a:t>MES</a:t>
                      </a:r>
                    </a:p>
                  </a:txBody>
                  <a:tcPr marL="5031" marR="5031" marT="503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s-PE" sz="1200" b="1" i="0" u="none" strike="noStrike" dirty="0" err="1">
                          <a:solidFill>
                            <a:srgbClr val="000000"/>
                          </a:solidFill>
                          <a:effectLst/>
                          <a:latin typeface="Calibri" panose="020F0502020204030204" pitchFamily="34" charset="0"/>
                        </a:rPr>
                        <a:t>N°</a:t>
                      </a:r>
                      <a:r>
                        <a:rPr lang="es-PE" sz="1200" b="1" i="0" u="none" strike="noStrike" dirty="0">
                          <a:solidFill>
                            <a:srgbClr val="000000"/>
                          </a:solidFill>
                          <a:effectLst/>
                          <a:latin typeface="Calibri" panose="020F0502020204030204" pitchFamily="34" charset="0"/>
                        </a:rPr>
                        <a:t> RI</a:t>
                      </a:r>
                    </a:p>
                  </a:txBody>
                  <a:tcPr marL="5031" marR="5031" marT="503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s-PE" sz="1200" b="1" i="0" u="none" strike="noStrike" dirty="0">
                          <a:solidFill>
                            <a:srgbClr val="000000"/>
                          </a:solidFill>
                          <a:effectLst/>
                          <a:latin typeface="Calibri" panose="020F0502020204030204" pitchFamily="34" charset="0"/>
                        </a:rPr>
                        <a:t>SUMILLA MOTIVO REVOCA/NULA</a:t>
                      </a:r>
                    </a:p>
                  </a:txBody>
                  <a:tcPr marL="5031" marR="5031" marT="503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300962914"/>
                  </a:ext>
                </a:extLst>
              </a:tr>
              <a:tr h="1552135">
                <a:tc>
                  <a:txBody>
                    <a:bodyPr/>
                    <a:lstStyle/>
                    <a:p>
                      <a:pPr algn="l" fontAlgn="ctr"/>
                      <a:r>
                        <a:rPr lang="es-ES" sz="1200" b="0" i="0" u="none" strike="noStrike" dirty="0">
                          <a:solidFill>
                            <a:srgbClr val="000000"/>
                          </a:solidFill>
                          <a:effectLst/>
                          <a:latin typeface="Calibri" panose="020F0502020204030204" pitchFamily="34" charset="0"/>
                        </a:rPr>
                        <a:t>INCA </a:t>
                      </a:r>
                      <a:endParaRPr lang="es-PE" sz="1200" b="0" i="0" u="none" strike="noStrike" dirty="0">
                        <a:solidFill>
                          <a:srgbClr val="000000"/>
                        </a:solidFill>
                        <a:effectLst/>
                        <a:latin typeface="Calibri" panose="020F0502020204030204" pitchFamily="34" charset="0"/>
                      </a:endParaRP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MARZO</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panose="020F0502020204030204" pitchFamily="34" charset="0"/>
                        </a:rPr>
                        <a:t>4090140007353</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1200" b="0" i="0" u="none" strike="noStrike" dirty="0">
                          <a:solidFill>
                            <a:srgbClr val="000000"/>
                          </a:solidFill>
                          <a:effectLst/>
                          <a:latin typeface="Calibri" panose="020F0502020204030204" pitchFamily="34" charset="0"/>
                        </a:rPr>
                        <a:t>Se deja sin efecto resolución de la Division de Recaudación Aduanera de la INCA que declara inadmisibilidad solicitudes de devolución,  considerando que solicitudes de devolución deben tramitarse como reclamo conforme el artículo 157 de la LGA, al existir controversia sobre si existe o no condición de  venta para la realización del ajuste de valor. Empresa se autoliquidó y se dio por culminado el proceso de fiscalización que notificó la duda razonable por mandato judicial.</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9662275"/>
                  </a:ext>
                </a:extLst>
              </a:tr>
              <a:tr h="1552135">
                <a:tc>
                  <a:txBody>
                    <a:bodyPr/>
                    <a:lstStyle/>
                    <a:p>
                      <a:pPr algn="l" fontAlgn="ctr"/>
                      <a:r>
                        <a:rPr lang="es-PE" sz="1200" b="0" i="0" u="none" strike="noStrike" dirty="0">
                          <a:solidFill>
                            <a:srgbClr val="000000"/>
                          </a:solidFill>
                          <a:effectLst/>
                          <a:latin typeface="Calibri" panose="020F0502020204030204" pitchFamily="34" charset="0"/>
                        </a:rPr>
                        <a:t>INCA </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panose="020F0502020204030204" pitchFamily="34" charset="0"/>
                        </a:rPr>
                        <a:t>MARZO</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panose="020F0502020204030204" pitchFamily="34" charset="0"/>
                        </a:rPr>
                        <a:t>4090140007354</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1200" b="0" i="0" u="none" strike="noStrike" dirty="0">
                          <a:solidFill>
                            <a:srgbClr val="000000"/>
                          </a:solidFill>
                          <a:effectLst/>
                          <a:latin typeface="Calibri" panose="020F0502020204030204" pitchFamily="34" charset="0"/>
                        </a:rPr>
                        <a:t>Se deja sin efecto resolución de la Division de Recaudación Aduanera de la INCA que declara inadmisibilidad solicitudes de devolución,  considerando que solicitudes de devolución deben tramitarse como reclamo conforme el artículo 157 de la LGA, al existir controversia sobre si existe o no condición de venta para la realización del ajuste de valor.  Empresa se autoliquidó y se dio por culminado el proceso de fiscalización que notificó la duda razonable </a:t>
                      </a:r>
                      <a:r>
                        <a:rPr lang="es-ES" sz="1200" b="0" i="0" u="none" strike="noStrike" dirty="0" err="1">
                          <a:solidFill>
                            <a:srgbClr val="000000"/>
                          </a:solidFill>
                          <a:effectLst/>
                          <a:latin typeface="Calibri" panose="020F0502020204030204" pitchFamily="34" charset="0"/>
                        </a:rPr>
                        <a:t>po</a:t>
                      </a:r>
                      <a:r>
                        <a:rPr lang="es-ES" sz="1200" b="0" i="0" u="none" strike="noStrike" dirty="0">
                          <a:solidFill>
                            <a:srgbClr val="000000"/>
                          </a:solidFill>
                          <a:effectLst/>
                          <a:latin typeface="Calibri" panose="020F0502020204030204" pitchFamily="34" charset="0"/>
                        </a:rPr>
                        <a:t> </a:t>
                      </a:r>
                      <a:r>
                        <a:rPr lang="es-ES" sz="1200" b="0" i="0" u="none" strike="noStrike" dirty="0" err="1">
                          <a:solidFill>
                            <a:srgbClr val="000000"/>
                          </a:solidFill>
                          <a:effectLst/>
                          <a:latin typeface="Calibri" panose="020F0502020204030204" pitchFamily="34" charset="0"/>
                        </a:rPr>
                        <a:t>rmandato</a:t>
                      </a:r>
                      <a:r>
                        <a:rPr lang="es-ES" sz="1200" b="0" i="0" u="none" strike="noStrike" dirty="0">
                          <a:solidFill>
                            <a:srgbClr val="000000"/>
                          </a:solidFill>
                          <a:effectLst/>
                          <a:latin typeface="Calibri" panose="020F0502020204030204" pitchFamily="34" charset="0"/>
                        </a:rPr>
                        <a:t> judicial.</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5740612"/>
                  </a:ext>
                </a:extLst>
              </a:tr>
            </a:tbl>
          </a:graphicData>
        </a:graphic>
      </p:graphicFrame>
    </p:spTree>
    <p:extLst>
      <p:ext uri="{BB962C8B-B14F-4D97-AF65-F5344CB8AC3E}">
        <p14:creationId xmlns:p14="http://schemas.microsoft.com/office/powerpoint/2010/main" val="28597235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OPORTUNIDAD DE MEJORA</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4" name="Gráfico 3">
            <a:extLst>
              <a:ext uri="{FF2B5EF4-FFF2-40B4-BE49-F238E27FC236}">
                <a16:creationId xmlns:a16="http://schemas.microsoft.com/office/drawing/2014/main" id="{B31EA813-B8F6-C57D-8F96-0686A481EB8B}"/>
              </a:ext>
            </a:extLst>
          </p:cNvPr>
          <p:cNvGraphicFramePr>
            <a:graphicFrameLocks/>
          </p:cNvGraphicFramePr>
          <p:nvPr>
            <p:extLst>
              <p:ext uri="{D42A27DB-BD31-4B8C-83A1-F6EECF244321}">
                <p14:modId xmlns:p14="http://schemas.microsoft.com/office/powerpoint/2010/main" val="3977856105"/>
              </p:ext>
            </p:extLst>
          </p:nvPr>
        </p:nvGraphicFramePr>
        <p:xfrm>
          <a:off x="567336" y="1187962"/>
          <a:ext cx="10239375" cy="324349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a 5">
            <a:extLst>
              <a:ext uri="{FF2B5EF4-FFF2-40B4-BE49-F238E27FC236}">
                <a16:creationId xmlns:a16="http://schemas.microsoft.com/office/drawing/2014/main" id="{645F0F7F-91F6-E1DE-93C2-205FAFF61B12}"/>
              </a:ext>
            </a:extLst>
          </p:cNvPr>
          <p:cNvGraphicFramePr>
            <a:graphicFrameLocks noGrp="1"/>
          </p:cNvGraphicFramePr>
          <p:nvPr>
            <p:extLst>
              <p:ext uri="{D42A27DB-BD31-4B8C-83A1-F6EECF244321}">
                <p14:modId xmlns:p14="http://schemas.microsoft.com/office/powerpoint/2010/main" val="1473467996"/>
              </p:ext>
            </p:extLst>
          </p:nvPr>
        </p:nvGraphicFramePr>
        <p:xfrm>
          <a:off x="4163023" y="4618231"/>
          <a:ext cx="3048000" cy="1927758"/>
        </p:xfrm>
        <a:graphic>
          <a:graphicData uri="http://schemas.openxmlformats.org/drawingml/2006/table">
            <a:tbl>
              <a:tblPr>
                <a:tableStyleId>{5DA37D80-6434-44D0-A028-1B22A696006F}</a:tableStyleId>
              </a:tblPr>
              <a:tblGrid>
                <a:gridCol w="1294356">
                  <a:extLst>
                    <a:ext uri="{9D8B030D-6E8A-4147-A177-3AD203B41FA5}">
                      <a16:colId xmlns:a16="http://schemas.microsoft.com/office/drawing/2014/main" val="4122274139"/>
                    </a:ext>
                  </a:extLst>
                </a:gridCol>
                <a:gridCol w="876822">
                  <a:extLst>
                    <a:ext uri="{9D8B030D-6E8A-4147-A177-3AD203B41FA5}">
                      <a16:colId xmlns:a16="http://schemas.microsoft.com/office/drawing/2014/main" val="1382003201"/>
                    </a:ext>
                  </a:extLst>
                </a:gridCol>
                <a:gridCol w="876822">
                  <a:extLst>
                    <a:ext uri="{9D8B030D-6E8A-4147-A177-3AD203B41FA5}">
                      <a16:colId xmlns:a16="http://schemas.microsoft.com/office/drawing/2014/main" val="587845490"/>
                    </a:ext>
                  </a:extLst>
                </a:gridCol>
              </a:tblGrid>
              <a:tr h="189605">
                <a:tc>
                  <a:txBody>
                    <a:bodyPr/>
                    <a:lstStyle/>
                    <a:p>
                      <a:pPr algn="ctr" fontAlgn="ctr"/>
                      <a:r>
                        <a:rPr lang="es-PE" sz="1400" b="1" u="none" strike="noStrike" dirty="0">
                          <a:solidFill>
                            <a:sysClr val="windowText" lastClr="000000"/>
                          </a:solidFill>
                          <a:effectLst/>
                        </a:rPr>
                        <a:t>ESTADO</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tc>
                  <a:txBody>
                    <a:bodyPr/>
                    <a:lstStyle/>
                    <a:p>
                      <a:pPr algn="ctr" fontAlgn="ctr"/>
                      <a:r>
                        <a:rPr lang="es-PE" sz="1400" b="1" u="none" strike="noStrike" dirty="0">
                          <a:solidFill>
                            <a:sysClr val="windowText" lastClr="000000"/>
                          </a:solidFill>
                          <a:effectLst/>
                        </a:rPr>
                        <a:t>Total</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tc>
                  <a:txBody>
                    <a:bodyPr/>
                    <a:lstStyle/>
                    <a:p>
                      <a:pPr algn="ctr" fontAlgn="ctr"/>
                      <a:r>
                        <a:rPr lang="es-PE" sz="1400" b="1" u="none" strike="noStrike" dirty="0">
                          <a:solidFill>
                            <a:sysClr val="windowText" lastClr="000000"/>
                          </a:solidFill>
                          <a:effectLst/>
                        </a:rPr>
                        <a:t>Porcentaje</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extLst>
                  <a:ext uri="{0D108BD9-81ED-4DB2-BD59-A6C34878D82A}">
                    <a16:rowId xmlns:a16="http://schemas.microsoft.com/office/drawing/2014/main" val="2309498888"/>
                  </a:ext>
                </a:extLst>
              </a:tr>
              <a:tr h="250173">
                <a:tc>
                  <a:txBody>
                    <a:bodyPr/>
                    <a:lstStyle/>
                    <a:p>
                      <a:pPr algn="l" fontAlgn="ctr"/>
                      <a:r>
                        <a:rPr lang="es-PE" sz="1600" b="1" u="none" strike="noStrike">
                          <a:solidFill>
                            <a:srgbClr val="000000"/>
                          </a:solidFill>
                          <a:effectLst/>
                        </a:rPr>
                        <a:t>Infundado</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4740</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87.24%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27574320"/>
                  </a:ext>
                </a:extLst>
              </a:tr>
              <a:tr h="250173">
                <a:tc>
                  <a:txBody>
                    <a:bodyPr/>
                    <a:lstStyle/>
                    <a:p>
                      <a:pPr algn="l" fontAlgn="ctr"/>
                      <a:r>
                        <a:rPr lang="es-PE" sz="1600" b="1" u="none" strike="noStrike">
                          <a:solidFill>
                            <a:srgbClr val="000000"/>
                          </a:solidFill>
                          <a:effectLst/>
                        </a:rPr>
                        <a:t>Fundado/F.P</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211</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3.88%</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17111707"/>
                  </a:ext>
                </a:extLst>
              </a:tr>
              <a:tr h="250173">
                <a:tc>
                  <a:txBody>
                    <a:bodyPr/>
                    <a:lstStyle/>
                    <a:p>
                      <a:pPr algn="l" fontAlgn="ctr"/>
                      <a:r>
                        <a:rPr lang="es-PE" sz="1600" b="1" u="none" strike="noStrike">
                          <a:solidFill>
                            <a:srgbClr val="000000"/>
                          </a:solidFill>
                          <a:effectLst/>
                        </a:rPr>
                        <a:t>Nulidad</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404</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7.44%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59762901"/>
                  </a:ext>
                </a:extLst>
              </a:tr>
              <a:tr h="250173">
                <a:tc>
                  <a:txBody>
                    <a:bodyPr/>
                    <a:lstStyle/>
                    <a:p>
                      <a:pPr algn="l" fontAlgn="ctr"/>
                      <a:r>
                        <a:rPr lang="es-PE" sz="1600" b="1" u="none" strike="noStrike">
                          <a:solidFill>
                            <a:srgbClr val="000000"/>
                          </a:solidFill>
                          <a:effectLst/>
                        </a:rPr>
                        <a:t>Improcedente</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dirty="0">
                          <a:solidFill>
                            <a:srgbClr val="000000"/>
                          </a:solidFill>
                          <a:effectLst/>
                        </a:rPr>
                        <a:t>8</a:t>
                      </a:r>
                      <a:endParaRPr lang="es-PE" sz="1400" b="1" i="0" u="none" strike="noStrike" dirty="0">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0.15%</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1319216"/>
                  </a:ext>
                </a:extLst>
              </a:tr>
              <a:tr h="250173">
                <a:tc>
                  <a:txBody>
                    <a:bodyPr/>
                    <a:lstStyle/>
                    <a:p>
                      <a:pPr algn="l" fontAlgn="ctr"/>
                      <a:r>
                        <a:rPr lang="es-PE" sz="1600" b="1" u="none" strike="noStrike">
                          <a:solidFill>
                            <a:srgbClr val="000000"/>
                          </a:solidFill>
                          <a:effectLst/>
                        </a:rPr>
                        <a:t>Desistimiento</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0.07%</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96137711"/>
                  </a:ext>
                </a:extLst>
              </a:tr>
              <a:tr h="250173">
                <a:tc>
                  <a:txBody>
                    <a:bodyPr/>
                    <a:lstStyle/>
                    <a:p>
                      <a:pPr algn="l" fontAlgn="ctr"/>
                      <a:r>
                        <a:rPr lang="es-PE" sz="1600" b="1" u="none" strike="noStrike">
                          <a:solidFill>
                            <a:srgbClr val="000000"/>
                          </a:solidFill>
                          <a:effectLst/>
                        </a:rPr>
                        <a:t>Otros</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66</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1.21%</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72302321"/>
                  </a:ext>
                </a:extLst>
              </a:tr>
              <a:tr h="210672">
                <a:tc>
                  <a:txBody>
                    <a:bodyPr/>
                    <a:lstStyle/>
                    <a:p>
                      <a:pPr algn="l" fontAlgn="ctr"/>
                      <a:r>
                        <a:rPr lang="es-PE" sz="1400" b="1" u="none" strike="noStrike">
                          <a:solidFill>
                            <a:srgbClr val="000000"/>
                          </a:solidFill>
                          <a:effectLst/>
                        </a:rPr>
                        <a:t>Total</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5433</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dirty="0">
                          <a:solidFill>
                            <a:srgbClr val="000000"/>
                          </a:solidFill>
                          <a:effectLst/>
                        </a:rPr>
                        <a:t>100.00%</a:t>
                      </a:r>
                      <a:endParaRPr lang="es-PE" sz="1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1610975"/>
                  </a:ext>
                </a:extLst>
              </a:tr>
            </a:tbl>
          </a:graphicData>
        </a:graphic>
      </p:graphicFrame>
    </p:spTree>
    <p:extLst>
      <p:ext uri="{BB962C8B-B14F-4D97-AF65-F5344CB8AC3E}">
        <p14:creationId xmlns:p14="http://schemas.microsoft.com/office/powerpoint/2010/main" val="988800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OPORTUNIDAD DE MEJORA</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3" name="Gráfico 2">
            <a:extLst>
              <a:ext uri="{FF2B5EF4-FFF2-40B4-BE49-F238E27FC236}">
                <a16:creationId xmlns:a16="http://schemas.microsoft.com/office/drawing/2014/main" id="{63324CF6-22F2-DDF0-1806-8EAD87496C1B}"/>
              </a:ext>
            </a:extLst>
          </p:cNvPr>
          <p:cNvGraphicFramePr>
            <a:graphicFrameLocks/>
          </p:cNvGraphicFramePr>
          <p:nvPr>
            <p:extLst>
              <p:ext uri="{D42A27DB-BD31-4B8C-83A1-F6EECF244321}">
                <p14:modId xmlns:p14="http://schemas.microsoft.com/office/powerpoint/2010/main" val="793450632"/>
              </p:ext>
            </p:extLst>
          </p:nvPr>
        </p:nvGraphicFramePr>
        <p:xfrm>
          <a:off x="423192" y="1111406"/>
          <a:ext cx="10626847" cy="306158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a 5">
            <a:extLst>
              <a:ext uri="{FF2B5EF4-FFF2-40B4-BE49-F238E27FC236}">
                <a16:creationId xmlns:a16="http://schemas.microsoft.com/office/drawing/2014/main" id="{C8367E05-A6BA-F64C-FC77-6E25B8986E41}"/>
              </a:ext>
            </a:extLst>
          </p:cNvPr>
          <p:cNvGraphicFramePr>
            <a:graphicFrameLocks noGrp="1"/>
          </p:cNvGraphicFramePr>
          <p:nvPr>
            <p:extLst>
              <p:ext uri="{D42A27DB-BD31-4B8C-83A1-F6EECF244321}">
                <p14:modId xmlns:p14="http://schemas.microsoft.com/office/powerpoint/2010/main" val="3190847347"/>
              </p:ext>
            </p:extLst>
          </p:nvPr>
        </p:nvGraphicFramePr>
        <p:xfrm>
          <a:off x="423192" y="4265522"/>
          <a:ext cx="2604487" cy="2438402"/>
        </p:xfrm>
        <a:graphic>
          <a:graphicData uri="http://schemas.openxmlformats.org/drawingml/2006/table">
            <a:tbl>
              <a:tblPr firstRow="1" firstCol="1" bandRow="1"/>
              <a:tblGrid>
                <a:gridCol w="873453">
                  <a:extLst>
                    <a:ext uri="{9D8B030D-6E8A-4147-A177-3AD203B41FA5}">
                      <a16:colId xmlns:a16="http://schemas.microsoft.com/office/drawing/2014/main" val="1686963227"/>
                    </a:ext>
                  </a:extLst>
                </a:gridCol>
                <a:gridCol w="865517">
                  <a:extLst>
                    <a:ext uri="{9D8B030D-6E8A-4147-A177-3AD203B41FA5}">
                      <a16:colId xmlns:a16="http://schemas.microsoft.com/office/drawing/2014/main" val="164123852"/>
                    </a:ext>
                  </a:extLst>
                </a:gridCol>
                <a:gridCol w="865517">
                  <a:extLst>
                    <a:ext uri="{9D8B030D-6E8A-4147-A177-3AD203B41FA5}">
                      <a16:colId xmlns:a16="http://schemas.microsoft.com/office/drawing/2014/main" val="4252558311"/>
                    </a:ext>
                  </a:extLst>
                </a:gridCol>
              </a:tblGrid>
              <a:tr h="439697">
                <a:tc>
                  <a:txBody>
                    <a:bodyPr/>
                    <a:lstStyle/>
                    <a:p>
                      <a:pPr algn="ctr"/>
                      <a:r>
                        <a:rPr lang="es-PE" sz="1050" b="1" dirty="0">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ESTADO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Total</a:t>
                      </a:r>
                      <a:endParaRPr lang="es-PE"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Porcentaje</a:t>
                      </a:r>
                      <a:endParaRPr lang="es-PE"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extLst>
                  <a:ext uri="{0D108BD9-81ED-4DB2-BD59-A6C34878D82A}">
                    <a16:rowId xmlns:a16="http://schemas.microsoft.com/office/drawing/2014/main" val="2109774381"/>
                  </a:ext>
                </a:extLst>
              </a:tr>
              <a:tr h="221376">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Infundado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969</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89.72%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1473417804"/>
                  </a:ext>
                </a:extLst>
              </a:tr>
              <a:tr h="371067">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Fundado / F.P</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29</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2.69%</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811766697"/>
                  </a:ext>
                </a:extLst>
              </a:tr>
              <a:tr h="221376">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Nulidad</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60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5.56%</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902813794"/>
                  </a:ext>
                </a:extLst>
              </a:tr>
              <a:tr h="371067">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Improcedente</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r"/>
                      <a:r>
                        <a:rPr lang="es-PE"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r"/>
                      <a:r>
                        <a:rPr lang="es-PE"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0.00%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794638817"/>
                  </a:ext>
                </a:extLst>
              </a:tr>
              <a:tr h="371067">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Desistimiento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0.09%</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3928559859"/>
                  </a:ext>
                </a:extLst>
              </a:tr>
              <a:tr h="221376">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Otros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125970851"/>
                  </a:ext>
                </a:extLst>
              </a:tr>
              <a:tr h="221376">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TOTAL</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1080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r"/>
                      <a:r>
                        <a:rPr lang="es-PE"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100.00%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828734499"/>
                  </a:ext>
                </a:extLst>
              </a:tr>
            </a:tbl>
          </a:graphicData>
        </a:graphic>
      </p:graphicFrame>
      <p:graphicFrame>
        <p:nvGraphicFramePr>
          <p:cNvPr id="7" name="Tabla 6">
            <a:extLst>
              <a:ext uri="{FF2B5EF4-FFF2-40B4-BE49-F238E27FC236}">
                <a16:creationId xmlns:a16="http://schemas.microsoft.com/office/drawing/2014/main" id="{1883E0D7-950F-7FFC-80E9-3259A189F823}"/>
              </a:ext>
            </a:extLst>
          </p:cNvPr>
          <p:cNvGraphicFramePr>
            <a:graphicFrameLocks noGrp="1"/>
          </p:cNvGraphicFramePr>
          <p:nvPr>
            <p:extLst>
              <p:ext uri="{D42A27DB-BD31-4B8C-83A1-F6EECF244321}">
                <p14:modId xmlns:p14="http://schemas.microsoft.com/office/powerpoint/2010/main" val="1111889695"/>
              </p:ext>
            </p:extLst>
          </p:nvPr>
        </p:nvGraphicFramePr>
        <p:xfrm>
          <a:off x="3165877" y="4290468"/>
          <a:ext cx="7884162" cy="2438400"/>
        </p:xfrm>
        <a:graphic>
          <a:graphicData uri="http://schemas.openxmlformats.org/drawingml/2006/table">
            <a:tbl>
              <a:tblPr firstRow="1" firstCol="1" bandRow="1"/>
              <a:tblGrid>
                <a:gridCol w="716742">
                  <a:extLst>
                    <a:ext uri="{9D8B030D-6E8A-4147-A177-3AD203B41FA5}">
                      <a16:colId xmlns:a16="http://schemas.microsoft.com/office/drawing/2014/main" val="4105813593"/>
                    </a:ext>
                  </a:extLst>
                </a:gridCol>
                <a:gridCol w="716742">
                  <a:extLst>
                    <a:ext uri="{9D8B030D-6E8A-4147-A177-3AD203B41FA5}">
                      <a16:colId xmlns:a16="http://schemas.microsoft.com/office/drawing/2014/main" val="4238957158"/>
                    </a:ext>
                  </a:extLst>
                </a:gridCol>
                <a:gridCol w="716742">
                  <a:extLst>
                    <a:ext uri="{9D8B030D-6E8A-4147-A177-3AD203B41FA5}">
                      <a16:colId xmlns:a16="http://schemas.microsoft.com/office/drawing/2014/main" val="2157927079"/>
                    </a:ext>
                  </a:extLst>
                </a:gridCol>
                <a:gridCol w="716742">
                  <a:extLst>
                    <a:ext uri="{9D8B030D-6E8A-4147-A177-3AD203B41FA5}">
                      <a16:colId xmlns:a16="http://schemas.microsoft.com/office/drawing/2014/main" val="3061587117"/>
                    </a:ext>
                  </a:extLst>
                </a:gridCol>
                <a:gridCol w="716742">
                  <a:extLst>
                    <a:ext uri="{9D8B030D-6E8A-4147-A177-3AD203B41FA5}">
                      <a16:colId xmlns:a16="http://schemas.microsoft.com/office/drawing/2014/main" val="2228714572"/>
                    </a:ext>
                  </a:extLst>
                </a:gridCol>
                <a:gridCol w="716742">
                  <a:extLst>
                    <a:ext uri="{9D8B030D-6E8A-4147-A177-3AD203B41FA5}">
                      <a16:colId xmlns:a16="http://schemas.microsoft.com/office/drawing/2014/main" val="2531718189"/>
                    </a:ext>
                  </a:extLst>
                </a:gridCol>
                <a:gridCol w="716742">
                  <a:extLst>
                    <a:ext uri="{9D8B030D-6E8A-4147-A177-3AD203B41FA5}">
                      <a16:colId xmlns:a16="http://schemas.microsoft.com/office/drawing/2014/main" val="68257077"/>
                    </a:ext>
                  </a:extLst>
                </a:gridCol>
                <a:gridCol w="716742">
                  <a:extLst>
                    <a:ext uri="{9D8B030D-6E8A-4147-A177-3AD203B41FA5}">
                      <a16:colId xmlns:a16="http://schemas.microsoft.com/office/drawing/2014/main" val="1489147444"/>
                    </a:ext>
                  </a:extLst>
                </a:gridCol>
                <a:gridCol w="716742">
                  <a:extLst>
                    <a:ext uri="{9D8B030D-6E8A-4147-A177-3AD203B41FA5}">
                      <a16:colId xmlns:a16="http://schemas.microsoft.com/office/drawing/2014/main" val="1241165266"/>
                    </a:ext>
                  </a:extLst>
                </a:gridCol>
                <a:gridCol w="716742">
                  <a:extLst>
                    <a:ext uri="{9D8B030D-6E8A-4147-A177-3AD203B41FA5}">
                      <a16:colId xmlns:a16="http://schemas.microsoft.com/office/drawing/2014/main" val="4197366162"/>
                    </a:ext>
                  </a:extLst>
                </a:gridCol>
                <a:gridCol w="716742">
                  <a:extLst>
                    <a:ext uri="{9D8B030D-6E8A-4147-A177-3AD203B41FA5}">
                      <a16:colId xmlns:a16="http://schemas.microsoft.com/office/drawing/2014/main" val="4054452720"/>
                    </a:ext>
                  </a:extLst>
                </a:gridCol>
              </a:tblGrid>
              <a:tr h="240497">
                <a:tc rowSpan="2">
                  <a:txBody>
                    <a:bodyPr/>
                    <a:lstStyle/>
                    <a:p>
                      <a:pPr algn="ctr"/>
                      <a:r>
                        <a:rPr lang="es-PE"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gridSpan="3">
                  <a:txBody>
                    <a:bodyPr/>
                    <a:lstStyle/>
                    <a:p>
                      <a:pPr algn="ctr"/>
                      <a:r>
                        <a:rPr lang="es-PE" sz="12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ENERO</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endParaRPr lang="es-PE"/>
                    </a:p>
                  </a:txBody>
                  <a:tcPr/>
                </a:tc>
                <a:tc hMerge="1">
                  <a:txBody>
                    <a:bodyPr/>
                    <a:lstStyle/>
                    <a:p>
                      <a:endParaRPr lang="es-PE"/>
                    </a:p>
                  </a:txBody>
                  <a:tcPr/>
                </a:tc>
                <a:tc gridSpan="3">
                  <a:txBody>
                    <a:bodyPr/>
                    <a:lstStyle/>
                    <a:p>
                      <a:pPr algn="ctr"/>
                      <a:r>
                        <a:rPr lang="es-PE" sz="120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FEBRERO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endParaRPr lang="es-PE"/>
                    </a:p>
                  </a:txBody>
                  <a:tcPr/>
                </a:tc>
                <a:tc hMerge="1">
                  <a:txBody>
                    <a:bodyPr/>
                    <a:lstStyle/>
                    <a:p>
                      <a:endParaRPr lang="es-PE"/>
                    </a:p>
                  </a:txBody>
                  <a:tcPr/>
                </a:tc>
                <a:tc gridSpan="3">
                  <a:txBody>
                    <a:bodyPr/>
                    <a:lstStyle/>
                    <a:p>
                      <a:pPr algn="ctr"/>
                      <a:r>
                        <a:rPr lang="es-PE" sz="120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MARZO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hMerge="1">
                  <a:txBody>
                    <a:bodyPr/>
                    <a:lstStyle/>
                    <a:p>
                      <a:endParaRPr lang="es-PE"/>
                    </a:p>
                  </a:txBody>
                  <a:tcPr/>
                </a:tc>
                <a:tc hMerge="1">
                  <a:txBody>
                    <a:bodyPr/>
                    <a:lstStyle/>
                    <a:p>
                      <a:endParaRPr lang="es-PE"/>
                    </a:p>
                  </a:txBody>
                  <a:tcPr/>
                </a:tc>
                <a:tc>
                  <a:txBody>
                    <a:bodyPr/>
                    <a:lstStyle/>
                    <a:p>
                      <a:endParaRPr lang="es-PE" sz="1600" dirty="0">
                        <a:effectLst/>
                        <a:latin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extLst>
                  <a:ext uri="{0D108BD9-81ED-4DB2-BD59-A6C34878D82A}">
                    <a16:rowId xmlns:a16="http://schemas.microsoft.com/office/drawing/2014/main" val="3586470851"/>
                  </a:ext>
                </a:extLst>
              </a:tr>
              <a:tr h="180373">
                <a:tc vMerge="1">
                  <a:txBody>
                    <a:bodyPr/>
                    <a:lstStyle/>
                    <a:p>
                      <a:endParaRPr lang="es-PE"/>
                    </a:p>
                  </a:txBody>
                  <a:tcPr/>
                </a:tc>
                <a:tc>
                  <a:txBody>
                    <a:bodyPr/>
                    <a:lstStyle/>
                    <a:p>
                      <a:pPr algn="ctr"/>
                      <a:r>
                        <a:rPr lang="es-PE" sz="120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DCCII</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DCP</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DCCII</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DCP</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DCCII</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DCP</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TOTAL</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1449680717"/>
                  </a:ext>
                </a:extLst>
              </a:tr>
              <a:tr h="360746">
                <a:tc>
                  <a:txBody>
                    <a:bodyPr/>
                    <a:lstStyle/>
                    <a:p>
                      <a:pPr algn="ctr"/>
                      <a:r>
                        <a:rPr lang="es-PE" sz="120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Infundado</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255</a:t>
                      </a:r>
                      <a:endParaRPr lang="es-P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75</a:t>
                      </a:r>
                      <a:endParaRPr lang="es-P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14</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236</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78</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17</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206</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18</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969</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701575571"/>
                  </a:ext>
                </a:extLst>
              </a:tr>
              <a:tr h="360746">
                <a:tc>
                  <a:txBody>
                    <a:bodyPr/>
                    <a:lstStyle/>
                    <a:p>
                      <a:pPr algn="ctr"/>
                      <a:r>
                        <a:rPr lang="es-PE" sz="120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Fundado / F.P</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5</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2</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16</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29</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4188786604"/>
                  </a:ext>
                </a:extLst>
              </a:tr>
              <a:tr h="180373">
                <a:tc>
                  <a:txBody>
                    <a:bodyPr/>
                    <a:lstStyle/>
                    <a:p>
                      <a:pPr algn="ctr"/>
                      <a:r>
                        <a:rPr lang="es-PE" sz="120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Nulidad</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16</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3</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9</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25</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3</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a:t>
                      </a:r>
                      <a:endParaRPr lang="es-P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60</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3682196660"/>
                  </a:ext>
                </a:extLst>
              </a:tr>
              <a:tr h="360746">
                <a:tc>
                  <a:txBody>
                    <a:bodyPr/>
                    <a:lstStyle/>
                    <a:p>
                      <a:pPr algn="ctr"/>
                      <a:r>
                        <a:rPr lang="es-PE" sz="120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Improcedente</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3639372174"/>
                  </a:ext>
                </a:extLst>
              </a:tr>
              <a:tr h="360746">
                <a:tc>
                  <a:txBody>
                    <a:bodyPr/>
                    <a:lstStyle/>
                    <a:p>
                      <a:pPr algn="ctr"/>
                      <a:r>
                        <a:rPr lang="es-PE" sz="120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Desistimiento </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3318708488"/>
                  </a:ext>
                </a:extLst>
              </a:tr>
              <a:tr h="180373">
                <a:tc>
                  <a:txBody>
                    <a:bodyPr/>
                    <a:lstStyle/>
                    <a:p>
                      <a:pPr algn="ctr"/>
                      <a:r>
                        <a:rPr lang="es-PE" sz="120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Otros </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9</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4</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0</a:t>
                      </a:r>
                      <a:endParaRPr lang="es-P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0</a:t>
                      </a:r>
                      <a:endParaRPr lang="es-P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21</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27754453"/>
                  </a:ext>
                </a:extLst>
              </a:tr>
              <a:tr h="180373">
                <a:tc>
                  <a:txBody>
                    <a:bodyPr/>
                    <a:lstStyle/>
                    <a:p>
                      <a:pPr algn="ctr"/>
                      <a:r>
                        <a:rPr lang="es-PE" sz="120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TOTAL</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285</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79</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19</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262</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83</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19</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236</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77</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20</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20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1080</a:t>
                      </a:r>
                      <a:endParaRPr lang="es-PE"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964130000"/>
                  </a:ext>
                </a:extLst>
              </a:tr>
            </a:tbl>
          </a:graphicData>
        </a:graphic>
      </p:graphicFrame>
    </p:spTree>
    <p:extLst>
      <p:ext uri="{BB962C8B-B14F-4D97-AF65-F5344CB8AC3E}">
        <p14:creationId xmlns:p14="http://schemas.microsoft.com/office/powerpoint/2010/main" val="2659690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772892"/>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DESAFIOS/PROPUESTAS </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024E81CA-E15C-F5EE-DC7A-2237FDCAEE51}"/>
              </a:ext>
            </a:extLst>
          </p:cNvPr>
          <p:cNvGraphicFramePr>
            <a:graphicFrameLocks noGrp="1"/>
          </p:cNvGraphicFramePr>
          <p:nvPr>
            <p:extLst>
              <p:ext uri="{D42A27DB-BD31-4B8C-83A1-F6EECF244321}">
                <p14:modId xmlns:p14="http://schemas.microsoft.com/office/powerpoint/2010/main" val="231332822"/>
              </p:ext>
            </p:extLst>
          </p:nvPr>
        </p:nvGraphicFramePr>
        <p:xfrm>
          <a:off x="338927" y="788611"/>
          <a:ext cx="11514146" cy="6341469"/>
        </p:xfrm>
        <a:graphic>
          <a:graphicData uri="http://schemas.openxmlformats.org/drawingml/2006/table">
            <a:tbl>
              <a:tblPr firstRow="1" firstCol="1" bandRow="1"/>
              <a:tblGrid>
                <a:gridCol w="3028182">
                  <a:extLst>
                    <a:ext uri="{9D8B030D-6E8A-4147-A177-3AD203B41FA5}">
                      <a16:colId xmlns:a16="http://schemas.microsoft.com/office/drawing/2014/main" val="4249395483"/>
                    </a:ext>
                  </a:extLst>
                </a:gridCol>
                <a:gridCol w="4460839">
                  <a:extLst>
                    <a:ext uri="{9D8B030D-6E8A-4147-A177-3AD203B41FA5}">
                      <a16:colId xmlns:a16="http://schemas.microsoft.com/office/drawing/2014/main" val="972088636"/>
                    </a:ext>
                  </a:extLst>
                </a:gridCol>
                <a:gridCol w="4025125">
                  <a:extLst>
                    <a:ext uri="{9D8B030D-6E8A-4147-A177-3AD203B41FA5}">
                      <a16:colId xmlns:a16="http://schemas.microsoft.com/office/drawing/2014/main" val="2022867340"/>
                    </a:ext>
                  </a:extLst>
                </a:gridCol>
              </a:tblGrid>
              <a:tr h="327125">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PROBLEMAS/DESAFIO.</a:t>
                      </a:r>
                      <a:endParaRPr lang="es-PE" sz="14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SOLUCIONES</a:t>
                      </a:r>
                      <a:endParaRPr lang="es-PE" sz="1400" dirty="0">
                        <a:effectLst/>
                        <a:latin typeface="Calibri" panose="020F0502020204030204" pitchFamily="34" charset="0"/>
                        <a:ea typeface="Calibri" panose="020F0502020204030204" pitchFamily="34" charset="0"/>
                      </a:endParaRPr>
                    </a:p>
                  </a:txBody>
                  <a:tcPr marL="31325" marR="31325" marT="4351"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PROPUESTA</a:t>
                      </a:r>
                      <a:endParaRPr lang="es-PE" sz="1400" dirty="0">
                        <a:effectLst/>
                        <a:latin typeface="Calibri" panose="020F0502020204030204" pitchFamily="34" charset="0"/>
                        <a:ea typeface="Calibri" panose="020F0502020204030204" pitchFamily="34" charset="0"/>
                      </a:endParaRPr>
                    </a:p>
                  </a:txBody>
                  <a:tcPr marL="31325" marR="31325" marT="4351"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2399955915"/>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INDICADOR PNC - TLT 6 MESES – META 98%. Revisión de ficha 2024 e Indicadores internos complementarios.</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Reunión semanal de coordinación y control de gestión GAFA-DAP-GENGI </a:t>
                      </a:r>
                      <a:r>
                        <a:rPr lang="es-ES" sz="1200" dirty="0" err="1">
                          <a:solidFill>
                            <a:srgbClr val="000000"/>
                          </a:solidFill>
                          <a:effectLst/>
                          <a:latin typeface="Calibri" panose="020F0502020204030204" pitchFamily="34" charset="0"/>
                          <a:ea typeface="Calibri" panose="020F0502020204030204" pitchFamily="34" charset="0"/>
                        </a:rPr>
                        <a:t>ica</a:t>
                      </a:r>
                      <a:r>
                        <a:rPr lang="es-ES" sz="1200" dirty="0">
                          <a:solidFill>
                            <a:srgbClr val="000000"/>
                          </a:solidFill>
                          <a:effectLst/>
                          <a:latin typeface="Calibri" panose="020F0502020204030204" pitchFamily="34" charset="0"/>
                          <a:ea typeface="Calibri" panose="020F0502020204030204" pitchFamily="34" charset="0"/>
                        </a:rPr>
                        <a:t>).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Tiempo de atención: TLT 125 días y TLT 58 </a:t>
                      </a:r>
                      <a:r>
                        <a:rPr lang="es-ES" sz="1200" b="1" dirty="0" err="1">
                          <a:solidFill>
                            <a:srgbClr val="000000"/>
                          </a:solidFill>
                          <a:effectLst/>
                          <a:latin typeface="Calibri" panose="020F0502020204030204" pitchFamily="34" charset="0"/>
                          <a:ea typeface="Calibri" panose="020F0502020204030204" pitchFamily="34" charset="0"/>
                        </a:rPr>
                        <a:t>OEAs</a:t>
                      </a:r>
                      <a:r>
                        <a:rPr lang="es-ES" sz="1200" b="1" dirty="0">
                          <a:solidFill>
                            <a:srgbClr val="000000"/>
                          </a:solidFill>
                          <a:effectLst/>
                          <a:latin typeface="Calibri" panose="020F0502020204030204" pitchFamily="34" charset="0"/>
                          <a:ea typeface="Calibri" panose="020F0502020204030204" pitchFamily="34" charset="0"/>
                        </a:rPr>
                        <a:t>. </a:t>
                      </a:r>
                    </a:p>
                    <a:p>
                      <a:r>
                        <a:rPr lang="es-ES" sz="1200" b="1" dirty="0">
                          <a:solidFill>
                            <a:srgbClr val="000000"/>
                          </a:solidFill>
                          <a:effectLst/>
                          <a:latin typeface="Calibri" panose="020F0502020204030204" pitchFamily="34" charset="0"/>
                          <a:ea typeface="Calibri" panose="020F0502020204030204" pitchFamily="34" charset="0"/>
                        </a:rPr>
                        <a:t>Vencimiento </a:t>
                      </a:r>
                      <a:r>
                        <a:rPr lang="es-ES" sz="1200" b="1" dirty="0" err="1">
                          <a:solidFill>
                            <a:srgbClr val="000000"/>
                          </a:solidFill>
                          <a:effectLst/>
                          <a:latin typeface="Calibri" panose="020F0502020204030204" pitchFamily="34" charset="0"/>
                          <a:ea typeface="Calibri" panose="020F0502020204030204" pitchFamily="34" charset="0"/>
                        </a:rPr>
                        <a:t>OEAs</a:t>
                      </a:r>
                      <a:r>
                        <a:rPr lang="es-ES" sz="1200" b="1" dirty="0">
                          <a:solidFill>
                            <a:srgbClr val="000000"/>
                          </a:solidFill>
                          <a:effectLst/>
                          <a:latin typeface="Calibri" panose="020F0502020204030204" pitchFamily="34" charset="0"/>
                          <a:ea typeface="Calibri" panose="020F0502020204030204" pitchFamily="34" charset="0"/>
                        </a:rPr>
                        <a:t> </a:t>
                      </a:r>
                      <a:r>
                        <a:rPr lang="es-ES" sz="1200" dirty="0">
                          <a:solidFill>
                            <a:srgbClr val="000000"/>
                          </a:solidFill>
                          <a:effectLst/>
                          <a:latin typeface="Calibri" panose="020F0502020204030204" pitchFamily="34" charset="0"/>
                          <a:ea typeface="Calibri" panose="020F0502020204030204" pitchFamily="34" charset="0"/>
                        </a:rPr>
                        <a:t>de reclamo (30 días hábiles), bandejas CERO y apelaciones (15 días calendarios para pedir actuados). Excluir el OEA de la ficha si lo monitorea PNGCA.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241051180"/>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Propuesta de mejora DCCI RD y RTF. Registro, Criterios, Instructivos y otros. DCCII Registro manual de data de reclamos, LC actualización y remisión de actuados. DCP retroalimentación INCA.  PASIVO TF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Marzo </a:t>
                      </a:r>
                    </a:p>
                    <a:p>
                      <a:r>
                        <a:rPr lang="es-ES" sz="1200" dirty="0">
                          <a:solidFill>
                            <a:srgbClr val="000000"/>
                          </a:solidFill>
                          <a:effectLst/>
                          <a:latin typeface="Calibri" panose="020F0502020204030204" pitchFamily="34" charset="0"/>
                          <a:ea typeface="Calibri" panose="020F0502020204030204" pitchFamily="34" charset="0"/>
                        </a:rPr>
                        <a:t>DCCI-DCCII-DCP: retroalimentación </a:t>
                      </a:r>
                      <a:r>
                        <a:rPr lang="es-ES" sz="1200" dirty="0" err="1">
                          <a:solidFill>
                            <a:srgbClr val="000000"/>
                          </a:solidFill>
                          <a:effectLst/>
                          <a:latin typeface="Calibri" panose="020F0502020204030204" pitchFamily="34" charset="0"/>
                          <a:ea typeface="Calibri" panose="020F0502020204030204" pitchFamily="34" charset="0"/>
                        </a:rPr>
                        <a:t>one</a:t>
                      </a:r>
                      <a:r>
                        <a:rPr lang="es-ES" sz="1200" dirty="0">
                          <a:solidFill>
                            <a:srgbClr val="000000"/>
                          </a:solidFill>
                          <a:effectLst/>
                          <a:latin typeface="Calibri" panose="020F0502020204030204" pitchFamily="34" charset="0"/>
                          <a:ea typeface="Calibri" panose="020F0502020204030204" pitchFamily="34" charset="0"/>
                        </a:rPr>
                        <a:t> </a:t>
                      </a:r>
                      <a:r>
                        <a:rPr lang="es-ES" sz="1200" dirty="0" err="1">
                          <a:solidFill>
                            <a:srgbClr val="000000"/>
                          </a:solidFill>
                          <a:effectLst/>
                          <a:latin typeface="Calibri" panose="020F0502020204030204" pitchFamily="34" charset="0"/>
                          <a:ea typeface="Calibri" panose="020F0502020204030204" pitchFamily="34" charset="0"/>
                        </a:rPr>
                        <a:t>to</a:t>
                      </a:r>
                      <a:r>
                        <a:rPr lang="es-ES" sz="1200" dirty="0">
                          <a:solidFill>
                            <a:srgbClr val="000000"/>
                          </a:solidFill>
                          <a:effectLst/>
                          <a:latin typeface="Calibri" panose="020F0502020204030204" pitchFamily="34" charset="0"/>
                          <a:ea typeface="Calibri" panose="020F0502020204030204" pitchFamily="34" charset="0"/>
                        </a:rPr>
                        <a:t> </a:t>
                      </a:r>
                      <a:r>
                        <a:rPr lang="es-ES" sz="1200" dirty="0" err="1">
                          <a:solidFill>
                            <a:srgbClr val="000000"/>
                          </a:solidFill>
                          <a:effectLst/>
                          <a:latin typeface="Calibri" panose="020F0502020204030204" pitchFamily="34" charset="0"/>
                          <a:ea typeface="Calibri" panose="020F0502020204030204" pitchFamily="34" charset="0"/>
                        </a:rPr>
                        <a:t>one</a:t>
                      </a:r>
                      <a:r>
                        <a:rPr lang="es-ES" sz="1200" dirty="0">
                          <a:solidFill>
                            <a:srgbClr val="000000"/>
                          </a:solidFill>
                          <a:effectLst/>
                          <a:latin typeface="Calibri" panose="020F0502020204030204" pitchFamily="34" charset="0"/>
                          <a:ea typeface="Calibri" panose="020F0502020204030204" pitchFamily="34" charset="0"/>
                        </a:rPr>
                        <a:t>. (F/N)</a:t>
                      </a:r>
                    </a:p>
                    <a:p>
                      <a:r>
                        <a:rPr lang="es-ES" sz="1200" dirty="0">
                          <a:solidFill>
                            <a:srgbClr val="000000"/>
                          </a:solidFill>
                          <a:effectLst/>
                          <a:latin typeface="Calibri" panose="020F0502020204030204" pitchFamily="34" charset="0"/>
                          <a:ea typeface="Calibri" panose="020F0502020204030204" pitchFamily="34" charset="0"/>
                        </a:rPr>
                        <a:t>Abril</a:t>
                      </a:r>
                    </a:p>
                    <a:p>
                      <a:r>
                        <a:rPr lang="es-ES" sz="1200" dirty="0">
                          <a:solidFill>
                            <a:srgbClr val="000000"/>
                          </a:solidFill>
                          <a:effectLst/>
                          <a:latin typeface="Calibri" panose="020F0502020204030204" pitchFamily="34" charset="0"/>
                          <a:ea typeface="Calibri" panose="020F0502020204030204" pitchFamily="34" charset="0"/>
                        </a:rPr>
                        <a:t>DCCI – oportunidad de mejora 11 personas.</a:t>
                      </a:r>
                    </a:p>
                    <a:p>
                      <a:endParaRPr lang="es-ES" sz="1200" dirty="0">
                        <a:solidFill>
                          <a:srgbClr val="000000"/>
                        </a:solidFill>
                        <a:effectLst/>
                        <a:latin typeface="Calibri" panose="020F0502020204030204" pitchFamily="34" charset="0"/>
                        <a:ea typeface="Calibri" panose="020F0502020204030204" pitchFamily="34" charset="0"/>
                      </a:endParaRPr>
                    </a:p>
                    <a:p>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Mejorar resultados y retroalimentación interna en fondo y en  Admisibilidad, a la IAMC, a las IAAP y Aduanas de provincia, y la INCA.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879781516"/>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Control de Gestión para mejora del proceso de recursos impugnatorios: </a:t>
                      </a:r>
                    </a:p>
                    <a:p>
                      <a:r>
                        <a:rPr lang="es-PE" sz="1200" b="1" dirty="0">
                          <a:solidFill>
                            <a:schemeClr val="bg1"/>
                          </a:solidFill>
                          <a:effectLst/>
                          <a:latin typeface="Calibri" panose="020F0502020204030204" pitchFamily="34" charset="0"/>
                          <a:ea typeface="Calibri" panose="020F0502020204030204" pitchFamily="34" charset="0"/>
                        </a:rPr>
                        <a:t>Reunión con supervisores – Trimestral </a:t>
                      </a:r>
                    </a:p>
                    <a:p>
                      <a:r>
                        <a:rPr lang="es-PE" sz="1200" b="1" dirty="0">
                          <a:solidFill>
                            <a:schemeClr val="bg1"/>
                          </a:solidFill>
                          <a:effectLst/>
                          <a:latin typeface="Calibri" panose="020F0502020204030204" pitchFamily="34" charset="0"/>
                          <a:ea typeface="Calibri" panose="020F0502020204030204" pitchFamily="34" charset="0"/>
                        </a:rPr>
                        <a:t>Reunión con jefaturas – mensual </a:t>
                      </a:r>
                    </a:p>
                    <a:p>
                      <a:r>
                        <a:rPr lang="es-PE" sz="1200" b="1" dirty="0">
                          <a:solidFill>
                            <a:schemeClr val="bg1"/>
                          </a:solidFill>
                          <a:effectLst/>
                          <a:latin typeface="Calibri" panose="020F0502020204030204" pitchFamily="34" charset="0"/>
                          <a:ea typeface="Calibri" panose="020F0502020204030204" pitchFamily="34" charset="0"/>
                        </a:rPr>
                        <a:t>Reunión con S5 – semanal</a:t>
                      </a:r>
                    </a:p>
                    <a:p>
                      <a:r>
                        <a:rPr lang="es-PE" sz="1200" b="1" dirty="0">
                          <a:solidFill>
                            <a:schemeClr val="bg1"/>
                          </a:solidFill>
                          <a:effectLst/>
                          <a:latin typeface="Calibri" panose="020F0502020204030204" pitchFamily="34" charset="0"/>
                          <a:ea typeface="Calibri" panose="020F0502020204030204" pitchFamily="34" charset="0"/>
                        </a:rPr>
                        <a:t>MAPEO DE PROCESO Y CAPACITACIÓN.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2024 </a:t>
                      </a: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Tiempo de atención:</a:t>
                      </a:r>
                      <a:r>
                        <a:rPr lang="es-ES" sz="1200" dirty="0">
                          <a:solidFill>
                            <a:srgbClr val="000000"/>
                          </a:solidFill>
                          <a:effectLst/>
                          <a:latin typeface="Calibri" panose="020F0502020204030204" pitchFamily="34" charset="0"/>
                          <a:ea typeface="Calibri" panose="020F0502020204030204" pitchFamily="34" charset="0"/>
                        </a:rPr>
                        <a:t> en todas las actividades del flujo de los recursos impugnatorios (reclamos y apelaciones). </a:t>
                      </a:r>
                    </a:p>
                    <a:p>
                      <a:r>
                        <a:rPr lang="es-ES" sz="1200" b="1" dirty="0">
                          <a:solidFill>
                            <a:srgbClr val="FF0000"/>
                          </a:solidFill>
                          <a:effectLst/>
                          <a:latin typeface="Calibri" panose="020F0502020204030204" pitchFamily="34" charset="0"/>
                          <a:ea typeface="Calibri" panose="020F0502020204030204" pitchFamily="34" charset="0"/>
                        </a:rPr>
                        <a:t>PROPUESTA: </a:t>
                      </a:r>
                      <a:r>
                        <a:rPr lang="es-ES" sz="1200" dirty="0">
                          <a:solidFill>
                            <a:srgbClr val="000000"/>
                          </a:solidFill>
                          <a:effectLst/>
                          <a:latin typeface="Calibri" panose="020F0502020204030204" pitchFamily="34" charset="0"/>
                          <a:ea typeface="Calibri" panose="020F0502020204030204" pitchFamily="34" charset="0"/>
                        </a:rPr>
                        <a:t>Diseño del flujo de información. Control de gestión de la información del proceso.</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376611657"/>
                  </a:ext>
                </a:extLst>
              </a:tr>
              <a:tr h="605712">
                <a:tc>
                  <a:txBody>
                    <a:bodyPr/>
                    <a:lstStyle/>
                    <a:p>
                      <a:r>
                        <a:rPr lang="es-PE" sz="1200" b="1" dirty="0">
                          <a:solidFill>
                            <a:schemeClr val="bg1"/>
                          </a:solidFill>
                          <a:effectLst/>
                          <a:latin typeface="Calibri" panose="020F0502020204030204" pitchFamily="34" charset="0"/>
                          <a:ea typeface="Calibri" panose="020F0502020204030204" pitchFamily="34" charset="0"/>
                        </a:rPr>
                        <a:t>BANDEJA CERO: </a:t>
                      </a:r>
                    </a:p>
                    <a:p>
                      <a:r>
                        <a:rPr lang="es-PE" sz="1200" b="1" dirty="0">
                          <a:solidFill>
                            <a:schemeClr val="bg1"/>
                          </a:solidFill>
                          <a:effectLst/>
                          <a:latin typeface="Calibri" panose="020F0502020204030204" pitchFamily="34" charset="0"/>
                          <a:ea typeface="Calibri" panose="020F0502020204030204" pitchFamily="34" charset="0"/>
                        </a:rPr>
                        <a:t>Pasivo admisibilidad  13 casos del 2023 (77). DCCI 25 y DCCII 8. </a:t>
                      </a:r>
                    </a:p>
                    <a:p>
                      <a:r>
                        <a:rPr lang="es-PE" sz="1200" b="1" dirty="0">
                          <a:solidFill>
                            <a:schemeClr val="bg1"/>
                          </a:solidFill>
                          <a:effectLst/>
                          <a:latin typeface="Calibri" panose="020F0502020204030204" pitchFamily="34" charset="0"/>
                          <a:ea typeface="Calibri" panose="020F0502020204030204" pitchFamily="34" charset="0"/>
                        </a:rPr>
                        <a:t>BANDEJA DE INGRESADOS 5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Revisión diaria a cargo de las asistentes y maratones.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BANDEJA CERO</a:t>
                      </a:r>
                      <a:r>
                        <a:rPr lang="es-ES" sz="1200" dirty="0">
                          <a:solidFill>
                            <a:srgbClr val="000000"/>
                          </a:solidFill>
                          <a:effectLst/>
                          <a:latin typeface="Calibri" panose="020F0502020204030204" pitchFamily="34" charset="0"/>
                          <a:ea typeface="Calibri" panose="020F0502020204030204" pitchFamily="34" charset="0"/>
                        </a:rPr>
                        <a:t> de admisibilidad (E-</a:t>
                      </a:r>
                      <a:r>
                        <a:rPr lang="es-ES" sz="1200" dirty="0" err="1">
                          <a:solidFill>
                            <a:srgbClr val="000000"/>
                          </a:solidFill>
                          <a:effectLst/>
                          <a:latin typeface="Calibri" panose="020F0502020204030204" pitchFamily="34" charset="0"/>
                          <a:ea typeface="Calibri" panose="020F0502020204030204" pitchFamily="34" charset="0"/>
                        </a:rPr>
                        <a:t>chaski</a:t>
                      </a:r>
                      <a:r>
                        <a:rPr lang="es-ES" sz="1200" dirty="0">
                          <a:solidFill>
                            <a:srgbClr val="000000"/>
                          </a:solidFill>
                          <a:effectLst/>
                          <a:latin typeface="Calibri" panose="020F0502020204030204" pitchFamily="34" charset="0"/>
                          <a:ea typeface="Calibri" panose="020F0502020204030204" pitchFamily="34" charset="0"/>
                        </a:rPr>
                        <a:t>, SIGERI ingresado y no asignado y físico, SIGED y Memo interno. </a:t>
                      </a:r>
                      <a:endParaRPr lang="es-PE" sz="1200" b="1"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2303611654"/>
                  </a:ext>
                </a:extLst>
              </a:tr>
              <a:tr h="1150116">
                <a:tc>
                  <a:txBody>
                    <a:bodyPr/>
                    <a:lstStyle/>
                    <a:p>
                      <a:r>
                        <a:rPr lang="es-PE" sz="1200" b="1" dirty="0">
                          <a:solidFill>
                            <a:schemeClr val="bg1"/>
                          </a:solidFill>
                          <a:effectLst/>
                          <a:latin typeface="Calibri" panose="020F0502020204030204" pitchFamily="34" charset="0"/>
                          <a:ea typeface="Calibri" panose="020F0502020204030204" pitchFamily="34" charset="0"/>
                        </a:rPr>
                        <a:t>Admisibilidad: devolución por evaluación incorrecta y remisión de </a:t>
                      </a:r>
                      <a:r>
                        <a:rPr lang="es-PE" sz="1200" b="1" dirty="0" err="1">
                          <a:solidFill>
                            <a:schemeClr val="bg1"/>
                          </a:solidFill>
                          <a:effectLst/>
                          <a:latin typeface="Calibri" panose="020F0502020204030204" pitchFamily="34" charset="0"/>
                          <a:ea typeface="Calibri" panose="020F0502020204030204" pitchFamily="34" charset="0"/>
                        </a:rPr>
                        <a:t>exp</a:t>
                      </a:r>
                      <a:r>
                        <a:rPr lang="es-PE" sz="1200" b="1" dirty="0">
                          <a:solidFill>
                            <a:schemeClr val="bg1"/>
                          </a:solidFill>
                          <a:effectLst/>
                          <a:latin typeface="Calibri" panose="020F0502020204030204" pitchFamily="34" charset="0"/>
                          <a:ea typeface="Calibri" panose="020F0502020204030204" pitchFamily="34" charset="0"/>
                        </a:rPr>
                        <a:t>.  (RD </a:t>
                      </a:r>
                      <a:r>
                        <a:rPr lang="es-PE" sz="1200" b="1" dirty="0" err="1">
                          <a:solidFill>
                            <a:schemeClr val="bg1"/>
                          </a:solidFill>
                          <a:effectLst/>
                          <a:latin typeface="Calibri" panose="020F0502020204030204" pitchFamily="34" charset="0"/>
                          <a:ea typeface="Calibri" panose="020F0502020204030204" pitchFamily="34" charset="0"/>
                        </a:rPr>
                        <a:t>complem</a:t>
                      </a:r>
                      <a:r>
                        <a:rPr lang="es-PE" sz="1200" b="1" dirty="0">
                          <a:solidFill>
                            <a:schemeClr val="bg1"/>
                          </a:solidFill>
                          <a:effectLst/>
                          <a:latin typeface="Calibri" panose="020F0502020204030204" pitchFamily="34" charset="0"/>
                          <a:ea typeface="Calibri" panose="020F0502020204030204" pitchFamily="34" charset="0"/>
                        </a:rPr>
                        <a:t>)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Primera etapa </a:t>
                      </a:r>
                      <a:r>
                        <a:rPr lang="es-PE" sz="1200" dirty="0">
                          <a:solidFill>
                            <a:srgbClr val="000000"/>
                          </a:solidFill>
                          <a:effectLst/>
                          <a:latin typeface="Calibri" panose="020F0502020204030204" pitchFamily="34" charset="0"/>
                          <a:ea typeface="Calibri" panose="020F0502020204030204" pitchFamily="34" charset="0"/>
                        </a:rPr>
                        <a:t>Coordinación previa con la DAP para reconfirmar la devolución del SIGERI, y remisión de correo electrónico para seguimiento y atención inmediata (límite del vencimiento). </a:t>
                      </a:r>
                    </a:p>
                    <a:p>
                      <a:r>
                        <a:rPr lang="es-PE" sz="1200" dirty="0">
                          <a:solidFill>
                            <a:srgbClr val="000000"/>
                          </a:solidFill>
                          <a:effectLst/>
                          <a:latin typeface="Calibri" panose="020F0502020204030204" pitchFamily="34" charset="0"/>
                          <a:ea typeface="Calibri" panose="020F0502020204030204" pitchFamily="34" charset="0"/>
                        </a:rPr>
                        <a:t>Validación con GENGI ( </a:t>
                      </a:r>
                      <a:r>
                        <a:rPr lang="es-PE" sz="1200" dirty="0" err="1">
                          <a:solidFill>
                            <a:srgbClr val="000000"/>
                          </a:solidFill>
                          <a:effectLst/>
                          <a:latin typeface="Calibri" panose="020F0502020204030204" pitchFamily="34" charset="0"/>
                          <a:ea typeface="Calibri" panose="020F0502020204030204" pitchFamily="34" charset="0"/>
                        </a:rPr>
                        <a:t>CPf</a:t>
                      </a:r>
                      <a:r>
                        <a:rPr lang="es-PE" sz="1200" dirty="0">
                          <a:solidFill>
                            <a:srgbClr val="000000"/>
                          </a:solidFill>
                          <a:effectLst/>
                          <a:latin typeface="Calibri" panose="020F0502020204030204" pitchFamily="34" charset="0"/>
                          <a:ea typeface="Calibri" panose="020F0502020204030204" pitchFamily="34" charset="0"/>
                        </a:rPr>
                        <a:t>)</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Segunda etapa: revisión de GENGI. Unificar criterio.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842478686"/>
                  </a:ext>
                </a:extLst>
              </a:tr>
              <a:tr h="806028">
                <a:tc>
                  <a:txBody>
                    <a:bodyPr/>
                    <a:lstStyle/>
                    <a:p>
                      <a:r>
                        <a:rPr lang="es-PE" sz="1200" b="1" dirty="0">
                          <a:solidFill>
                            <a:schemeClr val="bg1"/>
                          </a:solidFill>
                          <a:effectLst/>
                          <a:latin typeface="Calibri" panose="020F0502020204030204" pitchFamily="34" charset="0"/>
                          <a:ea typeface="Calibri" panose="020F0502020204030204" pitchFamily="34" charset="0"/>
                        </a:rPr>
                        <a:t>Actuados físicos reclamos: falta flujo, falta de remisión oportuna y derivación tardía de expedientes.  </a:t>
                      </a:r>
                    </a:p>
                    <a:p>
                      <a:r>
                        <a:rPr lang="es-PE" sz="1200" b="1" dirty="0">
                          <a:solidFill>
                            <a:schemeClr val="bg1"/>
                          </a:solidFill>
                          <a:effectLst/>
                          <a:latin typeface="Calibri" panose="020F0502020204030204" pitchFamily="34" charset="0"/>
                          <a:ea typeface="Calibri" panose="020F0502020204030204" pitchFamily="34" charset="0"/>
                        </a:rPr>
                        <a:t>Actuados físicos apelaciones: pasivo por coordinar FONDO-ADM. Conformación</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dirty="0">
                          <a:solidFill>
                            <a:srgbClr val="000000"/>
                          </a:solidFill>
                          <a:effectLst/>
                          <a:latin typeface="Calibri" panose="020F0502020204030204" pitchFamily="34" charset="0"/>
                          <a:ea typeface="Calibri" panose="020F0502020204030204" pitchFamily="34" charset="0"/>
                        </a:rPr>
                        <a:t>Apoyo de Sara búsqueda de actuados y generar </a:t>
                      </a:r>
                      <a:r>
                        <a:rPr lang="es-PE" sz="1200" dirty="0" err="1">
                          <a:solidFill>
                            <a:srgbClr val="000000"/>
                          </a:solidFill>
                          <a:effectLst/>
                          <a:latin typeface="Calibri" panose="020F0502020204030204" pitchFamily="34" charset="0"/>
                          <a:ea typeface="Calibri" panose="020F0502020204030204" pitchFamily="34" charset="0"/>
                        </a:rPr>
                        <a:t>Chasky</a:t>
                      </a:r>
                      <a:r>
                        <a:rPr lang="es-PE" sz="1200" dirty="0">
                          <a:solidFill>
                            <a:srgbClr val="000000"/>
                          </a:solidFill>
                          <a:effectLst/>
                          <a:latin typeface="Calibri" panose="020F0502020204030204" pitchFamily="34" charset="0"/>
                          <a:ea typeface="Calibri" panose="020F0502020204030204" pitchFamily="34" charset="0"/>
                        </a:rPr>
                        <a:t> (indicador).</a:t>
                      </a:r>
                      <a:endParaRPr lang="es-PE" sz="1200" dirty="0">
                        <a:effectLst/>
                        <a:latin typeface="Calibri" panose="020F0502020204030204" pitchFamily="34" charset="0"/>
                        <a:ea typeface="Calibri" panose="020F0502020204030204" pitchFamily="34" charset="0"/>
                      </a:endParaRPr>
                    </a:p>
                    <a:p>
                      <a:r>
                        <a:rPr lang="es-PE" sz="1200" dirty="0">
                          <a:solidFill>
                            <a:srgbClr val="000000"/>
                          </a:solidFill>
                          <a:effectLst/>
                          <a:latin typeface="Calibri" panose="020F0502020204030204" pitchFamily="34" charset="0"/>
                          <a:ea typeface="Calibri" panose="020F0502020204030204" pitchFamily="34" charset="0"/>
                        </a:rPr>
                        <a:t>- Divisiones de Fondo apoyan a la DAP en revisión de admisibilidad de reclamo y apelaciones. </a:t>
                      </a:r>
                      <a:endParaRPr lang="es-PE" sz="1200" dirty="0">
                        <a:effectLst/>
                        <a:latin typeface="Calibri" panose="020F0502020204030204" pitchFamily="34" charset="0"/>
                        <a:ea typeface="Calibri" panose="020F0502020204030204" pitchFamily="34" charset="0"/>
                      </a:endParaRPr>
                    </a:p>
                    <a:p>
                      <a:r>
                        <a:rPr lang="es-419" sz="1200" dirty="0">
                          <a:solidFill>
                            <a:srgbClr val="000000"/>
                          </a:solidFill>
                          <a:effectLst/>
                          <a:latin typeface="Calibri" panose="020F0502020204030204" pitchFamily="34" charset="0"/>
                          <a:ea typeface="Calibri" panose="020F0502020204030204" pitchFamily="34" charset="0"/>
                        </a:rPr>
                        <a:t>- Se solicitó la implementación de alertas TLT 6 m. a fondo y DAP.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Coordinación con IAMC. </a:t>
                      </a:r>
                      <a:r>
                        <a:rPr lang="es-PE" sz="1200" dirty="0">
                          <a:solidFill>
                            <a:srgbClr val="000000"/>
                          </a:solidFill>
                          <a:effectLst/>
                          <a:latin typeface="Calibri" panose="020F0502020204030204" pitchFamily="34" charset="0"/>
                          <a:ea typeface="Calibri" panose="020F0502020204030204" pitchFamily="34" charset="0"/>
                        </a:rPr>
                        <a:t>Conformar equipo y atender oportunamente. Permitirá mejorar el control de las áreas de origen y las áreas de reclamo fondo.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21348042"/>
                  </a:ext>
                </a:extLst>
              </a:tr>
            </a:tbl>
          </a:graphicData>
        </a:graphic>
      </p:graphicFrame>
    </p:spTree>
    <p:extLst>
      <p:ext uri="{BB962C8B-B14F-4D97-AF65-F5344CB8AC3E}">
        <p14:creationId xmlns:p14="http://schemas.microsoft.com/office/powerpoint/2010/main" val="308400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REQUERIMIENTO</a:t>
            </a:r>
            <a:r>
              <a:rPr lang="es-ES" sz="3600" b="1" dirty="0"/>
              <a:t>: </a:t>
            </a:r>
            <a:r>
              <a:rPr lang="es-ES" sz="2800" b="1" dirty="0">
                <a:latin typeface="Arial" panose="020B0604020202020204" pitchFamily="34" charset="0"/>
                <a:cs typeface="Arial" panose="020B0604020202020204" pitchFamily="34" charset="0"/>
              </a:rPr>
              <a:t>REPORTES DE GESTIÓN</a:t>
            </a:r>
            <a:endParaRPr lang="es-PE" sz="2800"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CC6DFF1E-FD88-4ACA-93F2-AF985B10E39F}"/>
              </a:ext>
            </a:extLst>
          </p:cNvPr>
          <p:cNvSpPr txBox="1"/>
          <p:nvPr/>
        </p:nvSpPr>
        <p:spPr>
          <a:xfrm>
            <a:off x="56284" y="1001498"/>
            <a:ext cx="12040466" cy="5706883"/>
          </a:xfrm>
          <a:prstGeom prst="rect">
            <a:avLst/>
          </a:prstGeom>
          <a:noFill/>
        </p:spPr>
        <p:txBody>
          <a:bodyPr wrap="square">
            <a:spAutoFit/>
          </a:bodyPr>
          <a:lstStyle/>
          <a:p>
            <a:pPr marL="342900" lvl="0" indent="-342900">
              <a:lnSpc>
                <a:spcPct val="115000"/>
              </a:lnSpc>
              <a:buFont typeface="+mj-lt"/>
              <a:buAutoNum type="arabicPeriod"/>
            </a:pPr>
            <a:r>
              <a:rPr lang="es-PE" sz="2000" dirty="0">
                <a:effectLst/>
                <a:latin typeface="Arial" panose="020B0604020202020204" pitchFamily="34" charset="0"/>
                <a:ea typeface="Calibri" panose="020F0502020204030204" pitchFamily="34" charset="0"/>
                <a:cs typeface="Arial" panose="020B0604020202020204" pitchFamily="34" charset="0"/>
              </a:rPr>
              <a:t>Reporte de gestión – NETO TLT (125) OEA (3 meses) y fictas (2 meses). BRUTO – reportado o contrastado por fondo). Reporte NETO: </a:t>
            </a:r>
            <a:r>
              <a:rPr lang="es-PE" sz="2000" dirty="0">
                <a:latin typeface="Arial" panose="020B0604020202020204" pitchFamily="34" charset="0"/>
                <a:ea typeface="Calibri" panose="020F0502020204030204" pitchFamily="34" charset="0"/>
                <a:cs typeface="Arial" panose="020B0604020202020204" pitchFamily="34" charset="0"/>
              </a:rPr>
              <a:t>F</a:t>
            </a:r>
            <a:r>
              <a:rPr lang="es-PE" sz="2000" dirty="0">
                <a:effectLst/>
                <a:latin typeface="Arial" panose="020B0604020202020204" pitchFamily="34" charset="0"/>
                <a:ea typeface="Calibri" panose="020F0502020204030204" pitchFamily="34" charset="0"/>
                <a:cs typeface="Arial" panose="020B0604020202020204" pitchFamily="34" charset="0"/>
              </a:rPr>
              <a:t>ondo y Admisibilidad. </a:t>
            </a:r>
          </a:p>
          <a:p>
            <a:pPr marL="342900" lvl="0" indent="-342900">
              <a:lnSpc>
                <a:spcPct val="115000"/>
              </a:lnSpc>
              <a:buFont typeface="+mj-lt"/>
              <a:buAutoNum type="arabicPeriod"/>
            </a:pPr>
            <a:r>
              <a:rPr lang="es-ES" sz="2000" dirty="0">
                <a:effectLst/>
                <a:latin typeface="Arial" panose="020B0604020202020204" pitchFamily="34" charset="0"/>
                <a:ea typeface="Calibri" panose="020F0502020204030204" pitchFamily="34" charset="0"/>
                <a:cs typeface="Arial" panose="020B0604020202020204" pitchFamily="34" charset="0"/>
              </a:rPr>
              <a:t>Registro de montos de los reclamos y resultado de los reclamos (infundado, fundado, nulos </a:t>
            </a:r>
            <a:r>
              <a:rPr lang="es-ES" sz="2000" dirty="0" err="1">
                <a:effectLst/>
                <a:latin typeface="Arial" panose="020B0604020202020204" pitchFamily="34" charset="0"/>
                <a:ea typeface="Calibri" panose="020F0502020204030204" pitchFamily="34" charset="0"/>
                <a:cs typeface="Arial" panose="020B0604020202020204" pitchFamily="34" charset="0"/>
              </a:rPr>
              <a:t>etc</a:t>
            </a:r>
            <a:r>
              <a:rPr lang="es-ES" sz="2000" dirty="0">
                <a:effectLst/>
                <a:latin typeface="Arial" panose="020B0604020202020204" pitchFamily="34" charset="0"/>
                <a:ea typeface="Calibri" panose="020F0502020204030204" pitchFamily="34" charset="0"/>
                <a:cs typeface="Arial" panose="020B0604020202020204" pitchFamily="34" charset="0"/>
              </a:rPr>
              <a:t>) y montos. Pendiente vinculación modulo LC. </a:t>
            </a:r>
            <a:endParaRPr lang="es-PE"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rabicPeriod"/>
            </a:pPr>
            <a:r>
              <a:rPr lang="es-ES" sz="2000" dirty="0">
                <a:effectLst/>
                <a:latin typeface="Arial" panose="020B0604020202020204" pitchFamily="34" charset="0"/>
                <a:ea typeface="Calibri" panose="020F0502020204030204" pitchFamily="34" charset="0"/>
                <a:cs typeface="Arial" panose="020B0604020202020204" pitchFamily="34" charset="0"/>
              </a:rPr>
              <a:t>Resultados de apelaciones – RTF(</a:t>
            </a:r>
            <a:r>
              <a:rPr lang="es-PE" sz="2000" dirty="0">
                <a:effectLst/>
                <a:latin typeface="Arial" panose="020B0604020202020204" pitchFamily="34" charset="0"/>
                <a:ea typeface="Calibri" panose="020F0502020204030204" pitchFamily="34" charset="0"/>
                <a:cs typeface="Arial" panose="020B0604020202020204" pitchFamily="34" charset="0"/>
              </a:rPr>
              <a:t>Dependencia /</a:t>
            </a:r>
            <a:r>
              <a:rPr lang="es-PE" sz="2000" dirty="0" err="1">
                <a:effectLst/>
                <a:latin typeface="Arial" panose="020B0604020202020204" pitchFamily="34" charset="0"/>
                <a:ea typeface="Calibri" panose="020F0502020204030204" pitchFamily="34" charset="0"/>
                <a:cs typeface="Arial" panose="020B0604020202020204" pitchFamily="34" charset="0"/>
              </a:rPr>
              <a:t>exp</a:t>
            </a:r>
            <a:r>
              <a:rPr lang="es-PE" sz="2000" dirty="0">
                <a:effectLst/>
                <a:latin typeface="Arial" panose="020B0604020202020204" pitchFamily="34" charset="0"/>
                <a:ea typeface="Calibri" panose="020F0502020204030204" pitchFamily="34" charset="0"/>
                <a:cs typeface="Arial" panose="020B0604020202020204" pitchFamily="34" charset="0"/>
              </a:rPr>
              <a:t>. /fecha de ingreso/ usuario/resolución vinculada/ </a:t>
            </a:r>
            <a:r>
              <a:rPr lang="es-ES" sz="2000" dirty="0">
                <a:effectLst/>
                <a:latin typeface="Arial" panose="020B0604020202020204" pitchFamily="34" charset="0"/>
                <a:ea typeface="Calibri" panose="020F0502020204030204" pitchFamily="34" charset="0"/>
                <a:cs typeface="Arial" panose="020B0604020202020204" pitchFamily="34" charset="0"/>
              </a:rPr>
              <a:t>materia /DAM vinculada/Liquidación de Cobranza - montos). </a:t>
            </a:r>
            <a:r>
              <a:rPr lang="es-ES" sz="2000" dirty="0">
                <a:latin typeface="Arial" panose="020B0604020202020204" pitchFamily="34" charset="0"/>
                <a:ea typeface="Calibri" panose="020F0502020204030204" pitchFamily="34" charset="0"/>
                <a:cs typeface="Arial" panose="020B0604020202020204" pitchFamily="34" charset="0"/>
              </a:rPr>
              <a:t>Pendiente </a:t>
            </a:r>
            <a:r>
              <a:rPr lang="es-ES" sz="2000" dirty="0">
                <a:effectLst/>
                <a:latin typeface="Arial" panose="020B0604020202020204" pitchFamily="34" charset="0"/>
                <a:ea typeface="Calibri" panose="020F0502020204030204" pitchFamily="34" charset="0"/>
                <a:cs typeface="Arial" panose="020B0604020202020204" pitchFamily="34" charset="0"/>
              </a:rPr>
              <a:t>informe (periodicidad).</a:t>
            </a:r>
            <a:endParaRPr lang="es-PE"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rabicPeriod"/>
            </a:pPr>
            <a:r>
              <a:rPr lang="es-PE" sz="2000" dirty="0">
                <a:effectLst/>
                <a:latin typeface="Arial" panose="020B0604020202020204" pitchFamily="34" charset="0"/>
                <a:ea typeface="Calibri" panose="020F0502020204030204" pitchFamily="34" charset="0"/>
                <a:cs typeface="Arial" panose="020B0604020202020204" pitchFamily="34" charset="0"/>
              </a:rPr>
              <a:t>SIGERI</a:t>
            </a:r>
          </a:p>
          <a:p>
            <a:pPr marL="342900" lvl="0" indent="-342900">
              <a:lnSpc>
                <a:spcPct val="115000"/>
              </a:lnSpc>
              <a:buFont typeface="Arial" panose="020B0604020202020204" pitchFamily="34" charset="0"/>
              <a:buChar char="•"/>
            </a:pPr>
            <a:r>
              <a:rPr lang="es-PE" sz="2000" b="1" dirty="0">
                <a:effectLst/>
                <a:latin typeface="Arial" panose="020B0604020202020204" pitchFamily="34" charset="0"/>
                <a:ea typeface="Calibri" panose="020F0502020204030204" pitchFamily="34" charset="0"/>
                <a:cs typeface="Arial" panose="020B0604020202020204" pitchFamily="34" charset="0"/>
              </a:rPr>
              <a:t>Vinculaciones</a:t>
            </a:r>
            <a:r>
              <a:rPr lang="es-PE" sz="2000" dirty="0">
                <a:effectLst/>
                <a:latin typeface="Arial" panose="020B0604020202020204" pitchFamily="34" charset="0"/>
                <a:ea typeface="Calibri" panose="020F0502020204030204" pitchFamily="34" charset="0"/>
                <a:cs typeface="Arial" panose="020B0604020202020204" pitchFamily="34" charset="0"/>
              </a:rPr>
              <a:t>: </a:t>
            </a:r>
            <a:r>
              <a:rPr lang="es-PE" sz="2000" dirty="0">
                <a:latin typeface="Arial" panose="020B0604020202020204" pitchFamily="34" charset="0"/>
                <a:ea typeface="Calibri" panose="020F0502020204030204" pitchFamily="34" charset="0"/>
                <a:cs typeface="Arial" panose="020B0604020202020204" pitchFamily="34" charset="0"/>
              </a:rPr>
              <a:t>no actualiza el resultado de reclamo en el módulo de LC – DCCII.</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Distribución</a:t>
            </a:r>
            <a:r>
              <a:rPr lang="es-PE" sz="2000" dirty="0">
                <a:latin typeface="Arial" panose="020B0604020202020204" pitchFamily="34" charset="0"/>
                <a:ea typeface="Calibri" panose="020F0502020204030204" pitchFamily="34" charset="0"/>
                <a:cs typeface="Arial" panose="020B0604020202020204" pitchFamily="34" charset="0"/>
              </a:rPr>
              <a:t>. Copia a las </a:t>
            </a:r>
            <a:r>
              <a:rPr lang="es-PE" sz="2000" dirty="0">
                <a:latin typeface="Arial" panose="020B0604020202020204" pitchFamily="34" charset="0"/>
                <a:cs typeface="Arial" panose="020B0604020202020204" pitchFamily="34" charset="0"/>
              </a:rPr>
              <a:t>partes involucradas cuando ha sido revertido, admisibilidad errada, baja de expedientes y no permite derivar a las áreas generadoras (control manual). </a:t>
            </a:r>
          </a:p>
          <a:p>
            <a:pPr marL="342900" lvl="0" indent="-342900">
              <a:lnSpc>
                <a:spcPct val="115000"/>
              </a:lnSpc>
              <a:buFont typeface="Arial" panose="020B0604020202020204" pitchFamily="34" charset="0"/>
              <a:buChar char="•"/>
            </a:pPr>
            <a:r>
              <a:rPr lang="es-PE" sz="2000" b="1" dirty="0">
                <a:effectLst/>
                <a:latin typeface="Arial" panose="020B0604020202020204" pitchFamily="34" charset="0"/>
                <a:ea typeface="Calibri" panose="020F0502020204030204" pitchFamily="34" charset="0"/>
                <a:cs typeface="Arial" panose="020B0604020202020204" pitchFamily="34" charset="0"/>
              </a:rPr>
              <a:t>Reportes</a:t>
            </a:r>
            <a:r>
              <a:rPr lang="es-PE" sz="2000" dirty="0">
                <a:effectLst/>
                <a:latin typeface="Arial" panose="020B0604020202020204" pitchFamily="34" charset="0"/>
                <a:ea typeface="Calibri" panose="020F0502020204030204" pitchFamily="34" charset="0"/>
                <a:cs typeface="Arial" panose="020B0604020202020204" pitchFamily="34" charset="0"/>
              </a:rPr>
              <a:t>: inconsistencia entre reporte de consulta y el reporte manual.</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Acumulación</a:t>
            </a:r>
            <a:r>
              <a:rPr lang="es-PE" sz="2000" dirty="0">
                <a:latin typeface="Arial" panose="020B0604020202020204" pitchFamily="34" charset="0"/>
                <a:ea typeface="Calibri" panose="020F0502020204030204" pitchFamily="34" charset="0"/>
                <a:cs typeface="Arial" panose="020B0604020202020204" pitchFamily="34" charset="0"/>
              </a:rPr>
              <a:t>: no te permite acumular expedientes de reclamo. IMPLEMENTADO.</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Alertas</a:t>
            </a:r>
            <a:r>
              <a:rPr lang="es-PE" sz="2000" dirty="0">
                <a:latin typeface="Arial" panose="020B0604020202020204" pitchFamily="34" charset="0"/>
                <a:ea typeface="Calibri" panose="020F0502020204030204" pitchFamily="34" charset="0"/>
                <a:cs typeface="Arial" panose="020B0604020202020204" pitchFamily="34" charset="0"/>
              </a:rPr>
              <a:t>: requerimientos pendiente cuando ya están atendidos y se solicita alerta de reporte de vencimiento de expedientes a cada resolutor. IMPLEMENTADO CON ERROR (resolvió y sigue)</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Estandarización</a:t>
            </a:r>
            <a:r>
              <a:rPr lang="es-PE" sz="2000" dirty="0">
                <a:latin typeface="Arial" panose="020B0604020202020204" pitchFamily="34" charset="0"/>
                <a:ea typeface="Calibri" panose="020F0502020204030204" pitchFamily="34" charset="0"/>
                <a:cs typeface="Arial" panose="020B0604020202020204" pitchFamily="34" charset="0"/>
              </a:rPr>
              <a:t> de carga de </a:t>
            </a:r>
            <a:r>
              <a:rPr lang="es-PE" sz="2000" dirty="0">
                <a:effectLst/>
                <a:latin typeface="Arial" panose="020B0604020202020204" pitchFamily="34" charset="0"/>
                <a:ea typeface="Calibri" panose="020F0502020204030204" pitchFamily="34" charset="0"/>
                <a:cs typeface="Arial" panose="020B0604020202020204" pitchFamily="34" charset="0"/>
              </a:rPr>
              <a:t>documentos digitalizados.</a:t>
            </a:r>
          </a:p>
          <a:p>
            <a:pPr lvl="0">
              <a:lnSpc>
                <a:spcPct val="107000"/>
              </a:lnSpc>
              <a:spcAft>
                <a:spcPts val="800"/>
              </a:spcAft>
            </a:pPr>
            <a:endParaRPr lang="es-P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4284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1106401" y="3287432"/>
            <a:ext cx="10515600" cy="636373"/>
          </a:xfrm>
        </p:spPr>
        <p:txBody>
          <a:bodyPr>
            <a:noAutofit/>
          </a:bodyPr>
          <a:lstStyle/>
          <a:p>
            <a:pPr algn="ctr"/>
            <a:r>
              <a:rPr lang="es-ES" sz="3800" b="1" dirty="0">
                <a:latin typeface="Arial" panose="020B0604020202020204" pitchFamily="34" charset="0"/>
                <a:cs typeface="Arial" panose="020B0604020202020204" pitchFamily="34" charset="0"/>
              </a:rPr>
              <a:t>GRACIAS </a:t>
            </a:r>
            <a:endParaRPr lang="es-PE" sz="3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1177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63A6AE8B7E4A2449C903AFD2456BD74" ma:contentTypeVersion="4" ma:contentTypeDescription="Crear nuevo documento." ma:contentTypeScope="" ma:versionID="ddec260070336827ee8c328f02272273">
  <xsd:schema xmlns:xsd="http://www.w3.org/2001/XMLSchema" xmlns:xs="http://www.w3.org/2001/XMLSchema" xmlns:p="http://schemas.microsoft.com/office/2006/metadata/properties" xmlns:ns2="c4795172-acc8-41fc-abdb-af5ed44f61af" targetNamespace="http://schemas.microsoft.com/office/2006/metadata/properties" ma:root="true" ma:fieldsID="590a657cbc5fcb450edb0ba38c295f5b" ns2:_="">
    <xsd:import namespace="c4795172-acc8-41fc-abdb-af5ed44f61a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795172-acc8-41fc-abdb-af5ed44f61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3A773BE-010F-40D3-9FEB-0AA67D85A92F}"/>
</file>

<file path=customXml/itemProps2.xml><?xml version="1.0" encoding="utf-8"?>
<ds:datastoreItem xmlns:ds="http://schemas.openxmlformats.org/officeDocument/2006/customXml" ds:itemID="{C1873BD8-939A-4384-903F-242E426428A0}"/>
</file>

<file path=customXml/itemProps3.xml><?xml version="1.0" encoding="utf-8"?>
<ds:datastoreItem xmlns:ds="http://schemas.openxmlformats.org/officeDocument/2006/customXml" ds:itemID="{8CF5570F-8573-4897-9925-35AA70EB6F94}"/>
</file>

<file path=docProps/app.xml><?xml version="1.0" encoding="utf-8"?>
<Properties xmlns="http://schemas.openxmlformats.org/officeDocument/2006/extended-properties" xmlns:vt="http://schemas.openxmlformats.org/officeDocument/2006/docPropsVTypes">
  <TotalTime>23760</TotalTime>
  <Words>3166</Words>
  <Application>Microsoft Office PowerPoint</Application>
  <PresentationFormat>Panorámica</PresentationFormat>
  <Paragraphs>1356</Paragraphs>
  <Slides>22</Slides>
  <Notes>22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Calibri</vt:lpstr>
      <vt:lpstr>Calibri Light</vt:lpstr>
      <vt:lpstr>Times New Roman</vt:lpstr>
      <vt:lpstr>Tema de Office</vt:lpstr>
      <vt:lpstr>Presentación de PowerPoint</vt:lpstr>
      <vt:lpstr>STOCK DE DOCUMENTOS– 2024</vt:lpstr>
      <vt:lpstr>PRODUCTIVIDAD RECLAMOS – 2023 - 2024</vt:lpstr>
      <vt:lpstr>PRODUCTIVIDAD FEBRERO 2024</vt:lpstr>
      <vt:lpstr>PROGRAMACIÓN Y PRODUCCIÓN–2023-2024</vt:lpstr>
      <vt:lpstr>PRODUCTIVIDAD POR SUPERVISIÓN</vt:lpstr>
      <vt:lpstr>PROYECTADO Y NO APLICADO </vt:lpstr>
      <vt:lpstr>PRODUCCIÓN POR RESOLUTOR-DCCI</vt:lpstr>
      <vt:lpstr>PRODUCCIÓN POR RESOLUTOR-DCCII</vt:lpstr>
      <vt:lpstr>PRODUCCIÓN POR RESOLUTOR-DCP</vt:lpstr>
      <vt:lpstr>STOCK VENCIDOS</vt:lpstr>
      <vt:lpstr>NO GESTIONABLE Y REINGRESADOS </vt:lpstr>
      <vt:lpstr>ITOP REPORTADOS–2023</vt:lpstr>
      <vt:lpstr>RESULTADOS DE RECLAMO - 2024 </vt:lpstr>
      <vt:lpstr>SUMILLAS DE NULIDADES DECLARADAS POR LA GAFA MARZO-DCCI</vt:lpstr>
      <vt:lpstr>SUMILLAS DE NULIDADES DECLARADAS POR LA GAFA-DCCII</vt:lpstr>
      <vt:lpstr>SUMILLAS DE NULIDADES DECLARADAS POR LA GAFA-DCP</vt:lpstr>
      <vt:lpstr>OPORTUNIDAD DE MEJORA </vt:lpstr>
      <vt:lpstr>OPORTUNIDAD DE MEJORA </vt:lpstr>
      <vt:lpstr>DESAFIOS/PROPUESTAS </vt:lpstr>
      <vt:lpstr>REQUERIMIENTO: REPORTES DE GESTIÓN</vt:lpstr>
      <vt:lpstr>GRACIAS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Rondon Malaga Johanna Karelle</dc:creator>
  <cp:lastModifiedBy>Gonzales Estrada Sara Stephany</cp:lastModifiedBy>
  <cp:revision>554</cp:revision>
  <cp:lastPrinted>2023-01-10T23:55:26Z</cp:lastPrinted>
  <dcterms:created xsi:type="dcterms:W3CDTF">2022-11-02T14:55:38Z</dcterms:created>
  <dcterms:modified xsi:type="dcterms:W3CDTF">2024-04-22T15:02:09Z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0x010100863A6AE8B7E4A2449C903AFD2456BD74</vt:lpwstr>
  </property>
</Properties>
</file>