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entation.xml" ContentType="application/vnd.openxmlformats-officedocument.presentationml.presentation.main+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9.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heme/themeOverride3.xml" ContentType="application/vnd.openxmlformats-officedocument.themeOverride+xml"/>
  <Override PartName="/ppt/charts/chart3.xml" ContentType="application/vnd.openxmlformats-officedocument.drawingml.chart+xml"/>
  <Override PartName="/ppt/charts/colors3.xml" ContentType="application/vnd.ms-office.chartcolorstyle+xml"/>
  <Override PartName="/ppt/theme/themeOverride2.xml" ContentType="application/vnd.openxmlformats-officedocument.themeOverride+xml"/>
  <Override PartName="/ppt/charts/colors2.xml" ContentType="application/vnd.ms-office.chartcolorstyle+xml"/>
  <Override PartName="/ppt/charts/style2.xml" ContentType="application/vnd.ms-office.chartstyle+xml"/>
  <Override PartName="/ppt/charts/chart2.xml" ContentType="application/vnd.openxmlformats-officedocument.drawingml.chart+xml"/>
  <Override PartName="/ppt/theme/themeOverride1.xml" ContentType="application/vnd.openxmlformats-officedocument.themeOverride+xml"/>
  <Override PartName="/ppt/charts/style3.xml" ContentType="application/vnd.ms-office.chartstyle+xml"/>
  <Override PartName="/ppt/charts/colors1.xml" ContentType="application/vnd.ms-office.chartcolorstyle+xml"/>
  <Override PartName="/ppt/charts/style1.xml" ContentType="application/vnd.ms-office.chartstyle+xml"/>
  <Override PartName="/ppt/charts/chart1.xml" ContentType="application/vnd.openxmlformats-officedocument.drawingml.chart+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5744" r:id="rId2"/>
    <p:sldId id="5395" r:id="rId3"/>
    <p:sldId id="5762" r:id="rId4"/>
    <p:sldId id="5746" r:id="rId5"/>
    <p:sldId id="5782" r:id="rId6"/>
    <p:sldId id="5761" r:id="rId7"/>
    <p:sldId id="5777" r:id="rId8"/>
    <p:sldId id="5778" r:id="rId9"/>
    <p:sldId id="5787" r:id="rId10"/>
    <p:sldId id="5785" r:id="rId11"/>
    <p:sldId id="5786" r:id="rId12"/>
    <p:sldId id="5764" r:id="rId13"/>
    <p:sldId id="5774" r:id="rId14"/>
    <p:sldId id="5780" r:id="rId15"/>
    <p:sldId id="5788" r:id="rId16"/>
    <p:sldId id="5790" r:id="rId17"/>
    <p:sldId id="5793" r:id="rId18"/>
    <p:sldId id="5789" r:id="rId19"/>
    <p:sldId id="5791" r:id="rId20"/>
    <p:sldId id="5784" r:id="rId21"/>
    <p:sldId id="5792" r:id="rId22"/>
    <p:sldId id="5767" r:id="rId23"/>
    <p:sldId id="5752" r:id="rId24"/>
    <p:sldId id="5757" r:id="rId25"/>
  </p:sldIdLst>
  <p:sldSz cx="12192000" cy="6858000"/>
  <p:notesSz cx="6797675" cy="9926638"/>
  <p:defaultText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a:srgbClr val="FF66FF"/>
    <a:srgbClr val="CCFF99"/>
    <a:srgbClr val="CCFFCC"/>
    <a:srgbClr val="99CC00"/>
    <a:srgbClr val="2FBF85"/>
    <a:srgbClr val="FFCCFF"/>
    <a:srgbClr val="FFCCCC"/>
    <a:srgbClr val="99FFCC"/>
    <a:srgbClr val="5869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E171933-4619-4E11-9A3F-F7608DF75F80}" styleName="Estilo medio 1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2838BEF-8BB2-4498-84A7-C5851F593DF1}" styleName="Estilo medio 4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27F97BB-C833-4FB7-BDE5-3F7075034690}" styleName="Estilo temático 2 - Énfasis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Estilo temático 2 - Énfasis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Estilo temático 2 - Énfasis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Estilo temático 2 - Énfasis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C4B1156A-380E-4F78-BDF5-A606A8083BF9}" styleName="Estilo medio 4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Estilo medio 4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D083AE6-46FA-4A59-8FB0-9F97EB10719F}" styleName="Estilo claro 3 - Acento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E8B1032C-EA38-4F05-BA0D-38AFFFC7BED3}" styleName="Estilo claro 3 - Acento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929F9F4-4A8F-4326-A1B4-22849713DDAB}" styleName="Estilo oscuro 1 - Énfasis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Estilo oscuro 1 - Énfasis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1" i="0" u="none" strike="noStrike" kern="1200" spc="0" baseline="0">
                <a:solidFill>
                  <a:sysClr val="windowText" lastClr="000000"/>
                </a:solidFill>
                <a:latin typeface="+mn-lt"/>
                <a:ea typeface="+mn-ea"/>
                <a:cs typeface="+mn-cs"/>
              </a:defRPr>
            </a:pPr>
            <a:r>
              <a:rPr lang="es-ES" b="1"/>
              <a:t>EVOLUCION DE INGRESOS Y SALIDAS EXPEDIENTES DE RECLAMO 2019-2024*</a:t>
            </a:r>
            <a:endParaRPr lang="es-PE" b="1"/>
          </a:p>
        </c:rich>
      </c:tx>
      <c:overlay val="0"/>
      <c:spPr>
        <a:noFill/>
        <a:ln>
          <a:noFill/>
        </a:ln>
        <a:effectLst/>
      </c:spPr>
      <c:txPr>
        <a:bodyPr rot="0" spcFirstLastPara="1" vertOverflow="ellipsis" vert="horz" wrap="square" anchor="ctr" anchorCtr="1"/>
        <a:lstStyle/>
        <a:p>
          <a:pPr>
            <a:defRPr sz="1440" b="1" i="0" u="none" strike="noStrike" kern="1200" spc="0" baseline="0">
              <a:solidFill>
                <a:sysClr val="windowText" lastClr="000000"/>
              </a:solidFill>
              <a:latin typeface="+mn-lt"/>
              <a:ea typeface="+mn-ea"/>
              <a:cs typeface="+mn-cs"/>
            </a:defRPr>
          </a:pPr>
          <a:endParaRPr lang="es-PE"/>
        </a:p>
      </c:txPr>
    </c:title>
    <c:autoTitleDeleted val="0"/>
    <c:plotArea>
      <c:layout/>
      <c:barChart>
        <c:barDir val="col"/>
        <c:grouping val="clustered"/>
        <c:varyColors val="0"/>
        <c:ser>
          <c:idx val="0"/>
          <c:order val="0"/>
          <c:tx>
            <c:v>INGRESOS</c:v>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'INGRESOS Y SALIDAS'!$B$3:$G$3</c:f>
              <c:numCache>
                <c:formatCode>General</c:formatCode>
                <c:ptCount val="6"/>
                <c:pt idx="0">
                  <c:v>2019</c:v>
                </c:pt>
                <c:pt idx="1">
                  <c:v>2020</c:v>
                </c:pt>
                <c:pt idx="2">
                  <c:v>2021</c:v>
                </c:pt>
                <c:pt idx="3">
                  <c:v>2022</c:v>
                </c:pt>
                <c:pt idx="4">
                  <c:v>2023</c:v>
                </c:pt>
                <c:pt idx="5">
                  <c:v>2024</c:v>
                </c:pt>
              </c:numCache>
            </c:numRef>
          </c:cat>
          <c:val>
            <c:numRef>
              <c:f>'INGRESOS Y SALIDAS'!$B$4:$G$4</c:f>
              <c:numCache>
                <c:formatCode>#,##0</c:formatCode>
                <c:ptCount val="6"/>
                <c:pt idx="0">
                  <c:v>4409</c:v>
                </c:pt>
                <c:pt idx="1">
                  <c:v>3249</c:v>
                </c:pt>
                <c:pt idx="2">
                  <c:v>5860</c:v>
                </c:pt>
                <c:pt idx="3">
                  <c:v>5970</c:v>
                </c:pt>
                <c:pt idx="4">
                  <c:v>4678</c:v>
                </c:pt>
                <c:pt idx="5">
                  <c:v>1206</c:v>
                </c:pt>
              </c:numCache>
            </c:numRef>
          </c:val>
          <c:extLst>
            <c:ext xmlns:c16="http://schemas.microsoft.com/office/drawing/2014/chart" uri="{C3380CC4-5D6E-409C-BE32-E72D297353CC}">
              <c16:uniqueId val="{00000000-C8F4-4155-9220-8B88C1197F0D}"/>
            </c:ext>
          </c:extLst>
        </c:ser>
        <c:ser>
          <c:idx val="1"/>
          <c:order val="1"/>
          <c:tx>
            <c:v>SALIDAS</c:v>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'INGRESOS Y SALIDAS'!$B$3:$G$3</c:f>
              <c:numCache>
                <c:formatCode>General</c:formatCode>
                <c:ptCount val="6"/>
                <c:pt idx="0">
                  <c:v>2019</c:v>
                </c:pt>
                <c:pt idx="1">
                  <c:v>2020</c:v>
                </c:pt>
                <c:pt idx="2">
                  <c:v>2021</c:v>
                </c:pt>
                <c:pt idx="3">
                  <c:v>2022</c:v>
                </c:pt>
                <c:pt idx="4">
                  <c:v>2023</c:v>
                </c:pt>
                <c:pt idx="5">
                  <c:v>2024</c:v>
                </c:pt>
              </c:numCache>
            </c:numRef>
          </c:cat>
          <c:val>
            <c:numRef>
              <c:f>'INGRESOS Y SALIDAS'!$B$5:$G$5</c:f>
              <c:numCache>
                <c:formatCode>#,##0</c:formatCode>
                <c:ptCount val="6"/>
                <c:pt idx="0">
                  <c:v>3435</c:v>
                </c:pt>
                <c:pt idx="1">
                  <c:v>2981</c:v>
                </c:pt>
                <c:pt idx="2">
                  <c:v>3455</c:v>
                </c:pt>
                <c:pt idx="3">
                  <c:v>5581</c:v>
                </c:pt>
                <c:pt idx="4">
                  <c:v>6248</c:v>
                </c:pt>
                <c:pt idx="5">
                  <c:v>1318</c:v>
                </c:pt>
              </c:numCache>
            </c:numRef>
          </c:val>
          <c:extLst>
            <c:ext xmlns:c16="http://schemas.microsoft.com/office/drawing/2014/chart" uri="{C3380CC4-5D6E-409C-BE32-E72D297353CC}">
              <c16:uniqueId val="{00000001-C8F4-4155-9220-8B88C1197F0D}"/>
            </c:ext>
          </c:extLst>
        </c:ser>
        <c:dLbls>
          <c:dLblPos val="outEnd"/>
          <c:showLegendKey val="0"/>
          <c:showVal val="1"/>
          <c:showCatName val="0"/>
          <c:showSerName val="0"/>
          <c:showPercent val="0"/>
          <c:showBubbleSize val="0"/>
        </c:dLbls>
        <c:gapWidth val="219"/>
        <c:overlap val="-27"/>
        <c:axId val="2117999904"/>
        <c:axId val="2117996576"/>
      </c:barChart>
      <c:catAx>
        <c:axId val="2117999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PE"/>
          </a:p>
        </c:txPr>
        <c:crossAx val="2117996576"/>
        <c:crosses val="autoZero"/>
        <c:auto val="1"/>
        <c:lblAlgn val="ctr"/>
        <c:lblOffset val="100"/>
        <c:noMultiLvlLbl val="0"/>
      </c:catAx>
      <c:valAx>
        <c:axId val="2117996576"/>
        <c:scaling>
          <c:orientation val="minMax"/>
        </c:scaling>
        <c:delete val="0"/>
        <c:axPos val="l"/>
        <c:majorGridlines>
          <c:spPr>
            <a:ln w="6350" cap="flat" cmpd="sng" algn="ctr">
              <a:solidFill>
                <a:srgbClr val="ED7D31"/>
              </a:solidFill>
              <a:prstDash val="solid"/>
              <a:miter lim="800000"/>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PE"/>
          </a:p>
        </c:txPr>
        <c:crossAx val="21179999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PE"/>
        </a:p>
      </c:txPr>
    </c:legend>
    <c:plotVisOnly val="1"/>
    <c:dispBlanksAs val="gap"/>
    <c:showDLblsOverMax val="0"/>
  </c:chart>
  <c:spPr>
    <a:solidFill>
      <a:sysClr val="window" lastClr="FFFFFF"/>
    </a:solidFill>
    <a:ln w="12700" cap="flat" cmpd="sng" algn="ctr">
      <a:solidFill>
        <a:srgbClr val="ED7D31"/>
      </a:solidFill>
      <a:prstDash val="solid"/>
      <a:miter lim="800000"/>
    </a:ln>
    <a:effectLst/>
  </c:spPr>
  <c:txPr>
    <a:bodyPr/>
    <a:lstStyle/>
    <a:p>
      <a:pPr>
        <a:defRPr sz="1200">
          <a:solidFill>
            <a:sysClr val="windowText" lastClr="000000"/>
          </a:solidFill>
          <a:latin typeface="+mn-lt"/>
          <a:ea typeface="+mn-ea"/>
          <a:cs typeface="+mn-cs"/>
        </a:defRPr>
      </a:pPr>
      <a:endParaRPr lang="es-PE"/>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80" b="1" i="0" u="none" strike="noStrike" kern="1200" spc="0" baseline="0">
                <a:solidFill>
                  <a:schemeClr val="dk1"/>
                </a:solidFill>
                <a:latin typeface="+mn-lt"/>
                <a:ea typeface="+mn-ea"/>
                <a:cs typeface="+mn-cs"/>
              </a:defRPr>
            </a:pPr>
            <a:r>
              <a:rPr lang="es-PE" b="1"/>
              <a:t>Resultados de Reclamos de Aduanas</a:t>
            </a:r>
          </a:p>
          <a:p>
            <a:pPr>
              <a:defRPr b="1"/>
            </a:pPr>
            <a:r>
              <a:rPr lang="es-PE" b="1"/>
              <a:t>Ene-Dic 2023</a:t>
            </a:r>
          </a:p>
        </c:rich>
      </c:tx>
      <c:layout>
        <c:manualLayout>
          <c:xMode val="edge"/>
          <c:yMode val="edge"/>
          <c:x val="0.35653306494582915"/>
          <c:y val="3.7888351669385606E-3"/>
        </c:manualLayout>
      </c:layout>
      <c:overlay val="0"/>
      <c:spPr>
        <a:noFill/>
        <a:ln>
          <a:noFill/>
        </a:ln>
        <a:effectLst/>
      </c:spPr>
      <c:txPr>
        <a:bodyPr rot="0" spcFirstLastPara="1" vertOverflow="ellipsis" vert="horz" wrap="square" anchor="ctr" anchorCtr="1"/>
        <a:lstStyle/>
        <a:p>
          <a:pPr>
            <a:defRPr sz="1680" b="1" i="0" u="none" strike="noStrike" kern="1200" spc="0" baseline="0">
              <a:solidFill>
                <a:schemeClr val="dk1"/>
              </a:solidFill>
              <a:latin typeface="+mn-lt"/>
              <a:ea typeface="+mn-ea"/>
              <a:cs typeface="+mn-cs"/>
            </a:defRPr>
          </a:pPr>
          <a:endParaRPr lang="es-PE"/>
        </a:p>
      </c:txPr>
    </c:title>
    <c:autoTitleDeleted val="0"/>
    <c:plotArea>
      <c:layout/>
      <c:barChart>
        <c:barDir val="col"/>
        <c:grouping val="clustered"/>
        <c:varyColors val="0"/>
        <c:ser>
          <c:idx val="0"/>
          <c:order val="0"/>
          <c:spPr>
            <a:solidFill>
              <a:schemeClr val="accent2">
                <a:lumMod val="60000"/>
                <a:lumOff val="40000"/>
              </a:schemeClr>
            </a:solidFill>
            <a:ln>
              <a:noFill/>
            </a:ln>
            <a:effectLst/>
          </c:spPr>
          <c:invertIfNegative val="0"/>
          <c:dPt>
            <c:idx val="6"/>
            <c:invertIfNegative val="0"/>
            <c:bubble3D val="0"/>
            <c:spPr>
              <a:gradFill flip="none" rotWithShape="1">
                <a:gsLst>
                  <a:gs pos="0">
                    <a:schemeClr val="accent6">
                      <a:lumMod val="20000"/>
                      <a:lumOff val="80000"/>
                      <a:shade val="30000"/>
                      <a:satMod val="115000"/>
                    </a:schemeClr>
                  </a:gs>
                  <a:gs pos="50000">
                    <a:schemeClr val="accent6">
                      <a:lumMod val="20000"/>
                      <a:lumOff val="80000"/>
                      <a:shade val="67500"/>
                      <a:satMod val="115000"/>
                    </a:schemeClr>
                  </a:gs>
                  <a:gs pos="100000">
                    <a:schemeClr val="accent6">
                      <a:lumMod val="20000"/>
                      <a:lumOff val="80000"/>
                      <a:shade val="100000"/>
                      <a:satMod val="115000"/>
                    </a:schemeClr>
                  </a:gs>
                </a:gsLst>
                <a:path path="circle">
                  <a:fillToRect t="100000" r="100000"/>
                </a:path>
                <a:tileRect l="-100000" b="-100000"/>
              </a:gradFill>
              <a:ln w="6350" cap="flat" cmpd="sng" algn="ctr">
                <a:solidFill>
                  <a:schemeClr val="accent6"/>
                </a:solidFill>
                <a:prstDash val="solid"/>
                <a:miter lim="800000"/>
              </a:ln>
              <a:effectLst/>
            </c:spPr>
            <c:extLst>
              <c:ext xmlns:c16="http://schemas.microsoft.com/office/drawing/2014/chart" uri="{C3380CC4-5D6E-409C-BE32-E72D297353CC}">
                <c16:uniqueId val="{00000001-3CCD-453E-ABA9-FF0DB7543258}"/>
              </c:ext>
            </c:extLst>
          </c:dPt>
          <c:cat>
            <c:strRef>
              <c:f>'RECLAMOS-RTF'!$A$5:$A$11</c:f>
              <c:strCache>
                <c:ptCount val="7"/>
                <c:pt idx="0">
                  <c:v>Infundado</c:v>
                </c:pt>
                <c:pt idx="1">
                  <c:v>Fundado/F.P</c:v>
                </c:pt>
                <c:pt idx="2">
                  <c:v>Nulidad</c:v>
                </c:pt>
                <c:pt idx="3">
                  <c:v>Improcedente</c:v>
                </c:pt>
                <c:pt idx="4">
                  <c:v>Desistimiento</c:v>
                </c:pt>
                <c:pt idx="5">
                  <c:v>Otros</c:v>
                </c:pt>
                <c:pt idx="6">
                  <c:v>Total</c:v>
                </c:pt>
              </c:strCache>
            </c:strRef>
          </c:cat>
          <c:val>
            <c:numRef>
              <c:f>'RECLAMOS-RTF'!$B$5:$B$11</c:f>
              <c:numCache>
                <c:formatCode>General</c:formatCode>
                <c:ptCount val="7"/>
                <c:pt idx="0">
                  <c:v>4740</c:v>
                </c:pt>
                <c:pt idx="1">
                  <c:v>211</c:v>
                </c:pt>
                <c:pt idx="2">
                  <c:v>404</c:v>
                </c:pt>
                <c:pt idx="3">
                  <c:v>8</c:v>
                </c:pt>
                <c:pt idx="4">
                  <c:v>4</c:v>
                </c:pt>
                <c:pt idx="5">
                  <c:v>66</c:v>
                </c:pt>
                <c:pt idx="6">
                  <c:v>5433</c:v>
                </c:pt>
              </c:numCache>
            </c:numRef>
          </c:val>
          <c:extLst>
            <c:ext xmlns:c16="http://schemas.microsoft.com/office/drawing/2014/chart" uri="{C3380CC4-5D6E-409C-BE32-E72D297353CC}">
              <c16:uniqueId val="{00000002-3CCD-453E-ABA9-FF0DB7543258}"/>
            </c:ext>
          </c:extLst>
        </c:ser>
        <c:ser>
          <c:idx val="1"/>
          <c:order val="1"/>
          <c:spPr>
            <a:solidFill>
              <a:schemeClr val="accent2"/>
            </a:solidFill>
            <a:ln>
              <a:noFill/>
            </a:ln>
            <a:effectLst/>
          </c:spPr>
          <c:invertIfNegative val="0"/>
          <c:cat>
            <c:strRef>
              <c:f>'RECLAMOS-RTF'!$A$5:$A$11</c:f>
              <c:strCache>
                <c:ptCount val="7"/>
                <c:pt idx="0">
                  <c:v>Infundado</c:v>
                </c:pt>
                <c:pt idx="1">
                  <c:v>Fundado/F.P</c:v>
                </c:pt>
                <c:pt idx="2">
                  <c:v>Nulidad</c:v>
                </c:pt>
                <c:pt idx="3">
                  <c:v>Improcedente</c:v>
                </c:pt>
                <c:pt idx="4">
                  <c:v>Desistimiento</c:v>
                </c:pt>
                <c:pt idx="5">
                  <c:v>Otros</c:v>
                </c:pt>
                <c:pt idx="6">
                  <c:v>Total</c:v>
                </c:pt>
              </c:strCache>
            </c:strRef>
          </c:cat>
          <c:val>
            <c:numRef>
              <c:f>'RECLAMOS-RTF'!$C$5:$C$11</c:f>
              <c:numCache>
                <c:formatCode>0.00%</c:formatCode>
                <c:ptCount val="7"/>
                <c:pt idx="0">
                  <c:v>0.87244616234124794</c:v>
                </c:pt>
                <c:pt idx="1">
                  <c:v>3.8836738450211669E-2</c:v>
                </c:pt>
                <c:pt idx="2">
                  <c:v>7.4360390207988222E-2</c:v>
                </c:pt>
                <c:pt idx="3">
                  <c:v>1.4724829744156083E-3</c:v>
                </c:pt>
                <c:pt idx="4">
                  <c:v>7.3624148720780416E-4</c:v>
                </c:pt>
                <c:pt idx="5">
                  <c:v>1.2147984538928768E-2</c:v>
                </c:pt>
                <c:pt idx="6">
                  <c:v>1</c:v>
                </c:pt>
              </c:numCache>
            </c:numRef>
          </c:val>
          <c:extLst>
            <c:ext xmlns:c16="http://schemas.microsoft.com/office/drawing/2014/chart" uri="{C3380CC4-5D6E-409C-BE32-E72D297353CC}">
              <c16:uniqueId val="{00000003-3CCD-453E-ABA9-FF0DB7543258}"/>
            </c:ext>
          </c:extLst>
        </c:ser>
        <c:dLbls>
          <c:showLegendKey val="0"/>
          <c:showVal val="0"/>
          <c:showCatName val="0"/>
          <c:showSerName val="0"/>
          <c:showPercent val="0"/>
          <c:showBubbleSize val="0"/>
        </c:dLbls>
        <c:gapWidth val="150"/>
        <c:axId val="1422598640"/>
        <c:axId val="1422580752"/>
      </c:barChart>
      <c:catAx>
        <c:axId val="1422598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dk1"/>
                </a:solidFill>
                <a:latin typeface="+mn-lt"/>
                <a:ea typeface="+mn-ea"/>
                <a:cs typeface="+mn-cs"/>
              </a:defRPr>
            </a:pPr>
            <a:endParaRPr lang="es-PE"/>
          </a:p>
        </c:txPr>
        <c:crossAx val="1422580752"/>
        <c:crosses val="autoZero"/>
        <c:auto val="1"/>
        <c:lblAlgn val="ctr"/>
        <c:lblOffset val="100"/>
        <c:noMultiLvlLbl val="0"/>
      </c:catAx>
      <c:valAx>
        <c:axId val="1422580752"/>
        <c:scaling>
          <c:orientation val="minMax"/>
        </c:scaling>
        <c:delete val="0"/>
        <c:axPos val="l"/>
        <c:majorGridlines>
          <c:spPr>
            <a:ln w="6350" cap="flat" cmpd="sng" algn="ctr">
              <a:solidFill>
                <a:schemeClr val="accent2"/>
              </a:solidFill>
              <a:prstDash val="solid"/>
              <a:miter lim="800000"/>
            </a:ln>
            <a:effectLst/>
          </c:spPr>
        </c:majorGridlines>
        <c:title>
          <c:tx>
            <c:rich>
              <a:bodyPr rot="-5400000" spcFirstLastPara="1" vertOverflow="ellipsis" vert="horz" wrap="square" anchor="ctr" anchorCtr="1"/>
              <a:lstStyle/>
              <a:p>
                <a:pPr>
                  <a:defRPr sz="1400" b="0" i="0" u="none" strike="noStrike" kern="1200" baseline="0">
                    <a:solidFill>
                      <a:schemeClr val="dk1"/>
                    </a:solidFill>
                    <a:latin typeface="+mn-lt"/>
                    <a:ea typeface="+mn-ea"/>
                    <a:cs typeface="+mn-cs"/>
                  </a:defRPr>
                </a:pPr>
                <a:r>
                  <a:rPr lang="es-PE"/>
                  <a:t>TOTALES</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dk1"/>
                  </a:solidFill>
                  <a:latin typeface="+mn-lt"/>
                  <a:ea typeface="+mn-ea"/>
                  <a:cs typeface="+mn-cs"/>
                </a:defRPr>
              </a:pPr>
              <a:endParaRPr lang="es-PE"/>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dk1"/>
                </a:solidFill>
                <a:latin typeface="+mn-lt"/>
                <a:ea typeface="+mn-ea"/>
                <a:cs typeface="+mn-cs"/>
              </a:defRPr>
            </a:pPr>
            <a:endParaRPr lang="es-PE"/>
          </a:p>
        </c:txPr>
        <c:crossAx val="1422598640"/>
        <c:crosses val="autoZero"/>
        <c:crossBetween val="between"/>
      </c:valAx>
      <c:dTable>
        <c:showHorzBorder val="1"/>
        <c:showVertBorder val="1"/>
        <c:showOutline val="1"/>
        <c:showKeys val="1"/>
        <c:spPr>
          <a:noFill/>
          <a:ln w="6350" cap="flat" cmpd="sng" algn="ctr">
            <a:solidFill>
              <a:srgbClr val="ED7D31"/>
            </a:solidFill>
            <a:prstDash val="solid"/>
            <a:miter lim="800000"/>
          </a:ln>
          <a:effectLst/>
        </c:spPr>
        <c:txPr>
          <a:bodyPr rot="0" spcFirstLastPara="1" vertOverflow="ellipsis" vert="horz" wrap="square" anchor="ctr" anchorCtr="1"/>
          <a:lstStyle/>
          <a:p>
            <a:pPr rtl="0">
              <a:defRPr sz="1400" b="1" i="0" u="none" strike="noStrike" kern="1200" baseline="0">
                <a:solidFill>
                  <a:sysClr val="windowText" lastClr="000000"/>
                </a:solidFill>
                <a:latin typeface="+mn-lt"/>
                <a:ea typeface="+mn-ea"/>
                <a:cs typeface="+mn-cs"/>
              </a:defRPr>
            </a:pPr>
            <a:endParaRPr lang="es-PE"/>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12700" cap="flat" cmpd="sng" algn="ctr">
      <a:solidFill>
        <a:schemeClr val="accent2"/>
      </a:solidFill>
      <a:prstDash val="solid"/>
      <a:miter lim="800000"/>
    </a:ln>
    <a:effectLst/>
  </c:spPr>
  <c:txPr>
    <a:bodyPr/>
    <a:lstStyle/>
    <a:p>
      <a:pPr>
        <a:defRPr sz="1400">
          <a:solidFill>
            <a:schemeClr val="dk1"/>
          </a:solidFill>
          <a:latin typeface="+mn-lt"/>
          <a:ea typeface="+mn-ea"/>
          <a:cs typeface="+mn-cs"/>
        </a:defRPr>
      </a:pPr>
      <a:endParaRPr lang="es-PE"/>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1" i="0" u="none" strike="noStrike" kern="1200" spc="0" baseline="0">
                <a:solidFill>
                  <a:sysClr val="windowText" lastClr="000000"/>
                </a:solidFill>
                <a:latin typeface="+mn-lt"/>
                <a:ea typeface="+mn-ea"/>
                <a:cs typeface="+mn-cs"/>
              </a:defRPr>
            </a:pPr>
            <a:r>
              <a:rPr lang="es-PE" b="1"/>
              <a:t>Resultados de Reclamos de Aduanas</a:t>
            </a:r>
          </a:p>
          <a:p>
            <a:pPr>
              <a:defRPr b="1"/>
            </a:pPr>
            <a:r>
              <a:rPr lang="es-PE" b="1"/>
              <a:t>Ene-Abr 2024</a:t>
            </a:r>
          </a:p>
        </c:rich>
      </c:tx>
      <c:overlay val="0"/>
      <c:spPr>
        <a:noFill/>
        <a:ln>
          <a:noFill/>
        </a:ln>
        <a:effectLst/>
      </c:spPr>
      <c:txPr>
        <a:bodyPr rot="0" spcFirstLastPara="1" vertOverflow="ellipsis" vert="horz" wrap="square" anchor="ctr" anchorCtr="1"/>
        <a:lstStyle/>
        <a:p>
          <a:pPr>
            <a:defRPr sz="1440" b="1" i="0" u="none" strike="noStrike" kern="1200" spc="0" baseline="0">
              <a:solidFill>
                <a:sysClr val="windowText" lastClr="000000"/>
              </a:solidFill>
              <a:latin typeface="+mn-lt"/>
              <a:ea typeface="+mn-ea"/>
              <a:cs typeface="+mn-cs"/>
            </a:defRPr>
          </a:pPr>
          <a:endParaRPr lang="es-PE"/>
        </a:p>
      </c:txPr>
    </c:title>
    <c:autoTitleDeleted val="0"/>
    <c:plotArea>
      <c:layout/>
      <c:barChart>
        <c:barDir val="col"/>
        <c:grouping val="clustered"/>
        <c:varyColors val="0"/>
        <c:ser>
          <c:idx val="0"/>
          <c:order val="0"/>
          <c:spPr>
            <a:solidFill>
              <a:schemeClr val="accent6"/>
            </a:solidFill>
            <a:ln w="19050" cap="flat" cmpd="sng" algn="ctr">
              <a:solidFill>
                <a:schemeClr val="lt1"/>
              </a:solidFill>
              <a:prstDash val="solid"/>
              <a:miter lim="800000"/>
            </a:ln>
            <a:effectLst/>
            <a:scene3d>
              <a:camera prst="orthographicFront"/>
              <a:lightRig rig="threePt" dir="t"/>
            </a:scene3d>
            <a:sp3d prstMaterial="matte"/>
          </c:spPr>
          <c:invertIfNegative val="0"/>
          <c:cat>
            <c:strRef>
              <c:f>RESULTADOS!$C$23:$C$29</c:f>
              <c:strCache>
                <c:ptCount val="7"/>
                <c:pt idx="0">
                  <c:v>Infundado</c:v>
                </c:pt>
                <c:pt idx="1">
                  <c:v>Fundado / F.P</c:v>
                </c:pt>
                <c:pt idx="2">
                  <c:v>Nulidad</c:v>
                </c:pt>
                <c:pt idx="3">
                  <c:v>Improcedente</c:v>
                </c:pt>
                <c:pt idx="4">
                  <c:v>Desistimiento </c:v>
                </c:pt>
                <c:pt idx="5">
                  <c:v>Otros </c:v>
                </c:pt>
                <c:pt idx="6">
                  <c:v>TOTAL</c:v>
                </c:pt>
              </c:strCache>
            </c:strRef>
          </c:cat>
          <c:val>
            <c:numRef>
              <c:f>RESULTADOS!$D$23:$D$29</c:f>
              <c:numCache>
                <c:formatCode>General</c:formatCode>
                <c:ptCount val="7"/>
                <c:pt idx="0">
                  <c:v>1272</c:v>
                </c:pt>
                <c:pt idx="1">
                  <c:v>42</c:v>
                </c:pt>
                <c:pt idx="2">
                  <c:v>107</c:v>
                </c:pt>
                <c:pt idx="3">
                  <c:v>0</c:v>
                </c:pt>
                <c:pt idx="4">
                  <c:v>1</c:v>
                </c:pt>
                <c:pt idx="5">
                  <c:v>21</c:v>
                </c:pt>
                <c:pt idx="6">
                  <c:v>1443</c:v>
                </c:pt>
              </c:numCache>
            </c:numRef>
          </c:val>
          <c:extLst>
            <c:ext xmlns:c16="http://schemas.microsoft.com/office/drawing/2014/chart" uri="{C3380CC4-5D6E-409C-BE32-E72D297353CC}">
              <c16:uniqueId val="{00000000-3B9B-4522-9010-230A93E389D9}"/>
            </c:ext>
          </c:extLst>
        </c:ser>
        <c:ser>
          <c:idx val="1"/>
          <c:order val="1"/>
          <c:spPr>
            <a:solidFill>
              <a:schemeClr val="accent5"/>
            </a:solidFill>
            <a:ln>
              <a:noFill/>
            </a:ln>
            <a:effectLst/>
          </c:spPr>
          <c:invertIfNegative val="0"/>
          <c:cat>
            <c:strRef>
              <c:f>RESULTADOS!$C$23:$C$29</c:f>
              <c:strCache>
                <c:ptCount val="7"/>
                <c:pt idx="0">
                  <c:v>Infundado</c:v>
                </c:pt>
                <c:pt idx="1">
                  <c:v>Fundado / F.P</c:v>
                </c:pt>
                <c:pt idx="2">
                  <c:v>Nulidad</c:v>
                </c:pt>
                <c:pt idx="3">
                  <c:v>Improcedente</c:v>
                </c:pt>
                <c:pt idx="4">
                  <c:v>Desistimiento </c:v>
                </c:pt>
                <c:pt idx="5">
                  <c:v>Otros </c:v>
                </c:pt>
                <c:pt idx="6">
                  <c:v>TOTAL</c:v>
                </c:pt>
              </c:strCache>
            </c:strRef>
          </c:cat>
          <c:val>
            <c:numRef>
              <c:f>RESULTADOS!$E$23:$E$29</c:f>
              <c:numCache>
                <c:formatCode>0.00%</c:formatCode>
                <c:ptCount val="7"/>
                <c:pt idx="0">
                  <c:v>0.88149688149688155</c:v>
                </c:pt>
                <c:pt idx="1">
                  <c:v>2.9106029106029108E-2</c:v>
                </c:pt>
                <c:pt idx="2">
                  <c:v>7.4151074151074151E-2</c:v>
                </c:pt>
                <c:pt idx="3">
                  <c:v>0</c:v>
                </c:pt>
                <c:pt idx="4">
                  <c:v>6.93000693000693E-4</c:v>
                </c:pt>
                <c:pt idx="5">
                  <c:v>1.4553014553014554E-2</c:v>
                </c:pt>
                <c:pt idx="6">
                  <c:v>1</c:v>
                </c:pt>
              </c:numCache>
            </c:numRef>
          </c:val>
          <c:extLst>
            <c:ext xmlns:c16="http://schemas.microsoft.com/office/drawing/2014/chart" uri="{C3380CC4-5D6E-409C-BE32-E72D297353CC}">
              <c16:uniqueId val="{00000001-3B9B-4522-9010-230A93E389D9}"/>
            </c:ext>
          </c:extLst>
        </c:ser>
        <c:dLbls>
          <c:showLegendKey val="0"/>
          <c:showVal val="0"/>
          <c:showCatName val="0"/>
          <c:showSerName val="0"/>
          <c:showPercent val="0"/>
          <c:showBubbleSize val="0"/>
        </c:dLbls>
        <c:gapWidth val="150"/>
        <c:axId val="592604288"/>
        <c:axId val="592581824"/>
      </c:barChart>
      <c:catAx>
        <c:axId val="592604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PE"/>
          </a:p>
        </c:txPr>
        <c:crossAx val="592581824"/>
        <c:crosses val="autoZero"/>
        <c:auto val="1"/>
        <c:lblAlgn val="ctr"/>
        <c:lblOffset val="100"/>
        <c:noMultiLvlLbl val="0"/>
      </c:catAx>
      <c:valAx>
        <c:axId val="592581824"/>
        <c:scaling>
          <c:orientation val="minMax"/>
        </c:scaling>
        <c:delete val="0"/>
        <c:axPos val="l"/>
        <c:majorGridlines>
          <c:spPr>
            <a:ln w="6350" cap="flat" cmpd="sng" algn="ctr">
              <a:solidFill>
                <a:srgbClr val="70AD47"/>
              </a:solidFill>
              <a:prstDash val="solid"/>
              <a:miter lim="800000"/>
            </a:ln>
            <a:effectLst/>
          </c:spPr>
        </c:majorGridlines>
        <c:title>
          <c:tx>
            <c:rich>
              <a:bodyPr rot="-54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r>
                  <a:rPr lang="es-PE"/>
                  <a:t>TOTALES</a:t>
                </a:r>
              </a:p>
            </c:rich>
          </c:tx>
          <c:overlay val="0"/>
          <c:spPr>
            <a:noFill/>
            <a:ln>
              <a:noFill/>
            </a:ln>
            <a:effectLst/>
          </c:spPr>
          <c:txPr>
            <a:bodyPr rot="-54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PE"/>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s-PE"/>
          </a:p>
        </c:txPr>
        <c:crossAx val="592604288"/>
        <c:crosses val="autoZero"/>
        <c:crossBetween val="between"/>
      </c:valAx>
      <c:dTable>
        <c:showHorzBorder val="1"/>
        <c:showVertBorder val="1"/>
        <c:showOutline val="1"/>
        <c:showKeys val="1"/>
        <c:spPr>
          <a:noFill/>
          <a:ln w="6350" cap="flat" cmpd="sng" algn="ctr">
            <a:solidFill>
              <a:schemeClr val="accent6"/>
            </a:solidFill>
            <a:prstDash val="solid"/>
            <a:miter lim="800000"/>
          </a:ln>
          <a:effectLst/>
        </c:spPr>
        <c:txPr>
          <a:bodyPr rot="0" spcFirstLastPara="1" vertOverflow="ellipsis" vert="horz" wrap="square" anchor="ctr" anchorCtr="1"/>
          <a:lstStyle/>
          <a:p>
            <a:pPr rtl="0">
              <a:defRPr sz="1200" b="1" i="0" u="none" strike="noStrike" kern="1200" baseline="0">
                <a:solidFill>
                  <a:sysClr val="windowText" lastClr="000000"/>
                </a:solidFill>
                <a:latin typeface="+mn-lt"/>
                <a:ea typeface="+mn-ea"/>
                <a:cs typeface="+mn-cs"/>
              </a:defRPr>
            </a:pPr>
            <a:endParaRPr lang="es-PE"/>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ysClr val="window" lastClr="FFFFFF"/>
    </a:solidFill>
    <a:ln w="12700" cap="flat" cmpd="sng" algn="ctr">
      <a:solidFill>
        <a:srgbClr val="70AD47"/>
      </a:solidFill>
      <a:prstDash val="solid"/>
      <a:miter lim="800000"/>
    </a:ln>
    <a:effectLst/>
  </c:spPr>
  <c:txPr>
    <a:bodyPr/>
    <a:lstStyle/>
    <a:p>
      <a:pPr>
        <a:defRPr sz="1200">
          <a:solidFill>
            <a:sysClr val="windowText" lastClr="000000"/>
          </a:solidFill>
          <a:latin typeface="+mn-lt"/>
          <a:ea typeface="+mn-ea"/>
          <a:cs typeface="+mn-cs"/>
        </a:defRPr>
      </a:pPr>
      <a:endParaRPr lang="es-PE"/>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404CA8B4-C47F-4E03-8EAA-AEC2E933409F}" type="datetimeFigureOut">
              <a:rPr lang="es-419" smtClean="0"/>
              <a:t>22/5/2024</a:t>
            </a:fld>
            <a:endParaRPr lang="es-419"/>
          </a:p>
        </p:txBody>
      </p:sp>
      <p:sp>
        <p:nvSpPr>
          <p:cNvPr id="4" name="Marcador de imagen de diapositiva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E516A85C-24F3-4956-8CAF-0400FEF1FA9B}" type="slidenum">
              <a:rPr lang="es-419" smtClean="0"/>
              <a:t>‹Nº›</a:t>
            </a:fld>
            <a:endParaRPr lang="es-419"/>
          </a:p>
        </p:txBody>
      </p:sp>
    </p:spTree>
    <p:extLst>
      <p:ext uri="{BB962C8B-B14F-4D97-AF65-F5344CB8AC3E}">
        <p14:creationId xmlns:p14="http://schemas.microsoft.com/office/powerpoint/2010/main" val="3198014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Tree>
    <p:extLst>
      <p:ext uri="{BB962C8B-B14F-4D97-AF65-F5344CB8AC3E}">
        <p14:creationId xmlns:p14="http://schemas.microsoft.com/office/powerpoint/2010/main" val="538018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441225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463742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5720458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8608844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184599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9981753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674116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79325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7969637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5171086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1002357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4392610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8160639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7836410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728859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5097978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163905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4722469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0517524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41378215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3536721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059744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507177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A2E7F3-3903-4E1D-8084-0DC05C8375E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209DFAA0-BBEA-496B-B217-FE1EC3FC6F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54098F06-736E-46C7-AC7E-A0DD35FB243F}"/>
              </a:ext>
            </a:extLst>
          </p:cNvPr>
          <p:cNvSpPr>
            <a:spLocks noGrp="1"/>
          </p:cNvSpPr>
          <p:nvPr>
            <p:ph type="dt" sz="half" idx="10"/>
          </p:nvPr>
        </p:nvSpPr>
        <p:spPr/>
        <p:txBody>
          <a:bodyPr/>
          <a:lstStyle/>
          <a:p>
            <a:fld id="{8F29FD26-0981-4205-871D-895179B88314}" type="datetimeFigureOut">
              <a:rPr lang="es-419" smtClean="0"/>
              <a:t>22/5/2024</a:t>
            </a:fld>
            <a:endParaRPr lang="es-419"/>
          </a:p>
        </p:txBody>
      </p:sp>
      <p:sp>
        <p:nvSpPr>
          <p:cNvPr id="5" name="Marcador de pie de página 4">
            <a:extLst>
              <a:ext uri="{FF2B5EF4-FFF2-40B4-BE49-F238E27FC236}">
                <a16:creationId xmlns:a16="http://schemas.microsoft.com/office/drawing/2014/main" id="{481D53AD-021E-420D-A45A-5DE972D76032}"/>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D7DC73AE-0F49-420F-9711-F965FF344AE1}"/>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29678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DCD202-F60F-418F-B356-03CA7D8770D6}"/>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0177AA28-DEE3-4FC1-BAE1-E6AFA62A67F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CE078544-1F2E-444D-B8E8-0B5B534EB17A}"/>
              </a:ext>
            </a:extLst>
          </p:cNvPr>
          <p:cNvSpPr>
            <a:spLocks noGrp="1"/>
          </p:cNvSpPr>
          <p:nvPr>
            <p:ph type="dt" sz="half" idx="10"/>
          </p:nvPr>
        </p:nvSpPr>
        <p:spPr/>
        <p:txBody>
          <a:bodyPr/>
          <a:lstStyle/>
          <a:p>
            <a:fld id="{8F29FD26-0981-4205-871D-895179B88314}" type="datetimeFigureOut">
              <a:rPr lang="es-419" smtClean="0"/>
              <a:t>22/5/2024</a:t>
            </a:fld>
            <a:endParaRPr lang="es-419"/>
          </a:p>
        </p:txBody>
      </p:sp>
      <p:sp>
        <p:nvSpPr>
          <p:cNvPr id="5" name="Marcador de pie de página 4">
            <a:extLst>
              <a:ext uri="{FF2B5EF4-FFF2-40B4-BE49-F238E27FC236}">
                <a16:creationId xmlns:a16="http://schemas.microsoft.com/office/drawing/2014/main" id="{9D1F83FC-A60B-49E6-9E1C-9B1D745BCAC6}"/>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24E286A2-7561-4B7D-870F-6CB2A62559DC}"/>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514938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A48F86-2D3F-45D5-85FF-32D590E8B45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94BDD57E-75F5-4414-AE43-24ACDFE27C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EF39EB2-DC1A-4B76-A607-540E2AFB0DA1}"/>
              </a:ext>
            </a:extLst>
          </p:cNvPr>
          <p:cNvSpPr>
            <a:spLocks noGrp="1"/>
          </p:cNvSpPr>
          <p:nvPr>
            <p:ph type="dt" sz="half" idx="10"/>
          </p:nvPr>
        </p:nvSpPr>
        <p:spPr/>
        <p:txBody>
          <a:bodyPr/>
          <a:lstStyle/>
          <a:p>
            <a:fld id="{8F29FD26-0981-4205-871D-895179B88314}" type="datetimeFigureOut">
              <a:rPr lang="es-419" smtClean="0"/>
              <a:t>22/5/2024</a:t>
            </a:fld>
            <a:endParaRPr lang="es-419"/>
          </a:p>
        </p:txBody>
      </p:sp>
      <p:sp>
        <p:nvSpPr>
          <p:cNvPr id="5" name="Marcador de pie de página 4">
            <a:extLst>
              <a:ext uri="{FF2B5EF4-FFF2-40B4-BE49-F238E27FC236}">
                <a16:creationId xmlns:a16="http://schemas.microsoft.com/office/drawing/2014/main" id="{5C659A66-CE9C-4AE2-A43D-391CFF4BB353}"/>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78C4C05F-D418-4BB8-A63F-FADB2BE6219A}"/>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1146092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05F591-1D41-441E-AA95-DA0B740C62D5}"/>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5084C426-4ABF-47B5-96A8-7DD4863F6E9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contenido 3">
            <a:extLst>
              <a:ext uri="{FF2B5EF4-FFF2-40B4-BE49-F238E27FC236}">
                <a16:creationId xmlns:a16="http://schemas.microsoft.com/office/drawing/2014/main" id="{9D581556-4EC1-4E5D-AD7B-E4330322EAB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5" name="Marcador de fecha 4">
            <a:extLst>
              <a:ext uri="{FF2B5EF4-FFF2-40B4-BE49-F238E27FC236}">
                <a16:creationId xmlns:a16="http://schemas.microsoft.com/office/drawing/2014/main" id="{D8E6A027-3C79-48A2-86B5-F99135D1CB3B}"/>
              </a:ext>
            </a:extLst>
          </p:cNvPr>
          <p:cNvSpPr>
            <a:spLocks noGrp="1"/>
          </p:cNvSpPr>
          <p:nvPr>
            <p:ph type="dt" sz="half" idx="10"/>
          </p:nvPr>
        </p:nvSpPr>
        <p:spPr/>
        <p:txBody>
          <a:bodyPr/>
          <a:lstStyle/>
          <a:p>
            <a:fld id="{8F29FD26-0981-4205-871D-895179B88314}" type="datetimeFigureOut">
              <a:rPr lang="es-419" smtClean="0"/>
              <a:t>22/5/2024</a:t>
            </a:fld>
            <a:endParaRPr lang="es-419"/>
          </a:p>
        </p:txBody>
      </p:sp>
      <p:sp>
        <p:nvSpPr>
          <p:cNvPr id="6" name="Marcador de pie de página 5">
            <a:extLst>
              <a:ext uri="{FF2B5EF4-FFF2-40B4-BE49-F238E27FC236}">
                <a16:creationId xmlns:a16="http://schemas.microsoft.com/office/drawing/2014/main" id="{3A8F9C01-F48E-4887-981C-40097F8B77FF}"/>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CE930058-3E70-4688-9D37-132281FE19F4}"/>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3785347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440B37-FCF7-4B55-85DF-F62FF1FE84A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AC1896B5-9EE8-47E4-91A2-0128335D29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63FB78-B243-4B5C-A4B0-899B095F2C1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5" name="Marcador de texto 4">
            <a:extLst>
              <a:ext uri="{FF2B5EF4-FFF2-40B4-BE49-F238E27FC236}">
                <a16:creationId xmlns:a16="http://schemas.microsoft.com/office/drawing/2014/main" id="{BC4E062D-1FBD-4740-9591-FF15F6C44B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D08BE8A-A2D5-4B6E-9DAB-EB6E6AC7A1F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7" name="Marcador de fecha 6">
            <a:extLst>
              <a:ext uri="{FF2B5EF4-FFF2-40B4-BE49-F238E27FC236}">
                <a16:creationId xmlns:a16="http://schemas.microsoft.com/office/drawing/2014/main" id="{F20B8163-EA4D-4292-B02E-3B806C4D0FC6}"/>
              </a:ext>
            </a:extLst>
          </p:cNvPr>
          <p:cNvSpPr>
            <a:spLocks noGrp="1"/>
          </p:cNvSpPr>
          <p:nvPr>
            <p:ph type="dt" sz="half" idx="10"/>
          </p:nvPr>
        </p:nvSpPr>
        <p:spPr/>
        <p:txBody>
          <a:bodyPr/>
          <a:lstStyle/>
          <a:p>
            <a:fld id="{8F29FD26-0981-4205-871D-895179B88314}" type="datetimeFigureOut">
              <a:rPr lang="es-419" smtClean="0"/>
              <a:t>22/5/2024</a:t>
            </a:fld>
            <a:endParaRPr lang="es-419"/>
          </a:p>
        </p:txBody>
      </p:sp>
      <p:sp>
        <p:nvSpPr>
          <p:cNvPr id="8" name="Marcador de pie de página 7">
            <a:extLst>
              <a:ext uri="{FF2B5EF4-FFF2-40B4-BE49-F238E27FC236}">
                <a16:creationId xmlns:a16="http://schemas.microsoft.com/office/drawing/2014/main" id="{AC7E4B2C-AF8F-4065-8F2C-A533637C5C20}"/>
              </a:ext>
            </a:extLst>
          </p:cNvPr>
          <p:cNvSpPr>
            <a:spLocks noGrp="1"/>
          </p:cNvSpPr>
          <p:nvPr>
            <p:ph type="ftr" sz="quarter" idx="11"/>
          </p:nvPr>
        </p:nvSpPr>
        <p:spPr/>
        <p:txBody>
          <a:bodyPr/>
          <a:lstStyle/>
          <a:p>
            <a:endParaRPr lang="es-419"/>
          </a:p>
        </p:txBody>
      </p:sp>
      <p:sp>
        <p:nvSpPr>
          <p:cNvPr id="9" name="Marcador de número de diapositiva 8">
            <a:extLst>
              <a:ext uri="{FF2B5EF4-FFF2-40B4-BE49-F238E27FC236}">
                <a16:creationId xmlns:a16="http://schemas.microsoft.com/office/drawing/2014/main" id="{487D1464-F0F0-4D16-876F-A49A009F2D80}"/>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3923004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7D1B32-8CD9-4E07-A705-16F56C6A82AA}"/>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fecha 2">
            <a:extLst>
              <a:ext uri="{FF2B5EF4-FFF2-40B4-BE49-F238E27FC236}">
                <a16:creationId xmlns:a16="http://schemas.microsoft.com/office/drawing/2014/main" id="{BB89AFFA-5546-4BDE-9DCC-0D9185A3EA3A}"/>
              </a:ext>
            </a:extLst>
          </p:cNvPr>
          <p:cNvSpPr>
            <a:spLocks noGrp="1"/>
          </p:cNvSpPr>
          <p:nvPr>
            <p:ph type="dt" sz="half" idx="10"/>
          </p:nvPr>
        </p:nvSpPr>
        <p:spPr/>
        <p:txBody>
          <a:bodyPr/>
          <a:lstStyle/>
          <a:p>
            <a:fld id="{8F29FD26-0981-4205-871D-895179B88314}" type="datetimeFigureOut">
              <a:rPr lang="es-419" smtClean="0"/>
              <a:t>22/5/2024</a:t>
            </a:fld>
            <a:endParaRPr lang="es-419"/>
          </a:p>
        </p:txBody>
      </p:sp>
      <p:sp>
        <p:nvSpPr>
          <p:cNvPr id="4" name="Marcador de pie de página 3">
            <a:extLst>
              <a:ext uri="{FF2B5EF4-FFF2-40B4-BE49-F238E27FC236}">
                <a16:creationId xmlns:a16="http://schemas.microsoft.com/office/drawing/2014/main" id="{D1868871-4F2B-468C-A281-03B39AC18DB5}"/>
              </a:ext>
            </a:extLst>
          </p:cNvPr>
          <p:cNvSpPr>
            <a:spLocks noGrp="1"/>
          </p:cNvSpPr>
          <p:nvPr>
            <p:ph type="ftr" sz="quarter" idx="11"/>
          </p:nvPr>
        </p:nvSpPr>
        <p:spPr/>
        <p:txBody>
          <a:bodyPr/>
          <a:lstStyle/>
          <a:p>
            <a:endParaRPr lang="es-419"/>
          </a:p>
        </p:txBody>
      </p:sp>
      <p:sp>
        <p:nvSpPr>
          <p:cNvPr id="5" name="Marcador de número de diapositiva 4">
            <a:extLst>
              <a:ext uri="{FF2B5EF4-FFF2-40B4-BE49-F238E27FC236}">
                <a16:creationId xmlns:a16="http://schemas.microsoft.com/office/drawing/2014/main" id="{F11548AD-0797-49CF-8A32-489DE78F23B0}"/>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198229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1BBACE8-1FF9-4DCE-BDFF-781E4EDB7229}"/>
              </a:ext>
            </a:extLst>
          </p:cNvPr>
          <p:cNvSpPr>
            <a:spLocks noGrp="1"/>
          </p:cNvSpPr>
          <p:nvPr>
            <p:ph type="dt" sz="half" idx="10"/>
          </p:nvPr>
        </p:nvSpPr>
        <p:spPr/>
        <p:txBody>
          <a:bodyPr/>
          <a:lstStyle/>
          <a:p>
            <a:fld id="{8F29FD26-0981-4205-871D-895179B88314}" type="datetimeFigureOut">
              <a:rPr lang="es-419" smtClean="0"/>
              <a:t>22/5/2024</a:t>
            </a:fld>
            <a:endParaRPr lang="es-419"/>
          </a:p>
        </p:txBody>
      </p:sp>
      <p:sp>
        <p:nvSpPr>
          <p:cNvPr id="3" name="Marcador de pie de página 2">
            <a:extLst>
              <a:ext uri="{FF2B5EF4-FFF2-40B4-BE49-F238E27FC236}">
                <a16:creationId xmlns:a16="http://schemas.microsoft.com/office/drawing/2014/main" id="{3F8F2886-0965-4D8B-9448-88DEC9E044D9}"/>
              </a:ext>
            </a:extLst>
          </p:cNvPr>
          <p:cNvSpPr>
            <a:spLocks noGrp="1"/>
          </p:cNvSpPr>
          <p:nvPr>
            <p:ph type="ftr" sz="quarter" idx="11"/>
          </p:nvPr>
        </p:nvSpPr>
        <p:spPr/>
        <p:txBody>
          <a:bodyPr/>
          <a:lstStyle/>
          <a:p>
            <a:endParaRPr lang="es-419"/>
          </a:p>
        </p:txBody>
      </p:sp>
      <p:sp>
        <p:nvSpPr>
          <p:cNvPr id="4" name="Marcador de número de diapositiva 3">
            <a:extLst>
              <a:ext uri="{FF2B5EF4-FFF2-40B4-BE49-F238E27FC236}">
                <a16:creationId xmlns:a16="http://schemas.microsoft.com/office/drawing/2014/main" id="{D57B9FB8-5854-4739-9885-76391E5F2741}"/>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869049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D4540F-ABF6-474A-AB91-401BF04179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750BA34A-F3A7-41F0-8235-DB969C0BD3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texto 3">
            <a:extLst>
              <a:ext uri="{FF2B5EF4-FFF2-40B4-BE49-F238E27FC236}">
                <a16:creationId xmlns:a16="http://schemas.microsoft.com/office/drawing/2014/main" id="{141FD3ED-E203-44F4-A13E-24C4190802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34A6CC1-F911-4CB8-B9F6-56532672E168}"/>
              </a:ext>
            </a:extLst>
          </p:cNvPr>
          <p:cNvSpPr>
            <a:spLocks noGrp="1"/>
          </p:cNvSpPr>
          <p:nvPr>
            <p:ph type="dt" sz="half" idx="10"/>
          </p:nvPr>
        </p:nvSpPr>
        <p:spPr/>
        <p:txBody>
          <a:bodyPr/>
          <a:lstStyle/>
          <a:p>
            <a:fld id="{8F29FD26-0981-4205-871D-895179B88314}" type="datetimeFigureOut">
              <a:rPr lang="es-419" smtClean="0"/>
              <a:t>22/5/2024</a:t>
            </a:fld>
            <a:endParaRPr lang="es-419"/>
          </a:p>
        </p:txBody>
      </p:sp>
      <p:sp>
        <p:nvSpPr>
          <p:cNvPr id="6" name="Marcador de pie de página 5">
            <a:extLst>
              <a:ext uri="{FF2B5EF4-FFF2-40B4-BE49-F238E27FC236}">
                <a16:creationId xmlns:a16="http://schemas.microsoft.com/office/drawing/2014/main" id="{A36D7865-4AAB-4623-8FBD-249FC3217532}"/>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12940CCF-0F75-4D77-A0C3-8971815EEB2C}"/>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594105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151275-DE27-4158-AA5F-44F5EE1C370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419"/>
          </a:p>
        </p:txBody>
      </p:sp>
      <p:sp>
        <p:nvSpPr>
          <p:cNvPr id="3" name="Marcador de posición de imagen 2">
            <a:extLst>
              <a:ext uri="{FF2B5EF4-FFF2-40B4-BE49-F238E27FC236}">
                <a16:creationId xmlns:a16="http://schemas.microsoft.com/office/drawing/2014/main" id="{7FB01499-763F-47B5-BFD1-63E77D563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419"/>
          </a:p>
        </p:txBody>
      </p:sp>
      <p:sp>
        <p:nvSpPr>
          <p:cNvPr id="4" name="Marcador de texto 3">
            <a:extLst>
              <a:ext uri="{FF2B5EF4-FFF2-40B4-BE49-F238E27FC236}">
                <a16:creationId xmlns:a16="http://schemas.microsoft.com/office/drawing/2014/main" id="{D9CFD260-36E3-4D33-9F42-DC51279BBE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D2EBD3E-F528-4CA4-A32B-F0A72B359747}"/>
              </a:ext>
            </a:extLst>
          </p:cNvPr>
          <p:cNvSpPr>
            <a:spLocks noGrp="1"/>
          </p:cNvSpPr>
          <p:nvPr>
            <p:ph type="dt" sz="half" idx="10"/>
          </p:nvPr>
        </p:nvSpPr>
        <p:spPr/>
        <p:txBody>
          <a:bodyPr/>
          <a:lstStyle/>
          <a:p>
            <a:fld id="{8F29FD26-0981-4205-871D-895179B88314}" type="datetimeFigureOut">
              <a:rPr lang="es-419" smtClean="0"/>
              <a:t>22/5/2024</a:t>
            </a:fld>
            <a:endParaRPr lang="es-419"/>
          </a:p>
        </p:txBody>
      </p:sp>
      <p:sp>
        <p:nvSpPr>
          <p:cNvPr id="6" name="Marcador de pie de página 5">
            <a:extLst>
              <a:ext uri="{FF2B5EF4-FFF2-40B4-BE49-F238E27FC236}">
                <a16:creationId xmlns:a16="http://schemas.microsoft.com/office/drawing/2014/main" id="{C627CDEF-92F2-40A0-BAE5-D2BD80227C19}"/>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58DBC24D-381D-41F8-9D66-8C221CD78554}"/>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1731469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D31BD0-76AA-4609-B77F-1A62E9CA2C7F}"/>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texto vertical 2">
            <a:extLst>
              <a:ext uri="{FF2B5EF4-FFF2-40B4-BE49-F238E27FC236}">
                <a16:creationId xmlns:a16="http://schemas.microsoft.com/office/drawing/2014/main" id="{95FDD779-50D6-40E5-BA33-7FF26DCF0DC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FC0CB4A4-EFE8-421F-935D-F071B90D42D2}"/>
              </a:ext>
            </a:extLst>
          </p:cNvPr>
          <p:cNvSpPr>
            <a:spLocks noGrp="1"/>
          </p:cNvSpPr>
          <p:nvPr>
            <p:ph type="dt" sz="half" idx="10"/>
          </p:nvPr>
        </p:nvSpPr>
        <p:spPr/>
        <p:txBody>
          <a:bodyPr/>
          <a:lstStyle/>
          <a:p>
            <a:fld id="{8F29FD26-0981-4205-871D-895179B88314}" type="datetimeFigureOut">
              <a:rPr lang="es-419" smtClean="0"/>
              <a:t>22/5/2024</a:t>
            </a:fld>
            <a:endParaRPr lang="es-419"/>
          </a:p>
        </p:txBody>
      </p:sp>
      <p:sp>
        <p:nvSpPr>
          <p:cNvPr id="5" name="Marcador de pie de página 4">
            <a:extLst>
              <a:ext uri="{FF2B5EF4-FFF2-40B4-BE49-F238E27FC236}">
                <a16:creationId xmlns:a16="http://schemas.microsoft.com/office/drawing/2014/main" id="{3E4501A0-A46C-4082-8991-E174E9FBA5E1}"/>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9D5DF1E6-391E-412D-BC62-BE28257C204C}"/>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4291353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2A5389C-24F0-40B8-B3A4-5B618437AC7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419"/>
          </a:p>
        </p:txBody>
      </p:sp>
      <p:sp>
        <p:nvSpPr>
          <p:cNvPr id="3" name="Marcador de texto vertical 2">
            <a:extLst>
              <a:ext uri="{FF2B5EF4-FFF2-40B4-BE49-F238E27FC236}">
                <a16:creationId xmlns:a16="http://schemas.microsoft.com/office/drawing/2014/main" id="{80265058-8B96-46CE-A8EE-7F30DCB57C7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A04C2B80-5F54-469C-B95C-236E218AE644}"/>
              </a:ext>
            </a:extLst>
          </p:cNvPr>
          <p:cNvSpPr>
            <a:spLocks noGrp="1"/>
          </p:cNvSpPr>
          <p:nvPr>
            <p:ph type="dt" sz="half" idx="10"/>
          </p:nvPr>
        </p:nvSpPr>
        <p:spPr/>
        <p:txBody>
          <a:bodyPr/>
          <a:lstStyle/>
          <a:p>
            <a:fld id="{8F29FD26-0981-4205-871D-895179B88314}" type="datetimeFigureOut">
              <a:rPr lang="es-419" smtClean="0"/>
              <a:t>22/5/2024</a:t>
            </a:fld>
            <a:endParaRPr lang="es-419"/>
          </a:p>
        </p:txBody>
      </p:sp>
      <p:sp>
        <p:nvSpPr>
          <p:cNvPr id="5" name="Marcador de pie de página 4">
            <a:extLst>
              <a:ext uri="{FF2B5EF4-FFF2-40B4-BE49-F238E27FC236}">
                <a16:creationId xmlns:a16="http://schemas.microsoft.com/office/drawing/2014/main" id="{04E4A53C-1617-402F-AEA5-31668F35D65F}"/>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D42DE16E-D827-4A85-B9BC-4058637C5C98}"/>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7671560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olo el título">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8D7D316-AA24-4AA3-98FC-FDF5882A2030}"/>
              </a:ext>
            </a:extLst>
          </p:cNvPr>
          <p:cNvSpPr>
            <a:spLocks noGrp="1"/>
          </p:cNvSpPr>
          <p:nvPr>
            <p:ph type="title"/>
          </p:nvPr>
        </p:nvSpPr>
        <p:spPr>
          <a:xfrm>
            <a:off x="838204" y="133841"/>
            <a:ext cx="10224477" cy="1323807"/>
          </a:xfrm>
          <a:prstGeom prst="rect">
            <a:avLst/>
          </a:prstGeom>
        </p:spPr>
        <p:txBody>
          <a:bodyPr/>
          <a:lstStyle>
            <a:lvl1pPr>
              <a:defRPr sz="4263" b="1">
                <a:solidFill>
                  <a:schemeClr val="accent5">
                    <a:lumMod val="75000"/>
                  </a:schemeClr>
                </a:solidFill>
              </a:defRPr>
            </a:lvl1pPr>
          </a:lstStyle>
          <a:p>
            <a:r>
              <a:rPr lang="es-ES"/>
              <a:t>Haga clic para modificar el estilo de título del patrón</a:t>
            </a:r>
            <a:endParaRPr lang="es-PE"/>
          </a:p>
        </p:txBody>
      </p:sp>
    </p:spTree>
    <p:extLst>
      <p:ext uri="{BB962C8B-B14F-4D97-AF65-F5344CB8AC3E}">
        <p14:creationId xmlns:p14="http://schemas.microsoft.com/office/powerpoint/2010/main" val="2266310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04291EF-15E9-414F-95EC-8F59D36B1C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4A4EA333-6386-4D76-AC88-517C11CF86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17108574-E514-4EEB-B046-9A3DB5F397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29FD26-0981-4205-871D-895179B88314}" type="datetimeFigureOut">
              <a:rPr lang="es-419" smtClean="0"/>
              <a:t>22/5/2024</a:t>
            </a:fld>
            <a:endParaRPr lang="es-419"/>
          </a:p>
        </p:txBody>
      </p:sp>
      <p:sp>
        <p:nvSpPr>
          <p:cNvPr id="5" name="Marcador de pie de página 4">
            <a:extLst>
              <a:ext uri="{FF2B5EF4-FFF2-40B4-BE49-F238E27FC236}">
                <a16:creationId xmlns:a16="http://schemas.microsoft.com/office/drawing/2014/main" id="{0F92D44A-6FF1-4AA9-8628-83F79F65C5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419"/>
          </a:p>
        </p:txBody>
      </p:sp>
      <p:sp>
        <p:nvSpPr>
          <p:cNvPr id="6" name="Marcador de número de diapositiva 5">
            <a:extLst>
              <a:ext uri="{FF2B5EF4-FFF2-40B4-BE49-F238E27FC236}">
                <a16:creationId xmlns:a16="http://schemas.microsoft.com/office/drawing/2014/main" id="{90E3C7ED-7510-4B32-96A0-A10D7CC1A2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2787B5-27E6-4680-BFC4-A185ECDA7C5B}" type="slidenum">
              <a:rPr lang="es-419" smtClean="0"/>
              <a:t>‹Nº›</a:t>
            </a:fld>
            <a:endParaRPr lang="es-419"/>
          </a:p>
        </p:txBody>
      </p:sp>
    </p:spTree>
    <p:extLst>
      <p:ext uri="{BB962C8B-B14F-4D97-AF65-F5344CB8AC3E}">
        <p14:creationId xmlns:p14="http://schemas.microsoft.com/office/powerpoint/2010/main" val="370057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D2D66F62-5EF4-E640-8F00-37B5AB567BFE}"/>
              </a:ext>
            </a:extLst>
          </p:cNvPr>
          <p:cNvSpPr txBox="1">
            <a:spLocks noChangeArrowheads="1"/>
          </p:cNvSpPr>
          <p:nvPr/>
        </p:nvSpPr>
        <p:spPr>
          <a:xfrm>
            <a:off x="861147" y="3517621"/>
            <a:ext cx="10191750" cy="938981"/>
          </a:xfrm>
          <a:prstGeom prst="rect">
            <a:avLst/>
          </a:prstGeom>
        </p:spPr>
        <p:txBody>
          <a:bodyPr/>
          <a:lstStyle/>
          <a:p>
            <a:pPr algn="ctr" defTabSz="1217947">
              <a:defRPr/>
            </a:pPr>
            <a:r>
              <a:rPr lang="es-PE" sz="3600" b="1" dirty="0">
                <a:latin typeface="Arial"/>
                <a:ea typeface="+mj-ea"/>
                <a:cs typeface="Arial"/>
              </a:rPr>
              <a:t>GERENCIA DE ANÁLISIS DE FONDO ADUANAS</a:t>
            </a:r>
          </a:p>
          <a:p>
            <a:pPr algn="ctr" defTabSz="1217947">
              <a:defRPr/>
            </a:pPr>
            <a:endParaRPr lang="es-PE" sz="2400" b="1" dirty="0">
              <a:latin typeface="Arial"/>
              <a:ea typeface="+mj-ea"/>
              <a:cs typeface="Arial"/>
            </a:endParaRPr>
          </a:p>
        </p:txBody>
      </p:sp>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796326" y="267539"/>
            <a:ext cx="2060746" cy="572573"/>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6" name="Rectangle 2">
            <a:extLst>
              <a:ext uri="{FF2B5EF4-FFF2-40B4-BE49-F238E27FC236}">
                <a16:creationId xmlns:a16="http://schemas.microsoft.com/office/drawing/2014/main" id="{919B8A05-1ED3-443D-A7BD-4492F8B9CE89}"/>
              </a:ext>
            </a:extLst>
          </p:cNvPr>
          <p:cNvSpPr txBox="1">
            <a:spLocks noChangeArrowheads="1"/>
          </p:cNvSpPr>
          <p:nvPr/>
        </p:nvSpPr>
        <p:spPr>
          <a:xfrm>
            <a:off x="714375" y="2178278"/>
            <a:ext cx="10763250" cy="938981"/>
          </a:xfrm>
          <a:prstGeom prst="rect">
            <a:avLst/>
          </a:prstGeom>
        </p:spPr>
        <p:txBody>
          <a:bodyPr/>
          <a:lstStyle/>
          <a:p>
            <a:pPr algn="ctr" defTabSz="1217947">
              <a:defRPr/>
            </a:pPr>
            <a:r>
              <a:rPr lang="es-PE" sz="3500" b="1" dirty="0">
                <a:latin typeface="Arial"/>
                <a:ea typeface="+mj-ea"/>
                <a:cs typeface="Arial"/>
              </a:rPr>
              <a:t>INTENDENCIA NACIONAL DE IMPUGNACIONES</a:t>
            </a:r>
          </a:p>
          <a:p>
            <a:pPr algn="ctr" defTabSz="1217947">
              <a:defRPr/>
            </a:pPr>
            <a:endParaRPr lang="es-PE" sz="2400" b="1" dirty="0">
              <a:latin typeface="Arial"/>
              <a:ea typeface="+mj-ea"/>
              <a:cs typeface="Arial"/>
            </a:endParaRPr>
          </a:p>
        </p:txBody>
      </p:sp>
    </p:spTree>
    <p:extLst>
      <p:ext uri="{BB962C8B-B14F-4D97-AF65-F5344CB8AC3E}">
        <p14:creationId xmlns:p14="http://schemas.microsoft.com/office/powerpoint/2010/main" val="40695348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INGRESOS Y SALIDAS DE RECLAMACIONES 2019-2024*</a:t>
            </a:r>
            <a:endParaRPr lang="es-PE" sz="2800" b="1" dirty="0">
              <a:latin typeface="Arial" panose="020B0604020202020204" pitchFamily="34" charset="0"/>
              <a:cs typeface="Arial" panose="020B0604020202020204" pitchFamily="34" charset="0"/>
            </a:endParaRPr>
          </a:p>
        </p:txBody>
      </p:sp>
      <p:sp>
        <p:nvSpPr>
          <p:cNvPr id="8" name="CuadroTexto 7">
            <a:extLst>
              <a:ext uri="{FF2B5EF4-FFF2-40B4-BE49-F238E27FC236}">
                <a16:creationId xmlns:a16="http://schemas.microsoft.com/office/drawing/2014/main" id="{DA8136A2-0473-ED01-6C0D-CE6FCF440D43}"/>
              </a:ext>
            </a:extLst>
          </p:cNvPr>
          <p:cNvSpPr txBox="1"/>
          <p:nvPr/>
        </p:nvSpPr>
        <p:spPr>
          <a:xfrm>
            <a:off x="1677271" y="1307978"/>
            <a:ext cx="7562850" cy="707886"/>
          </a:xfrm>
          <a:prstGeom prst="rect">
            <a:avLst/>
          </a:prstGeom>
          <a:noFill/>
        </p:spPr>
        <p:txBody>
          <a:bodyPr wrap="square" rtlCol="0">
            <a:spAutoFit/>
          </a:bodyPr>
          <a:lstStyle/>
          <a:p>
            <a:pPr algn="ctr"/>
            <a:r>
              <a:rPr lang="es-ES" sz="2000" b="1" dirty="0"/>
              <a:t>EVOLUCIÓN DE INGRESOS Y SALIDAS EXPEDIENTES DE RECLAMO 2019-2024*</a:t>
            </a:r>
            <a:endParaRPr lang="es-PE" sz="2000" b="1" dirty="0"/>
          </a:p>
        </p:txBody>
      </p:sp>
      <p:graphicFrame>
        <p:nvGraphicFramePr>
          <p:cNvPr id="3" name="Tabla 2">
            <a:extLst>
              <a:ext uri="{FF2B5EF4-FFF2-40B4-BE49-F238E27FC236}">
                <a16:creationId xmlns:a16="http://schemas.microsoft.com/office/drawing/2014/main" id="{92D20683-F364-E956-9C4F-D440AA5ED83A}"/>
              </a:ext>
            </a:extLst>
          </p:cNvPr>
          <p:cNvGraphicFramePr>
            <a:graphicFrameLocks noGrp="1"/>
          </p:cNvGraphicFramePr>
          <p:nvPr>
            <p:extLst>
              <p:ext uri="{D42A27DB-BD31-4B8C-83A1-F6EECF244321}">
                <p14:modId xmlns:p14="http://schemas.microsoft.com/office/powerpoint/2010/main" val="4043599928"/>
              </p:ext>
            </p:extLst>
          </p:nvPr>
        </p:nvGraphicFramePr>
        <p:xfrm>
          <a:off x="1104899" y="2180484"/>
          <a:ext cx="8707594" cy="963978"/>
        </p:xfrm>
        <a:graphic>
          <a:graphicData uri="http://schemas.openxmlformats.org/drawingml/2006/table">
            <a:tbl>
              <a:tblPr firstRow="1" firstCol="1" bandRow="1"/>
              <a:tblGrid>
                <a:gridCol w="1243942">
                  <a:extLst>
                    <a:ext uri="{9D8B030D-6E8A-4147-A177-3AD203B41FA5}">
                      <a16:colId xmlns:a16="http://schemas.microsoft.com/office/drawing/2014/main" val="4093851502"/>
                    </a:ext>
                  </a:extLst>
                </a:gridCol>
                <a:gridCol w="1243942">
                  <a:extLst>
                    <a:ext uri="{9D8B030D-6E8A-4147-A177-3AD203B41FA5}">
                      <a16:colId xmlns:a16="http://schemas.microsoft.com/office/drawing/2014/main" val="3969460617"/>
                    </a:ext>
                  </a:extLst>
                </a:gridCol>
                <a:gridCol w="1243942">
                  <a:extLst>
                    <a:ext uri="{9D8B030D-6E8A-4147-A177-3AD203B41FA5}">
                      <a16:colId xmlns:a16="http://schemas.microsoft.com/office/drawing/2014/main" val="198342931"/>
                    </a:ext>
                  </a:extLst>
                </a:gridCol>
                <a:gridCol w="1243942">
                  <a:extLst>
                    <a:ext uri="{9D8B030D-6E8A-4147-A177-3AD203B41FA5}">
                      <a16:colId xmlns:a16="http://schemas.microsoft.com/office/drawing/2014/main" val="2370426896"/>
                    </a:ext>
                  </a:extLst>
                </a:gridCol>
                <a:gridCol w="1243942">
                  <a:extLst>
                    <a:ext uri="{9D8B030D-6E8A-4147-A177-3AD203B41FA5}">
                      <a16:colId xmlns:a16="http://schemas.microsoft.com/office/drawing/2014/main" val="1469780919"/>
                    </a:ext>
                  </a:extLst>
                </a:gridCol>
                <a:gridCol w="1243942">
                  <a:extLst>
                    <a:ext uri="{9D8B030D-6E8A-4147-A177-3AD203B41FA5}">
                      <a16:colId xmlns:a16="http://schemas.microsoft.com/office/drawing/2014/main" val="2591977041"/>
                    </a:ext>
                  </a:extLst>
                </a:gridCol>
                <a:gridCol w="1243942">
                  <a:extLst>
                    <a:ext uri="{9D8B030D-6E8A-4147-A177-3AD203B41FA5}">
                      <a16:colId xmlns:a16="http://schemas.microsoft.com/office/drawing/2014/main" val="3152186309"/>
                    </a:ext>
                  </a:extLst>
                </a:gridCol>
              </a:tblGrid>
              <a:tr h="321326">
                <a:tc>
                  <a:txBody>
                    <a:bodyPr/>
                    <a:lstStyle/>
                    <a:p>
                      <a:pPr algn="l" rtl="0" fontAlgn="ctr"/>
                      <a:r>
                        <a:rPr lang="es-PE" sz="2000" b="1" i="0" u="none" strike="noStrike">
                          <a:solidFill>
                            <a:srgbClr val="000000"/>
                          </a:solidFill>
                          <a:effectLst/>
                          <a:latin typeface="Calibri" panose="020F0502020204030204" pitchFamily="34" charset="0"/>
                        </a:rPr>
                        <a:t>DETALLE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dirty="0">
                          <a:solidFill>
                            <a:srgbClr val="000000"/>
                          </a:solidFill>
                          <a:effectLst/>
                          <a:latin typeface="Calibri" panose="020F0502020204030204" pitchFamily="34" charset="0"/>
                        </a:rPr>
                        <a:t>2019</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a:solidFill>
                            <a:srgbClr val="000000"/>
                          </a:solidFill>
                          <a:effectLst/>
                          <a:latin typeface="Calibri" panose="020F0502020204030204" pitchFamily="34" charset="0"/>
                        </a:rPr>
                        <a:t>2020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a:solidFill>
                            <a:srgbClr val="000000"/>
                          </a:solidFill>
                          <a:effectLst/>
                          <a:latin typeface="Calibri" panose="020F0502020204030204" pitchFamily="34" charset="0"/>
                        </a:rPr>
                        <a:t>2021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a:solidFill>
                            <a:srgbClr val="000000"/>
                          </a:solidFill>
                          <a:effectLst/>
                          <a:latin typeface="Calibri" panose="020F0502020204030204" pitchFamily="34" charset="0"/>
                        </a:rPr>
                        <a:t>2022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a:solidFill>
                            <a:srgbClr val="000000"/>
                          </a:solidFill>
                          <a:effectLst/>
                          <a:latin typeface="Calibri" panose="020F0502020204030204" pitchFamily="34" charset="0"/>
                        </a:rPr>
                        <a:t>2023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a:solidFill>
                            <a:srgbClr val="000000"/>
                          </a:solidFill>
                          <a:effectLst/>
                          <a:latin typeface="Calibri" panose="020F0502020204030204" pitchFamily="34" charset="0"/>
                        </a:rPr>
                        <a:t>2024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extLst>
                  <a:ext uri="{0D108BD9-81ED-4DB2-BD59-A6C34878D82A}">
                    <a16:rowId xmlns:a16="http://schemas.microsoft.com/office/drawing/2014/main" val="125101519"/>
                  </a:ext>
                </a:extLst>
              </a:tr>
              <a:tr h="321326">
                <a:tc>
                  <a:txBody>
                    <a:bodyPr/>
                    <a:lstStyle/>
                    <a:p>
                      <a:pPr algn="l" rtl="0" fontAlgn="ctr"/>
                      <a:r>
                        <a:rPr lang="es-PE" sz="2000" b="1" i="0" u="none" strike="noStrike">
                          <a:solidFill>
                            <a:srgbClr val="000000"/>
                          </a:solidFill>
                          <a:effectLst/>
                          <a:latin typeface="Calibri" panose="020F0502020204030204" pitchFamily="34" charset="0"/>
                        </a:rPr>
                        <a:t>INGRESOS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0" i="0" u="none" strike="noStrike">
                          <a:solidFill>
                            <a:srgbClr val="000000"/>
                          </a:solidFill>
                          <a:effectLst/>
                          <a:latin typeface="Calibri" panose="020F0502020204030204" pitchFamily="34" charset="0"/>
                        </a:rPr>
                        <a:t>4,409</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r" rtl="0" fontAlgn="ctr"/>
                      <a:r>
                        <a:rPr lang="es-PE" sz="2000" b="0" i="0" u="none" strike="noStrike" dirty="0">
                          <a:solidFill>
                            <a:srgbClr val="000000"/>
                          </a:solidFill>
                          <a:effectLst/>
                          <a:latin typeface="Calibri" panose="020F0502020204030204" pitchFamily="34" charset="0"/>
                        </a:rPr>
                        <a:t>3,249</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r" rtl="0" fontAlgn="ctr"/>
                      <a:r>
                        <a:rPr lang="es-PE" sz="2000" b="0" i="0" u="none" strike="noStrike" dirty="0">
                          <a:solidFill>
                            <a:srgbClr val="000000"/>
                          </a:solidFill>
                          <a:effectLst/>
                          <a:latin typeface="Calibri" panose="020F0502020204030204" pitchFamily="34" charset="0"/>
                        </a:rPr>
                        <a:t>5,860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r" rtl="0" fontAlgn="ctr"/>
                      <a:r>
                        <a:rPr lang="es-PE" sz="2000" b="0" i="0" u="none" strike="noStrike">
                          <a:solidFill>
                            <a:srgbClr val="000000"/>
                          </a:solidFill>
                          <a:effectLst/>
                          <a:latin typeface="Calibri" panose="020F0502020204030204" pitchFamily="34" charset="0"/>
                        </a:rPr>
                        <a:t>5,970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r" rtl="0" fontAlgn="ctr"/>
                      <a:r>
                        <a:rPr lang="es-PE" sz="2000" b="0" i="0" u="none" strike="noStrike">
                          <a:solidFill>
                            <a:srgbClr val="000000"/>
                          </a:solidFill>
                          <a:effectLst/>
                          <a:latin typeface="Calibri" panose="020F0502020204030204" pitchFamily="34" charset="0"/>
                        </a:rPr>
                        <a:t>4,678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r" rtl="0" fontAlgn="ctr"/>
                      <a:r>
                        <a:rPr lang="es-PE" sz="2000" b="0" i="0" u="none" strike="noStrike">
                          <a:solidFill>
                            <a:srgbClr val="000000"/>
                          </a:solidFill>
                          <a:effectLst/>
                          <a:latin typeface="Calibri" panose="020F0502020204030204" pitchFamily="34" charset="0"/>
                        </a:rPr>
                        <a:t>1,206</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908671636"/>
                  </a:ext>
                </a:extLst>
              </a:tr>
              <a:tr h="321326">
                <a:tc>
                  <a:txBody>
                    <a:bodyPr/>
                    <a:lstStyle/>
                    <a:p>
                      <a:pPr algn="l" rtl="0" fontAlgn="ctr"/>
                      <a:r>
                        <a:rPr lang="es-PE" sz="2000" b="1" i="0" u="none" strike="noStrike">
                          <a:solidFill>
                            <a:srgbClr val="000000"/>
                          </a:solidFill>
                          <a:effectLst/>
                          <a:latin typeface="Calibri" panose="020F0502020204030204" pitchFamily="34" charset="0"/>
                        </a:rPr>
                        <a:t>SALIDAS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0" i="0" u="none" strike="noStrike">
                          <a:solidFill>
                            <a:srgbClr val="000000"/>
                          </a:solidFill>
                          <a:effectLst/>
                          <a:latin typeface="Calibri" panose="020F0502020204030204" pitchFamily="34" charset="0"/>
                        </a:rPr>
                        <a:t>3,435</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r" rtl="0" fontAlgn="ctr"/>
                      <a:r>
                        <a:rPr lang="es-PE" sz="2000" b="0" i="0" u="none" strike="noStrike">
                          <a:solidFill>
                            <a:srgbClr val="000000"/>
                          </a:solidFill>
                          <a:effectLst/>
                          <a:latin typeface="Calibri" panose="020F0502020204030204" pitchFamily="34" charset="0"/>
                        </a:rPr>
                        <a:t>2,981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r" rtl="0" fontAlgn="ctr"/>
                      <a:r>
                        <a:rPr lang="es-PE" sz="2000" b="0" i="0" u="none" strike="noStrike">
                          <a:solidFill>
                            <a:srgbClr val="000000"/>
                          </a:solidFill>
                          <a:effectLst/>
                          <a:latin typeface="Calibri" panose="020F0502020204030204" pitchFamily="34" charset="0"/>
                        </a:rPr>
                        <a:t>3,455</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r" rtl="0" fontAlgn="ctr"/>
                      <a:r>
                        <a:rPr lang="es-PE" sz="2000" b="0" i="0" u="none" strike="noStrike" dirty="0">
                          <a:solidFill>
                            <a:srgbClr val="000000"/>
                          </a:solidFill>
                          <a:effectLst/>
                          <a:latin typeface="Calibri" panose="020F0502020204030204" pitchFamily="34" charset="0"/>
                        </a:rPr>
                        <a:t>5,581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r" rtl="0" fontAlgn="ctr"/>
                      <a:r>
                        <a:rPr lang="es-PE" sz="2000" b="0" i="0" u="none" strike="noStrike">
                          <a:solidFill>
                            <a:srgbClr val="000000"/>
                          </a:solidFill>
                          <a:effectLst/>
                          <a:latin typeface="Calibri" panose="020F0502020204030204" pitchFamily="34" charset="0"/>
                        </a:rPr>
                        <a:t>6,248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r" rtl="0" fontAlgn="ctr"/>
                      <a:r>
                        <a:rPr lang="es-PE" sz="2000" b="0" i="0" u="none" strike="noStrike" dirty="0">
                          <a:solidFill>
                            <a:srgbClr val="000000"/>
                          </a:solidFill>
                          <a:effectLst/>
                          <a:latin typeface="Calibri" panose="020F0502020204030204" pitchFamily="34" charset="0"/>
                        </a:rPr>
                        <a:t>1,318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558584415"/>
                  </a:ext>
                </a:extLst>
              </a:tr>
            </a:tbl>
          </a:graphicData>
        </a:graphic>
      </p:graphicFrame>
      <p:graphicFrame>
        <p:nvGraphicFramePr>
          <p:cNvPr id="4" name="Gráfico 3">
            <a:extLst>
              <a:ext uri="{FF2B5EF4-FFF2-40B4-BE49-F238E27FC236}">
                <a16:creationId xmlns:a16="http://schemas.microsoft.com/office/drawing/2014/main" id="{4FE17D7D-2799-58B1-C4FA-F339EFEFFD46}"/>
              </a:ext>
            </a:extLst>
          </p:cNvPr>
          <p:cNvGraphicFramePr>
            <a:graphicFrameLocks/>
          </p:cNvGraphicFramePr>
          <p:nvPr>
            <p:extLst>
              <p:ext uri="{D42A27DB-BD31-4B8C-83A1-F6EECF244321}">
                <p14:modId xmlns:p14="http://schemas.microsoft.com/office/powerpoint/2010/main" val="3790308350"/>
              </p:ext>
            </p:extLst>
          </p:nvPr>
        </p:nvGraphicFramePr>
        <p:xfrm>
          <a:off x="1104899" y="3496989"/>
          <a:ext cx="8707595" cy="2962250"/>
        </p:xfrm>
        <a:graphic>
          <a:graphicData uri="http://schemas.openxmlformats.org/drawingml/2006/chart">
            <c:chart xmlns:c="http://schemas.openxmlformats.org/drawingml/2006/chart" xmlns:r="http://schemas.openxmlformats.org/officeDocument/2006/relationships" r:id="rId4"/>
          </a:graphicData>
        </a:graphic>
      </p:graphicFrame>
      <p:sp>
        <p:nvSpPr>
          <p:cNvPr id="7" name="CuadroTexto 6">
            <a:extLst>
              <a:ext uri="{FF2B5EF4-FFF2-40B4-BE49-F238E27FC236}">
                <a16:creationId xmlns:a16="http://schemas.microsoft.com/office/drawing/2014/main" id="{B61CC4B4-FE39-48D4-90AB-3AA1280F5B02}"/>
              </a:ext>
            </a:extLst>
          </p:cNvPr>
          <p:cNvSpPr txBox="1"/>
          <p:nvPr/>
        </p:nvSpPr>
        <p:spPr>
          <a:xfrm>
            <a:off x="1104900" y="6459239"/>
            <a:ext cx="2611595" cy="261610"/>
          </a:xfrm>
          <a:prstGeom prst="rect">
            <a:avLst/>
          </a:prstGeom>
          <a:noFill/>
        </p:spPr>
        <p:txBody>
          <a:bodyPr wrap="square" rtlCol="0">
            <a:spAutoFit/>
          </a:bodyPr>
          <a:lstStyle/>
          <a:p>
            <a:r>
              <a:rPr lang="es-ES" sz="1100" b="1" dirty="0"/>
              <a:t>*Primer trimestre 2024</a:t>
            </a:r>
            <a:endParaRPr lang="es-PE" sz="1100" b="1" dirty="0"/>
          </a:p>
        </p:txBody>
      </p:sp>
    </p:spTree>
    <p:extLst>
      <p:ext uri="{BB962C8B-B14F-4D97-AF65-F5344CB8AC3E}">
        <p14:creationId xmlns:p14="http://schemas.microsoft.com/office/powerpoint/2010/main" val="33333534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STOCK DE DOCUMENTOS– 2024</a:t>
            </a:r>
            <a:endParaRPr lang="es-PE" sz="2800" b="1" dirty="0">
              <a:latin typeface="Arial" panose="020B0604020202020204" pitchFamily="34" charset="0"/>
              <a:cs typeface="Arial" panose="020B0604020202020204" pitchFamily="34" charset="0"/>
            </a:endParaRPr>
          </a:p>
        </p:txBody>
      </p:sp>
      <p:sp>
        <p:nvSpPr>
          <p:cNvPr id="10" name="Flecha: a la derecha 9">
            <a:extLst>
              <a:ext uri="{FF2B5EF4-FFF2-40B4-BE49-F238E27FC236}">
                <a16:creationId xmlns:a16="http://schemas.microsoft.com/office/drawing/2014/main" id="{56F964CE-6A15-CC82-91F5-317A16FEDABD}"/>
              </a:ext>
            </a:extLst>
          </p:cNvPr>
          <p:cNvSpPr/>
          <p:nvPr/>
        </p:nvSpPr>
        <p:spPr>
          <a:xfrm>
            <a:off x="4582029" y="3101390"/>
            <a:ext cx="927907" cy="880323"/>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 sz="1600" b="1" dirty="0"/>
              <a:t>TOTAL</a:t>
            </a:r>
            <a:endParaRPr lang="es-PE" sz="1600" b="1" dirty="0"/>
          </a:p>
        </p:txBody>
      </p:sp>
      <p:sp>
        <p:nvSpPr>
          <p:cNvPr id="14" name="CuadroTexto 13">
            <a:extLst>
              <a:ext uri="{FF2B5EF4-FFF2-40B4-BE49-F238E27FC236}">
                <a16:creationId xmlns:a16="http://schemas.microsoft.com/office/drawing/2014/main" id="{21B5B194-953F-4A69-9AA8-4D95C62A4561}"/>
              </a:ext>
            </a:extLst>
          </p:cNvPr>
          <p:cNvSpPr txBox="1"/>
          <p:nvPr/>
        </p:nvSpPr>
        <p:spPr>
          <a:xfrm>
            <a:off x="995362" y="5668686"/>
            <a:ext cx="3187700" cy="246221"/>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s-ES" sz="1000" b="1" dirty="0">
                <a:solidFill>
                  <a:schemeClr val="tx1"/>
                </a:solidFill>
              </a:rPr>
              <a:t>Fuente SIGERI al 30.04.2024 </a:t>
            </a:r>
            <a:endParaRPr lang="es-ES" sz="1200" dirty="0"/>
          </a:p>
        </p:txBody>
      </p:sp>
      <p:graphicFrame>
        <p:nvGraphicFramePr>
          <p:cNvPr id="8" name="Tabla 7">
            <a:extLst>
              <a:ext uri="{FF2B5EF4-FFF2-40B4-BE49-F238E27FC236}">
                <a16:creationId xmlns:a16="http://schemas.microsoft.com/office/drawing/2014/main" id="{42F9C33F-9E22-4CEF-FF21-529EBFB9BABA}"/>
              </a:ext>
            </a:extLst>
          </p:cNvPr>
          <p:cNvGraphicFramePr>
            <a:graphicFrameLocks noGrp="1"/>
          </p:cNvGraphicFramePr>
          <p:nvPr>
            <p:extLst>
              <p:ext uri="{D42A27DB-BD31-4B8C-83A1-F6EECF244321}">
                <p14:modId xmlns:p14="http://schemas.microsoft.com/office/powerpoint/2010/main" val="654821635"/>
              </p:ext>
            </p:extLst>
          </p:nvPr>
        </p:nvGraphicFramePr>
        <p:xfrm>
          <a:off x="538331" y="1398061"/>
          <a:ext cx="3400400" cy="1376279"/>
        </p:xfrm>
        <a:graphic>
          <a:graphicData uri="http://schemas.openxmlformats.org/drawingml/2006/table">
            <a:tbl>
              <a:tblPr/>
              <a:tblGrid>
                <a:gridCol w="1385719">
                  <a:extLst>
                    <a:ext uri="{9D8B030D-6E8A-4147-A177-3AD203B41FA5}">
                      <a16:colId xmlns:a16="http://schemas.microsoft.com/office/drawing/2014/main" val="303441847"/>
                    </a:ext>
                  </a:extLst>
                </a:gridCol>
                <a:gridCol w="314481">
                  <a:extLst>
                    <a:ext uri="{9D8B030D-6E8A-4147-A177-3AD203B41FA5}">
                      <a16:colId xmlns:a16="http://schemas.microsoft.com/office/drawing/2014/main" val="1716151770"/>
                    </a:ext>
                  </a:extLst>
                </a:gridCol>
                <a:gridCol w="581416">
                  <a:extLst>
                    <a:ext uri="{9D8B030D-6E8A-4147-A177-3AD203B41FA5}">
                      <a16:colId xmlns:a16="http://schemas.microsoft.com/office/drawing/2014/main" val="757411442"/>
                    </a:ext>
                  </a:extLst>
                </a:gridCol>
                <a:gridCol w="1118784">
                  <a:extLst>
                    <a:ext uri="{9D8B030D-6E8A-4147-A177-3AD203B41FA5}">
                      <a16:colId xmlns:a16="http://schemas.microsoft.com/office/drawing/2014/main" val="3639645170"/>
                    </a:ext>
                  </a:extLst>
                </a:gridCol>
              </a:tblGrid>
              <a:tr h="339555">
                <a:tc gridSpan="2">
                  <a:txBody>
                    <a:bodyPr/>
                    <a:lstStyle/>
                    <a:p>
                      <a:pPr algn="ctr" fontAlgn="ctr"/>
                      <a:r>
                        <a:rPr lang="es-PE" sz="1400" b="1" i="0" u="none" strike="noStrike" dirty="0">
                          <a:solidFill>
                            <a:srgbClr val="000000"/>
                          </a:solidFill>
                          <a:effectLst/>
                          <a:latin typeface="+mn-lt"/>
                        </a:rPr>
                        <a:t>DCCI</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hMerge="1">
                  <a:txBody>
                    <a:bodyPr/>
                    <a:lstStyle/>
                    <a:p>
                      <a:endParaRPr lang="es-PE"/>
                    </a:p>
                  </a:txBody>
                  <a:tcPr/>
                </a:tc>
                <a:tc gridSpan="2">
                  <a:txBody>
                    <a:bodyPr/>
                    <a:lstStyle/>
                    <a:p>
                      <a:pPr algn="ctr" fontAlgn="ctr"/>
                      <a:r>
                        <a:rPr lang="es-ES" sz="1400" b="1" i="0" u="none" strike="noStrike" dirty="0">
                          <a:solidFill>
                            <a:srgbClr val="000000"/>
                          </a:solidFill>
                          <a:effectLst/>
                          <a:latin typeface="+mn-lt"/>
                        </a:rPr>
                        <a:t>            SIGERI</a:t>
                      </a:r>
                      <a:endParaRPr lang="es-PE" sz="1400" b="1" i="0" u="none" strike="noStrike" dirty="0">
                        <a:solidFill>
                          <a:srgbClr val="000000"/>
                        </a:solidFill>
                        <a:effectLst/>
                        <a:latin typeface="+mn-lt"/>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hMerge="1">
                  <a:txBody>
                    <a:bodyPr/>
                    <a:lstStyle/>
                    <a:p>
                      <a:pPr algn="ctr" fontAlgn="ctr"/>
                      <a:endParaRPr lang="es-PE" sz="1400" b="1" i="0" u="none" strike="noStrike" dirty="0">
                        <a:solidFill>
                          <a:srgbClr val="000000"/>
                        </a:solidFill>
                        <a:effectLst/>
                        <a:latin typeface="+mn-lt"/>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extLst>
                  <a:ext uri="{0D108BD9-81ED-4DB2-BD59-A6C34878D82A}">
                    <a16:rowId xmlns:a16="http://schemas.microsoft.com/office/drawing/2014/main" val="3528009855"/>
                  </a:ext>
                </a:extLst>
              </a:tr>
              <a:tr h="305002">
                <a:tc>
                  <a:txBody>
                    <a:bodyPr/>
                    <a:lstStyle/>
                    <a:p>
                      <a:pPr algn="l" fontAlgn="ctr"/>
                      <a:r>
                        <a:rPr lang="es-PE" sz="1400" b="1" i="0" u="none" strike="noStrike" dirty="0">
                          <a:solidFill>
                            <a:srgbClr val="000000"/>
                          </a:solidFill>
                          <a:effectLst/>
                          <a:latin typeface="+mn-lt"/>
                        </a:rPr>
                        <a:t>FONDO</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gridSpan="2">
                  <a:txBody>
                    <a:bodyPr/>
                    <a:lstStyle/>
                    <a:p>
                      <a:pPr algn="ctr" fontAlgn="ctr"/>
                      <a:r>
                        <a:rPr lang="es-ES" sz="1400" b="1" i="0" u="none" strike="noStrike" dirty="0">
                          <a:solidFill>
                            <a:schemeClr val="tx1"/>
                          </a:solidFill>
                          <a:effectLst/>
                          <a:latin typeface="+mn-lt"/>
                        </a:rPr>
                        <a:t>524</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hMerge="1">
                  <a:txBody>
                    <a:bodyPr/>
                    <a:lstStyle/>
                    <a:p>
                      <a:endParaRPr lang="es-PE"/>
                    </a:p>
                  </a:txBody>
                  <a:tcPr/>
                </a:tc>
                <a:tc>
                  <a:txBody>
                    <a:bodyPr/>
                    <a:lstStyle/>
                    <a:p>
                      <a:pPr algn="ctr" fontAlgn="ctr"/>
                      <a:r>
                        <a:rPr lang="es-ES" sz="1400" b="1" i="0" u="none" strike="noStrike" dirty="0">
                          <a:solidFill>
                            <a:schemeClr val="tx1"/>
                          </a:solidFill>
                          <a:effectLst/>
                          <a:highlight>
                            <a:srgbClr val="FFFF00"/>
                          </a:highlight>
                          <a:latin typeface="+mn-lt"/>
                        </a:rPr>
                        <a:t>480</a:t>
                      </a:r>
                      <a:endParaRPr lang="es-PE" sz="1400" b="1" i="0" u="none" strike="noStrike" dirty="0">
                        <a:solidFill>
                          <a:schemeClr val="tx1"/>
                        </a:solidFill>
                        <a:effectLst/>
                        <a:highlight>
                          <a:srgbClr val="FFFF00"/>
                        </a:highligh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944027070"/>
                  </a:ext>
                </a:extLst>
              </a:tr>
              <a:tr h="426720">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gridSpan="2">
                  <a:txBody>
                    <a:bodyPr/>
                    <a:lstStyle/>
                    <a:p>
                      <a:pPr algn="ctr" fontAlgn="ctr"/>
                      <a:r>
                        <a:rPr lang="es-ES" sz="1400" b="1" i="0" u="none" strike="noStrike" dirty="0">
                          <a:solidFill>
                            <a:schemeClr val="tx1"/>
                          </a:solidFill>
                          <a:effectLst/>
                          <a:latin typeface="+mn-lt"/>
                        </a:rPr>
                        <a:t>102</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hMerge="1">
                  <a:txBody>
                    <a:bodyPr/>
                    <a:lstStyle/>
                    <a:p>
                      <a:endParaRPr lang="es-PE"/>
                    </a:p>
                  </a:txBody>
                  <a:tcPr/>
                </a:tc>
                <a:tc>
                  <a:txBody>
                    <a:bodyPr/>
                    <a:lstStyle/>
                    <a:p>
                      <a:pPr algn="ctr" fontAlgn="ctr"/>
                      <a:r>
                        <a:rPr lang="es-ES" sz="1400" b="1" i="0" u="none" strike="noStrike" dirty="0">
                          <a:solidFill>
                            <a:schemeClr val="tx1"/>
                          </a:solidFill>
                          <a:effectLst/>
                          <a:latin typeface="+mn-lt"/>
                        </a:rPr>
                        <a:t>83</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17716666"/>
                  </a:ext>
                </a:extLst>
              </a:tr>
              <a:tr h="305002">
                <a:tc>
                  <a:txBody>
                    <a:bodyPr/>
                    <a:lstStyle/>
                    <a:p>
                      <a:pPr algn="l" fontAlgn="ctr"/>
                      <a:r>
                        <a:rPr lang="es-PE" sz="1400" b="1" i="0" u="none" strike="noStrike" dirty="0">
                          <a:solidFill>
                            <a:srgbClr val="000000"/>
                          </a:solidFill>
                          <a:effectLst/>
                          <a:latin typeface="+mn-lt"/>
                        </a:rPr>
                        <a:t>TOTAL</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gridSpan="2">
                  <a:txBody>
                    <a:bodyPr/>
                    <a:lstStyle/>
                    <a:p>
                      <a:pPr algn="ctr" fontAlgn="ctr"/>
                      <a:r>
                        <a:rPr lang="es-ES" sz="1400" b="1" i="0" u="none" strike="noStrike" dirty="0">
                          <a:solidFill>
                            <a:schemeClr val="tx1"/>
                          </a:solidFill>
                          <a:effectLst/>
                          <a:latin typeface="+mn-lt"/>
                        </a:rPr>
                        <a:t>626</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hMerge="1">
                  <a:txBody>
                    <a:bodyPr/>
                    <a:lstStyle/>
                    <a:p>
                      <a:endParaRPr lang="es-PE"/>
                    </a:p>
                  </a:txBody>
                  <a:tcPr/>
                </a:tc>
                <a:tc>
                  <a:txBody>
                    <a:bodyPr/>
                    <a:lstStyle/>
                    <a:p>
                      <a:pPr algn="ctr" fontAlgn="ctr"/>
                      <a:r>
                        <a:rPr lang="es-ES" sz="1400" b="1" i="0" u="none" strike="noStrike" dirty="0">
                          <a:solidFill>
                            <a:schemeClr val="tx1"/>
                          </a:solidFill>
                          <a:effectLst/>
                          <a:highlight>
                            <a:srgbClr val="FFFF00"/>
                          </a:highlight>
                          <a:latin typeface="+mn-lt"/>
                        </a:rPr>
                        <a:t>667</a:t>
                      </a:r>
                      <a:endParaRPr lang="es-PE" sz="1400" b="1" i="0" u="none" strike="noStrike" dirty="0">
                        <a:solidFill>
                          <a:schemeClr val="tx1"/>
                        </a:solidFill>
                        <a:effectLst/>
                        <a:highlight>
                          <a:srgbClr val="FFFF00"/>
                        </a:highligh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331887893"/>
                  </a:ext>
                </a:extLst>
              </a:tr>
            </a:tbl>
          </a:graphicData>
        </a:graphic>
      </p:graphicFrame>
      <p:graphicFrame>
        <p:nvGraphicFramePr>
          <p:cNvPr id="11" name="Tabla 10">
            <a:extLst>
              <a:ext uri="{FF2B5EF4-FFF2-40B4-BE49-F238E27FC236}">
                <a16:creationId xmlns:a16="http://schemas.microsoft.com/office/drawing/2014/main" id="{E5EFB618-4604-09BB-AFE3-37F61C5C02EF}"/>
              </a:ext>
            </a:extLst>
          </p:cNvPr>
          <p:cNvGraphicFramePr>
            <a:graphicFrameLocks noGrp="1"/>
          </p:cNvGraphicFramePr>
          <p:nvPr>
            <p:extLst>
              <p:ext uri="{D42A27DB-BD31-4B8C-83A1-F6EECF244321}">
                <p14:modId xmlns:p14="http://schemas.microsoft.com/office/powerpoint/2010/main" val="569375822"/>
              </p:ext>
            </p:extLst>
          </p:nvPr>
        </p:nvGraphicFramePr>
        <p:xfrm>
          <a:off x="538331" y="2890995"/>
          <a:ext cx="3385972" cy="1301115"/>
        </p:xfrm>
        <a:graphic>
          <a:graphicData uri="http://schemas.openxmlformats.org/drawingml/2006/table">
            <a:tbl>
              <a:tblPr/>
              <a:tblGrid>
                <a:gridCol w="1395244">
                  <a:extLst>
                    <a:ext uri="{9D8B030D-6E8A-4147-A177-3AD203B41FA5}">
                      <a16:colId xmlns:a16="http://schemas.microsoft.com/office/drawing/2014/main" val="2925254002"/>
                    </a:ext>
                  </a:extLst>
                </a:gridCol>
                <a:gridCol w="904876">
                  <a:extLst>
                    <a:ext uri="{9D8B030D-6E8A-4147-A177-3AD203B41FA5}">
                      <a16:colId xmlns:a16="http://schemas.microsoft.com/office/drawing/2014/main" val="867454367"/>
                    </a:ext>
                  </a:extLst>
                </a:gridCol>
                <a:gridCol w="1085852">
                  <a:extLst>
                    <a:ext uri="{9D8B030D-6E8A-4147-A177-3AD203B41FA5}">
                      <a16:colId xmlns:a16="http://schemas.microsoft.com/office/drawing/2014/main" val="2116818572"/>
                    </a:ext>
                  </a:extLst>
                </a:gridCol>
              </a:tblGrid>
              <a:tr h="287285">
                <a:tc>
                  <a:txBody>
                    <a:bodyPr/>
                    <a:lstStyle/>
                    <a:p>
                      <a:pPr algn="ctr"/>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DCCII</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99FF"/>
                    </a:solidFill>
                  </a:tcPr>
                </a:tc>
                <a:tc gridSpan="2">
                  <a:txBody>
                    <a:bodyPr/>
                    <a:lstStyle/>
                    <a:p>
                      <a:r>
                        <a:rPr lang="es-ES" sz="1400" b="1" dirty="0">
                          <a:effectLst/>
                          <a:latin typeface="Calibri" panose="020F0502020204030204" pitchFamily="34" charset="0"/>
                          <a:ea typeface="Calibri" panose="020F0502020204030204" pitchFamily="34" charset="0"/>
                          <a:cs typeface="Times New Roman" panose="02020603050405020304" pitchFamily="18" charset="0"/>
                        </a:rPr>
                        <a:t>                            SIGERI</a:t>
                      </a:r>
                      <a:endParaRPr lang="es-PE" dirty="0"/>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99FF"/>
                    </a:solidFill>
                  </a:tcPr>
                </a:tc>
                <a:tc hMerge="1">
                  <a:txBody>
                    <a:bodyPr/>
                    <a:lstStyle/>
                    <a:p>
                      <a:pPr algn="ct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99FF"/>
                    </a:solidFill>
                  </a:tcPr>
                </a:tc>
                <a:extLst>
                  <a:ext uri="{0D108BD9-81ED-4DB2-BD59-A6C34878D82A}">
                    <a16:rowId xmlns:a16="http://schemas.microsoft.com/office/drawing/2014/main" val="2471929919"/>
                  </a:ext>
                </a:extLst>
              </a:tr>
              <a:tr h="301312">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FONDO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285</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tc>
                  <a:txBody>
                    <a:bodyPr/>
                    <a:lstStyle/>
                    <a:p>
                      <a:pPr algn="ctr"/>
                      <a:r>
                        <a:rPr lang="es-ES" sz="1400" b="1" dirty="0">
                          <a:solidFill>
                            <a:schemeClr val="tx1"/>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263</a:t>
                      </a:r>
                      <a:endParaRPr lang="es-PE" sz="1400" b="1" dirty="0">
                        <a:solidFill>
                          <a:schemeClr val="tx1"/>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extLst>
                  <a:ext uri="{0D108BD9-81ED-4DB2-BD59-A6C34878D82A}">
                    <a16:rowId xmlns:a16="http://schemas.microsoft.com/office/drawing/2014/main" val="3243334386"/>
                  </a:ext>
                </a:extLst>
              </a:tr>
              <a:tr h="425233">
                <a:tc>
                  <a:txBody>
                    <a:bodyPr/>
                    <a:lstStyle/>
                    <a:p>
                      <a:r>
                        <a:rPr lang="es-PE" sz="1400" b="1" i="0" u="none" strike="noStrike" dirty="0">
                          <a:solidFill>
                            <a:srgbClr val="000000"/>
                          </a:solidFill>
                          <a:effectLst/>
                          <a:latin typeface="+mn-lt"/>
                        </a:rPr>
                        <a:t>ADMISIBILIDAD</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4B083"/>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70</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76</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611438467"/>
                  </a:ext>
                </a:extLst>
              </a:tr>
              <a:tr h="287285">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TOTAL</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4B083"/>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355</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4B083"/>
                      </a:solidFill>
                      <a:prstDash val="solid"/>
                      <a:round/>
                      <a:headEnd type="none" w="med" len="med"/>
                      <a:tailEnd type="none" w="med" len="med"/>
                    </a:lnL>
                    <a:lnR w="12700" cap="flat" cmpd="sng" algn="ctr">
                      <a:solidFill>
                        <a:srgbClr val="F4B083"/>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tc>
                  <a:txBody>
                    <a:bodyPr/>
                    <a:lstStyle/>
                    <a:p>
                      <a:pPr algn="ctr"/>
                      <a:r>
                        <a:rPr lang="es-ES" sz="1400" b="1" dirty="0">
                          <a:solidFill>
                            <a:schemeClr val="tx1"/>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351</a:t>
                      </a:r>
                      <a:endParaRPr lang="es-PE" sz="1400" b="1" dirty="0">
                        <a:solidFill>
                          <a:schemeClr val="tx1"/>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4B083"/>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extLst>
                  <a:ext uri="{0D108BD9-81ED-4DB2-BD59-A6C34878D82A}">
                    <a16:rowId xmlns:a16="http://schemas.microsoft.com/office/drawing/2014/main" val="2508674559"/>
                  </a:ext>
                </a:extLst>
              </a:tr>
            </a:tbl>
          </a:graphicData>
        </a:graphic>
      </p:graphicFrame>
      <p:graphicFrame>
        <p:nvGraphicFramePr>
          <p:cNvPr id="12" name="Tabla 11">
            <a:extLst>
              <a:ext uri="{FF2B5EF4-FFF2-40B4-BE49-F238E27FC236}">
                <a16:creationId xmlns:a16="http://schemas.microsoft.com/office/drawing/2014/main" id="{11E47780-28B5-BC8F-2D32-D418E13A98E3}"/>
              </a:ext>
            </a:extLst>
          </p:cNvPr>
          <p:cNvGraphicFramePr>
            <a:graphicFrameLocks noGrp="1"/>
          </p:cNvGraphicFramePr>
          <p:nvPr>
            <p:extLst>
              <p:ext uri="{D42A27DB-BD31-4B8C-83A1-F6EECF244321}">
                <p14:modId xmlns:p14="http://schemas.microsoft.com/office/powerpoint/2010/main" val="1916501738"/>
              </p:ext>
            </p:extLst>
          </p:nvPr>
        </p:nvGraphicFramePr>
        <p:xfrm>
          <a:off x="538330" y="4359468"/>
          <a:ext cx="3385972" cy="1302601"/>
        </p:xfrm>
        <a:graphic>
          <a:graphicData uri="http://schemas.openxmlformats.org/drawingml/2006/table">
            <a:tbl>
              <a:tblPr/>
              <a:tblGrid>
                <a:gridCol w="1338094">
                  <a:extLst>
                    <a:ext uri="{9D8B030D-6E8A-4147-A177-3AD203B41FA5}">
                      <a16:colId xmlns:a16="http://schemas.microsoft.com/office/drawing/2014/main" val="33698083"/>
                    </a:ext>
                  </a:extLst>
                </a:gridCol>
                <a:gridCol w="934310">
                  <a:extLst>
                    <a:ext uri="{9D8B030D-6E8A-4147-A177-3AD203B41FA5}">
                      <a16:colId xmlns:a16="http://schemas.microsoft.com/office/drawing/2014/main" val="1249015919"/>
                    </a:ext>
                  </a:extLst>
                </a:gridCol>
                <a:gridCol w="1113568">
                  <a:extLst>
                    <a:ext uri="{9D8B030D-6E8A-4147-A177-3AD203B41FA5}">
                      <a16:colId xmlns:a16="http://schemas.microsoft.com/office/drawing/2014/main" val="2207642921"/>
                    </a:ext>
                  </a:extLst>
                </a:gridCol>
              </a:tblGrid>
              <a:tr h="288619">
                <a:tc>
                  <a:txBody>
                    <a:bodyPr/>
                    <a:lstStyle/>
                    <a:p>
                      <a:pPr algn="ctr"/>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DCP</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00B050"/>
                    </a:solidFill>
                  </a:tcPr>
                </a:tc>
                <a:tc gridSpan="2">
                  <a:txBody>
                    <a:bodyPr/>
                    <a:lstStyle/>
                    <a:p>
                      <a:r>
                        <a:rPr lang="es-ES" sz="1400" b="1" dirty="0">
                          <a:effectLst/>
                          <a:latin typeface="Calibri" panose="020F0502020204030204" pitchFamily="34" charset="0"/>
                          <a:ea typeface="Calibri" panose="020F0502020204030204" pitchFamily="34" charset="0"/>
                          <a:cs typeface="Times New Roman" panose="02020603050405020304" pitchFamily="18" charset="0"/>
                        </a:rPr>
                        <a:t>                               SIGERI</a:t>
                      </a:r>
                      <a:endParaRPr lang="es-PE" dirty="0"/>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00B050"/>
                    </a:solidFill>
                  </a:tcPr>
                </a:tc>
                <a:tc hMerge="1">
                  <a:txBody>
                    <a:bodyPr/>
                    <a:lstStyle/>
                    <a:p>
                      <a:pPr algn="ct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00B050"/>
                    </a:solidFill>
                  </a:tcPr>
                </a:tc>
                <a:extLst>
                  <a:ext uri="{0D108BD9-81ED-4DB2-BD59-A6C34878D82A}">
                    <a16:rowId xmlns:a16="http://schemas.microsoft.com/office/drawing/2014/main" val="168360316"/>
                  </a:ext>
                </a:extLst>
              </a:tr>
              <a:tr h="288619">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FONDO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15</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tc>
                  <a:txBody>
                    <a:bodyPr/>
                    <a:lstStyle/>
                    <a:p>
                      <a:pPr algn="ctr"/>
                      <a:r>
                        <a:rPr lang="es-ES" sz="1400" b="1" dirty="0">
                          <a:solidFill>
                            <a:schemeClr val="tx1"/>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24</a:t>
                      </a:r>
                      <a:endParaRPr lang="es-PE" sz="1400" b="1" dirty="0">
                        <a:solidFill>
                          <a:schemeClr val="tx1"/>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extLst>
                  <a:ext uri="{0D108BD9-81ED-4DB2-BD59-A6C34878D82A}">
                    <a16:rowId xmlns:a16="http://schemas.microsoft.com/office/drawing/2014/main" val="1942616474"/>
                  </a:ext>
                </a:extLst>
              </a:tr>
              <a:tr h="436744">
                <a:tc>
                  <a:txBody>
                    <a:bodyPr/>
                    <a:lstStyle/>
                    <a:p>
                      <a:r>
                        <a:rPr lang="es-PE" sz="1400" b="1" dirty="0">
                          <a:effectLst/>
                          <a:latin typeface="Calibri" panose="020F0502020204030204" pitchFamily="34" charset="0"/>
                          <a:ea typeface="Calibri" panose="020F0502020204030204" pitchFamily="34" charset="0"/>
                          <a:cs typeface="Times New Roman" panose="02020603050405020304" pitchFamily="18" charset="0"/>
                        </a:rPr>
                        <a:t>ADMISIBILIDAD</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F4B083"/>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1274527589"/>
                  </a:ext>
                </a:extLst>
              </a:tr>
              <a:tr h="288619">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TOTAL</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17</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tc>
                  <a:txBody>
                    <a:bodyPr/>
                    <a:lstStyle/>
                    <a:p>
                      <a:pPr algn="ctr"/>
                      <a:r>
                        <a:rPr lang="es-ES" sz="1400" b="1" dirty="0">
                          <a:solidFill>
                            <a:schemeClr val="tx1"/>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34</a:t>
                      </a:r>
                      <a:endParaRPr lang="es-PE" sz="1400" b="1" dirty="0">
                        <a:solidFill>
                          <a:schemeClr val="tx1"/>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extLst>
                  <a:ext uri="{0D108BD9-81ED-4DB2-BD59-A6C34878D82A}">
                    <a16:rowId xmlns:a16="http://schemas.microsoft.com/office/drawing/2014/main" val="3466549735"/>
                  </a:ext>
                </a:extLst>
              </a:tr>
            </a:tbl>
          </a:graphicData>
        </a:graphic>
      </p:graphicFrame>
      <p:graphicFrame>
        <p:nvGraphicFramePr>
          <p:cNvPr id="17" name="Tabla 16">
            <a:extLst>
              <a:ext uri="{FF2B5EF4-FFF2-40B4-BE49-F238E27FC236}">
                <a16:creationId xmlns:a16="http://schemas.microsoft.com/office/drawing/2014/main" id="{C33A2A62-036F-C383-8520-446B907B93C7}"/>
              </a:ext>
            </a:extLst>
          </p:cNvPr>
          <p:cNvGraphicFramePr>
            <a:graphicFrameLocks noGrp="1"/>
          </p:cNvGraphicFramePr>
          <p:nvPr>
            <p:extLst>
              <p:ext uri="{D42A27DB-BD31-4B8C-83A1-F6EECF244321}">
                <p14:modId xmlns:p14="http://schemas.microsoft.com/office/powerpoint/2010/main" val="2277736351"/>
              </p:ext>
            </p:extLst>
          </p:nvPr>
        </p:nvGraphicFramePr>
        <p:xfrm>
          <a:off x="6814993" y="5170789"/>
          <a:ext cx="2419350" cy="765606"/>
        </p:xfrm>
        <a:graphic>
          <a:graphicData uri="http://schemas.openxmlformats.org/drawingml/2006/table">
            <a:tbl>
              <a:tblPr>
                <a:tableStyleId>{D7AC3CCA-C797-4891-BE02-D94E43425B78}</a:tableStyleId>
              </a:tblPr>
              <a:tblGrid>
                <a:gridCol w="806450">
                  <a:extLst>
                    <a:ext uri="{9D8B030D-6E8A-4147-A177-3AD203B41FA5}">
                      <a16:colId xmlns:a16="http://schemas.microsoft.com/office/drawing/2014/main" val="4025633932"/>
                    </a:ext>
                  </a:extLst>
                </a:gridCol>
                <a:gridCol w="806450">
                  <a:extLst>
                    <a:ext uri="{9D8B030D-6E8A-4147-A177-3AD203B41FA5}">
                      <a16:colId xmlns:a16="http://schemas.microsoft.com/office/drawing/2014/main" val="3397563117"/>
                    </a:ext>
                  </a:extLst>
                </a:gridCol>
                <a:gridCol w="806450">
                  <a:extLst>
                    <a:ext uri="{9D8B030D-6E8A-4147-A177-3AD203B41FA5}">
                      <a16:colId xmlns:a16="http://schemas.microsoft.com/office/drawing/2014/main" val="1535915550"/>
                    </a:ext>
                  </a:extLst>
                </a:gridCol>
              </a:tblGrid>
              <a:tr h="255202">
                <a:tc gridSpan="3">
                  <a:txBody>
                    <a:bodyPr/>
                    <a:lstStyle/>
                    <a:p>
                      <a:pPr algn="ctr" fontAlgn="ctr"/>
                      <a:r>
                        <a:rPr lang="es-PE" sz="1400" b="1" u="none" strike="noStrike" dirty="0">
                          <a:solidFill>
                            <a:srgbClr val="000000"/>
                          </a:solidFill>
                          <a:effectLst/>
                        </a:rPr>
                        <a:t>INGRESADOS</a:t>
                      </a:r>
                      <a:endParaRPr lang="es-PE" sz="1400" b="1" i="0" u="none" strike="noStrike" dirty="0">
                        <a:solidFill>
                          <a:srgbClr val="000000"/>
                        </a:solidFill>
                        <a:effectLst/>
                        <a:latin typeface="Calibri" panose="020F0502020204030204" pitchFamily="34" charset="0"/>
                      </a:endParaRPr>
                    </a:p>
                  </a:txBody>
                  <a:tcPr marL="0" marR="0" marT="0" marB="0" anchor="ct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959304820"/>
                  </a:ext>
                </a:extLst>
              </a:tr>
              <a:tr h="255202">
                <a:tc>
                  <a:txBody>
                    <a:bodyPr/>
                    <a:lstStyle/>
                    <a:p>
                      <a:pPr algn="ctr" fontAlgn="ctr"/>
                      <a:r>
                        <a:rPr lang="es-PE" sz="1400" b="1" u="none" strike="noStrike" dirty="0">
                          <a:solidFill>
                            <a:srgbClr val="000000"/>
                          </a:solidFill>
                          <a:effectLst/>
                        </a:rPr>
                        <a:t>DCCI</a:t>
                      </a:r>
                      <a:endParaRPr lang="es-PE" sz="14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400" b="1" u="none" strike="noStrike" dirty="0">
                          <a:solidFill>
                            <a:srgbClr val="000000"/>
                          </a:solidFill>
                          <a:effectLst/>
                        </a:rPr>
                        <a:t>DCCII</a:t>
                      </a:r>
                      <a:endParaRPr lang="es-PE" sz="14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400" b="1" u="none" strike="noStrike" dirty="0">
                          <a:solidFill>
                            <a:srgbClr val="000000"/>
                          </a:solidFill>
                          <a:effectLst/>
                        </a:rPr>
                        <a:t>DCP</a:t>
                      </a:r>
                      <a:endParaRPr lang="es-PE" sz="140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794528736"/>
                  </a:ext>
                </a:extLst>
              </a:tr>
              <a:tr h="255202">
                <a:tc>
                  <a:txBody>
                    <a:bodyPr/>
                    <a:lstStyle/>
                    <a:p>
                      <a:pPr algn="ctr" fontAlgn="b"/>
                      <a:r>
                        <a:rPr lang="es-ES" sz="1400" b="0" i="0" u="none" strike="noStrike" dirty="0">
                          <a:solidFill>
                            <a:schemeClr val="tx1"/>
                          </a:solidFill>
                          <a:effectLst/>
                          <a:latin typeface="Calibri" panose="020F0502020204030204" pitchFamily="34" charset="0"/>
                        </a:rPr>
                        <a:t>8</a:t>
                      </a:r>
                      <a:endParaRPr lang="es-PE" sz="1400" b="0" i="0" u="none" strike="noStrike" dirty="0">
                        <a:solidFill>
                          <a:schemeClr val="tx1"/>
                        </a:solidFill>
                        <a:effectLst/>
                        <a:latin typeface="Calibri" panose="020F0502020204030204" pitchFamily="34" charset="0"/>
                      </a:endParaRPr>
                    </a:p>
                  </a:txBody>
                  <a:tcPr marL="0" marR="0" marT="0" marB="0" anchor="b"/>
                </a:tc>
                <a:tc>
                  <a:txBody>
                    <a:bodyPr/>
                    <a:lstStyle/>
                    <a:p>
                      <a:pPr algn="ctr" fontAlgn="b"/>
                      <a:r>
                        <a:rPr lang="es-ES" sz="1400" b="0" i="0" u="none" strike="noStrike" dirty="0">
                          <a:solidFill>
                            <a:schemeClr val="tx1"/>
                          </a:solidFill>
                          <a:effectLst/>
                          <a:latin typeface="Calibri" panose="020F0502020204030204" pitchFamily="34" charset="0"/>
                        </a:rPr>
                        <a:t>11</a:t>
                      </a:r>
                    </a:p>
                  </a:txBody>
                  <a:tcPr marL="0" marR="0" marT="0" marB="0" anchor="b"/>
                </a:tc>
                <a:tc>
                  <a:txBody>
                    <a:bodyPr/>
                    <a:lstStyle/>
                    <a:p>
                      <a:pPr algn="ctr" fontAlgn="ctr"/>
                      <a:r>
                        <a:rPr lang="es-ES" sz="1400" b="0" i="0" u="none" strike="noStrike" dirty="0">
                          <a:solidFill>
                            <a:schemeClr val="tx1"/>
                          </a:solidFill>
                          <a:effectLst/>
                          <a:latin typeface="Calibri" panose="020F0502020204030204" pitchFamily="34" charset="0"/>
                        </a:rPr>
                        <a:t>0</a:t>
                      </a:r>
                      <a:endParaRPr lang="es-PE" sz="1400" b="0" i="0" u="none" strike="noStrike" dirty="0">
                        <a:solidFill>
                          <a:schemeClr val="tx1"/>
                        </a:solidFill>
                        <a:effectLst/>
                        <a:latin typeface="Calibri" panose="020F0502020204030204" pitchFamily="34" charset="0"/>
                      </a:endParaRPr>
                    </a:p>
                  </a:txBody>
                  <a:tcPr marL="0" marR="0" marT="0" marB="0" anchor="ctr"/>
                </a:tc>
                <a:extLst>
                  <a:ext uri="{0D108BD9-81ED-4DB2-BD59-A6C34878D82A}">
                    <a16:rowId xmlns:a16="http://schemas.microsoft.com/office/drawing/2014/main" val="293386828"/>
                  </a:ext>
                </a:extLst>
              </a:tr>
            </a:tbl>
          </a:graphicData>
        </a:graphic>
      </p:graphicFrame>
      <p:sp>
        <p:nvSpPr>
          <p:cNvPr id="6" name="CuadroTexto 5">
            <a:extLst>
              <a:ext uri="{FF2B5EF4-FFF2-40B4-BE49-F238E27FC236}">
                <a16:creationId xmlns:a16="http://schemas.microsoft.com/office/drawing/2014/main" id="{85348961-3E42-D777-9E0B-39E48E615938}"/>
              </a:ext>
            </a:extLst>
          </p:cNvPr>
          <p:cNvSpPr txBox="1"/>
          <p:nvPr/>
        </p:nvSpPr>
        <p:spPr>
          <a:xfrm>
            <a:off x="7268874" y="1046149"/>
            <a:ext cx="1457325" cy="369327"/>
          </a:xfrm>
          <a:prstGeom prst="rect">
            <a:avLst/>
          </a:prstGeom>
          <a:noFill/>
        </p:spPr>
        <p:txBody>
          <a:bodyPr wrap="square" rtlCol="0">
            <a:spAutoFit/>
          </a:bodyPr>
          <a:lstStyle/>
          <a:p>
            <a:pPr algn="ctr"/>
            <a:r>
              <a:rPr lang="es-ES" b="1" dirty="0"/>
              <a:t>2023</a:t>
            </a:r>
            <a:endParaRPr lang="es-PE" b="1" dirty="0"/>
          </a:p>
        </p:txBody>
      </p:sp>
      <p:sp>
        <p:nvSpPr>
          <p:cNvPr id="7" name="CuadroTexto 6">
            <a:extLst>
              <a:ext uri="{FF2B5EF4-FFF2-40B4-BE49-F238E27FC236}">
                <a16:creationId xmlns:a16="http://schemas.microsoft.com/office/drawing/2014/main" id="{18BA90EE-AAFF-1CB0-5F16-DB7D138D89F2}"/>
              </a:ext>
            </a:extLst>
          </p:cNvPr>
          <p:cNvSpPr txBox="1"/>
          <p:nvPr/>
        </p:nvSpPr>
        <p:spPr>
          <a:xfrm>
            <a:off x="7296806" y="3081268"/>
            <a:ext cx="1457325" cy="369327"/>
          </a:xfrm>
          <a:prstGeom prst="rect">
            <a:avLst/>
          </a:prstGeom>
          <a:noFill/>
        </p:spPr>
        <p:txBody>
          <a:bodyPr wrap="square" rtlCol="0">
            <a:spAutoFit/>
          </a:bodyPr>
          <a:lstStyle/>
          <a:p>
            <a:pPr algn="ctr"/>
            <a:r>
              <a:rPr lang="es-ES" b="1" dirty="0"/>
              <a:t>2024</a:t>
            </a:r>
            <a:endParaRPr lang="es-PE" b="1" dirty="0"/>
          </a:p>
        </p:txBody>
      </p:sp>
      <p:sp>
        <p:nvSpPr>
          <p:cNvPr id="19" name="Cerrar llave 18">
            <a:extLst>
              <a:ext uri="{FF2B5EF4-FFF2-40B4-BE49-F238E27FC236}">
                <a16:creationId xmlns:a16="http://schemas.microsoft.com/office/drawing/2014/main" id="{C92AC8BE-E273-CB5B-F901-4896BFC3E34F}"/>
              </a:ext>
            </a:extLst>
          </p:cNvPr>
          <p:cNvSpPr/>
          <p:nvPr/>
        </p:nvSpPr>
        <p:spPr>
          <a:xfrm>
            <a:off x="4014930" y="1460125"/>
            <a:ext cx="514350" cy="4093467"/>
          </a:xfrm>
          <a:prstGeom prst="rightBrace">
            <a:avLst>
              <a:gd name="adj1" fmla="val 8333"/>
              <a:gd name="adj2" fmla="val 50465"/>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PE" b="1" dirty="0"/>
          </a:p>
        </p:txBody>
      </p:sp>
      <p:graphicFrame>
        <p:nvGraphicFramePr>
          <p:cNvPr id="2" name="Tabla 1">
            <a:extLst>
              <a:ext uri="{FF2B5EF4-FFF2-40B4-BE49-F238E27FC236}">
                <a16:creationId xmlns:a16="http://schemas.microsoft.com/office/drawing/2014/main" id="{3629695C-2A70-2448-59F5-EF50943DF9DC}"/>
              </a:ext>
            </a:extLst>
          </p:cNvPr>
          <p:cNvGraphicFramePr>
            <a:graphicFrameLocks noGrp="1"/>
          </p:cNvGraphicFramePr>
          <p:nvPr>
            <p:extLst>
              <p:ext uri="{D42A27DB-BD31-4B8C-83A1-F6EECF244321}">
                <p14:modId xmlns:p14="http://schemas.microsoft.com/office/powerpoint/2010/main" val="2769929117"/>
              </p:ext>
            </p:extLst>
          </p:nvPr>
        </p:nvGraphicFramePr>
        <p:xfrm>
          <a:off x="4481272" y="1406283"/>
          <a:ext cx="7209221" cy="664142"/>
        </p:xfrm>
        <a:graphic>
          <a:graphicData uri="http://schemas.openxmlformats.org/drawingml/2006/table">
            <a:tbl>
              <a:tblPr/>
              <a:tblGrid>
                <a:gridCol w="510998">
                  <a:extLst>
                    <a:ext uri="{9D8B030D-6E8A-4147-A177-3AD203B41FA5}">
                      <a16:colId xmlns:a16="http://schemas.microsoft.com/office/drawing/2014/main" val="1074764036"/>
                    </a:ext>
                  </a:extLst>
                </a:gridCol>
                <a:gridCol w="704349">
                  <a:extLst>
                    <a:ext uri="{9D8B030D-6E8A-4147-A177-3AD203B41FA5}">
                      <a16:colId xmlns:a16="http://schemas.microsoft.com/office/drawing/2014/main" val="3258104317"/>
                    </a:ext>
                  </a:extLst>
                </a:gridCol>
                <a:gridCol w="593863">
                  <a:extLst>
                    <a:ext uri="{9D8B030D-6E8A-4147-A177-3AD203B41FA5}">
                      <a16:colId xmlns:a16="http://schemas.microsoft.com/office/drawing/2014/main" val="3572637511"/>
                    </a:ext>
                  </a:extLst>
                </a:gridCol>
                <a:gridCol w="510998">
                  <a:extLst>
                    <a:ext uri="{9D8B030D-6E8A-4147-A177-3AD203B41FA5}">
                      <a16:colId xmlns:a16="http://schemas.microsoft.com/office/drawing/2014/main" val="3857808528"/>
                    </a:ext>
                  </a:extLst>
                </a:gridCol>
                <a:gridCol w="524809">
                  <a:extLst>
                    <a:ext uri="{9D8B030D-6E8A-4147-A177-3AD203B41FA5}">
                      <a16:colId xmlns:a16="http://schemas.microsoft.com/office/drawing/2014/main" val="1503528122"/>
                    </a:ext>
                  </a:extLst>
                </a:gridCol>
                <a:gridCol w="455755">
                  <a:extLst>
                    <a:ext uri="{9D8B030D-6E8A-4147-A177-3AD203B41FA5}">
                      <a16:colId xmlns:a16="http://schemas.microsoft.com/office/drawing/2014/main" val="534461439"/>
                    </a:ext>
                  </a:extLst>
                </a:gridCol>
                <a:gridCol w="441945">
                  <a:extLst>
                    <a:ext uri="{9D8B030D-6E8A-4147-A177-3AD203B41FA5}">
                      <a16:colId xmlns:a16="http://schemas.microsoft.com/office/drawing/2014/main" val="1464611740"/>
                    </a:ext>
                  </a:extLst>
                </a:gridCol>
                <a:gridCol w="607674">
                  <a:extLst>
                    <a:ext uri="{9D8B030D-6E8A-4147-A177-3AD203B41FA5}">
                      <a16:colId xmlns:a16="http://schemas.microsoft.com/office/drawing/2014/main" val="983088506"/>
                    </a:ext>
                  </a:extLst>
                </a:gridCol>
                <a:gridCol w="718160">
                  <a:extLst>
                    <a:ext uri="{9D8B030D-6E8A-4147-A177-3AD203B41FA5}">
                      <a16:colId xmlns:a16="http://schemas.microsoft.com/office/drawing/2014/main" val="1149158738"/>
                    </a:ext>
                  </a:extLst>
                </a:gridCol>
                <a:gridCol w="621485">
                  <a:extLst>
                    <a:ext uri="{9D8B030D-6E8A-4147-A177-3AD203B41FA5}">
                      <a16:colId xmlns:a16="http://schemas.microsoft.com/office/drawing/2014/main" val="3128830786"/>
                    </a:ext>
                  </a:extLst>
                </a:gridCol>
                <a:gridCol w="828646">
                  <a:extLst>
                    <a:ext uri="{9D8B030D-6E8A-4147-A177-3AD203B41FA5}">
                      <a16:colId xmlns:a16="http://schemas.microsoft.com/office/drawing/2014/main" val="3835212946"/>
                    </a:ext>
                  </a:extLst>
                </a:gridCol>
                <a:gridCol w="690539">
                  <a:extLst>
                    <a:ext uri="{9D8B030D-6E8A-4147-A177-3AD203B41FA5}">
                      <a16:colId xmlns:a16="http://schemas.microsoft.com/office/drawing/2014/main" val="1709949566"/>
                    </a:ext>
                  </a:extLst>
                </a:gridCol>
              </a:tblGrid>
              <a:tr h="176321">
                <a:tc gridSpan="12">
                  <a:txBody>
                    <a:bodyPr/>
                    <a:lstStyle/>
                    <a:p>
                      <a:pPr algn="ctr" rtl="0" fontAlgn="ctr"/>
                      <a:r>
                        <a:rPr lang="es-PE" sz="1050" b="1" i="0" u="none" strike="noStrike" dirty="0">
                          <a:solidFill>
                            <a:srgbClr val="000000"/>
                          </a:solidFill>
                          <a:effectLst/>
                          <a:latin typeface="Calibri" panose="020F0502020204030204" pitchFamily="34" charset="0"/>
                        </a:rPr>
                        <a:t>FONDO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159146899"/>
                  </a:ext>
                </a:extLst>
              </a:tr>
              <a:tr h="311500">
                <a:tc>
                  <a:txBody>
                    <a:bodyPr/>
                    <a:lstStyle/>
                    <a:p>
                      <a:pPr algn="ctr" rtl="0" fontAlgn="ctr"/>
                      <a:r>
                        <a:rPr lang="es-PE" sz="1050" b="1" i="0" u="none" strike="noStrike">
                          <a:solidFill>
                            <a:srgbClr val="000000"/>
                          </a:solidFill>
                          <a:effectLst/>
                          <a:latin typeface="Calibri" panose="020F0502020204030204" pitchFamily="34" charset="0"/>
                        </a:rPr>
                        <a:t>ENERO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FEBRERO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MARZO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ABRIL</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MAYO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JUNIO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dirty="0">
                          <a:solidFill>
                            <a:srgbClr val="000000"/>
                          </a:solidFill>
                          <a:effectLst/>
                          <a:latin typeface="Calibri" panose="020F0502020204030204" pitchFamily="34" charset="0"/>
                        </a:rPr>
                        <a:t>JULIO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dirty="0">
                          <a:solidFill>
                            <a:srgbClr val="000000"/>
                          </a:solidFill>
                          <a:effectLst/>
                          <a:latin typeface="Calibri" panose="020F0502020204030204" pitchFamily="34" charset="0"/>
                        </a:rPr>
                        <a:t>AGOSTO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dirty="0">
                          <a:solidFill>
                            <a:srgbClr val="000000"/>
                          </a:solidFill>
                          <a:effectLst/>
                          <a:latin typeface="Calibri" panose="020F0502020204030204" pitchFamily="34" charset="0"/>
                        </a:rPr>
                        <a:t>SETIEMBRE</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OCTUBRE</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NOVIEMBRE</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DICIEMBRE</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extLst>
                  <a:ext uri="{0D108BD9-81ED-4DB2-BD59-A6C34878D82A}">
                    <a16:rowId xmlns:a16="http://schemas.microsoft.com/office/drawing/2014/main" val="1844435292"/>
                  </a:ext>
                </a:extLst>
              </a:tr>
              <a:tr h="176321">
                <a:tc>
                  <a:txBody>
                    <a:bodyPr/>
                    <a:lstStyle/>
                    <a:p>
                      <a:pPr algn="ctr" rtl="0" fontAlgn="ctr"/>
                      <a:r>
                        <a:rPr lang="es-PE" sz="1050" b="0" i="0" u="none" strike="noStrike">
                          <a:solidFill>
                            <a:srgbClr val="000000"/>
                          </a:solidFill>
                          <a:effectLst/>
                          <a:latin typeface="Calibri" panose="020F0502020204030204" pitchFamily="34" charset="0"/>
                        </a:rPr>
                        <a:t>1072</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1849</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1199</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1187</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1148</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1149</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878</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050" b="0" i="0" u="none" strike="noStrike">
                          <a:solidFill>
                            <a:srgbClr val="000000"/>
                          </a:solidFill>
                          <a:effectLst/>
                          <a:latin typeface="Calibri" panose="020F0502020204030204" pitchFamily="34" charset="0"/>
                        </a:rPr>
                        <a:t>878</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050" b="0" i="0" u="none" strike="noStrike">
                          <a:solidFill>
                            <a:srgbClr val="000000"/>
                          </a:solidFill>
                          <a:effectLst/>
                          <a:latin typeface="Calibri" panose="020F0502020204030204" pitchFamily="34" charset="0"/>
                        </a:rPr>
                        <a:t> 640</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050" b="0" i="0" u="none" strike="noStrike">
                          <a:solidFill>
                            <a:srgbClr val="000000"/>
                          </a:solidFill>
                          <a:effectLst/>
                          <a:latin typeface="Calibri" panose="020F0502020204030204" pitchFamily="34" charset="0"/>
                        </a:rPr>
                        <a:t>800</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050" b="0" i="0" u="none" strike="noStrike">
                          <a:solidFill>
                            <a:srgbClr val="000000"/>
                          </a:solidFill>
                          <a:effectLst/>
                          <a:latin typeface="Calibri" panose="020F0502020204030204" pitchFamily="34" charset="0"/>
                        </a:rPr>
                        <a:t>801</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050" b="0" i="0" u="none" strike="noStrike" dirty="0">
                          <a:solidFill>
                            <a:srgbClr val="000000"/>
                          </a:solidFill>
                          <a:effectLst/>
                          <a:latin typeface="Calibri" panose="020F0502020204030204" pitchFamily="34" charset="0"/>
                        </a:rPr>
                        <a:t>633</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extLst>
                  <a:ext uri="{0D108BD9-81ED-4DB2-BD59-A6C34878D82A}">
                    <a16:rowId xmlns:a16="http://schemas.microsoft.com/office/drawing/2014/main" val="1092472469"/>
                  </a:ext>
                </a:extLst>
              </a:tr>
            </a:tbl>
          </a:graphicData>
        </a:graphic>
      </p:graphicFrame>
      <p:graphicFrame>
        <p:nvGraphicFramePr>
          <p:cNvPr id="3" name="Tabla 2">
            <a:extLst>
              <a:ext uri="{FF2B5EF4-FFF2-40B4-BE49-F238E27FC236}">
                <a16:creationId xmlns:a16="http://schemas.microsoft.com/office/drawing/2014/main" id="{5806AB0E-3F85-9087-9ED5-45EE0E593B7F}"/>
              </a:ext>
            </a:extLst>
          </p:cNvPr>
          <p:cNvGraphicFramePr>
            <a:graphicFrameLocks noGrp="1"/>
          </p:cNvGraphicFramePr>
          <p:nvPr>
            <p:extLst>
              <p:ext uri="{D42A27DB-BD31-4B8C-83A1-F6EECF244321}">
                <p14:modId xmlns:p14="http://schemas.microsoft.com/office/powerpoint/2010/main" val="2543455476"/>
              </p:ext>
            </p:extLst>
          </p:nvPr>
        </p:nvGraphicFramePr>
        <p:xfrm>
          <a:off x="4481271" y="2241377"/>
          <a:ext cx="7209220" cy="717199"/>
        </p:xfrm>
        <a:graphic>
          <a:graphicData uri="http://schemas.openxmlformats.org/drawingml/2006/table">
            <a:tbl>
              <a:tblPr/>
              <a:tblGrid>
                <a:gridCol w="510998">
                  <a:extLst>
                    <a:ext uri="{9D8B030D-6E8A-4147-A177-3AD203B41FA5}">
                      <a16:colId xmlns:a16="http://schemas.microsoft.com/office/drawing/2014/main" val="2311963422"/>
                    </a:ext>
                  </a:extLst>
                </a:gridCol>
                <a:gridCol w="704349">
                  <a:extLst>
                    <a:ext uri="{9D8B030D-6E8A-4147-A177-3AD203B41FA5}">
                      <a16:colId xmlns:a16="http://schemas.microsoft.com/office/drawing/2014/main" val="1516187338"/>
                    </a:ext>
                  </a:extLst>
                </a:gridCol>
                <a:gridCol w="593863">
                  <a:extLst>
                    <a:ext uri="{9D8B030D-6E8A-4147-A177-3AD203B41FA5}">
                      <a16:colId xmlns:a16="http://schemas.microsoft.com/office/drawing/2014/main" val="3647570914"/>
                    </a:ext>
                  </a:extLst>
                </a:gridCol>
                <a:gridCol w="510998">
                  <a:extLst>
                    <a:ext uri="{9D8B030D-6E8A-4147-A177-3AD203B41FA5}">
                      <a16:colId xmlns:a16="http://schemas.microsoft.com/office/drawing/2014/main" val="1400445797"/>
                    </a:ext>
                  </a:extLst>
                </a:gridCol>
                <a:gridCol w="524809">
                  <a:extLst>
                    <a:ext uri="{9D8B030D-6E8A-4147-A177-3AD203B41FA5}">
                      <a16:colId xmlns:a16="http://schemas.microsoft.com/office/drawing/2014/main" val="3198969946"/>
                    </a:ext>
                  </a:extLst>
                </a:gridCol>
                <a:gridCol w="455755">
                  <a:extLst>
                    <a:ext uri="{9D8B030D-6E8A-4147-A177-3AD203B41FA5}">
                      <a16:colId xmlns:a16="http://schemas.microsoft.com/office/drawing/2014/main" val="2228440488"/>
                    </a:ext>
                  </a:extLst>
                </a:gridCol>
                <a:gridCol w="441945">
                  <a:extLst>
                    <a:ext uri="{9D8B030D-6E8A-4147-A177-3AD203B41FA5}">
                      <a16:colId xmlns:a16="http://schemas.microsoft.com/office/drawing/2014/main" val="795327759"/>
                    </a:ext>
                  </a:extLst>
                </a:gridCol>
                <a:gridCol w="607674">
                  <a:extLst>
                    <a:ext uri="{9D8B030D-6E8A-4147-A177-3AD203B41FA5}">
                      <a16:colId xmlns:a16="http://schemas.microsoft.com/office/drawing/2014/main" val="2178664864"/>
                    </a:ext>
                  </a:extLst>
                </a:gridCol>
                <a:gridCol w="718160">
                  <a:extLst>
                    <a:ext uri="{9D8B030D-6E8A-4147-A177-3AD203B41FA5}">
                      <a16:colId xmlns:a16="http://schemas.microsoft.com/office/drawing/2014/main" val="3907391050"/>
                    </a:ext>
                  </a:extLst>
                </a:gridCol>
                <a:gridCol w="621485">
                  <a:extLst>
                    <a:ext uri="{9D8B030D-6E8A-4147-A177-3AD203B41FA5}">
                      <a16:colId xmlns:a16="http://schemas.microsoft.com/office/drawing/2014/main" val="2424771591"/>
                    </a:ext>
                  </a:extLst>
                </a:gridCol>
                <a:gridCol w="828646">
                  <a:extLst>
                    <a:ext uri="{9D8B030D-6E8A-4147-A177-3AD203B41FA5}">
                      <a16:colId xmlns:a16="http://schemas.microsoft.com/office/drawing/2014/main" val="3910783422"/>
                    </a:ext>
                  </a:extLst>
                </a:gridCol>
                <a:gridCol w="690538">
                  <a:extLst>
                    <a:ext uri="{9D8B030D-6E8A-4147-A177-3AD203B41FA5}">
                      <a16:colId xmlns:a16="http://schemas.microsoft.com/office/drawing/2014/main" val="4013679102"/>
                    </a:ext>
                  </a:extLst>
                </a:gridCol>
              </a:tblGrid>
              <a:tr h="190407">
                <a:tc gridSpan="12">
                  <a:txBody>
                    <a:bodyPr/>
                    <a:lstStyle/>
                    <a:p>
                      <a:pPr algn="ctr" rtl="0" fontAlgn="ctr"/>
                      <a:r>
                        <a:rPr lang="es-PE" sz="1050" b="1" i="0" u="none" strike="noStrike" dirty="0">
                          <a:solidFill>
                            <a:srgbClr val="000000"/>
                          </a:solidFill>
                          <a:effectLst/>
                          <a:latin typeface="Calibri" panose="020F0502020204030204" pitchFamily="34" charset="0"/>
                        </a:rPr>
                        <a:t>ADMISIBILIDAD</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3093217592"/>
                  </a:ext>
                </a:extLst>
              </a:tr>
              <a:tr h="336385">
                <a:tc>
                  <a:txBody>
                    <a:bodyPr/>
                    <a:lstStyle/>
                    <a:p>
                      <a:pPr algn="ctr" rtl="0" fontAlgn="ctr"/>
                      <a:r>
                        <a:rPr lang="es-PE" sz="1050" b="1" i="0" u="none" strike="noStrike">
                          <a:solidFill>
                            <a:srgbClr val="000000"/>
                          </a:solidFill>
                          <a:effectLst/>
                          <a:latin typeface="Calibri" panose="020F0502020204030204" pitchFamily="34" charset="0"/>
                        </a:rPr>
                        <a:t>ENERO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FEBRERO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MARZO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ABRIL</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MAYO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JUNIO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dirty="0">
                          <a:solidFill>
                            <a:srgbClr val="000000"/>
                          </a:solidFill>
                          <a:effectLst/>
                          <a:latin typeface="Calibri" panose="020F0502020204030204" pitchFamily="34" charset="0"/>
                        </a:rPr>
                        <a:t>JULIO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AGOSTO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SETIEMBRE</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OCTUBRE</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NOVIEMBRE</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DICIEMBRE</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extLst>
                  <a:ext uri="{0D108BD9-81ED-4DB2-BD59-A6C34878D82A}">
                    <a16:rowId xmlns:a16="http://schemas.microsoft.com/office/drawing/2014/main" val="1865571487"/>
                  </a:ext>
                </a:extLst>
              </a:tr>
              <a:tr h="190407">
                <a:tc>
                  <a:txBody>
                    <a:bodyPr/>
                    <a:lstStyle/>
                    <a:p>
                      <a:pPr algn="ctr" rtl="0" fontAlgn="ctr"/>
                      <a:r>
                        <a:rPr lang="es-PE" sz="1050" b="0" i="0" u="none" strike="noStrike">
                          <a:solidFill>
                            <a:srgbClr val="000000"/>
                          </a:solidFill>
                          <a:effectLst/>
                          <a:latin typeface="Calibri" panose="020F0502020204030204" pitchFamily="34" charset="0"/>
                        </a:rPr>
                        <a:t>1900</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1853</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1334</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808</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448</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271</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277</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050" b="0" i="0" u="none" strike="noStrike">
                          <a:solidFill>
                            <a:srgbClr val="000000"/>
                          </a:solidFill>
                          <a:effectLst/>
                          <a:latin typeface="Calibri" panose="020F0502020204030204" pitchFamily="34" charset="0"/>
                        </a:rPr>
                        <a:t>327</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050" b="0" i="0" u="none" strike="noStrike">
                          <a:solidFill>
                            <a:srgbClr val="000000"/>
                          </a:solidFill>
                          <a:effectLst/>
                          <a:latin typeface="Calibri" panose="020F0502020204030204" pitchFamily="34" charset="0"/>
                        </a:rPr>
                        <a:t> 368</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050" b="0" i="0" u="none" strike="noStrike">
                          <a:solidFill>
                            <a:srgbClr val="000000"/>
                          </a:solidFill>
                          <a:effectLst/>
                          <a:latin typeface="Calibri" panose="020F0502020204030204" pitchFamily="34" charset="0"/>
                        </a:rPr>
                        <a:t>435</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050" b="0" i="0" u="none" strike="noStrike">
                          <a:solidFill>
                            <a:srgbClr val="000000"/>
                          </a:solidFill>
                          <a:effectLst/>
                          <a:latin typeface="Calibri" panose="020F0502020204030204" pitchFamily="34" charset="0"/>
                        </a:rPr>
                        <a:t>493</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050" b="0" i="0" u="none" strike="noStrike" dirty="0">
                          <a:solidFill>
                            <a:srgbClr val="000000"/>
                          </a:solidFill>
                          <a:effectLst/>
                          <a:latin typeface="Calibri" panose="020F0502020204030204" pitchFamily="34" charset="0"/>
                        </a:rPr>
                        <a:t>511</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extLst>
                  <a:ext uri="{0D108BD9-81ED-4DB2-BD59-A6C34878D82A}">
                    <a16:rowId xmlns:a16="http://schemas.microsoft.com/office/drawing/2014/main" val="2937835668"/>
                  </a:ext>
                </a:extLst>
              </a:tr>
            </a:tbl>
          </a:graphicData>
        </a:graphic>
      </p:graphicFrame>
      <p:graphicFrame>
        <p:nvGraphicFramePr>
          <p:cNvPr id="16" name="Tabla 15">
            <a:extLst>
              <a:ext uri="{FF2B5EF4-FFF2-40B4-BE49-F238E27FC236}">
                <a16:creationId xmlns:a16="http://schemas.microsoft.com/office/drawing/2014/main" id="{55C31B5B-B9FD-7A3C-712D-BFA36F022CF0}"/>
              </a:ext>
            </a:extLst>
          </p:cNvPr>
          <p:cNvGraphicFramePr>
            <a:graphicFrameLocks noGrp="1"/>
          </p:cNvGraphicFramePr>
          <p:nvPr>
            <p:extLst>
              <p:ext uri="{D42A27DB-BD31-4B8C-83A1-F6EECF244321}">
                <p14:modId xmlns:p14="http://schemas.microsoft.com/office/powerpoint/2010/main" val="4207578114"/>
              </p:ext>
            </p:extLst>
          </p:nvPr>
        </p:nvGraphicFramePr>
        <p:xfrm>
          <a:off x="6914861" y="3479412"/>
          <a:ext cx="2219614" cy="524642"/>
        </p:xfrm>
        <a:graphic>
          <a:graphicData uri="http://schemas.openxmlformats.org/drawingml/2006/table">
            <a:tbl>
              <a:tblPr/>
              <a:tblGrid>
                <a:gridCol w="669824">
                  <a:extLst>
                    <a:ext uri="{9D8B030D-6E8A-4147-A177-3AD203B41FA5}">
                      <a16:colId xmlns:a16="http://schemas.microsoft.com/office/drawing/2014/main" val="2608954436"/>
                    </a:ext>
                  </a:extLst>
                </a:gridCol>
                <a:gridCol w="564754">
                  <a:extLst>
                    <a:ext uri="{9D8B030D-6E8A-4147-A177-3AD203B41FA5}">
                      <a16:colId xmlns:a16="http://schemas.microsoft.com/office/drawing/2014/main" val="3702516282"/>
                    </a:ext>
                  </a:extLst>
                </a:gridCol>
                <a:gridCol w="485951">
                  <a:extLst>
                    <a:ext uri="{9D8B030D-6E8A-4147-A177-3AD203B41FA5}">
                      <a16:colId xmlns:a16="http://schemas.microsoft.com/office/drawing/2014/main" val="3202347375"/>
                    </a:ext>
                  </a:extLst>
                </a:gridCol>
                <a:gridCol w="499085">
                  <a:extLst>
                    <a:ext uri="{9D8B030D-6E8A-4147-A177-3AD203B41FA5}">
                      <a16:colId xmlns:a16="http://schemas.microsoft.com/office/drawing/2014/main" val="66548466"/>
                    </a:ext>
                  </a:extLst>
                </a:gridCol>
              </a:tblGrid>
              <a:tr h="189362">
                <a:tc gridSpan="4">
                  <a:txBody>
                    <a:bodyPr/>
                    <a:lstStyle/>
                    <a:p>
                      <a:pPr algn="ctr" rtl="0" fontAlgn="ctr"/>
                      <a:r>
                        <a:rPr lang="es-PE" sz="1100" b="1" i="0" u="none" strike="noStrike" dirty="0">
                          <a:solidFill>
                            <a:srgbClr val="000000"/>
                          </a:solidFill>
                          <a:effectLst/>
                          <a:latin typeface="Calibri" panose="020F0502020204030204" pitchFamily="34" charset="0"/>
                        </a:rPr>
                        <a:t>FONDO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384967146"/>
                  </a:ext>
                </a:extLst>
              </a:tr>
              <a:tr h="162626">
                <a:tc>
                  <a:txBody>
                    <a:bodyPr/>
                    <a:lstStyle/>
                    <a:p>
                      <a:pPr algn="ctr" rtl="0" fontAlgn="ctr"/>
                      <a:r>
                        <a:rPr lang="es-PE" sz="1100" b="1" i="0" u="none" strike="noStrike">
                          <a:solidFill>
                            <a:srgbClr val="000000"/>
                          </a:solidFill>
                          <a:effectLst/>
                          <a:latin typeface="Calibri" panose="020F0502020204030204" pitchFamily="34" charset="0"/>
                        </a:rPr>
                        <a:t>ENERO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100" b="1" i="0" u="none" strike="noStrike">
                          <a:solidFill>
                            <a:srgbClr val="000000"/>
                          </a:solidFill>
                          <a:effectLst/>
                          <a:latin typeface="Calibri" panose="020F0502020204030204" pitchFamily="34" charset="0"/>
                        </a:rPr>
                        <a:t>FEBRERO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100" b="1" i="0" u="none" strike="noStrike" dirty="0">
                          <a:solidFill>
                            <a:srgbClr val="000000"/>
                          </a:solidFill>
                          <a:effectLst/>
                          <a:latin typeface="Calibri" panose="020F0502020204030204" pitchFamily="34" charset="0"/>
                        </a:rPr>
                        <a:t>MARZO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100" b="1" i="0" u="none" strike="noStrike">
                          <a:solidFill>
                            <a:srgbClr val="000000"/>
                          </a:solidFill>
                          <a:effectLst/>
                          <a:latin typeface="Calibri" panose="020F0502020204030204" pitchFamily="34" charset="0"/>
                        </a:rPr>
                        <a:t>ABRIL</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extLst>
                  <a:ext uri="{0D108BD9-81ED-4DB2-BD59-A6C34878D82A}">
                    <a16:rowId xmlns:a16="http://schemas.microsoft.com/office/drawing/2014/main" val="133902174"/>
                  </a:ext>
                </a:extLst>
              </a:tr>
              <a:tr h="162626">
                <a:tc>
                  <a:txBody>
                    <a:bodyPr/>
                    <a:lstStyle/>
                    <a:p>
                      <a:pPr algn="ctr" rtl="0" fontAlgn="b"/>
                      <a:r>
                        <a:rPr lang="es-PE" sz="1100" b="0" i="0" u="none" strike="noStrike">
                          <a:solidFill>
                            <a:srgbClr val="000000"/>
                          </a:solidFill>
                          <a:effectLst/>
                          <a:latin typeface="Calibri" panose="020F0502020204030204" pitchFamily="34" charset="0"/>
                        </a:rPr>
                        <a:t>799</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100" b="0" i="0" u="none" strike="noStrike">
                          <a:solidFill>
                            <a:srgbClr val="000000"/>
                          </a:solidFill>
                          <a:effectLst/>
                          <a:latin typeface="Calibri" panose="020F0502020204030204" pitchFamily="34" charset="0"/>
                        </a:rPr>
                        <a:t>607</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100" b="0" i="0" u="none" strike="noStrike" dirty="0">
                          <a:solidFill>
                            <a:srgbClr val="000000"/>
                          </a:solidFill>
                          <a:effectLst/>
                          <a:latin typeface="Calibri" panose="020F0502020204030204" pitchFamily="34" charset="0"/>
                        </a:rPr>
                        <a:t>767</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100" b="0" i="0" u="none" strike="noStrike" dirty="0">
                          <a:solidFill>
                            <a:srgbClr val="000000"/>
                          </a:solidFill>
                          <a:effectLst/>
                          <a:latin typeface="Calibri" panose="020F0502020204030204" pitchFamily="34" charset="0"/>
                        </a:rPr>
                        <a:t>824 </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extLst>
                  <a:ext uri="{0D108BD9-81ED-4DB2-BD59-A6C34878D82A}">
                    <a16:rowId xmlns:a16="http://schemas.microsoft.com/office/drawing/2014/main" val="1986586754"/>
                  </a:ext>
                </a:extLst>
              </a:tr>
            </a:tbl>
          </a:graphicData>
        </a:graphic>
      </p:graphicFrame>
      <p:graphicFrame>
        <p:nvGraphicFramePr>
          <p:cNvPr id="18" name="Tabla 17">
            <a:extLst>
              <a:ext uri="{FF2B5EF4-FFF2-40B4-BE49-F238E27FC236}">
                <a16:creationId xmlns:a16="http://schemas.microsoft.com/office/drawing/2014/main" id="{B46C2B3E-E31E-3FFD-A4B2-083C609EF423}"/>
              </a:ext>
            </a:extLst>
          </p:cNvPr>
          <p:cNvGraphicFramePr>
            <a:graphicFrameLocks noGrp="1"/>
          </p:cNvGraphicFramePr>
          <p:nvPr>
            <p:extLst>
              <p:ext uri="{D42A27DB-BD31-4B8C-83A1-F6EECF244321}">
                <p14:modId xmlns:p14="http://schemas.microsoft.com/office/powerpoint/2010/main" val="438671047"/>
              </p:ext>
            </p:extLst>
          </p:nvPr>
        </p:nvGraphicFramePr>
        <p:xfrm>
          <a:off x="6914861" y="4283598"/>
          <a:ext cx="2219614" cy="524643"/>
        </p:xfrm>
        <a:graphic>
          <a:graphicData uri="http://schemas.openxmlformats.org/drawingml/2006/table">
            <a:tbl>
              <a:tblPr/>
              <a:tblGrid>
                <a:gridCol w="669824">
                  <a:extLst>
                    <a:ext uri="{9D8B030D-6E8A-4147-A177-3AD203B41FA5}">
                      <a16:colId xmlns:a16="http://schemas.microsoft.com/office/drawing/2014/main" val="4160914120"/>
                    </a:ext>
                  </a:extLst>
                </a:gridCol>
                <a:gridCol w="564754">
                  <a:extLst>
                    <a:ext uri="{9D8B030D-6E8A-4147-A177-3AD203B41FA5}">
                      <a16:colId xmlns:a16="http://schemas.microsoft.com/office/drawing/2014/main" val="394916733"/>
                    </a:ext>
                  </a:extLst>
                </a:gridCol>
                <a:gridCol w="485951">
                  <a:extLst>
                    <a:ext uri="{9D8B030D-6E8A-4147-A177-3AD203B41FA5}">
                      <a16:colId xmlns:a16="http://schemas.microsoft.com/office/drawing/2014/main" val="2531847754"/>
                    </a:ext>
                  </a:extLst>
                </a:gridCol>
                <a:gridCol w="499085">
                  <a:extLst>
                    <a:ext uri="{9D8B030D-6E8A-4147-A177-3AD203B41FA5}">
                      <a16:colId xmlns:a16="http://schemas.microsoft.com/office/drawing/2014/main" val="4039369803"/>
                    </a:ext>
                  </a:extLst>
                </a:gridCol>
              </a:tblGrid>
              <a:tr h="174881">
                <a:tc gridSpan="4">
                  <a:txBody>
                    <a:bodyPr/>
                    <a:lstStyle/>
                    <a:p>
                      <a:pPr algn="ctr" rtl="0" fontAlgn="ctr"/>
                      <a:r>
                        <a:rPr lang="es-PE" sz="1100" b="1" i="0" u="none" strike="noStrike">
                          <a:solidFill>
                            <a:srgbClr val="000000"/>
                          </a:solidFill>
                          <a:effectLst/>
                          <a:latin typeface="Calibri" panose="020F0502020204030204" pitchFamily="34" charset="0"/>
                        </a:rPr>
                        <a:t>ADMISIBILIDAD</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4287884749"/>
                  </a:ext>
                </a:extLst>
              </a:tr>
              <a:tr h="174881">
                <a:tc>
                  <a:txBody>
                    <a:bodyPr/>
                    <a:lstStyle/>
                    <a:p>
                      <a:pPr algn="ctr" rtl="0" fontAlgn="ctr"/>
                      <a:r>
                        <a:rPr lang="es-PE" sz="1100" b="1" i="0" u="none" strike="noStrike">
                          <a:solidFill>
                            <a:srgbClr val="000000"/>
                          </a:solidFill>
                          <a:effectLst/>
                          <a:latin typeface="Calibri" panose="020F0502020204030204" pitchFamily="34" charset="0"/>
                        </a:rPr>
                        <a:t>ENERO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100" b="1" i="0" u="none" strike="noStrike" dirty="0">
                          <a:solidFill>
                            <a:srgbClr val="000000"/>
                          </a:solidFill>
                          <a:effectLst/>
                          <a:latin typeface="Calibri" panose="020F0502020204030204" pitchFamily="34" charset="0"/>
                        </a:rPr>
                        <a:t>FEBRERO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100" b="1" i="0" u="none" strike="noStrike">
                          <a:solidFill>
                            <a:srgbClr val="000000"/>
                          </a:solidFill>
                          <a:effectLst/>
                          <a:latin typeface="Calibri" panose="020F0502020204030204" pitchFamily="34" charset="0"/>
                        </a:rPr>
                        <a:t>MARZO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100" b="1" i="0" u="none" strike="noStrike">
                          <a:solidFill>
                            <a:srgbClr val="000000"/>
                          </a:solidFill>
                          <a:effectLst/>
                          <a:latin typeface="Calibri" panose="020F0502020204030204" pitchFamily="34" charset="0"/>
                        </a:rPr>
                        <a:t>ABRIL</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extLst>
                  <a:ext uri="{0D108BD9-81ED-4DB2-BD59-A6C34878D82A}">
                    <a16:rowId xmlns:a16="http://schemas.microsoft.com/office/drawing/2014/main" val="4177795587"/>
                  </a:ext>
                </a:extLst>
              </a:tr>
              <a:tr h="174881">
                <a:tc>
                  <a:txBody>
                    <a:bodyPr/>
                    <a:lstStyle/>
                    <a:p>
                      <a:pPr algn="ctr" rtl="0" fontAlgn="b"/>
                      <a:r>
                        <a:rPr lang="es-PE" sz="1100" b="0" i="0" u="none" strike="noStrike">
                          <a:solidFill>
                            <a:srgbClr val="000000"/>
                          </a:solidFill>
                          <a:effectLst/>
                          <a:latin typeface="Calibri" panose="020F0502020204030204" pitchFamily="34" charset="0"/>
                        </a:rPr>
                        <a:t>573</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100" b="0" i="0" u="none" strike="noStrike" dirty="0">
                          <a:solidFill>
                            <a:srgbClr val="000000"/>
                          </a:solidFill>
                          <a:effectLst/>
                          <a:latin typeface="Calibri" panose="020F0502020204030204" pitchFamily="34" charset="0"/>
                        </a:rPr>
                        <a:t>550</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100" b="0" i="0" u="none" strike="noStrike" dirty="0">
                          <a:solidFill>
                            <a:srgbClr val="000000"/>
                          </a:solidFill>
                          <a:effectLst/>
                          <a:latin typeface="Calibri" panose="020F0502020204030204" pitchFamily="34" charset="0"/>
                        </a:rPr>
                        <a:t>285</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100" b="0" i="0" u="none" strike="noStrike" dirty="0">
                          <a:solidFill>
                            <a:srgbClr val="000000"/>
                          </a:solidFill>
                          <a:effectLst/>
                          <a:latin typeface="Calibri" panose="020F0502020204030204" pitchFamily="34" charset="0"/>
                        </a:rPr>
                        <a:t>165 </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extLst>
                  <a:ext uri="{0D108BD9-81ED-4DB2-BD59-A6C34878D82A}">
                    <a16:rowId xmlns:a16="http://schemas.microsoft.com/office/drawing/2014/main" val="586056141"/>
                  </a:ext>
                </a:extLst>
              </a:tr>
            </a:tbl>
          </a:graphicData>
        </a:graphic>
      </p:graphicFrame>
    </p:spTree>
    <p:extLst>
      <p:ext uri="{BB962C8B-B14F-4D97-AF65-F5344CB8AC3E}">
        <p14:creationId xmlns:p14="http://schemas.microsoft.com/office/powerpoint/2010/main" val="37762388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PRODUCTIVIDAD RECLAMOS – 2022 - 2024</a:t>
            </a:r>
            <a:endParaRPr lang="es-PE" sz="2800" b="1"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8FC8A378-12BC-4544-B033-50EA62648EBF}"/>
              </a:ext>
            </a:extLst>
          </p:cNvPr>
          <p:cNvSpPr txBox="1"/>
          <p:nvPr/>
        </p:nvSpPr>
        <p:spPr>
          <a:xfrm>
            <a:off x="533400" y="6007727"/>
            <a:ext cx="6676697" cy="461665"/>
          </a:xfrm>
          <a:prstGeom prst="rect">
            <a:avLst/>
          </a:prstGeom>
          <a:noFill/>
        </p:spPr>
        <p:txBody>
          <a:bodyPr wrap="square">
            <a:spAutoFit/>
          </a:bodyPr>
          <a:lstStyle/>
          <a:p>
            <a:r>
              <a:rPr lang="es-PE" sz="1200" dirty="0">
                <a:effectLst/>
                <a:latin typeface="+mj-lt"/>
                <a:ea typeface="Calibri" panose="020F0502020204030204" pitchFamily="34" charset="0"/>
              </a:rPr>
              <a:t> </a:t>
            </a:r>
          </a:p>
          <a:p>
            <a:r>
              <a:rPr lang="es-PE" sz="1200" dirty="0">
                <a:effectLst/>
                <a:latin typeface="+mj-lt"/>
                <a:ea typeface="Calibri" panose="020F0502020204030204" pitchFamily="34" charset="0"/>
              </a:rPr>
              <a:t>	</a:t>
            </a:r>
          </a:p>
        </p:txBody>
      </p:sp>
      <p:graphicFrame>
        <p:nvGraphicFramePr>
          <p:cNvPr id="4" name="Tabla 3">
            <a:extLst>
              <a:ext uri="{FF2B5EF4-FFF2-40B4-BE49-F238E27FC236}">
                <a16:creationId xmlns:a16="http://schemas.microsoft.com/office/drawing/2014/main" id="{64F8C81C-2666-B65E-9EEE-9E42E376ADEE}"/>
              </a:ext>
            </a:extLst>
          </p:cNvPr>
          <p:cNvGraphicFramePr>
            <a:graphicFrameLocks noGrp="1"/>
          </p:cNvGraphicFramePr>
          <p:nvPr>
            <p:extLst>
              <p:ext uri="{D42A27DB-BD31-4B8C-83A1-F6EECF244321}">
                <p14:modId xmlns:p14="http://schemas.microsoft.com/office/powerpoint/2010/main" val="3715009606"/>
              </p:ext>
            </p:extLst>
          </p:nvPr>
        </p:nvGraphicFramePr>
        <p:xfrm>
          <a:off x="371474" y="1205009"/>
          <a:ext cx="11172821" cy="4422080"/>
        </p:xfrm>
        <a:graphic>
          <a:graphicData uri="http://schemas.openxmlformats.org/drawingml/2006/table">
            <a:tbl>
              <a:tblPr/>
              <a:tblGrid>
                <a:gridCol w="1673831">
                  <a:extLst>
                    <a:ext uri="{9D8B030D-6E8A-4147-A177-3AD203B41FA5}">
                      <a16:colId xmlns:a16="http://schemas.microsoft.com/office/drawing/2014/main" val="3492535676"/>
                    </a:ext>
                  </a:extLst>
                </a:gridCol>
                <a:gridCol w="362663">
                  <a:extLst>
                    <a:ext uri="{9D8B030D-6E8A-4147-A177-3AD203B41FA5}">
                      <a16:colId xmlns:a16="http://schemas.microsoft.com/office/drawing/2014/main" val="76689572"/>
                    </a:ext>
                  </a:extLst>
                </a:gridCol>
                <a:gridCol w="362663">
                  <a:extLst>
                    <a:ext uri="{9D8B030D-6E8A-4147-A177-3AD203B41FA5}">
                      <a16:colId xmlns:a16="http://schemas.microsoft.com/office/drawing/2014/main" val="2153248672"/>
                    </a:ext>
                  </a:extLst>
                </a:gridCol>
                <a:gridCol w="362663">
                  <a:extLst>
                    <a:ext uri="{9D8B030D-6E8A-4147-A177-3AD203B41FA5}">
                      <a16:colId xmlns:a16="http://schemas.microsoft.com/office/drawing/2014/main" val="1796686116"/>
                    </a:ext>
                  </a:extLst>
                </a:gridCol>
                <a:gridCol w="362663">
                  <a:extLst>
                    <a:ext uri="{9D8B030D-6E8A-4147-A177-3AD203B41FA5}">
                      <a16:colId xmlns:a16="http://schemas.microsoft.com/office/drawing/2014/main" val="815055748"/>
                    </a:ext>
                  </a:extLst>
                </a:gridCol>
                <a:gridCol w="362663">
                  <a:extLst>
                    <a:ext uri="{9D8B030D-6E8A-4147-A177-3AD203B41FA5}">
                      <a16:colId xmlns:a16="http://schemas.microsoft.com/office/drawing/2014/main" val="4121344099"/>
                    </a:ext>
                  </a:extLst>
                </a:gridCol>
                <a:gridCol w="446355">
                  <a:extLst>
                    <a:ext uri="{9D8B030D-6E8A-4147-A177-3AD203B41FA5}">
                      <a16:colId xmlns:a16="http://schemas.microsoft.com/office/drawing/2014/main" val="3943723764"/>
                    </a:ext>
                  </a:extLst>
                </a:gridCol>
                <a:gridCol w="404510">
                  <a:extLst>
                    <a:ext uri="{9D8B030D-6E8A-4147-A177-3AD203B41FA5}">
                      <a16:colId xmlns:a16="http://schemas.microsoft.com/office/drawing/2014/main" val="3143106854"/>
                    </a:ext>
                  </a:extLst>
                </a:gridCol>
                <a:gridCol w="432406">
                  <a:extLst>
                    <a:ext uri="{9D8B030D-6E8A-4147-A177-3AD203B41FA5}">
                      <a16:colId xmlns:a16="http://schemas.microsoft.com/office/drawing/2014/main" val="840413810"/>
                    </a:ext>
                  </a:extLst>
                </a:gridCol>
                <a:gridCol w="488200">
                  <a:extLst>
                    <a:ext uri="{9D8B030D-6E8A-4147-A177-3AD203B41FA5}">
                      <a16:colId xmlns:a16="http://schemas.microsoft.com/office/drawing/2014/main" val="1588019462"/>
                    </a:ext>
                  </a:extLst>
                </a:gridCol>
                <a:gridCol w="446355">
                  <a:extLst>
                    <a:ext uri="{9D8B030D-6E8A-4147-A177-3AD203B41FA5}">
                      <a16:colId xmlns:a16="http://schemas.microsoft.com/office/drawing/2014/main" val="3380776616"/>
                    </a:ext>
                  </a:extLst>
                </a:gridCol>
                <a:gridCol w="404510">
                  <a:extLst>
                    <a:ext uri="{9D8B030D-6E8A-4147-A177-3AD203B41FA5}">
                      <a16:colId xmlns:a16="http://schemas.microsoft.com/office/drawing/2014/main" val="3065826786"/>
                    </a:ext>
                  </a:extLst>
                </a:gridCol>
                <a:gridCol w="390561">
                  <a:extLst>
                    <a:ext uri="{9D8B030D-6E8A-4147-A177-3AD203B41FA5}">
                      <a16:colId xmlns:a16="http://schemas.microsoft.com/office/drawing/2014/main" val="1086211501"/>
                    </a:ext>
                  </a:extLst>
                </a:gridCol>
                <a:gridCol w="446355">
                  <a:extLst>
                    <a:ext uri="{9D8B030D-6E8A-4147-A177-3AD203B41FA5}">
                      <a16:colId xmlns:a16="http://schemas.microsoft.com/office/drawing/2014/main" val="2199999393"/>
                    </a:ext>
                  </a:extLst>
                </a:gridCol>
                <a:gridCol w="474252">
                  <a:extLst>
                    <a:ext uri="{9D8B030D-6E8A-4147-A177-3AD203B41FA5}">
                      <a16:colId xmlns:a16="http://schemas.microsoft.com/office/drawing/2014/main" val="426754131"/>
                    </a:ext>
                  </a:extLst>
                </a:gridCol>
                <a:gridCol w="488200">
                  <a:extLst>
                    <a:ext uri="{9D8B030D-6E8A-4147-A177-3AD203B41FA5}">
                      <a16:colId xmlns:a16="http://schemas.microsoft.com/office/drawing/2014/main" val="1012459040"/>
                    </a:ext>
                  </a:extLst>
                </a:gridCol>
                <a:gridCol w="446355">
                  <a:extLst>
                    <a:ext uri="{9D8B030D-6E8A-4147-A177-3AD203B41FA5}">
                      <a16:colId xmlns:a16="http://schemas.microsoft.com/office/drawing/2014/main" val="1781910412"/>
                    </a:ext>
                  </a:extLst>
                </a:gridCol>
                <a:gridCol w="516098">
                  <a:extLst>
                    <a:ext uri="{9D8B030D-6E8A-4147-A177-3AD203B41FA5}">
                      <a16:colId xmlns:a16="http://schemas.microsoft.com/office/drawing/2014/main" val="2994845384"/>
                    </a:ext>
                  </a:extLst>
                </a:gridCol>
                <a:gridCol w="543996">
                  <a:extLst>
                    <a:ext uri="{9D8B030D-6E8A-4147-A177-3AD203B41FA5}">
                      <a16:colId xmlns:a16="http://schemas.microsoft.com/office/drawing/2014/main" val="4256857358"/>
                    </a:ext>
                  </a:extLst>
                </a:gridCol>
                <a:gridCol w="613738">
                  <a:extLst>
                    <a:ext uri="{9D8B030D-6E8A-4147-A177-3AD203B41FA5}">
                      <a16:colId xmlns:a16="http://schemas.microsoft.com/office/drawing/2014/main" val="99379560"/>
                    </a:ext>
                  </a:extLst>
                </a:gridCol>
                <a:gridCol w="571892">
                  <a:extLst>
                    <a:ext uri="{9D8B030D-6E8A-4147-A177-3AD203B41FA5}">
                      <a16:colId xmlns:a16="http://schemas.microsoft.com/office/drawing/2014/main" val="2462006788"/>
                    </a:ext>
                  </a:extLst>
                </a:gridCol>
                <a:gridCol w="571892">
                  <a:extLst>
                    <a:ext uri="{9D8B030D-6E8A-4147-A177-3AD203B41FA5}">
                      <a16:colId xmlns:a16="http://schemas.microsoft.com/office/drawing/2014/main" val="1875944976"/>
                    </a:ext>
                  </a:extLst>
                </a:gridCol>
              </a:tblGrid>
              <a:tr h="245671">
                <a:tc gridSpan="6">
                  <a:txBody>
                    <a:bodyPr/>
                    <a:lstStyle/>
                    <a:p>
                      <a:pPr algn="ctr" fontAlgn="b"/>
                      <a:r>
                        <a:rPr lang="es-PE" sz="1500" b="1" i="0" u="none" strike="noStrike">
                          <a:solidFill>
                            <a:srgbClr val="000000"/>
                          </a:solidFill>
                          <a:effectLst/>
                          <a:latin typeface="Calibri" panose="020F0502020204030204" pitchFamily="34" charset="0"/>
                        </a:rPr>
                        <a:t>2022</a:t>
                      </a:r>
                    </a:p>
                  </a:txBody>
                  <a:tcPr marL="0" marR="0" marT="0" marB="0" anchor="b">
                    <a:lnL w="12700" cap="flat" cmpd="sng" algn="ctr">
                      <a:solidFill>
                        <a:srgbClr val="99CCFF"/>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gridSpan="12">
                  <a:txBody>
                    <a:bodyPr/>
                    <a:lstStyle/>
                    <a:p>
                      <a:pPr algn="ctr" fontAlgn="b"/>
                      <a:r>
                        <a:rPr lang="es-PE" sz="1500" b="1" i="0" u="none" strike="noStrike">
                          <a:solidFill>
                            <a:srgbClr val="000000"/>
                          </a:solidFill>
                          <a:effectLst/>
                          <a:latin typeface="Calibri" panose="020F0502020204030204" pitchFamily="34" charset="0"/>
                        </a:rPr>
                        <a:t>2023</a:t>
                      </a:r>
                    </a:p>
                  </a:txBody>
                  <a:tcPr marL="0" marR="0" marT="0" marB="0" anchor="b">
                    <a:lnL w="12700" cap="flat" cmpd="sng" algn="ctr">
                      <a:solidFill>
                        <a:srgbClr val="305496"/>
                      </a:solidFill>
                      <a:prstDash val="solid"/>
                      <a:round/>
                      <a:headEnd type="none" w="med" len="med"/>
                      <a:tailEnd type="none" w="med" len="med"/>
                    </a:lnL>
                    <a:lnR w="12700" cap="flat" cmpd="sng" algn="ctr">
                      <a:solidFill>
                        <a:srgbClr val="FFD96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gridSpan="4">
                  <a:txBody>
                    <a:bodyPr/>
                    <a:lstStyle/>
                    <a:p>
                      <a:pPr algn="ctr" rtl="0" fontAlgn="b"/>
                      <a:r>
                        <a:rPr lang="es-PE" sz="1500" b="1" i="0" u="none" strike="noStrike" dirty="0">
                          <a:solidFill>
                            <a:srgbClr val="000000"/>
                          </a:solidFill>
                          <a:effectLst/>
                          <a:latin typeface="Calibri" panose="020F0502020204030204" pitchFamily="34" charset="0"/>
                        </a:rPr>
                        <a:t>2024</a:t>
                      </a:r>
                    </a:p>
                  </a:txBody>
                  <a:tcPr marL="0" marR="0" marT="0" marB="0" anchor="b">
                    <a:lnL w="12700" cap="flat" cmpd="sng" algn="ctr">
                      <a:solidFill>
                        <a:srgbClr val="FFD966"/>
                      </a:solidFill>
                      <a:prstDash val="solid"/>
                      <a:round/>
                      <a:headEnd type="none" w="med" len="med"/>
                      <a:tailEnd type="none" w="med" len="med"/>
                    </a:lnL>
                    <a:lnR w="12700" cap="flat" cmpd="sng" algn="ctr">
                      <a:solidFill>
                        <a:srgbClr val="FFD966"/>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FD966"/>
                      </a:solidFill>
                      <a:prstDash val="solid"/>
                      <a:round/>
                      <a:headEnd type="none" w="med" len="med"/>
                      <a:tailEnd type="none" w="med" len="med"/>
                    </a:lnB>
                  </a:tcPr>
                </a:tc>
                <a:tc hMerge="1">
                  <a:txBody>
                    <a:bodyPr/>
                    <a:lstStyle/>
                    <a:p>
                      <a:endParaRPr lang="es-PE"/>
                    </a:p>
                  </a:txBody>
                  <a:tcPr/>
                </a:tc>
                <a:tc hMerge="1">
                  <a:txBody>
                    <a:bodyPr/>
                    <a:lstStyle/>
                    <a:p>
                      <a:endParaRPr lang="es-PE"/>
                    </a:p>
                  </a:txBody>
                  <a:tcPr/>
                </a:tc>
                <a:tc hMerge="1">
                  <a:txBody>
                    <a:bodyPr/>
                    <a:lstStyle/>
                    <a:p>
                      <a:pPr algn="ctr" rtl="0" fontAlgn="b"/>
                      <a:endParaRPr lang="es-PE" sz="1500" b="1" i="0" u="none" strike="noStrike" dirty="0">
                        <a:solidFill>
                          <a:srgbClr val="000000"/>
                        </a:solidFill>
                        <a:effectLst/>
                        <a:latin typeface="Calibri" panose="020F0502020204030204" pitchFamily="34" charset="0"/>
                      </a:endParaRPr>
                    </a:p>
                  </a:txBody>
                  <a:tcPr marL="0" marR="0" marT="0" marB="0" anchor="b">
                    <a:lnL w="12700" cap="flat" cmpd="sng" algn="ctr">
                      <a:solidFill>
                        <a:srgbClr val="FFD966"/>
                      </a:solidFill>
                      <a:prstDash val="solid"/>
                      <a:round/>
                      <a:headEnd type="none" w="med" len="med"/>
                      <a:tailEnd type="none" w="med" len="med"/>
                    </a:lnL>
                    <a:lnR w="12700" cap="flat" cmpd="sng" algn="ctr">
                      <a:solidFill>
                        <a:srgbClr val="FFD966"/>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FD966"/>
                      </a:solidFill>
                      <a:prstDash val="solid"/>
                      <a:round/>
                      <a:headEnd type="none" w="med" len="med"/>
                      <a:tailEnd type="none" w="med" len="med"/>
                    </a:lnB>
                  </a:tcPr>
                </a:tc>
                <a:extLst>
                  <a:ext uri="{0D108BD9-81ED-4DB2-BD59-A6C34878D82A}">
                    <a16:rowId xmlns:a16="http://schemas.microsoft.com/office/drawing/2014/main" val="2356040257"/>
                  </a:ext>
                </a:extLst>
              </a:tr>
              <a:tr h="737014">
                <a:tc>
                  <a:txBody>
                    <a:bodyPr/>
                    <a:lstStyle/>
                    <a:p>
                      <a:pPr algn="l" fontAlgn="ctr"/>
                      <a:r>
                        <a:rPr lang="es-PE" sz="1500" b="1" i="0" u="none" strike="noStrike">
                          <a:solidFill>
                            <a:srgbClr val="FFFFFF"/>
                          </a:solidFill>
                          <a:effectLst/>
                          <a:latin typeface="Calibri Light" panose="020F0302020204030204" pitchFamily="34" charset="0"/>
                        </a:rPr>
                        <a:t>DIVISIÓN DE CONTROL CONCURRENTE-I</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500" b="1" i="0" u="none" strike="noStrike">
                          <a:solidFill>
                            <a:srgbClr val="FFFFFF"/>
                          </a:solidFill>
                          <a:effectLst/>
                          <a:latin typeface="Calibri Light" panose="020F0302020204030204" pitchFamily="34" charset="0"/>
                        </a:rPr>
                        <a:t>AGO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500" b="1" i="0" u="none" strike="noStrike">
                          <a:solidFill>
                            <a:srgbClr val="FFFFFF"/>
                          </a:solidFill>
                          <a:effectLst/>
                          <a:latin typeface="Calibri Light" panose="020F0302020204030204" pitchFamily="34" charset="0"/>
                        </a:rPr>
                        <a:t>SET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500" b="1" i="0" u="none" strike="noStrike" dirty="0">
                          <a:solidFill>
                            <a:srgbClr val="FFFFFF"/>
                          </a:solidFill>
                          <a:effectLst/>
                          <a:latin typeface="Calibri Light" panose="020F0302020204030204" pitchFamily="34" charset="0"/>
                        </a:rPr>
                        <a:t>OCT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5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500" b="1" i="0" u="none" strike="noStrike">
                          <a:solidFill>
                            <a:srgbClr val="FFFFFF"/>
                          </a:solidFill>
                          <a:effectLst/>
                          <a:latin typeface="Calibri Light" panose="020F0302020204030204" pitchFamily="34" charset="0"/>
                        </a:rPr>
                        <a:t>DIC</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500" b="1" i="0" u="none" strike="noStrike">
                          <a:solidFill>
                            <a:srgbClr val="FFFFFF"/>
                          </a:solidFill>
                          <a:effectLst/>
                          <a:latin typeface="Calibri Light" panose="020F0302020204030204" pitchFamily="34" charset="0"/>
                        </a:rPr>
                        <a:t>ENE</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FEB</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MAR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ABR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MAY</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JUN</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JUL</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AGO</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SET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OCT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DIC</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rtl="0" fontAlgn="ctr"/>
                      <a:r>
                        <a:rPr lang="es-PE" sz="1500" b="1" i="0" u="none" strike="noStrike">
                          <a:solidFill>
                            <a:srgbClr val="000000"/>
                          </a:solidFill>
                          <a:effectLst/>
                          <a:latin typeface="Calibri Light" panose="020F0302020204030204" pitchFamily="34" charset="0"/>
                        </a:rPr>
                        <a:t>ENE</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500" b="1" i="0" u="none" strike="noStrike">
                          <a:solidFill>
                            <a:srgbClr val="000000"/>
                          </a:solidFill>
                          <a:effectLst/>
                          <a:latin typeface="Calibri Light" panose="020F0302020204030204" pitchFamily="34" charset="0"/>
                        </a:rPr>
                        <a:t>FEB</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500" b="1" i="0" u="none" strike="noStrike" dirty="0">
                          <a:solidFill>
                            <a:srgbClr val="000000"/>
                          </a:solidFill>
                          <a:effectLst/>
                          <a:latin typeface="Calibri Light" panose="020F0302020204030204" pitchFamily="34" charset="0"/>
                        </a:rPr>
                        <a:t>MAR</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500" b="1" i="0" u="none" strike="noStrike" dirty="0">
                          <a:solidFill>
                            <a:srgbClr val="000000"/>
                          </a:solidFill>
                          <a:effectLst/>
                          <a:latin typeface="Calibri Light" panose="020F0302020204030204" pitchFamily="34" charset="0"/>
                        </a:rPr>
                        <a:t>ABR</a:t>
                      </a:r>
                      <a:endParaRPr lang="es-PE" sz="15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extLst>
                  <a:ext uri="{0D108BD9-81ED-4DB2-BD59-A6C34878D82A}">
                    <a16:rowId xmlns:a16="http://schemas.microsoft.com/office/drawing/2014/main" val="2822500624"/>
                  </a:ext>
                </a:extLst>
              </a:tr>
              <a:tr h="245671">
                <a:tc>
                  <a:txBody>
                    <a:bodyPr/>
                    <a:lstStyle/>
                    <a:p>
                      <a:pPr algn="l" fontAlgn="ctr"/>
                      <a:r>
                        <a:rPr lang="es-PE" sz="1500" b="1" i="0" u="none" strike="noStrike">
                          <a:solidFill>
                            <a:srgbClr val="000000"/>
                          </a:solidFill>
                          <a:effectLst/>
                          <a:latin typeface="Calibri Light" panose="020F0302020204030204" pitchFamily="34" charset="0"/>
                        </a:rPr>
                        <a:t>Reclamos resueltos</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0" i="0" u="none" strike="noStrike">
                          <a:solidFill>
                            <a:srgbClr val="000000"/>
                          </a:solidFill>
                          <a:effectLst/>
                          <a:latin typeface="Calibri Light" panose="020F0302020204030204" pitchFamily="34" charset="0"/>
                        </a:rPr>
                        <a:t>401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0" i="0" u="none" strike="noStrike">
                          <a:solidFill>
                            <a:srgbClr val="000000"/>
                          </a:solidFill>
                          <a:effectLst/>
                          <a:latin typeface="Calibri Light" panose="020F0302020204030204" pitchFamily="34" charset="0"/>
                        </a:rPr>
                        <a:t>363</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0" i="0" u="none" strike="noStrike">
                          <a:solidFill>
                            <a:srgbClr val="000000"/>
                          </a:solidFill>
                          <a:effectLst/>
                          <a:latin typeface="Calibri Light" panose="020F0302020204030204" pitchFamily="34" charset="0"/>
                        </a:rPr>
                        <a:t>383</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0" i="0" u="none" strike="noStrike">
                          <a:solidFill>
                            <a:srgbClr val="000000"/>
                          </a:solidFill>
                          <a:effectLst/>
                          <a:latin typeface="Calibri Light" panose="020F0302020204030204" pitchFamily="34" charset="0"/>
                        </a:rPr>
                        <a:t>371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0" i="0" u="none" strike="noStrike">
                          <a:solidFill>
                            <a:srgbClr val="000000"/>
                          </a:solidFill>
                          <a:effectLst/>
                          <a:latin typeface="Calibri Light" panose="020F0302020204030204" pitchFamily="34" charset="0"/>
                        </a:rPr>
                        <a:t>324</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0" i="0" u="none" strike="noStrike">
                          <a:solidFill>
                            <a:srgbClr val="000000"/>
                          </a:solidFill>
                          <a:effectLst/>
                          <a:latin typeface="Calibri Light" panose="020F0302020204030204" pitchFamily="34" charset="0"/>
                        </a:rPr>
                        <a:t>311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0" i="0" u="none" strike="noStrike">
                          <a:solidFill>
                            <a:srgbClr val="000000"/>
                          </a:solidFill>
                          <a:effectLst/>
                          <a:latin typeface="Calibri Light" panose="020F0302020204030204" pitchFamily="34" charset="0"/>
                        </a:rPr>
                        <a:t>310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0" i="0" u="none" strike="noStrike">
                          <a:solidFill>
                            <a:srgbClr val="000000"/>
                          </a:solidFill>
                          <a:effectLst/>
                          <a:latin typeface="Calibri Light" panose="020F0302020204030204" pitchFamily="34" charset="0"/>
                        </a:rPr>
                        <a:t> 401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0" i="0" u="none" strike="noStrike">
                          <a:solidFill>
                            <a:srgbClr val="000000"/>
                          </a:solidFill>
                          <a:effectLst/>
                          <a:latin typeface="Calibri Light" panose="020F0302020204030204" pitchFamily="34" charset="0"/>
                        </a:rPr>
                        <a:t>419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0" i="0" u="none" strike="noStrike">
                          <a:solidFill>
                            <a:srgbClr val="000000"/>
                          </a:solidFill>
                          <a:effectLst/>
                          <a:latin typeface="Calibri Light" panose="020F0302020204030204" pitchFamily="34" charset="0"/>
                        </a:rPr>
                        <a:t>415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0" i="0" u="none" strike="noStrike">
                          <a:solidFill>
                            <a:srgbClr val="000000"/>
                          </a:solidFill>
                          <a:effectLst/>
                          <a:latin typeface="Calibri Light" panose="020F0302020204030204" pitchFamily="34" charset="0"/>
                        </a:rPr>
                        <a:t>368 </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0" i="0" u="none" strike="noStrike">
                          <a:solidFill>
                            <a:srgbClr val="000000"/>
                          </a:solidFill>
                          <a:effectLst/>
                          <a:latin typeface="Calibri Light" panose="020F0302020204030204" pitchFamily="34" charset="0"/>
                        </a:rPr>
                        <a:t>368 </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0" i="0" u="none" strike="noStrike">
                          <a:solidFill>
                            <a:srgbClr val="000000"/>
                          </a:solidFill>
                          <a:effectLst/>
                          <a:latin typeface="Calibri Light" panose="020F0302020204030204" pitchFamily="34" charset="0"/>
                        </a:rPr>
                        <a:t>309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0" i="0" u="none" strike="noStrike">
                          <a:solidFill>
                            <a:srgbClr val="000000"/>
                          </a:solidFill>
                          <a:effectLst/>
                          <a:latin typeface="Calibri Light" panose="020F0302020204030204" pitchFamily="34" charset="0"/>
                        </a:rPr>
                        <a:t>297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0" i="0" u="none" strike="noStrike">
                          <a:solidFill>
                            <a:srgbClr val="000000"/>
                          </a:solidFill>
                          <a:effectLst/>
                          <a:latin typeface="Calibri Light" panose="020F0302020204030204" pitchFamily="34" charset="0"/>
                        </a:rPr>
                        <a:t>209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0" i="0" u="none" strike="noStrike">
                          <a:solidFill>
                            <a:srgbClr val="000000"/>
                          </a:solidFill>
                          <a:effectLst/>
                          <a:latin typeface="Calibri Light" panose="020F0302020204030204" pitchFamily="34" charset="0"/>
                        </a:rPr>
                        <a:t>188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0" i="0" u="none" strike="noStrike">
                          <a:solidFill>
                            <a:srgbClr val="000000"/>
                          </a:solidFill>
                          <a:effectLst/>
                          <a:latin typeface="Calibri Light" panose="020F0302020204030204" pitchFamily="34" charset="0"/>
                        </a:rPr>
                        <a:t>242</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0" i="0" u="none" strike="noStrike">
                          <a:solidFill>
                            <a:srgbClr val="000000"/>
                          </a:solidFill>
                          <a:effectLst/>
                          <a:latin typeface="Calibri Light" panose="020F0302020204030204" pitchFamily="34" charset="0"/>
                        </a:rPr>
                        <a:t>285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500" b="0" i="0" u="none" strike="noStrike">
                          <a:solidFill>
                            <a:srgbClr val="000000"/>
                          </a:solidFill>
                          <a:effectLst/>
                          <a:latin typeface="Calibri Light" panose="020F0302020204030204" pitchFamily="34" charset="0"/>
                        </a:rPr>
                        <a:t>264</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500" b="0" i="0" u="none" strike="noStrike" dirty="0">
                          <a:solidFill>
                            <a:srgbClr val="000000"/>
                          </a:solidFill>
                          <a:effectLst/>
                          <a:latin typeface="Calibri Light" panose="020F0302020204030204" pitchFamily="34" charset="0"/>
                        </a:rPr>
                        <a:t>236</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500" b="0" i="0" u="none" strike="noStrike" dirty="0">
                          <a:solidFill>
                            <a:srgbClr val="000000"/>
                          </a:solidFill>
                          <a:effectLst/>
                          <a:latin typeface="Calibri Light" panose="020F0302020204030204" pitchFamily="34" charset="0"/>
                        </a:rPr>
                        <a:t>256</a:t>
                      </a:r>
                      <a:endParaRPr lang="es-PE" sz="15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3826670124"/>
                  </a:ext>
                </a:extLst>
              </a:tr>
              <a:tr h="245671">
                <a:tc>
                  <a:txBody>
                    <a:bodyPr/>
                    <a:lstStyle/>
                    <a:p>
                      <a:pPr algn="l" fontAlgn="ctr"/>
                      <a:r>
                        <a:rPr lang="es-PE" sz="1500" b="1" i="0" u="none" strike="noStrike">
                          <a:solidFill>
                            <a:srgbClr val="000000"/>
                          </a:solidFill>
                          <a:effectLst/>
                          <a:latin typeface="Calibri Light" panose="020F0302020204030204" pitchFamily="34" charset="0"/>
                        </a:rPr>
                        <a:t>Resolutor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15.8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500" b="0" i="0" u="none" strike="noStrike">
                          <a:solidFill>
                            <a:srgbClr val="000000"/>
                          </a:solidFill>
                          <a:effectLst/>
                          <a:latin typeface="Calibri Light" panose="020F0302020204030204" pitchFamily="34" charset="0"/>
                        </a:rPr>
                        <a:t> 20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500" b="0" i="0" u="none" strike="noStrike">
                          <a:solidFill>
                            <a:srgbClr val="000000"/>
                          </a:solidFill>
                          <a:effectLst/>
                          <a:latin typeface="Calibri Light" panose="020F0302020204030204" pitchFamily="34" charset="0"/>
                        </a:rPr>
                        <a:t>22.1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500" b="0" i="0" u="none" strike="noStrike">
                          <a:solidFill>
                            <a:srgbClr val="000000"/>
                          </a:solidFill>
                          <a:effectLst/>
                          <a:latin typeface="Calibri Light" panose="020F0302020204030204" pitchFamily="34" charset="0"/>
                        </a:rPr>
                        <a:t>20.5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500" b="0" i="0" u="none" strike="noStrike">
                          <a:solidFill>
                            <a:srgbClr val="000000"/>
                          </a:solidFill>
                          <a:effectLst/>
                          <a:latin typeface="Calibri Light" panose="020F0302020204030204" pitchFamily="34" charset="0"/>
                        </a:rPr>
                        <a:t>20.5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500" b="0" i="0" u="none" strike="noStrike">
                          <a:solidFill>
                            <a:srgbClr val="000000"/>
                          </a:solidFill>
                          <a:effectLst/>
                          <a:latin typeface="Calibri Light" panose="020F0302020204030204" pitchFamily="34" charset="0"/>
                        </a:rPr>
                        <a:t>19.9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500" b="0"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500" b="0" i="0" u="none" strike="noStrike">
                          <a:solidFill>
                            <a:srgbClr val="000000"/>
                          </a:solidFill>
                          <a:effectLst/>
                          <a:latin typeface="Calibri Light" panose="020F0302020204030204" pitchFamily="34" charset="0"/>
                        </a:rPr>
                        <a:t>18.9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500" b="0" i="0" u="none" strike="noStrike">
                          <a:solidFill>
                            <a:srgbClr val="000000"/>
                          </a:solidFill>
                          <a:effectLst/>
                          <a:latin typeface="Calibri Light" panose="020F0302020204030204" pitchFamily="34" charset="0"/>
                        </a:rPr>
                        <a:t>10.1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5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500" b="0" i="0" u="none" strike="noStrike">
                          <a:solidFill>
                            <a:srgbClr val="000000"/>
                          </a:solidFill>
                          <a:effectLst/>
                          <a:latin typeface="Calibri Light" panose="020F0302020204030204" pitchFamily="34" charset="0"/>
                        </a:rPr>
                        <a:t>17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500" b="0" i="0" u="none" strike="noStrike">
                          <a:solidFill>
                            <a:srgbClr val="000000"/>
                          </a:solidFill>
                          <a:effectLst/>
                          <a:latin typeface="Calibri Light" panose="020F0302020204030204" pitchFamily="34" charset="0"/>
                        </a:rPr>
                        <a:t>16.7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500" b="0" i="0" u="none" strike="noStrike">
                          <a:solidFill>
                            <a:srgbClr val="000000"/>
                          </a:solidFill>
                          <a:effectLst/>
                          <a:latin typeface="Calibri Light" panose="020F0302020204030204" pitchFamily="34" charset="0"/>
                        </a:rPr>
                        <a:t>17.6</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500" b="0" i="0" u="none" strike="noStrike" dirty="0">
                          <a:solidFill>
                            <a:srgbClr val="000000"/>
                          </a:solidFill>
                          <a:effectLst/>
                          <a:latin typeface="Calibri Light" panose="020F0302020204030204" pitchFamily="34" charset="0"/>
                        </a:rPr>
                        <a:t>19.2</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500" b="0" i="0" u="none" strike="noStrike" dirty="0">
                          <a:solidFill>
                            <a:srgbClr val="000000"/>
                          </a:solidFill>
                          <a:effectLst/>
                          <a:latin typeface="Calibri Light" panose="020F0302020204030204" pitchFamily="34" charset="0"/>
                        </a:rPr>
                        <a:t>17.8</a:t>
                      </a:r>
                      <a:endParaRPr lang="es-PE" sz="15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extLst>
                  <a:ext uri="{0D108BD9-81ED-4DB2-BD59-A6C34878D82A}">
                    <a16:rowId xmlns:a16="http://schemas.microsoft.com/office/drawing/2014/main" val="1360260857"/>
                  </a:ext>
                </a:extLst>
              </a:tr>
              <a:tr h="245671">
                <a:tc>
                  <a:txBody>
                    <a:bodyPr/>
                    <a:lstStyle/>
                    <a:p>
                      <a:pPr algn="l" fontAlgn="ctr"/>
                      <a:r>
                        <a:rPr lang="es-PE" sz="1500" b="1" i="0" u="none" strike="noStrike">
                          <a:solidFill>
                            <a:srgbClr val="000000"/>
                          </a:solidFill>
                          <a:effectLst/>
                          <a:latin typeface="Calibri Light" panose="020F0302020204030204" pitchFamily="34" charset="0"/>
                        </a:rPr>
                        <a:t>Producción Promedio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1" i="0" u="none" strike="noStrike">
                          <a:solidFill>
                            <a:srgbClr val="000000"/>
                          </a:solidFill>
                          <a:effectLst/>
                          <a:latin typeface="Calibri Light" panose="020F0302020204030204" pitchFamily="34" charset="0"/>
                        </a:rPr>
                        <a:t>22</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1"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1" i="0" u="none" strike="noStrike">
                          <a:solidFill>
                            <a:srgbClr val="000000"/>
                          </a:solidFill>
                          <a:effectLst/>
                          <a:latin typeface="Calibri Light" panose="020F0302020204030204" pitchFamily="34" charset="0"/>
                        </a:rPr>
                        <a:t>20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1" i="0" u="none" strike="noStrike">
                          <a:solidFill>
                            <a:srgbClr val="000000"/>
                          </a:solidFill>
                          <a:effectLst/>
                          <a:latin typeface="Calibri Light" panose="020F0302020204030204" pitchFamily="34" charset="0"/>
                        </a:rPr>
                        <a:t>20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1" i="0" u="none" strike="noStrike">
                          <a:solidFill>
                            <a:srgbClr val="000000"/>
                          </a:solidFill>
                          <a:effectLst/>
                          <a:latin typeface="Calibri Light" panose="020F0302020204030204" pitchFamily="34" charset="0"/>
                        </a:rPr>
                        <a:t>17</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1" i="0" u="none" strike="noStrike">
                          <a:solidFill>
                            <a:srgbClr val="000000"/>
                          </a:solidFill>
                          <a:effectLst/>
                          <a:latin typeface="Calibri Light" panose="020F0302020204030204" pitchFamily="34" charset="0"/>
                        </a:rPr>
                        <a:t>20.5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1" i="0" u="none" strike="noStrike">
                          <a:solidFill>
                            <a:srgbClr val="000000"/>
                          </a:solidFill>
                          <a:effectLst/>
                          <a:latin typeface="Calibri Light" panose="020F0302020204030204" pitchFamily="34" charset="0"/>
                        </a:rPr>
                        <a:t>19.6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1" i="0" u="none" strike="noStrike">
                          <a:solidFill>
                            <a:srgbClr val="000000"/>
                          </a:solidFill>
                          <a:effectLst/>
                          <a:latin typeface="Calibri Light" panose="020F0302020204030204" pitchFamily="34" charset="0"/>
                        </a:rPr>
                        <a:t> 20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1" i="0" u="none" strike="noStrike">
                          <a:solidFill>
                            <a:srgbClr val="000000"/>
                          </a:solidFill>
                          <a:effectLst/>
                          <a:latin typeface="Calibri Light" panose="020F0302020204030204" pitchFamily="34" charset="0"/>
                        </a:rPr>
                        <a:t> 18.96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1" i="0" u="none" strike="noStrike">
                          <a:solidFill>
                            <a:srgbClr val="000000"/>
                          </a:solidFill>
                          <a:effectLst/>
                          <a:latin typeface="Calibri Light" panose="020F0302020204030204" pitchFamily="34" charset="0"/>
                        </a:rPr>
                        <a:t>20.24</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1"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1"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1" i="0" u="none" strike="noStrike">
                          <a:solidFill>
                            <a:srgbClr val="000000"/>
                          </a:solidFill>
                          <a:effectLst/>
                          <a:latin typeface="Calibri Light" panose="020F0302020204030204" pitchFamily="34" charset="0"/>
                        </a:rPr>
                        <a:t>17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1" i="0" u="none" strike="noStrike">
                          <a:solidFill>
                            <a:srgbClr val="000000"/>
                          </a:solidFill>
                          <a:effectLst/>
                          <a:latin typeface="Calibri Light" panose="020F0302020204030204" pitchFamily="34" charset="0"/>
                        </a:rPr>
                        <a:t>16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1" i="0" u="none" strike="noStrike">
                          <a:solidFill>
                            <a:srgbClr val="000000"/>
                          </a:solidFill>
                          <a:effectLst/>
                          <a:latin typeface="Calibri Light" panose="020F0302020204030204" pitchFamily="34" charset="0"/>
                        </a:rPr>
                        <a:t>20.69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1" i="0" u="none" strike="noStrike">
                          <a:solidFill>
                            <a:srgbClr val="000000"/>
                          </a:solidFill>
                          <a:effectLst/>
                          <a:latin typeface="Calibri Light" panose="020F0302020204030204" pitchFamily="34" charset="0"/>
                        </a:rPr>
                        <a:t>18.80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1" i="0" u="none" strike="noStrike">
                          <a:solidFill>
                            <a:srgbClr val="000000"/>
                          </a:solidFill>
                          <a:effectLst/>
                          <a:latin typeface="Calibri Light" panose="020F0302020204030204" pitchFamily="34" charset="0"/>
                        </a:rPr>
                        <a:t>14.24</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1" i="0" u="none" strike="noStrike">
                          <a:solidFill>
                            <a:srgbClr val="000000"/>
                          </a:solidFill>
                          <a:effectLst/>
                          <a:latin typeface="Calibri Light" panose="020F0302020204030204" pitchFamily="34" charset="0"/>
                        </a:rPr>
                        <a:t>17.07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500" b="1" i="0" u="none" strike="noStrike">
                          <a:solidFill>
                            <a:srgbClr val="000000"/>
                          </a:solidFill>
                          <a:effectLst/>
                          <a:latin typeface="Calibri Light" panose="020F0302020204030204" pitchFamily="34" charset="0"/>
                        </a:rPr>
                        <a:t>15</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500" b="1" i="0" u="none" strike="noStrike">
                          <a:solidFill>
                            <a:srgbClr val="000000"/>
                          </a:solidFill>
                          <a:effectLst/>
                          <a:latin typeface="Calibri Light" panose="020F0302020204030204" pitchFamily="34" charset="0"/>
                        </a:rPr>
                        <a:t>12.29</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500" b="1" i="0" u="none" strike="noStrike" dirty="0">
                          <a:solidFill>
                            <a:srgbClr val="000000"/>
                          </a:solidFill>
                          <a:effectLst/>
                          <a:latin typeface="Calibri Light" panose="020F0302020204030204" pitchFamily="34" charset="0"/>
                        </a:rPr>
                        <a:t>14.38</a:t>
                      </a:r>
                      <a:endParaRPr lang="es-PE" sz="15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3312465785"/>
                  </a:ext>
                </a:extLst>
              </a:tr>
              <a:tr h="737014">
                <a:tc>
                  <a:txBody>
                    <a:bodyPr/>
                    <a:lstStyle/>
                    <a:p>
                      <a:pPr algn="l" fontAlgn="ctr"/>
                      <a:r>
                        <a:rPr lang="es-PE" sz="1500" b="1" i="0" u="none" strike="noStrike">
                          <a:solidFill>
                            <a:srgbClr val="FFFFFF"/>
                          </a:solidFill>
                          <a:effectLst/>
                          <a:latin typeface="Calibri Light" panose="020F0302020204030204" pitchFamily="34" charset="0"/>
                        </a:rPr>
                        <a:t>DIVISIÓN DE CONTROL CONCURRENTE-II</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500" b="1" i="0" u="none" strike="noStrike">
                          <a:solidFill>
                            <a:srgbClr val="FFFFFF"/>
                          </a:solidFill>
                          <a:effectLst/>
                          <a:latin typeface="Calibri Light" panose="020F0302020204030204" pitchFamily="34" charset="0"/>
                        </a:rPr>
                        <a:t>AGO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500" b="1" i="0" u="none" strike="noStrike">
                          <a:solidFill>
                            <a:srgbClr val="FFFFFF"/>
                          </a:solidFill>
                          <a:effectLst/>
                          <a:latin typeface="Calibri Light" panose="020F0302020204030204" pitchFamily="34" charset="0"/>
                        </a:rPr>
                        <a:t>SET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500" b="1" i="0" u="none" strike="noStrike">
                          <a:solidFill>
                            <a:srgbClr val="FFFFFF"/>
                          </a:solidFill>
                          <a:effectLst/>
                          <a:latin typeface="Calibri Light" panose="020F0302020204030204" pitchFamily="34" charset="0"/>
                        </a:rPr>
                        <a:t>OCT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5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500" b="1" i="0" u="none" strike="noStrike">
                          <a:solidFill>
                            <a:srgbClr val="FFFFFF"/>
                          </a:solidFill>
                          <a:effectLst/>
                          <a:latin typeface="Calibri Light" panose="020F0302020204030204" pitchFamily="34" charset="0"/>
                        </a:rPr>
                        <a:t>DIC</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500" b="1" i="0" u="none" strike="noStrike">
                          <a:solidFill>
                            <a:srgbClr val="FFFFFF"/>
                          </a:solidFill>
                          <a:effectLst/>
                          <a:latin typeface="Calibri Light" panose="020F0302020204030204" pitchFamily="34" charset="0"/>
                        </a:rPr>
                        <a:t>ENE</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FEB</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MAR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ABR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MAY</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JUN</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JUL</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AGO</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SET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OCT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dirty="0">
                          <a:solidFill>
                            <a:srgbClr val="FFFFFF"/>
                          </a:solidFill>
                          <a:effectLst/>
                          <a:latin typeface="Calibri Light" panose="020F0302020204030204" pitchFamily="34" charset="0"/>
                        </a:rPr>
                        <a:t>DIC</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rtl="0" fontAlgn="ctr"/>
                      <a:r>
                        <a:rPr lang="es-PE" sz="1500" b="1" i="0" u="none" strike="noStrike">
                          <a:solidFill>
                            <a:srgbClr val="000000"/>
                          </a:solidFill>
                          <a:effectLst/>
                          <a:latin typeface="Calibri Light" panose="020F0302020204030204" pitchFamily="34" charset="0"/>
                        </a:rPr>
                        <a:t>ENE</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500" b="1" i="0" u="none" strike="noStrike">
                          <a:solidFill>
                            <a:srgbClr val="000000"/>
                          </a:solidFill>
                          <a:effectLst/>
                          <a:latin typeface="Calibri Light" panose="020F0302020204030204" pitchFamily="34" charset="0"/>
                        </a:rPr>
                        <a:t>FEB</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500" b="1" i="0" u="none" strike="noStrike" dirty="0">
                          <a:solidFill>
                            <a:srgbClr val="000000"/>
                          </a:solidFill>
                          <a:effectLst/>
                          <a:latin typeface="Calibri Light" panose="020F0302020204030204" pitchFamily="34" charset="0"/>
                        </a:rPr>
                        <a:t>MAR</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500" b="1" i="0" u="none" strike="noStrike" dirty="0">
                          <a:solidFill>
                            <a:srgbClr val="000000"/>
                          </a:solidFill>
                          <a:effectLst/>
                          <a:latin typeface="Calibri Light" panose="020F0302020204030204" pitchFamily="34" charset="0"/>
                        </a:rPr>
                        <a:t>ABR</a:t>
                      </a:r>
                      <a:endParaRPr lang="es-PE" sz="15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extLst>
                  <a:ext uri="{0D108BD9-81ED-4DB2-BD59-A6C34878D82A}">
                    <a16:rowId xmlns:a16="http://schemas.microsoft.com/office/drawing/2014/main" val="1734159817"/>
                  </a:ext>
                </a:extLst>
              </a:tr>
              <a:tr h="245671">
                <a:tc>
                  <a:txBody>
                    <a:bodyPr/>
                    <a:lstStyle/>
                    <a:p>
                      <a:pPr algn="l" fontAlgn="ctr"/>
                      <a:r>
                        <a:rPr lang="es-PE" sz="1500" b="1" i="0" u="none" strike="noStrike" dirty="0">
                          <a:solidFill>
                            <a:srgbClr val="000000"/>
                          </a:solidFill>
                          <a:effectLst/>
                          <a:latin typeface="Calibri Light" panose="020F0302020204030204" pitchFamily="34" charset="0"/>
                        </a:rPr>
                        <a:t>Reclamos resueltos</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0" i="0" u="none" strike="noStrike">
                          <a:solidFill>
                            <a:srgbClr val="000000"/>
                          </a:solidFill>
                          <a:effectLst/>
                          <a:latin typeface="Calibri Light" panose="020F0302020204030204" pitchFamily="34" charset="0"/>
                        </a:rPr>
                        <a:t>54</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0" i="0" u="none" strike="noStrike">
                          <a:solidFill>
                            <a:srgbClr val="000000"/>
                          </a:solidFill>
                          <a:effectLst/>
                          <a:latin typeface="Calibri Light" panose="020F0302020204030204" pitchFamily="34" charset="0"/>
                        </a:rPr>
                        <a:t>99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0" i="0" u="none" strike="noStrike">
                          <a:solidFill>
                            <a:srgbClr val="000000"/>
                          </a:solidFill>
                          <a:effectLst/>
                          <a:latin typeface="Calibri Light" panose="020F0302020204030204" pitchFamily="34" charset="0"/>
                        </a:rPr>
                        <a:t>108</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0" i="0" u="none" strike="noStrike">
                          <a:solidFill>
                            <a:srgbClr val="000000"/>
                          </a:solidFill>
                          <a:effectLst/>
                          <a:latin typeface="Calibri Light" panose="020F0302020204030204" pitchFamily="34" charset="0"/>
                        </a:rPr>
                        <a:t>139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0" i="0" u="none" strike="noStrike">
                          <a:solidFill>
                            <a:srgbClr val="000000"/>
                          </a:solidFill>
                          <a:effectLst/>
                          <a:latin typeface="Calibri Light" panose="020F0302020204030204" pitchFamily="34" charset="0"/>
                        </a:rPr>
                        <a:t>121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0" i="0" u="none" strike="noStrike">
                          <a:solidFill>
                            <a:srgbClr val="000000"/>
                          </a:solidFill>
                          <a:effectLst/>
                          <a:latin typeface="Calibri Light" panose="020F0302020204030204" pitchFamily="34" charset="0"/>
                        </a:rPr>
                        <a:t>113</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0" i="0" u="none" strike="noStrike">
                          <a:solidFill>
                            <a:srgbClr val="000000"/>
                          </a:solidFill>
                          <a:effectLst/>
                          <a:latin typeface="Calibri Light" panose="020F0302020204030204" pitchFamily="34" charset="0"/>
                        </a:rPr>
                        <a:t>111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0" i="0" u="none" strike="noStrike">
                          <a:solidFill>
                            <a:srgbClr val="000000"/>
                          </a:solidFill>
                          <a:effectLst/>
                          <a:latin typeface="Calibri Light" panose="020F0302020204030204" pitchFamily="34" charset="0"/>
                        </a:rPr>
                        <a:t> 107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0" i="0" u="none" strike="noStrike">
                          <a:solidFill>
                            <a:srgbClr val="000000"/>
                          </a:solidFill>
                          <a:effectLst/>
                          <a:latin typeface="Calibri Light" panose="020F0302020204030204" pitchFamily="34" charset="0"/>
                        </a:rPr>
                        <a:t>109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0" i="0" u="none" strike="noStrike">
                          <a:solidFill>
                            <a:srgbClr val="000000"/>
                          </a:solidFill>
                          <a:effectLst/>
                          <a:latin typeface="Calibri Light" panose="020F0302020204030204" pitchFamily="34" charset="0"/>
                        </a:rPr>
                        <a:t>107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0" i="0" u="none" strike="noStrike">
                          <a:solidFill>
                            <a:srgbClr val="000000"/>
                          </a:solidFill>
                          <a:effectLst/>
                          <a:latin typeface="Calibri Light" panose="020F0302020204030204" pitchFamily="34" charset="0"/>
                        </a:rPr>
                        <a:t>104 </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0" i="0" u="none" strike="noStrike">
                          <a:solidFill>
                            <a:srgbClr val="000000"/>
                          </a:solidFill>
                          <a:effectLst/>
                          <a:latin typeface="Calibri Light" panose="020F0302020204030204" pitchFamily="34" charset="0"/>
                        </a:rPr>
                        <a:t>99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0" i="0" u="none" strike="noStrike">
                          <a:solidFill>
                            <a:srgbClr val="000000"/>
                          </a:solidFill>
                          <a:effectLst/>
                          <a:latin typeface="Calibri Light" panose="020F0302020204030204" pitchFamily="34" charset="0"/>
                        </a:rPr>
                        <a:t>108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0" i="0" u="none" strike="noStrike">
                          <a:solidFill>
                            <a:srgbClr val="000000"/>
                          </a:solidFill>
                          <a:effectLst/>
                          <a:latin typeface="Calibri Light" panose="020F0302020204030204" pitchFamily="34" charset="0"/>
                        </a:rPr>
                        <a:t>105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0" i="0" u="none" strike="noStrike">
                          <a:solidFill>
                            <a:srgbClr val="000000"/>
                          </a:solidFill>
                          <a:effectLst/>
                          <a:latin typeface="Calibri Light" panose="020F0302020204030204" pitchFamily="34" charset="0"/>
                        </a:rPr>
                        <a:t>76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0" i="0" u="none" strike="noStrike">
                          <a:solidFill>
                            <a:srgbClr val="000000"/>
                          </a:solidFill>
                          <a:effectLst/>
                          <a:latin typeface="Calibri Light" panose="020F0302020204030204" pitchFamily="34" charset="0"/>
                        </a:rPr>
                        <a:t>83</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0" i="0" u="none" strike="noStrike">
                          <a:solidFill>
                            <a:srgbClr val="000000"/>
                          </a:solidFill>
                          <a:effectLst/>
                          <a:latin typeface="Calibri Light" panose="020F0302020204030204" pitchFamily="34" charset="0"/>
                        </a:rPr>
                        <a:t>81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0" i="0" u="none" strike="noStrike">
                          <a:solidFill>
                            <a:srgbClr val="000000"/>
                          </a:solidFill>
                          <a:effectLst/>
                          <a:latin typeface="Calibri Light" panose="020F0302020204030204" pitchFamily="34" charset="0"/>
                        </a:rPr>
                        <a:t>79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500" b="0" i="0" u="none" strike="noStrike">
                          <a:solidFill>
                            <a:srgbClr val="000000"/>
                          </a:solidFill>
                          <a:effectLst/>
                          <a:latin typeface="Calibri Light" panose="020F0302020204030204" pitchFamily="34" charset="0"/>
                        </a:rPr>
                        <a:t>83</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500" b="0" i="0" u="none" strike="noStrike" dirty="0">
                          <a:solidFill>
                            <a:srgbClr val="000000"/>
                          </a:solidFill>
                          <a:effectLst/>
                          <a:latin typeface="Calibri Light" panose="020F0302020204030204" pitchFamily="34" charset="0"/>
                        </a:rPr>
                        <a:t>  77*</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500" b="0" i="0" u="none" strike="noStrike" dirty="0">
                          <a:solidFill>
                            <a:srgbClr val="000000"/>
                          </a:solidFill>
                          <a:effectLst/>
                          <a:latin typeface="Calibri Light" panose="020F0302020204030204" pitchFamily="34" charset="0"/>
                        </a:rPr>
                        <a:t>89</a:t>
                      </a:r>
                      <a:endParaRPr lang="es-PE" sz="15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2444434921"/>
                  </a:ext>
                </a:extLst>
              </a:tr>
              <a:tr h="245671">
                <a:tc>
                  <a:txBody>
                    <a:bodyPr/>
                    <a:lstStyle/>
                    <a:p>
                      <a:pPr algn="l" fontAlgn="ctr"/>
                      <a:r>
                        <a:rPr lang="es-PE" sz="1500" b="1" i="0" u="none" strike="noStrike">
                          <a:solidFill>
                            <a:srgbClr val="000000"/>
                          </a:solidFill>
                          <a:effectLst/>
                          <a:latin typeface="Calibri Light" panose="020F0302020204030204" pitchFamily="34" charset="0"/>
                        </a:rPr>
                        <a:t>Resolutor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12</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16</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12</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13</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13.5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500" b="0" i="0" u="none" strike="noStrike">
                          <a:solidFill>
                            <a:srgbClr val="000000"/>
                          </a:solidFill>
                          <a:effectLst/>
                          <a:latin typeface="Calibri Light" panose="020F0302020204030204" pitchFamily="34" charset="0"/>
                        </a:rPr>
                        <a:t> 11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12</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11.5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500" b="0" i="0" u="none" strike="noStrike" dirty="0">
                          <a:solidFill>
                            <a:srgbClr val="000000"/>
                          </a:solidFill>
                          <a:effectLst/>
                          <a:latin typeface="Calibri Light" panose="020F0302020204030204" pitchFamily="34" charset="0"/>
                        </a:rPr>
                        <a:t>12.5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10.9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10.8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7.8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8.6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8.8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500" b="0" i="0" u="none" strike="noStrike">
                          <a:solidFill>
                            <a:srgbClr val="000000"/>
                          </a:solidFill>
                          <a:effectLst/>
                          <a:latin typeface="Calibri Light" panose="020F0302020204030204" pitchFamily="34" charset="0"/>
                        </a:rPr>
                        <a:t>8.7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500" b="0" i="0" u="none" strike="noStrike">
                          <a:solidFill>
                            <a:srgbClr val="000000"/>
                          </a:solidFill>
                          <a:effectLst/>
                          <a:latin typeface="Calibri Light" panose="020F0302020204030204" pitchFamily="34" charset="0"/>
                        </a:rPr>
                        <a:t>7.9</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500" b="0" i="0" u="none" strike="noStrike" dirty="0">
                          <a:solidFill>
                            <a:srgbClr val="000000"/>
                          </a:solidFill>
                          <a:effectLst/>
                          <a:latin typeface="Calibri Light" panose="020F0302020204030204" pitchFamily="34" charset="0"/>
                        </a:rPr>
                        <a:t>7.6</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500" b="0" i="0" u="none" strike="noStrike" dirty="0">
                          <a:solidFill>
                            <a:srgbClr val="000000"/>
                          </a:solidFill>
                          <a:effectLst/>
                          <a:latin typeface="Calibri Light" panose="020F0302020204030204" pitchFamily="34" charset="0"/>
                        </a:rPr>
                        <a:t>8.8</a:t>
                      </a:r>
                      <a:endParaRPr lang="es-PE" sz="15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extLst>
                  <a:ext uri="{0D108BD9-81ED-4DB2-BD59-A6C34878D82A}">
                    <a16:rowId xmlns:a16="http://schemas.microsoft.com/office/drawing/2014/main" val="2855644288"/>
                  </a:ext>
                </a:extLst>
              </a:tr>
              <a:tr h="245671">
                <a:tc>
                  <a:txBody>
                    <a:bodyPr/>
                    <a:lstStyle/>
                    <a:p>
                      <a:pPr algn="l" fontAlgn="ctr"/>
                      <a:r>
                        <a:rPr lang="es-PE" sz="1500" b="1" i="0" u="none" strike="noStrike">
                          <a:solidFill>
                            <a:srgbClr val="000000"/>
                          </a:solidFill>
                          <a:effectLst/>
                          <a:latin typeface="Calibri Light" panose="020F0302020204030204" pitchFamily="34" charset="0"/>
                        </a:rPr>
                        <a:t>Producción Promedio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1" i="0" u="none" strike="noStrike">
                          <a:solidFill>
                            <a:srgbClr val="000000"/>
                          </a:solidFill>
                          <a:effectLst/>
                          <a:latin typeface="Calibri Light" panose="020F0302020204030204" pitchFamily="34" charset="0"/>
                        </a:rPr>
                        <a:t>4.5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1" i="0" u="none" strike="noStrike">
                          <a:solidFill>
                            <a:srgbClr val="000000"/>
                          </a:solidFill>
                          <a:effectLst/>
                          <a:latin typeface="Calibri Light" panose="020F0302020204030204" pitchFamily="34" charset="0"/>
                        </a:rPr>
                        <a:t>5.5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1" i="0" u="none" strike="noStrike">
                          <a:solidFill>
                            <a:srgbClr val="000000"/>
                          </a:solidFill>
                          <a:effectLst/>
                          <a:latin typeface="Calibri Light" panose="020F0302020204030204" pitchFamily="34" charset="0"/>
                        </a:rPr>
                        <a:t>7.2</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1" i="0" u="none" strike="noStrike">
                          <a:solidFill>
                            <a:srgbClr val="000000"/>
                          </a:solidFill>
                          <a:effectLst/>
                          <a:latin typeface="Calibri Light" panose="020F0302020204030204" pitchFamily="34" charset="0"/>
                        </a:rPr>
                        <a:t>8.7</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1"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1" i="0" u="none" strike="noStrike">
                          <a:solidFill>
                            <a:srgbClr val="000000"/>
                          </a:solidFill>
                          <a:effectLst/>
                          <a:latin typeface="Calibri Light" panose="020F0302020204030204" pitchFamily="34" charset="0"/>
                        </a:rPr>
                        <a:t>8.69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1" i="0" u="none" strike="noStrike">
                          <a:solidFill>
                            <a:srgbClr val="000000"/>
                          </a:solidFill>
                          <a:effectLst/>
                          <a:latin typeface="Calibri Light" panose="020F0302020204030204" pitchFamily="34" charset="0"/>
                        </a:rPr>
                        <a:t>8.22</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1" i="0" u="none" strike="noStrike">
                          <a:solidFill>
                            <a:srgbClr val="000000"/>
                          </a:solidFill>
                          <a:effectLst/>
                          <a:latin typeface="Calibri Light" panose="020F0302020204030204" pitchFamily="34" charset="0"/>
                        </a:rPr>
                        <a:t> 9.72</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1" i="0" u="none" strike="noStrike">
                          <a:solidFill>
                            <a:srgbClr val="000000"/>
                          </a:solidFill>
                          <a:effectLst/>
                          <a:latin typeface="Calibri Light" panose="020F0302020204030204" pitchFamily="34" charset="0"/>
                        </a:rPr>
                        <a:t>9.08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1" i="0" u="none" strike="noStrike">
                          <a:solidFill>
                            <a:srgbClr val="000000"/>
                          </a:solidFill>
                          <a:effectLst/>
                          <a:latin typeface="Calibri Light" panose="020F0302020204030204" pitchFamily="34" charset="0"/>
                        </a:rPr>
                        <a:t>9.30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1" i="0" u="none" strike="noStrike">
                          <a:solidFill>
                            <a:srgbClr val="000000"/>
                          </a:solidFill>
                          <a:effectLst/>
                          <a:latin typeface="Calibri Light" panose="020F0302020204030204" pitchFamily="34" charset="0"/>
                        </a:rPr>
                        <a:t>8.23</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1" i="0" u="none" strike="noStrike">
                          <a:solidFill>
                            <a:srgbClr val="000000"/>
                          </a:solidFill>
                          <a:effectLst/>
                          <a:latin typeface="Calibri Light" panose="020F0302020204030204" pitchFamily="34" charset="0"/>
                        </a:rPr>
                        <a:t>9.08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1" i="0" u="none" strike="noStrike">
                          <a:solidFill>
                            <a:srgbClr val="000000"/>
                          </a:solidFill>
                          <a:effectLst/>
                          <a:latin typeface="Calibri Light" panose="020F0302020204030204" pitchFamily="34" charset="0"/>
                        </a:rPr>
                        <a:t>10.00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1" i="0" u="none" strike="noStrike">
                          <a:solidFill>
                            <a:srgbClr val="000000"/>
                          </a:solidFill>
                          <a:effectLst/>
                          <a:latin typeface="Calibri Light" panose="020F0302020204030204" pitchFamily="34" charset="0"/>
                        </a:rPr>
                        <a:t>10.50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1" i="0" u="none" strike="noStrike">
                          <a:solidFill>
                            <a:srgbClr val="000000"/>
                          </a:solidFill>
                          <a:effectLst/>
                          <a:latin typeface="Calibri Light" panose="020F0302020204030204" pitchFamily="34" charset="0"/>
                        </a:rPr>
                        <a:t>9.74</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1" i="0" u="none" strike="noStrike">
                          <a:solidFill>
                            <a:srgbClr val="000000"/>
                          </a:solidFill>
                          <a:effectLst/>
                          <a:latin typeface="Calibri Light" panose="020F0302020204030204" pitchFamily="34" charset="0"/>
                        </a:rPr>
                        <a:t>9.65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1" i="0" u="none" strike="noStrike">
                          <a:solidFill>
                            <a:srgbClr val="000000"/>
                          </a:solidFill>
                          <a:effectLst/>
                          <a:latin typeface="Calibri Light" panose="020F0302020204030204" pitchFamily="34" charset="0"/>
                        </a:rPr>
                        <a:t>9.20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1" i="0" u="none" strike="noStrike" dirty="0">
                          <a:solidFill>
                            <a:srgbClr val="000000"/>
                          </a:solidFill>
                          <a:effectLst/>
                          <a:latin typeface="Calibri Light" panose="020F0302020204030204" pitchFamily="34" charset="0"/>
                        </a:rPr>
                        <a:t>9.08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500" b="1" i="0" u="none" strike="noStrike" dirty="0">
                          <a:solidFill>
                            <a:srgbClr val="000000"/>
                          </a:solidFill>
                          <a:effectLst/>
                          <a:latin typeface="Calibri Light" panose="020F0302020204030204" pitchFamily="34" charset="0"/>
                        </a:rPr>
                        <a:t>10.5</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500" b="1" i="0" u="none" strike="noStrike" dirty="0">
                          <a:solidFill>
                            <a:srgbClr val="000000"/>
                          </a:solidFill>
                          <a:effectLst/>
                          <a:latin typeface="Calibri Light" panose="020F0302020204030204" pitchFamily="34" charset="0"/>
                        </a:rPr>
                        <a:t>10.13</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500" b="1" i="0" u="none" strike="noStrike" dirty="0">
                          <a:solidFill>
                            <a:srgbClr val="000000"/>
                          </a:solidFill>
                          <a:effectLst/>
                          <a:latin typeface="Calibri Light" panose="020F0302020204030204" pitchFamily="34" charset="0"/>
                        </a:rPr>
                        <a:t>10.11</a:t>
                      </a:r>
                      <a:endParaRPr lang="es-PE" sz="15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1886371244"/>
                  </a:ext>
                </a:extLst>
              </a:tr>
              <a:tr h="491342">
                <a:tc>
                  <a:txBody>
                    <a:bodyPr/>
                    <a:lstStyle/>
                    <a:p>
                      <a:pPr algn="l" fontAlgn="ctr"/>
                      <a:r>
                        <a:rPr lang="es-PE" sz="1500" b="1" i="0" u="none" strike="noStrike">
                          <a:solidFill>
                            <a:srgbClr val="FFFFFF"/>
                          </a:solidFill>
                          <a:effectLst/>
                          <a:latin typeface="Calibri Light" panose="020F0302020204030204" pitchFamily="34" charset="0"/>
                        </a:rPr>
                        <a:t>DIVISIÓN DE CONTROL POSTERIOR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500" b="1" i="0" u="none" strike="noStrike">
                          <a:solidFill>
                            <a:srgbClr val="FFFFFF"/>
                          </a:solidFill>
                          <a:effectLst/>
                          <a:latin typeface="Calibri Light" panose="020F0302020204030204" pitchFamily="34" charset="0"/>
                        </a:rPr>
                        <a:t>AGO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500" b="1" i="0" u="none" strike="noStrike">
                          <a:solidFill>
                            <a:srgbClr val="FFFFFF"/>
                          </a:solidFill>
                          <a:effectLst/>
                          <a:latin typeface="Calibri Light" panose="020F0302020204030204" pitchFamily="34" charset="0"/>
                        </a:rPr>
                        <a:t>SET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500" b="1" i="0" u="none" strike="noStrike">
                          <a:solidFill>
                            <a:srgbClr val="FFFFFF"/>
                          </a:solidFill>
                          <a:effectLst/>
                          <a:latin typeface="Calibri Light" panose="020F0302020204030204" pitchFamily="34" charset="0"/>
                        </a:rPr>
                        <a:t>OCT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5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500" b="1" i="0" u="none" strike="noStrike">
                          <a:solidFill>
                            <a:srgbClr val="FFFFFF"/>
                          </a:solidFill>
                          <a:effectLst/>
                          <a:latin typeface="Calibri Light" panose="020F0302020204030204" pitchFamily="34" charset="0"/>
                        </a:rPr>
                        <a:t>DIC</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500" b="1" i="0" u="none" strike="noStrike">
                          <a:solidFill>
                            <a:srgbClr val="FFFFFF"/>
                          </a:solidFill>
                          <a:effectLst/>
                          <a:latin typeface="Calibri Light" panose="020F0302020204030204" pitchFamily="34" charset="0"/>
                        </a:rPr>
                        <a:t>ENE</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FEB</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MAR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ABR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MAY</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JUN</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JUL</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AGO</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SET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OCT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500" b="1" i="0" u="none" strike="noStrike">
                          <a:solidFill>
                            <a:srgbClr val="FFFFFF"/>
                          </a:solidFill>
                          <a:effectLst/>
                          <a:latin typeface="Calibri Light" panose="020F0302020204030204" pitchFamily="34" charset="0"/>
                        </a:rPr>
                        <a:t>DIC</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rtl="0" fontAlgn="ctr"/>
                      <a:r>
                        <a:rPr lang="es-PE" sz="1500" b="1" i="0" u="none" strike="noStrike">
                          <a:solidFill>
                            <a:srgbClr val="000000"/>
                          </a:solidFill>
                          <a:effectLst/>
                          <a:latin typeface="Calibri Light" panose="020F0302020204030204" pitchFamily="34" charset="0"/>
                        </a:rPr>
                        <a:t>ENE</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500" b="1" i="0" u="none" strike="noStrike">
                          <a:solidFill>
                            <a:srgbClr val="000000"/>
                          </a:solidFill>
                          <a:effectLst/>
                          <a:latin typeface="Calibri Light" panose="020F0302020204030204" pitchFamily="34" charset="0"/>
                        </a:rPr>
                        <a:t>FEB</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500" b="1" i="0" u="none" strike="noStrike" dirty="0">
                          <a:solidFill>
                            <a:srgbClr val="000000"/>
                          </a:solidFill>
                          <a:effectLst/>
                          <a:latin typeface="Calibri Light" panose="020F0302020204030204" pitchFamily="34" charset="0"/>
                        </a:rPr>
                        <a:t>MAR</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500" b="1" i="0" u="none" strike="noStrike" dirty="0">
                          <a:solidFill>
                            <a:srgbClr val="000000"/>
                          </a:solidFill>
                          <a:effectLst/>
                          <a:latin typeface="Calibri Light" panose="020F0302020204030204" pitchFamily="34" charset="0"/>
                        </a:rPr>
                        <a:t>ABR</a:t>
                      </a:r>
                      <a:endParaRPr lang="es-PE" sz="15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extLst>
                  <a:ext uri="{0D108BD9-81ED-4DB2-BD59-A6C34878D82A}">
                    <a16:rowId xmlns:a16="http://schemas.microsoft.com/office/drawing/2014/main" val="450108723"/>
                  </a:ext>
                </a:extLst>
              </a:tr>
              <a:tr h="245671">
                <a:tc>
                  <a:txBody>
                    <a:bodyPr/>
                    <a:lstStyle/>
                    <a:p>
                      <a:pPr algn="l" fontAlgn="ctr"/>
                      <a:r>
                        <a:rPr lang="es-PE" sz="1500" b="1" i="0" u="none" strike="noStrike">
                          <a:solidFill>
                            <a:srgbClr val="000000"/>
                          </a:solidFill>
                          <a:effectLst/>
                          <a:latin typeface="Calibri Light" panose="020F0302020204030204" pitchFamily="34" charset="0"/>
                        </a:rPr>
                        <a:t>Reclamos resueltos</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0" i="0" u="none" strike="noStrike">
                          <a:solidFill>
                            <a:srgbClr val="000000"/>
                          </a:solidFill>
                          <a:effectLst/>
                          <a:latin typeface="Calibri Light" panose="020F0302020204030204" pitchFamily="34" charset="0"/>
                        </a:rPr>
                        <a:t>22</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0" i="0" u="none" strike="noStrike">
                          <a:solidFill>
                            <a:srgbClr val="000000"/>
                          </a:solidFill>
                          <a:effectLst/>
                          <a:latin typeface="Calibri Light" panose="020F0302020204030204" pitchFamily="34" charset="0"/>
                        </a:rPr>
                        <a:t>25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0" i="0" u="none" strike="noStrike">
                          <a:solidFill>
                            <a:srgbClr val="000000"/>
                          </a:solidFill>
                          <a:effectLst/>
                          <a:latin typeface="Calibri Light" panose="020F0302020204030204" pitchFamily="34" charset="0"/>
                        </a:rPr>
                        <a:t>48</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0" i="0" u="none" strike="noStrike">
                          <a:solidFill>
                            <a:srgbClr val="000000"/>
                          </a:solidFill>
                          <a:effectLst/>
                          <a:latin typeface="Calibri Light" panose="020F0302020204030204" pitchFamily="34" charset="0"/>
                        </a:rPr>
                        <a:t>59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0" i="0" u="none" strike="noStrike">
                          <a:solidFill>
                            <a:srgbClr val="000000"/>
                          </a:solidFill>
                          <a:effectLst/>
                          <a:latin typeface="Calibri Light" panose="020F0302020204030204" pitchFamily="34" charset="0"/>
                        </a:rPr>
                        <a:t>66</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0" i="0" u="none" strike="noStrike">
                          <a:solidFill>
                            <a:srgbClr val="000000"/>
                          </a:solidFill>
                          <a:effectLst/>
                          <a:latin typeface="Calibri Light" panose="020F0302020204030204" pitchFamily="34" charset="0"/>
                        </a:rPr>
                        <a:t>54</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0" i="0" u="none" strike="noStrike">
                          <a:solidFill>
                            <a:srgbClr val="000000"/>
                          </a:solidFill>
                          <a:effectLst/>
                          <a:latin typeface="Calibri Light" panose="020F0302020204030204" pitchFamily="34" charset="0"/>
                        </a:rPr>
                        <a:t>55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0" i="0" u="none" strike="noStrike">
                          <a:solidFill>
                            <a:srgbClr val="000000"/>
                          </a:solidFill>
                          <a:effectLst/>
                          <a:latin typeface="Calibri Light" panose="020F0302020204030204" pitchFamily="34" charset="0"/>
                        </a:rPr>
                        <a:t> 29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0" i="0" u="none" strike="noStrike">
                          <a:solidFill>
                            <a:srgbClr val="000000"/>
                          </a:solidFill>
                          <a:effectLst/>
                          <a:latin typeface="Calibri Light" panose="020F0302020204030204" pitchFamily="34" charset="0"/>
                        </a:rPr>
                        <a:t>38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0" i="0" u="none" strike="noStrike">
                          <a:solidFill>
                            <a:srgbClr val="000000"/>
                          </a:solidFill>
                          <a:effectLst/>
                          <a:latin typeface="Calibri Light" panose="020F0302020204030204" pitchFamily="34" charset="0"/>
                        </a:rPr>
                        <a:t>37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0" i="0" u="none" strike="noStrike">
                          <a:solidFill>
                            <a:srgbClr val="000000"/>
                          </a:solidFill>
                          <a:effectLst/>
                          <a:latin typeface="Calibri Light" panose="020F0302020204030204" pitchFamily="34" charset="0"/>
                        </a:rPr>
                        <a:t>38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0" i="0" u="none" strike="noStrike">
                          <a:solidFill>
                            <a:srgbClr val="000000"/>
                          </a:solidFill>
                          <a:effectLst/>
                          <a:latin typeface="Calibri Light" panose="020F0302020204030204" pitchFamily="34" charset="0"/>
                        </a:rPr>
                        <a:t>25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0" i="0" u="none" strike="noStrike">
                          <a:solidFill>
                            <a:srgbClr val="000000"/>
                          </a:solidFill>
                          <a:effectLst/>
                          <a:latin typeface="Calibri Light" panose="020F0302020204030204" pitchFamily="34" charset="0"/>
                        </a:rPr>
                        <a:t>37*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0" i="0" u="none" strike="noStrike">
                          <a:solidFill>
                            <a:srgbClr val="000000"/>
                          </a:solidFill>
                          <a:effectLst/>
                          <a:latin typeface="Calibri Light" panose="020F0302020204030204" pitchFamily="34" charset="0"/>
                        </a:rPr>
                        <a:t>16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0" i="0" u="none" strike="noStrike">
                          <a:solidFill>
                            <a:srgbClr val="000000"/>
                          </a:solidFill>
                          <a:effectLst/>
                          <a:latin typeface="Calibri Light" panose="020F0302020204030204" pitchFamily="34" charset="0"/>
                        </a:rPr>
                        <a:t>17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0" i="0" u="none" strike="noStrike">
                          <a:solidFill>
                            <a:srgbClr val="000000"/>
                          </a:solidFill>
                          <a:effectLst/>
                          <a:latin typeface="Calibri Light" panose="020F0302020204030204" pitchFamily="34" charset="0"/>
                        </a:rPr>
                        <a:t>17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5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500" b="0" i="0" u="none" strike="noStrike" dirty="0">
                          <a:solidFill>
                            <a:srgbClr val="000000"/>
                          </a:solidFill>
                          <a:effectLst/>
                          <a:latin typeface="Calibri Light" panose="020F0302020204030204" pitchFamily="34" charset="0"/>
                        </a:rPr>
                        <a:t>21</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500" b="0" i="0" u="none" strike="noStrike" dirty="0">
                          <a:solidFill>
                            <a:srgbClr val="000000"/>
                          </a:solidFill>
                          <a:effectLst/>
                          <a:latin typeface="Calibri Light" panose="020F0302020204030204" pitchFamily="34" charset="0"/>
                        </a:rPr>
                        <a:t>18*</a:t>
                      </a:r>
                      <a:endParaRPr lang="es-PE" sz="15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4007070957"/>
                  </a:ext>
                </a:extLst>
              </a:tr>
              <a:tr h="245671">
                <a:tc>
                  <a:txBody>
                    <a:bodyPr/>
                    <a:lstStyle/>
                    <a:p>
                      <a:pPr algn="l" fontAlgn="ctr"/>
                      <a:r>
                        <a:rPr lang="es-PE" sz="1500" b="1" i="0" u="none" strike="noStrike">
                          <a:solidFill>
                            <a:srgbClr val="000000"/>
                          </a:solidFill>
                          <a:effectLst/>
                          <a:latin typeface="Calibri Light" panose="020F0302020204030204" pitchFamily="34" charset="0"/>
                        </a:rPr>
                        <a:t>Resolutor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500" b="0" i="0" u="none" strike="noStrike">
                          <a:solidFill>
                            <a:srgbClr val="000000"/>
                          </a:solidFill>
                          <a:effectLst/>
                          <a:latin typeface="Calibri Light" panose="020F0302020204030204" pitchFamily="34" charset="0"/>
                        </a:rPr>
                        <a:t> 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8 </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5.36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2.21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2.1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3.4</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500" b="0" i="0" u="none" strike="noStrike">
                          <a:solidFill>
                            <a:srgbClr val="000000"/>
                          </a:solidFill>
                          <a:effectLst/>
                          <a:latin typeface="Calibri Light" panose="020F0302020204030204" pitchFamily="34" charset="0"/>
                        </a:rPr>
                        <a:t>5.11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500" b="0" i="0" u="none" strike="noStrike">
                          <a:solidFill>
                            <a:srgbClr val="000000"/>
                          </a:solidFill>
                          <a:effectLst/>
                          <a:latin typeface="Calibri Light" panose="020F0302020204030204" pitchFamily="34" charset="0"/>
                        </a:rPr>
                        <a:t>6.36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500" b="0" i="0" u="none" strike="noStrike">
                          <a:solidFill>
                            <a:srgbClr val="000000"/>
                          </a:solidFill>
                          <a:effectLst/>
                          <a:latin typeface="Calibri Light" panose="020F0302020204030204" pitchFamily="34" charset="0"/>
                        </a:rPr>
                        <a:t>4.95</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500" b="0" i="0" u="none" strike="noStrike" dirty="0">
                          <a:solidFill>
                            <a:srgbClr val="000000"/>
                          </a:solidFill>
                          <a:effectLst/>
                          <a:latin typeface="Calibri Light" panose="020F0302020204030204" pitchFamily="34" charset="0"/>
                        </a:rPr>
                        <a:t>4.89</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500" b="0" i="0" u="none" strike="noStrike" dirty="0">
                          <a:solidFill>
                            <a:srgbClr val="000000"/>
                          </a:solidFill>
                          <a:effectLst/>
                          <a:latin typeface="Calibri Light" panose="020F0302020204030204" pitchFamily="34" charset="0"/>
                        </a:rPr>
                        <a:t>5.32</a:t>
                      </a:r>
                      <a:endParaRPr lang="es-PE" sz="15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extLst>
                  <a:ext uri="{0D108BD9-81ED-4DB2-BD59-A6C34878D82A}">
                    <a16:rowId xmlns:a16="http://schemas.microsoft.com/office/drawing/2014/main" val="2130602570"/>
                  </a:ext>
                </a:extLst>
              </a:tr>
              <a:tr h="245671">
                <a:tc>
                  <a:txBody>
                    <a:bodyPr/>
                    <a:lstStyle/>
                    <a:p>
                      <a:pPr algn="l" fontAlgn="ctr"/>
                      <a:r>
                        <a:rPr lang="es-PE" sz="1500" b="1" i="0" u="none" strike="noStrike">
                          <a:solidFill>
                            <a:srgbClr val="000000"/>
                          </a:solidFill>
                          <a:effectLst/>
                          <a:latin typeface="Calibri Light" panose="020F0302020204030204" pitchFamily="34" charset="0"/>
                        </a:rPr>
                        <a:t>Producción Promedio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1" i="0" u="none" strike="noStrike">
                          <a:solidFill>
                            <a:srgbClr val="000000"/>
                          </a:solidFill>
                          <a:effectLst/>
                          <a:latin typeface="Calibri Light" panose="020F0302020204030204" pitchFamily="34" charset="0"/>
                        </a:rPr>
                        <a:t>2.2</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1" i="0" u="none" strike="noStrike">
                          <a:solidFill>
                            <a:srgbClr val="000000"/>
                          </a:solidFill>
                          <a:effectLst/>
                          <a:latin typeface="Calibri Light" panose="020F0302020204030204" pitchFamily="34" charset="0"/>
                        </a:rPr>
                        <a:t>2.5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1" i="0" u="none" strike="noStrike">
                          <a:solidFill>
                            <a:srgbClr val="000000"/>
                          </a:solidFill>
                          <a:effectLst/>
                          <a:latin typeface="Calibri Light" panose="020F0302020204030204" pitchFamily="34" charset="0"/>
                        </a:rPr>
                        <a:t>5.3</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1" i="0" u="none" strike="noStrike">
                          <a:solidFill>
                            <a:srgbClr val="000000"/>
                          </a:solidFill>
                          <a:effectLst/>
                          <a:latin typeface="Calibri Light" panose="020F0302020204030204" pitchFamily="34" charset="0"/>
                        </a:rPr>
                        <a:t>5.4</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1" i="0" u="none" strike="noStrike">
                          <a:solidFill>
                            <a:srgbClr val="000000"/>
                          </a:solidFill>
                          <a:effectLst/>
                          <a:latin typeface="Calibri Light" panose="020F0302020204030204" pitchFamily="34" charset="0"/>
                        </a:rPr>
                        <a:t>6</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500" b="1" i="0" u="none" strike="noStrike">
                          <a:solidFill>
                            <a:srgbClr val="000000"/>
                          </a:solidFill>
                          <a:effectLst/>
                          <a:latin typeface="Calibri Light" panose="020F0302020204030204" pitchFamily="34" charset="0"/>
                        </a:rPr>
                        <a:t>5.4</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1" i="0" u="none" strike="noStrike">
                          <a:solidFill>
                            <a:srgbClr val="000000"/>
                          </a:solidFill>
                          <a:effectLst/>
                          <a:latin typeface="Calibri Light" panose="020F0302020204030204" pitchFamily="34" charset="0"/>
                        </a:rPr>
                        <a:t>5.5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1" i="0" u="none" strike="noStrike">
                          <a:solidFill>
                            <a:srgbClr val="000000"/>
                          </a:solidFill>
                          <a:effectLst/>
                          <a:latin typeface="Calibri Light" panose="020F0302020204030204" pitchFamily="34" charset="0"/>
                        </a:rPr>
                        <a:t> 3.63</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1" i="0" u="none" strike="noStrike">
                          <a:solidFill>
                            <a:srgbClr val="000000"/>
                          </a:solidFill>
                          <a:effectLst/>
                          <a:latin typeface="Calibri Light" panose="020F0302020204030204" pitchFamily="34" charset="0"/>
                        </a:rPr>
                        <a:t>4.75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1" i="0" u="none" strike="noStrike">
                          <a:solidFill>
                            <a:srgbClr val="000000"/>
                          </a:solidFill>
                          <a:effectLst/>
                          <a:latin typeface="Calibri Light" panose="020F0302020204030204" pitchFamily="34" charset="0"/>
                        </a:rPr>
                        <a:t>4.63</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1" i="0" u="none" strike="noStrike">
                          <a:solidFill>
                            <a:srgbClr val="000000"/>
                          </a:solidFill>
                          <a:effectLst/>
                          <a:latin typeface="Calibri Light" panose="020F0302020204030204" pitchFamily="34" charset="0"/>
                        </a:rPr>
                        <a:t>4.75 </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1" i="0" u="none" strike="noStrike">
                          <a:solidFill>
                            <a:srgbClr val="000000"/>
                          </a:solidFill>
                          <a:effectLst/>
                          <a:latin typeface="Calibri Light" panose="020F0302020204030204" pitchFamily="34" charset="0"/>
                        </a:rPr>
                        <a:t>3.57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1" i="0" u="none" strike="noStrike">
                          <a:solidFill>
                            <a:srgbClr val="000000"/>
                          </a:solidFill>
                          <a:effectLst/>
                          <a:latin typeface="Calibri Light" panose="020F0302020204030204" pitchFamily="34" charset="0"/>
                        </a:rPr>
                        <a:t>6.90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1" i="0" u="none" strike="noStrike">
                          <a:solidFill>
                            <a:srgbClr val="000000"/>
                          </a:solidFill>
                          <a:effectLst/>
                          <a:latin typeface="Calibri Light" panose="020F0302020204030204" pitchFamily="34" charset="0"/>
                        </a:rPr>
                        <a:t>7.24</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1" i="0" u="none" strike="noStrike">
                          <a:solidFill>
                            <a:srgbClr val="000000"/>
                          </a:solidFill>
                          <a:effectLst/>
                          <a:latin typeface="Calibri Light" panose="020F0302020204030204" pitchFamily="34" charset="0"/>
                        </a:rPr>
                        <a:t>8.10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1" i="0" u="none" strike="noStrike">
                          <a:solidFill>
                            <a:srgbClr val="000000"/>
                          </a:solidFill>
                          <a:effectLst/>
                          <a:latin typeface="Calibri Light" panose="020F0302020204030204" pitchFamily="34" charset="0"/>
                        </a:rPr>
                        <a:t>5.00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500" b="1" i="0" u="none" strike="noStrike">
                          <a:solidFill>
                            <a:srgbClr val="000000"/>
                          </a:solidFill>
                          <a:effectLst/>
                          <a:latin typeface="Calibri Light" panose="020F0302020204030204" pitchFamily="34" charset="0"/>
                        </a:rPr>
                        <a:t>3.72</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500" b="1" i="0" u="none" strike="noStrike" dirty="0">
                          <a:solidFill>
                            <a:srgbClr val="000000"/>
                          </a:solidFill>
                          <a:effectLst/>
                          <a:latin typeface="Calibri Light" panose="020F0302020204030204" pitchFamily="34" charset="0"/>
                        </a:rPr>
                        <a:t>2.99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500" b="1" i="0" u="none" strike="noStrike" dirty="0">
                          <a:solidFill>
                            <a:srgbClr val="000000"/>
                          </a:solidFill>
                          <a:effectLst/>
                          <a:latin typeface="Calibri Light" panose="020F0302020204030204" pitchFamily="34" charset="0"/>
                        </a:rPr>
                        <a:t>3.84</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500" b="1" i="0" u="none" strike="noStrike" dirty="0">
                          <a:solidFill>
                            <a:srgbClr val="000000"/>
                          </a:solidFill>
                          <a:effectLst/>
                          <a:latin typeface="Calibri Light" panose="020F0302020204030204" pitchFamily="34" charset="0"/>
                        </a:rPr>
                        <a:t>4.29*</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500" b="1" i="0" u="none" strike="noStrike" dirty="0">
                          <a:solidFill>
                            <a:srgbClr val="000000"/>
                          </a:solidFill>
                          <a:effectLst/>
                          <a:latin typeface="Calibri Light" panose="020F0302020204030204" pitchFamily="34" charset="0"/>
                        </a:rPr>
                        <a:t>3.38</a:t>
                      </a:r>
                      <a:endParaRPr lang="es-PE" sz="15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1573925206"/>
                  </a:ext>
                </a:extLst>
              </a:tr>
            </a:tbl>
          </a:graphicData>
        </a:graphic>
      </p:graphicFrame>
      <p:sp>
        <p:nvSpPr>
          <p:cNvPr id="2" name="CuadroTexto 1">
            <a:extLst>
              <a:ext uri="{FF2B5EF4-FFF2-40B4-BE49-F238E27FC236}">
                <a16:creationId xmlns:a16="http://schemas.microsoft.com/office/drawing/2014/main" id="{5C98C621-FB60-80E3-F26C-984F799C1862}"/>
              </a:ext>
            </a:extLst>
          </p:cNvPr>
          <p:cNvSpPr txBox="1"/>
          <p:nvPr/>
        </p:nvSpPr>
        <p:spPr>
          <a:xfrm>
            <a:off x="371474" y="5934076"/>
            <a:ext cx="6753226" cy="307777"/>
          </a:xfrm>
          <a:prstGeom prst="rect">
            <a:avLst/>
          </a:prstGeom>
          <a:noFill/>
        </p:spPr>
        <p:txBody>
          <a:bodyPr wrap="square" rtlCol="0">
            <a:spAutoFit/>
          </a:bodyPr>
          <a:lstStyle/>
          <a:p>
            <a:r>
              <a:rPr lang="es-ES" sz="1400" dirty="0"/>
              <a:t>(*) Se resolvió reclamos por un monto de S/. 27.8 millones de soles</a:t>
            </a:r>
            <a:endParaRPr lang="es-PE" sz="1400" dirty="0"/>
          </a:p>
        </p:txBody>
      </p:sp>
    </p:spTree>
    <p:extLst>
      <p:ext uri="{BB962C8B-B14F-4D97-AF65-F5344CB8AC3E}">
        <p14:creationId xmlns:p14="http://schemas.microsoft.com/office/powerpoint/2010/main" val="37505284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PRODUCTIVIDAD MARZO 2024</a:t>
            </a:r>
            <a:endParaRPr lang="es-PE" sz="2800" b="1" dirty="0">
              <a:latin typeface="Arial" panose="020B0604020202020204" pitchFamily="34" charset="0"/>
              <a:cs typeface="Arial" panose="020B0604020202020204" pitchFamily="34" charset="0"/>
            </a:endParaRPr>
          </a:p>
        </p:txBody>
      </p:sp>
      <p:graphicFrame>
        <p:nvGraphicFramePr>
          <p:cNvPr id="8" name="Tabla 7">
            <a:extLst>
              <a:ext uri="{FF2B5EF4-FFF2-40B4-BE49-F238E27FC236}">
                <a16:creationId xmlns:a16="http://schemas.microsoft.com/office/drawing/2014/main" id="{5DCBF7E6-D327-F7EC-950D-E13591629145}"/>
              </a:ext>
            </a:extLst>
          </p:cNvPr>
          <p:cNvGraphicFramePr>
            <a:graphicFrameLocks noGrp="1"/>
          </p:cNvGraphicFramePr>
          <p:nvPr>
            <p:extLst>
              <p:ext uri="{D42A27DB-BD31-4B8C-83A1-F6EECF244321}">
                <p14:modId xmlns:p14="http://schemas.microsoft.com/office/powerpoint/2010/main" val="2608699635"/>
              </p:ext>
            </p:extLst>
          </p:nvPr>
        </p:nvGraphicFramePr>
        <p:xfrm>
          <a:off x="292043" y="1040573"/>
          <a:ext cx="11657648" cy="5518046"/>
        </p:xfrm>
        <a:graphic>
          <a:graphicData uri="http://schemas.openxmlformats.org/drawingml/2006/table">
            <a:tbl>
              <a:tblPr firstRow="1" firstCol="1" bandRow="1"/>
              <a:tblGrid>
                <a:gridCol w="1543430">
                  <a:extLst>
                    <a:ext uri="{9D8B030D-6E8A-4147-A177-3AD203B41FA5}">
                      <a16:colId xmlns:a16="http://schemas.microsoft.com/office/drawing/2014/main" val="925094151"/>
                    </a:ext>
                  </a:extLst>
                </a:gridCol>
                <a:gridCol w="843202">
                  <a:extLst>
                    <a:ext uri="{9D8B030D-6E8A-4147-A177-3AD203B41FA5}">
                      <a16:colId xmlns:a16="http://schemas.microsoft.com/office/drawing/2014/main" val="477222435"/>
                    </a:ext>
                  </a:extLst>
                </a:gridCol>
                <a:gridCol w="1304558">
                  <a:extLst>
                    <a:ext uri="{9D8B030D-6E8A-4147-A177-3AD203B41FA5}">
                      <a16:colId xmlns:a16="http://schemas.microsoft.com/office/drawing/2014/main" val="2282184332"/>
                    </a:ext>
                  </a:extLst>
                </a:gridCol>
                <a:gridCol w="1324782">
                  <a:extLst>
                    <a:ext uri="{9D8B030D-6E8A-4147-A177-3AD203B41FA5}">
                      <a16:colId xmlns:a16="http://schemas.microsoft.com/office/drawing/2014/main" val="889253127"/>
                    </a:ext>
                  </a:extLst>
                </a:gridCol>
                <a:gridCol w="930382">
                  <a:extLst>
                    <a:ext uri="{9D8B030D-6E8A-4147-A177-3AD203B41FA5}">
                      <a16:colId xmlns:a16="http://schemas.microsoft.com/office/drawing/2014/main" val="3618495769"/>
                    </a:ext>
                  </a:extLst>
                </a:gridCol>
                <a:gridCol w="1173092">
                  <a:extLst>
                    <a:ext uri="{9D8B030D-6E8A-4147-A177-3AD203B41FA5}">
                      <a16:colId xmlns:a16="http://schemas.microsoft.com/office/drawing/2014/main" val="3676107308"/>
                    </a:ext>
                  </a:extLst>
                </a:gridCol>
                <a:gridCol w="1304558">
                  <a:extLst>
                    <a:ext uri="{9D8B030D-6E8A-4147-A177-3AD203B41FA5}">
                      <a16:colId xmlns:a16="http://schemas.microsoft.com/office/drawing/2014/main" val="343955240"/>
                    </a:ext>
                  </a:extLst>
                </a:gridCol>
                <a:gridCol w="687896">
                  <a:extLst>
                    <a:ext uri="{9D8B030D-6E8A-4147-A177-3AD203B41FA5}">
                      <a16:colId xmlns:a16="http://schemas.microsoft.com/office/drawing/2014/main" val="1609030641"/>
                    </a:ext>
                  </a:extLst>
                </a:gridCol>
                <a:gridCol w="1576552">
                  <a:extLst>
                    <a:ext uri="{9D8B030D-6E8A-4147-A177-3AD203B41FA5}">
                      <a16:colId xmlns:a16="http://schemas.microsoft.com/office/drawing/2014/main" val="1343854734"/>
                    </a:ext>
                  </a:extLst>
                </a:gridCol>
                <a:gridCol w="969196">
                  <a:extLst>
                    <a:ext uri="{9D8B030D-6E8A-4147-A177-3AD203B41FA5}">
                      <a16:colId xmlns:a16="http://schemas.microsoft.com/office/drawing/2014/main" val="2417700680"/>
                    </a:ext>
                  </a:extLst>
                </a:gridCol>
              </a:tblGrid>
              <a:tr h="208115">
                <a:tc gridSpan="10">
                  <a:txBody>
                    <a:bodyPr/>
                    <a:lstStyle/>
                    <a:p>
                      <a:pPr algn="ctr"/>
                      <a:r>
                        <a:rPr lang="es-PE" sz="1300" b="1" dirty="0">
                          <a:solidFill>
                            <a:srgbClr val="000000"/>
                          </a:solidFill>
                          <a:effectLst/>
                          <a:latin typeface="Calibri" panose="020F0502020204030204" pitchFamily="34" charset="0"/>
                          <a:cs typeface="Calibri" panose="020F0502020204030204" pitchFamily="34" charset="0"/>
                        </a:rPr>
                        <a:t>PRODUCCIÓN</a:t>
                      </a:r>
                      <a:endParaRPr lang="es-PE" sz="1300" dirty="0">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hMerge="1">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PRODUCCIÓN</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3958888204"/>
                  </a:ext>
                </a:extLst>
              </a:tr>
              <a:tr h="208115">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UUOO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gridSpan="3">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DCCI</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hMerge="1">
                  <a:txBody>
                    <a:bodyPr/>
                    <a:lstStyle/>
                    <a:p>
                      <a:endParaRPr lang="es-PE"/>
                    </a:p>
                  </a:txBody>
                  <a:tcPr/>
                </a:tc>
                <a:tc hMerge="1">
                  <a:txBody>
                    <a:bodyPr/>
                    <a:lstStyle/>
                    <a:p>
                      <a:endParaRPr lang="es-PE"/>
                    </a:p>
                  </a:txBody>
                  <a:tcPr/>
                </a:tc>
                <a:tc gridSpan="3">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DCCII</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hMerge="1">
                  <a:txBody>
                    <a:bodyPr/>
                    <a:lstStyle/>
                    <a:p>
                      <a:endParaRPr lang="es-PE"/>
                    </a:p>
                  </a:txBody>
                  <a:tcPr/>
                </a:tc>
                <a:tc hMerge="1">
                  <a:txBody>
                    <a:bodyPr/>
                    <a:lstStyle/>
                    <a:p>
                      <a:endParaRPr lang="es-PE"/>
                    </a:p>
                  </a:txBody>
                  <a:tcPr/>
                </a:tc>
                <a:tc gridSpan="3">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DCP</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2824672310"/>
                  </a:ext>
                </a:extLst>
              </a:tr>
              <a:tr h="745424">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MATERIA</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PE" sz="13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FONDO</a:t>
                      </a:r>
                      <a:endParaRPr lang="es-PE" sz="13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MEJORA RD</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ADMISIBILIDAD</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FONDO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MEJORA LC</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ADMISIBILIDAD</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3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FONDO</a:t>
                      </a:r>
                      <a:endParaRPr lang="es-PE" sz="13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MEJORA (IAMC)</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ADMISIBILIDAD APELACIÓN</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792160857"/>
                  </a:ext>
                </a:extLst>
              </a:tr>
              <a:tr h="3201763">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PRODUCTO RESUELTO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256</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Cinco (5) Equipos de mejora de criterios: Nota de débito, Medios de pago, libros contables, informe de idoneidad, valores en evaluación.</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89</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1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-Atención de  02 MEMORÁNDUM de áreas de origen y  01 correo electrónico  respecto de Consultas sobre actualización de liquidación de cobranza </a:t>
                      </a:r>
                      <a:endParaRPr lang="es-PE" sz="11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l"/>
                      <a:r>
                        <a:rPr lang="es-ES" sz="1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-104 expediente de reclamo evaluados:  27 con pase a fondo, 35 con RD de inadmisibilidad,  14 con proyecto de RD de inadmisibilidad</a:t>
                      </a:r>
                      <a:endParaRPr lang="es-PE" sz="1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800" b="0" dirty="0">
                          <a:effectLst/>
                          <a:latin typeface="Calibri" panose="020F0502020204030204" pitchFamily="34" charset="0"/>
                          <a:ea typeface="Calibri" panose="020F0502020204030204" pitchFamily="34" charset="0"/>
                          <a:cs typeface="Times New Roman" panose="02020603050405020304" pitchFamily="18" charset="0"/>
                        </a:rPr>
                        <a:t>18</a:t>
                      </a:r>
                      <a:endParaRPr lang="es-PE"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96122694"/>
                  </a:ext>
                </a:extLst>
              </a:tr>
              <a:tr h="447254">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RESOLUTOR</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17.8</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10</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8.8</a:t>
                      </a:r>
                      <a:endParaRPr kumimoji="0" lang="es-PE"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a:t>
                      </a:r>
                      <a:endParaRPr kumimoji="0" lang="es-PE"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1.8</a:t>
                      </a:r>
                      <a:endParaRPr kumimoji="0" lang="es-PE"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800" b="0" dirty="0">
                          <a:effectLst/>
                          <a:latin typeface="Calibri" panose="020F0502020204030204" pitchFamily="34" charset="0"/>
                          <a:ea typeface="Calibri" panose="020F0502020204030204" pitchFamily="34" charset="0"/>
                          <a:cs typeface="Times New Roman" panose="02020603050405020304" pitchFamily="18" charset="0"/>
                        </a:rPr>
                        <a:t>5.32</a:t>
                      </a:r>
                      <a:endParaRPr lang="es-PE"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436962428"/>
                  </a:ext>
                </a:extLst>
              </a:tr>
              <a:tr h="707375">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PRODUCCIÓN PROMEDIO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14.38</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 entregables</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10.11</a:t>
                      </a:r>
                      <a:endParaRPr kumimoji="0" lang="es-PE"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a:t>
                      </a:r>
                      <a:endParaRPr kumimoji="0" lang="es-PE"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57.78</a:t>
                      </a:r>
                      <a:endParaRPr kumimoji="0" lang="es-PE"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800" b="0" dirty="0">
                          <a:effectLst/>
                          <a:latin typeface="Calibri" panose="020F0502020204030204" pitchFamily="34" charset="0"/>
                          <a:ea typeface="Calibri" panose="020F0502020204030204" pitchFamily="34" charset="0"/>
                          <a:cs typeface="Times New Roman" panose="02020603050405020304" pitchFamily="18" charset="0"/>
                        </a:rPr>
                        <a:t>3.38</a:t>
                      </a:r>
                      <a:endParaRPr lang="es-PE"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351006160"/>
                  </a:ext>
                </a:extLst>
              </a:tr>
            </a:tbl>
          </a:graphicData>
        </a:graphic>
      </p:graphicFrame>
    </p:spTree>
    <p:extLst>
      <p:ext uri="{BB962C8B-B14F-4D97-AF65-F5344CB8AC3E}">
        <p14:creationId xmlns:p14="http://schemas.microsoft.com/office/powerpoint/2010/main" val="22445313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PROGRAMACIÓN Y PRODUCCIÓN–2023-2024</a:t>
            </a:r>
            <a:endParaRPr lang="es-PE" sz="2800" b="1" dirty="0">
              <a:latin typeface="Arial" panose="020B0604020202020204" pitchFamily="34" charset="0"/>
              <a:cs typeface="Arial" panose="020B0604020202020204" pitchFamily="34" charset="0"/>
            </a:endParaRPr>
          </a:p>
        </p:txBody>
      </p:sp>
      <p:graphicFrame>
        <p:nvGraphicFramePr>
          <p:cNvPr id="5" name="Tabla 4">
            <a:extLst>
              <a:ext uri="{FF2B5EF4-FFF2-40B4-BE49-F238E27FC236}">
                <a16:creationId xmlns:a16="http://schemas.microsoft.com/office/drawing/2014/main" id="{CFC2ABA1-B454-A51E-4921-26238E396334}"/>
              </a:ext>
            </a:extLst>
          </p:cNvPr>
          <p:cNvGraphicFramePr>
            <a:graphicFrameLocks noGrp="1"/>
          </p:cNvGraphicFramePr>
          <p:nvPr>
            <p:extLst>
              <p:ext uri="{D42A27DB-BD31-4B8C-83A1-F6EECF244321}">
                <p14:modId xmlns:p14="http://schemas.microsoft.com/office/powerpoint/2010/main" val="228525326"/>
              </p:ext>
            </p:extLst>
          </p:nvPr>
        </p:nvGraphicFramePr>
        <p:xfrm>
          <a:off x="1213278" y="1307541"/>
          <a:ext cx="9765444" cy="3309564"/>
        </p:xfrm>
        <a:graphic>
          <a:graphicData uri="http://schemas.openxmlformats.org/drawingml/2006/table">
            <a:tbl>
              <a:tblPr/>
              <a:tblGrid>
                <a:gridCol w="585361">
                  <a:extLst>
                    <a:ext uri="{9D8B030D-6E8A-4147-A177-3AD203B41FA5}">
                      <a16:colId xmlns:a16="http://schemas.microsoft.com/office/drawing/2014/main" val="1618482016"/>
                    </a:ext>
                  </a:extLst>
                </a:gridCol>
                <a:gridCol w="552843">
                  <a:extLst>
                    <a:ext uri="{9D8B030D-6E8A-4147-A177-3AD203B41FA5}">
                      <a16:colId xmlns:a16="http://schemas.microsoft.com/office/drawing/2014/main" val="1856879478"/>
                    </a:ext>
                  </a:extLst>
                </a:gridCol>
                <a:gridCol w="466120">
                  <a:extLst>
                    <a:ext uri="{9D8B030D-6E8A-4147-A177-3AD203B41FA5}">
                      <a16:colId xmlns:a16="http://schemas.microsoft.com/office/drawing/2014/main" val="3149995394"/>
                    </a:ext>
                  </a:extLst>
                </a:gridCol>
                <a:gridCol w="574525">
                  <a:extLst>
                    <a:ext uri="{9D8B030D-6E8A-4147-A177-3AD203B41FA5}">
                      <a16:colId xmlns:a16="http://schemas.microsoft.com/office/drawing/2014/main" val="814693575"/>
                    </a:ext>
                  </a:extLst>
                </a:gridCol>
                <a:gridCol w="444441">
                  <a:extLst>
                    <a:ext uri="{9D8B030D-6E8A-4147-A177-3AD203B41FA5}">
                      <a16:colId xmlns:a16="http://schemas.microsoft.com/office/drawing/2014/main" val="1074761190"/>
                    </a:ext>
                  </a:extLst>
                </a:gridCol>
                <a:gridCol w="563681">
                  <a:extLst>
                    <a:ext uri="{9D8B030D-6E8A-4147-A177-3AD203B41FA5}">
                      <a16:colId xmlns:a16="http://schemas.microsoft.com/office/drawing/2014/main" val="3692527559"/>
                    </a:ext>
                  </a:extLst>
                </a:gridCol>
                <a:gridCol w="466120">
                  <a:extLst>
                    <a:ext uri="{9D8B030D-6E8A-4147-A177-3AD203B41FA5}">
                      <a16:colId xmlns:a16="http://schemas.microsoft.com/office/drawing/2014/main" val="4061206135"/>
                    </a:ext>
                  </a:extLst>
                </a:gridCol>
                <a:gridCol w="563681">
                  <a:extLst>
                    <a:ext uri="{9D8B030D-6E8A-4147-A177-3AD203B41FA5}">
                      <a16:colId xmlns:a16="http://schemas.microsoft.com/office/drawing/2014/main" val="693005033"/>
                    </a:ext>
                  </a:extLst>
                </a:gridCol>
                <a:gridCol w="693584">
                  <a:extLst>
                    <a:ext uri="{9D8B030D-6E8A-4147-A177-3AD203B41FA5}">
                      <a16:colId xmlns:a16="http://schemas.microsoft.com/office/drawing/2014/main" val="2232056816"/>
                    </a:ext>
                  </a:extLst>
                </a:gridCol>
                <a:gridCol w="693584">
                  <a:extLst>
                    <a:ext uri="{9D8B030D-6E8A-4147-A177-3AD203B41FA5}">
                      <a16:colId xmlns:a16="http://schemas.microsoft.com/office/drawing/2014/main" val="2387940828"/>
                    </a:ext>
                  </a:extLst>
                </a:gridCol>
                <a:gridCol w="693584">
                  <a:extLst>
                    <a:ext uri="{9D8B030D-6E8A-4147-A177-3AD203B41FA5}">
                      <a16:colId xmlns:a16="http://schemas.microsoft.com/office/drawing/2014/main" val="2569707495"/>
                    </a:ext>
                  </a:extLst>
                </a:gridCol>
                <a:gridCol w="693584">
                  <a:extLst>
                    <a:ext uri="{9D8B030D-6E8A-4147-A177-3AD203B41FA5}">
                      <a16:colId xmlns:a16="http://schemas.microsoft.com/office/drawing/2014/main" val="3784964087"/>
                    </a:ext>
                  </a:extLst>
                </a:gridCol>
                <a:gridCol w="693584">
                  <a:extLst>
                    <a:ext uri="{9D8B030D-6E8A-4147-A177-3AD203B41FA5}">
                      <a16:colId xmlns:a16="http://schemas.microsoft.com/office/drawing/2014/main" val="1713751460"/>
                    </a:ext>
                  </a:extLst>
                </a:gridCol>
                <a:gridCol w="693584">
                  <a:extLst>
                    <a:ext uri="{9D8B030D-6E8A-4147-A177-3AD203B41FA5}">
                      <a16:colId xmlns:a16="http://schemas.microsoft.com/office/drawing/2014/main" val="2001209396"/>
                    </a:ext>
                  </a:extLst>
                </a:gridCol>
                <a:gridCol w="693584">
                  <a:extLst>
                    <a:ext uri="{9D8B030D-6E8A-4147-A177-3AD203B41FA5}">
                      <a16:colId xmlns:a16="http://schemas.microsoft.com/office/drawing/2014/main" val="2545075867"/>
                    </a:ext>
                  </a:extLst>
                </a:gridCol>
                <a:gridCol w="693584">
                  <a:extLst>
                    <a:ext uri="{9D8B030D-6E8A-4147-A177-3AD203B41FA5}">
                      <a16:colId xmlns:a16="http://schemas.microsoft.com/office/drawing/2014/main" val="3560294591"/>
                    </a:ext>
                  </a:extLst>
                </a:gridCol>
              </a:tblGrid>
              <a:tr h="330447">
                <a:tc rowSpan="2">
                  <a:txBody>
                    <a:bodyPr/>
                    <a:lstStyle/>
                    <a:p>
                      <a:pPr algn="ctr" fontAlgn="b"/>
                      <a:endParaRPr lang="es-PE" sz="1450" b="0" i="0" u="none" strike="noStrike">
                        <a:solidFill>
                          <a:srgbClr val="000000"/>
                        </a:solidFill>
                        <a:effectLst/>
                        <a:latin typeface="Calibri Light" panose="020F0302020204030204" pitchFamily="34" charset="0"/>
                      </a:endParaRPr>
                    </a:p>
                  </a:txBody>
                  <a:tcPr marL="0" marR="0" marT="0" marB="0" anchor="b">
                    <a:lnL>
                      <a:noFill/>
                    </a:lnL>
                    <a:lnR w="12700" cap="flat" cmpd="sng" algn="ctr">
                      <a:solidFill>
                        <a:srgbClr val="305496"/>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gridSpan="6">
                  <a:txBody>
                    <a:bodyPr/>
                    <a:lstStyle/>
                    <a:p>
                      <a:pPr algn="ctr" fontAlgn="b"/>
                      <a:r>
                        <a:rPr lang="es-ES" sz="1450" b="1" i="0" u="none" strike="noStrike" dirty="0">
                          <a:solidFill>
                            <a:srgbClr val="FFFFFF"/>
                          </a:solidFill>
                          <a:effectLst/>
                          <a:latin typeface="Calibri Light" panose="020F0302020204030204" pitchFamily="34" charset="0"/>
                        </a:rPr>
                        <a:t>2023</a:t>
                      </a:r>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gridSpan="9">
                  <a:txBody>
                    <a:bodyPr/>
                    <a:lstStyle/>
                    <a:p>
                      <a:pPr algn="ctr" fontAlgn="b"/>
                      <a:r>
                        <a:rPr lang="es-PE" sz="1450" b="1" i="0" u="none" strike="noStrike" dirty="0">
                          <a:solidFill>
                            <a:srgbClr val="FFFFFF"/>
                          </a:solidFill>
                          <a:effectLst/>
                          <a:latin typeface="Calibri Light" panose="020F0302020204030204" pitchFamily="34" charset="0"/>
                        </a:rPr>
                        <a:t>2024</a:t>
                      </a: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extLst>
                  <a:ext uri="{0D108BD9-81ED-4DB2-BD59-A6C34878D82A}">
                    <a16:rowId xmlns:a16="http://schemas.microsoft.com/office/drawing/2014/main" val="628447104"/>
                  </a:ext>
                </a:extLst>
              </a:tr>
              <a:tr h="534681">
                <a:tc vMerge="1">
                  <a:txBody>
                    <a:bodyPr/>
                    <a:lstStyle/>
                    <a:p>
                      <a:endParaRPr lang="es-PE"/>
                    </a:p>
                  </a:txBody>
                  <a:tcPr/>
                </a:tc>
                <a:tc gridSpan="2">
                  <a:txBody>
                    <a:bodyPr/>
                    <a:lstStyle/>
                    <a:p>
                      <a:pPr algn="ctr" fontAlgn="ctr"/>
                      <a:r>
                        <a:rPr lang="es-PE" sz="1450" b="1" i="0" u="none" strike="noStrike">
                          <a:solidFill>
                            <a:srgbClr val="FFFFFF"/>
                          </a:solidFill>
                          <a:effectLst/>
                          <a:latin typeface="Calibri Light" panose="020F0302020204030204" pitchFamily="34" charset="0"/>
                        </a:rPr>
                        <a:t>OCTUBRE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hMerge="1">
                  <a:txBody>
                    <a:bodyPr/>
                    <a:lstStyle/>
                    <a:p>
                      <a:endParaRPr lang="es-PE"/>
                    </a:p>
                  </a:txBody>
                  <a:tcPr/>
                </a:tc>
                <a:tc gridSpan="2">
                  <a:txBody>
                    <a:bodyPr/>
                    <a:lstStyle/>
                    <a:p>
                      <a:pPr algn="ctr" fontAlgn="ctr"/>
                      <a:r>
                        <a:rPr lang="es-PE" sz="1450" b="1" i="0" u="none" strike="noStrike">
                          <a:solidFill>
                            <a:srgbClr val="FFFFFF"/>
                          </a:solidFill>
                          <a:effectLst/>
                          <a:latin typeface="Calibri Light" panose="020F0302020204030204" pitchFamily="34" charset="0"/>
                        </a:rPr>
                        <a:t>NOVIEMBRE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hMerge="1">
                  <a:txBody>
                    <a:bodyPr/>
                    <a:lstStyle/>
                    <a:p>
                      <a:endParaRPr lang="es-PE"/>
                    </a:p>
                  </a:txBody>
                  <a:tcPr/>
                </a:tc>
                <a:tc gridSpan="2">
                  <a:txBody>
                    <a:bodyPr/>
                    <a:lstStyle/>
                    <a:p>
                      <a:pPr algn="ctr" fontAlgn="ctr"/>
                      <a:r>
                        <a:rPr lang="es-PE" sz="1450" b="1" i="0" u="none" strike="noStrike" dirty="0">
                          <a:solidFill>
                            <a:srgbClr val="FFFFFF"/>
                          </a:solidFill>
                          <a:effectLst/>
                          <a:latin typeface="Calibri Light" panose="020F0302020204030204" pitchFamily="34" charset="0"/>
                        </a:rPr>
                        <a:t>DICIEMBRE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hMerge="1">
                  <a:txBody>
                    <a:bodyPr/>
                    <a:lstStyle/>
                    <a:p>
                      <a:endParaRPr lang="es-PE"/>
                    </a:p>
                  </a:txBody>
                  <a:tcPr/>
                </a:tc>
                <a:tc gridSpan="2">
                  <a:txBody>
                    <a:bodyPr/>
                    <a:lstStyle/>
                    <a:p>
                      <a:pPr algn="ctr" fontAlgn="ctr"/>
                      <a:r>
                        <a:rPr lang="es-PE" sz="1450" b="1" i="0" u="none" strike="noStrike" dirty="0">
                          <a:solidFill>
                            <a:srgbClr val="FFFFFF"/>
                          </a:solidFill>
                          <a:effectLst/>
                          <a:latin typeface="Calibri Light" panose="020F0302020204030204" pitchFamily="34" charset="0"/>
                        </a:rPr>
                        <a:t>ENERO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endParaRPr dirty="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450" b="1" i="0" u="none" strike="noStrike" dirty="0">
                          <a:solidFill>
                            <a:srgbClr val="FFFFFF"/>
                          </a:solidFill>
                          <a:effectLst/>
                          <a:latin typeface="Calibri Light" panose="020F0302020204030204" pitchFamily="34" charset="0"/>
                        </a:rPr>
                        <a:t>FEBRERO</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r>
                        <a:rPr lang="es-ES" sz="1450" b="1" i="0" u="none" strike="noStrike" dirty="0">
                          <a:solidFill>
                            <a:srgbClr val="FFFFFF"/>
                          </a:solidFill>
                          <a:effectLst/>
                          <a:latin typeface="Calibri Light" panose="020F0302020204030204" pitchFamily="34" charset="0"/>
                        </a:rPr>
                        <a:t>MARZO</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450" b="1" i="0" u="none" strike="noStrike" dirty="0">
                          <a:solidFill>
                            <a:srgbClr val="FFFFFF"/>
                          </a:solidFill>
                          <a:effectLst/>
                          <a:latin typeface="Calibri Light" panose="020F0302020204030204" pitchFamily="34" charset="0"/>
                        </a:rPr>
                        <a:t>MARZO</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450" b="1" i="0" u="none" strike="noStrike" dirty="0">
                          <a:solidFill>
                            <a:srgbClr val="FFFFFF"/>
                          </a:solidFill>
                          <a:effectLst/>
                          <a:latin typeface="Calibri Light" panose="020F0302020204030204" pitchFamily="34" charset="0"/>
                        </a:rPr>
                        <a:t>ABRIL</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r>
                        <a:rPr lang="es-ES" sz="1450" b="1" i="0" u="none" strike="noStrike" dirty="0">
                          <a:solidFill>
                            <a:srgbClr val="FFFFFF"/>
                          </a:solidFill>
                          <a:effectLst/>
                          <a:latin typeface="Calibri Light" panose="020F0302020204030204" pitchFamily="34" charset="0"/>
                        </a:rPr>
                        <a:t>ABRIL</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MAYO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extLst>
                  <a:ext uri="{0D108BD9-81ED-4DB2-BD59-A6C34878D82A}">
                    <a16:rowId xmlns:a16="http://schemas.microsoft.com/office/drawing/2014/main" val="2051194752"/>
                  </a:ext>
                </a:extLst>
              </a:tr>
              <a:tr h="1044627">
                <a:tc>
                  <a:txBody>
                    <a:bodyPr/>
                    <a:lstStyle/>
                    <a:p>
                      <a:pPr algn="ctr" fontAlgn="ctr"/>
                      <a:r>
                        <a:rPr lang="es-PE" sz="1450" b="1" i="0" u="none" strike="noStrike">
                          <a:solidFill>
                            <a:srgbClr val="FFFFFF"/>
                          </a:solidFill>
                          <a:effectLst/>
                          <a:latin typeface="Calibri Light" panose="020F0302020204030204" pitchFamily="34" charset="0"/>
                        </a:rPr>
                        <a:t>UUOO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dirty="0">
                          <a:solidFill>
                            <a:srgbClr val="FFFFFF"/>
                          </a:solidFill>
                          <a:effectLst/>
                          <a:latin typeface="Calibri Light" panose="020F0302020204030204" pitchFamily="34" charset="0"/>
                        </a:rPr>
                        <a:t>PROG</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a:solidFill>
                            <a:srgbClr val="FFFFFF"/>
                          </a:solidFill>
                          <a:effectLst/>
                          <a:latin typeface="Calibri Light" panose="020F0302020204030204" pitchFamily="34" charset="0"/>
                        </a:rPr>
                        <a:t>PROD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dirty="0">
                          <a:solidFill>
                            <a:srgbClr val="FFFFFF"/>
                          </a:solidFill>
                          <a:effectLst/>
                          <a:latin typeface="Calibri Light" panose="020F0302020204030204" pitchFamily="34" charset="0"/>
                        </a:rPr>
                        <a:t>PROG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a:solidFill>
                            <a:srgbClr val="FFFFFF"/>
                          </a:solidFill>
                          <a:effectLst/>
                          <a:latin typeface="Calibri Light" panose="020F0302020204030204" pitchFamily="34" charset="0"/>
                        </a:rPr>
                        <a:t>PROD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dirty="0">
                          <a:solidFill>
                            <a:srgbClr val="FFFFFF"/>
                          </a:solidFill>
                          <a:effectLst/>
                          <a:latin typeface="Calibri Light" panose="020F0302020204030204" pitchFamily="34" charset="0"/>
                        </a:rPr>
                        <a:t>PROG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a:solidFill>
                            <a:srgbClr val="FFFFFF"/>
                          </a:solidFill>
                          <a:effectLst/>
                          <a:latin typeface="Calibri Light" panose="020F0302020204030204" pitchFamily="34" charset="0"/>
                        </a:rPr>
                        <a:t>PROD</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dirty="0">
                          <a:solidFill>
                            <a:srgbClr val="FFFFFF"/>
                          </a:solidFill>
                          <a:effectLst/>
                          <a:latin typeface="Calibri Light" panose="020F0302020204030204" pitchFamily="34" charset="0"/>
                        </a:rPr>
                        <a:t>PROG</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PROD</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PE" sz="1450" b="1" i="0" u="none" strike="noStrike" dirty="0">
                          <a:solidFill>
                            <a:srgbClr val="FFFFFF"/>
                          </a:solidFill>
                          <a:effectLst/>
                          <a:latin typeface="Calibri Light" panose="020F0302020204030204" pitchFamily="34" charset="0"/>
                        </a:rPr>
                        <a:t>PROG</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PROD</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PROG</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PROD</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PROG</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PROD</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PROG</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extLst>
                  <a:ext uri="{0D108BD9-81ED-4DB2-BD59-A6C34878D82A}">
                    <a16:rowId xmlns:a16="http://schemas.microsoft.com/office/drawing/2014/main" val="3240945064"/>
                  </a:ext>
                </a:extLst>
              </a:tr>
              <a:tr h="534681">
                <a:tc>
                  <a:txBody>
                    <a:bodyPr/>
                    <a:lstStyle/>
                    <a:p>
                      <a:pPr algn="ctr" fontAlgn="ctr"/>
                      <a:r>
                        <a:rPr lang="es-PE" sz="1450" b="1" i="0" u="none" strike="noStrike">
                          <a:solidFill>
                            <a:srgbClr val="FFFFFF"/>
                          </a:solidFill>
                          <a:effectLst/>
                          <a:latin typeface="Calibri Light" panose="020F0302020204030204" pitchFamily="34" charset="0"/>
                        </a:rPr>
                        <a:t>DCCI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450" b="1" i="0" u="none" strike="noStrike" dirty="0">
                          <a:solidFill>
                            <a:srgbClr val="833C0C"/>
                          </a:solidFill>
                          <a:effectLst/>
                          <a:latin typeface="Calibri Light" panose="020F0302020204030204" pitchFamily="34" charset="0"/>
                        </a:rPr>
                        <a:t>150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209</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833C0C"/>
                          </a:solidFill>
                          <a:effectLst/>
                          <a:latin typeface="Calibri Light" panose="020F0302020204030204" pitchFamily="34" charset="0"/>
                        </a:rPr>
                        <a:t>150 (*)</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188</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833C0C"/>
                          </a:solidFill>
                          <a:effectLst/>
                          <a:latin typeface="Calibri Light" panose="020F0302020204030204" pitchFamily="34" charset="0"/>
                        </a:rPr>
                        <a:t>314</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242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dirty="0">
                          <a:solidFill>
                            <a:srgbClr val="833C0C"/>
                          </a:solidFill>
                          <a:effectLst/>
                          <a:latin typeface="Calibri Light" panose="020F0302020204030204" pitchFamily="34" charset="0"/>
                        </a:rPr>
                        <a:t>300</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chemeClr val="tx1"/>
                          </a:solidFill>
                          <a:effectLst/>
                          <a:latin typeface="Calibri Light" panose="020F0302020204030204" pitchFamily="34" charset="0"/>
                        </a:rPr>
                        <a:t>285</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rgbClr val="833C0C"/>
                          </a:solidFill>
                          <a:effectLst/>
                          <a:latin typeface="Calibri Light" panose="020F0302020204030204" pitchFamily="34" charset="0"/>
                        </a:rPr>
                        <a:t>300</a:t>
                      </a:r>
                      <a:endParaRPr lang="es-PE" sz="1450" b="1" i="0" u="none" strike="noStrike" dirty="0">
                        <a:solidFill>
                          <a:srgbClr val="833C0C"/>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chemeClr val="tx1"/>
                          </a:solidFill>
                          <a:effectLst/>
                          <a:latin typeface="Calibri Light" panose="020F0302020204030204" pitchFamily="34" charset="0"/>
                        </a:rPr>
                        <a:t>264</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250</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chemeClr val="tx1"/>
                          </a:solidFill>
                          <a:effectLst/>
                          <a:latin typeface="Calibri Light" panose="020F0302020204030204" pitchFamily="34" charset="0"/>
                          <a:ea typeface="+mn-ea"/>
                          <a:cs typeface="+mn-cs"/>
                        </a:rPr>
                        <a:t>236</a:t>
                      </a:r>
                      <a:endParaRPr lang="es-PE" sz="145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250</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chemeClr val="tx1"/>
                          </a:solidFill>
                          <a:effectLst/>
                          <a:latin typeface="Calibri Light" panose="020F0302020204030204" pitchFamily="34" charset="0"/>
                          <a:ea typeface="+mn-ea"/>
                          <a:cs typeface="+mn-cs"/>
                        </a:rPr>
                        <a:t>256</a:t>
                      </a:r>
                      <a:endParaRPr lang="es-PE" sz="145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280</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extLst>
                  <a:ext uri="{0D108BD9-81ED-4DB2-BD59-A6C34878D82A}">
                    <a16:rowId xmlns:a16="http://schemas.microsoft.com/office/drawing/2014/main" val="3368564924"/>
                  </a:ext>
                </a:extLst>
              </a:tr>
              <a:tr h="330447">
                <a:tc>
                  <a:txBody>
                    <a:bodyPr/>
                    <a:lstStyle/>
                    <a:p>
                      <a:pPr algn="ctr" fontAlgn="ctr"/>
                      <a:r>
                        <a:rPr lang="es-PE" sz="1450" b="1" i="0" u="none" strike="noStrike">
                          <a:solidFill>
                            <a:srgbClr val="FFFFFF"/>
                          </a:solidFill>
                          <a:effectLst/>
                          <a:latin typeface="Calibri Light" panose="020F0302020204030204" pitchFamily="34" charset="0"/>
                        </a:rPr>
                        <a:t>DCCII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450" b="1" i="0" u="none" strike="noStrike">
                          <a:solidFill>
                            <a:srgbClr val="833C0C"/>
                          </a:solidFill>
                          <a:effectLst/>
                          <a:latin typeface="Calibri Light" panose="020F0302020204030204" pitchFamily="34" charset="0"/>
                        </a:rPr>
                        <a:t>104</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000000"/>
                          </a:solidFill>
                          <a:effectLst/>
                          <a:latin typeface="Calibri Light" panose="020F0302020204030204" pitchFamily="34" charset="0"/>
                        </a:rPr>
                        <a:t>76</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833C0C"/>
                          </a:solidFill>
                          <a:effectLst/>
                          <a:latin typeface="Calibri Light" panose="020F0302020204030204" pitchFamily="34" charset="0"/>
                        </a:rPr>
                        <a:t>80</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000000"/>
                          </a:solidFill>
                          <a:effectLst/>
                          <a:latin typeface="Calibri Light" panose="020F0302020204030204" pitchFamily="34" charset="0"/>
                        </a:rPr>
                        <a:t>83</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833C0C"/>
                          </a:solidFill>
                          <a:effectLst/>
                          <a:latin typeface="Calibri Light" panose="020F0302020204030204" pitchFamily="34" charset="0"/>
                        </a:rPr>
                        <a:t>96</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000000"/>
                          </a:solidFill>
                          <a:effectLst/>
                          <a:latin typeface="Calibri Light" panose="020F0302020204030204" pitchFamily="34" charset="0"/>
                        </a:rPr>
                        <a:t>81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dirty="0">
                          <a:solidFill>
                            <a:srgbClr val="833C0C"/>
                          </a:solidFill>
                          <a:effectLst/>
                          <a:latin typeface="Calibri Light" panose="020F0302020204030204" pitchFamily="34" charset="0"/>
                        </a:rPr>
                        <a:t>92</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algn="ctr" rtl="0" fontAlgn="ctr"/>
                      <a:r>
                        <a:rPr lang="es-ES" sz="1450" b="1" i="0" u="none" strike="noStrike" dirty="0">
                          <a:solidFill>
                            <a:schemeClr val="tx1"/>
                          </a:solidFill>
                          <a:effectLst/>
                          <a:latin typeface="Calibri Light" panose="020F0302020204030204" pitchFamily="34" charset="0"/>
                        </a:rPr>
                        <a:t>79</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algn="ctr" rtl="0" fontAlgn="ctr"/>
                      <a:r>
                        <a:rPr lang="es-ES" sz="1450" b="1" i="0" u="none" strike="noStrike" dirty="0">
                          <a:solidFill>
                            <a:srgbClr val="833C0C"/>
                          </a:solidFill>
                          <a:effectLst/>
                          <a:latin typeface="Calibri Light" panose="020F0302020204030204" pitchFamily="34" charset="0"/>
                        </a:rPr>
                        <a:t>8</a:t>
                      </a:r>
                      <a:r>
                        <a:rPr lang="es-PE" sz="1450" b="1" i="0" u="none" strike="noStrike" dirty="0">
                          <a:solidFill>
                            <a:srgbClr val="833C0C"/>
                          </a:solidFill>
                          <a:effectLst/>
                          <a:latin typeface="Calibri Light" panose="020F0302020204030204" pitchFamily="34" charset="0"/>
                        </a:rPr>
                        <a:t>2</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algn="ctr" rtl="0" fontAlgn="ctr"/>
                      <a:r>
                        <a:rPr lang="es-ES" sz="1450" b="1" i="0" u="none" strike="noStrike" dirty="0">
                          <a:solidFill>
                            <a:schemeClr val="tx1"/>
                          </a:solidFill>
                          <a:effectLst/>
                          <a:latin typeface="Calibri Light" panose="020F0302020204030204" pitchFamily="34" charset="0"/>
                        </a:rPr>
                        <a:t>83</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81</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50" b="1" i="0" u="none" strike="noStrike" kern="1200" dirty="0">
                          <a:solidFill>
                            <a:schemeClr val="tx1"/>
                          </a:solidFill>
                          <a:effectLst/>
                          <a:latin typeface="Calibri Light" panose="020F0302020204030204" pitchFamily="34" charset="0"/>
                          <a:ea typeface="+mn-ea"/>
                          <a:cs typeface="+mn-cs"/>
                        </a:rPr>
                        <a:t>77</a:t>
                      </a:r>
                      <a:endParaRPr lang="es-PE" sz="145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90</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50" b="1" i="0" u="none" strike="noStrike" kern="1200" dirty="0">
                          <a:solidFill>
                            <a:schemeClr val="tx1"/>
                          </a:solidFill>
                          <a:effectLst/>
                          <a:latin typeface="Calibri Light" panose="020F0302020204030204" pitchFamily="34" charset="0"/>
                          <a:ea typeface="+mn-ea"/>
                          <a:cs typeface="+mn-cs"/>
                        </a:rPr>
                        <a:t>89</a:t>
                      </a:r>
                      <a:endParaRPr lang="es-PE" sz="145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112</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extLst>
                  <a:ext uri="{0D108BD9-81ED-4DB2-BD59-A6C34878D82A}">
                    <a16:rowId xmlns:a16="http://schemas.microsoft.com/office/drawing/2014/main" val="3056038957"/>
                  </a:ext>
                </a:extLst>
              </a:tr>
              <a:tr h="534681">
                <a:tc>
                  <a:txBody>
                    <a:bodyPr/>
                    <a:lstStyle/>
                    <a:p>
                      <a:pPr algn="ctr" fontAlgn="ctr"/>
                      <a:r>
                        <a:rPr lang="es-PE" sz="1450" b="1" i="0" u="none" strike="noStrike">
                          <a:solidFill>
                            <a:srgbClr val="FFFFFF"/>
                          </a:solidFill>
                          <a:effectLst/>
                          <a:latin typeface="Calibri Light" panose="020F0302020204030204" pitchFamily="34" charset="0"/>
                        </a:rPr>
                        <a:t>DCP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450" b="1" i="0" u="none" strike="noStrike" dirty="0">
                          <a:solidFill>
                            <a:srgbClr val="833C0C"/>
                          </a:solidFill>
                          <a:effectLst/>
                          <a:latin typeface="Calibri Light" panose="020F0302020204030204" pitchFamily="34" charset="0"/>
                        </a:rPr>
                        <a:t>14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10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833C0C"/>
                          </a:solidFill>
                          <a:effectLst/>
                          <a:latin typeface="Calibri Light" panose="020F0302020204030204" pitchFamily="34" charset="0"/>
                        </a:rPr>
                        <a:t>15 (*)</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17</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833C0C"/>
                          </a:solidFill>
                          <a:effectLst/>
                          <a:latin typeface="Calibri Light" panose="020F0302020204030204" pitchFamily="34" charset="0"/>
                        </a:rPr>
                        <a:t>20*</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19</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dirty="0">
                          <a:solidFill>
                            <a:srgbClr val="833C0C"/>
                          </a:solidFill>
                          <a:effectLst/>
                          <a:latin typeface="Calibri Light" panose="020F0302020204030204" pitchFamily="34" charset="0"/>
                        </a:rPr>
                        <a:t>20</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chemeClr val="tx1"/>
                          </a:solidFill>
                          <a:effectLst/>
                          <a:latin typeface="Calibri Light" panose="020F0302020204030204" pitchFamily="34" charset="0"/>
                        </a:rPr>
                        <a:t>19</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rgbClr val="833C0C"/>
                          </a:solidFill>
                          <a:effectLst/>
                          <a:latin typeface="Calibri Light" panose="020F0302020204030204" pitchFamily="34" charset="0"/>
                        </a:rPr>
                        <a:t>17</a:t>
                      </a:r>
                      <a:endParaRPr lang="es-PE" sz="1450" b="1" i="0" u="none" strike="noStrike" dirty="0">
                        <a:solidFill>
                          <a:srgbClr val="833C0C"/>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chemeClr val="tx1"/>
                          </a:solidFill>
                          <a:effectLst/>
                          <a:latin typeface="Calibri Light" panose="020F0302020204030204" pitchFamily="34" charset="0"/>
                        </a:rPr>
                        <a:t>19</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18</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chemeClr val="tx1"/>
                          </a:solidFill>
                          <a:effectLst/>
                          <a:latin typeface="Calibri Light" panose="020F0302020204030204" pitchFamily="34" charset="0"/>
                          <a:ea typeface="+mn-ea"/>
                          <a:cs typeface="+mn-cs"/>
                        </a:rPr>
                        <a:t>21</a:t>
                      </a:r>
                      <a:endParaRPr lang="es-PE" sz="145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18</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chemeClr val="tx1"/>
                          </a:solidFill>
                          <a:effectLst/>
                          <a:latin typeface="Calibri Light" panose="020F0302020204030204" pitchFamily="34" charset="0"/>
                          <a:ea typeface="+mn-ea"/>
                          <a:cs typeface="+mn-cs"/>
                        </a:rPr>
                        <a:t>18</a:t>
                      </a:r>
                      <a:endParaRPr lang="es-PE" sz="145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15</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extLst>
                  <a:ext uri="{0D108BD9-81ED-4DB2-BD59-A6C34878D82A}">
                    <a16:rowId xmlns:a16="http://schemas.microsoft.com/office/drawing/2014/main" val="576731200"/>
                  </a:ext>
                </a:extLst>
              </a:tr>
            </a:tbl>
          </a:graphicData>
        </a:graphic>
      </p:graphicFrame>
      <p:graphicFrame>
        <p:nvGraphicFramePr>
          <p:cNvPr id="4" name="Tabla 3">
            <a:extLst>
              <a:ext uri="{FF2B5EF4-FFF2-40B4-BE49-F238E27FC236}">
                <a16:creationId xmlns:a16="http://schemas.microsoft.com/office/drawing/2014/main" id="{D87AF17A-BFED-46AC-919E-84361237190B}"/>
              </a:ext>
            </a:extLst>
          </p:cNvPr>
          <p:cNvGraphicFramePr>
            <a:graphicFrameLocks noGrp="1"/>
          </p:cNvGraphicFramePr>
          <p:nvPr>
            <p:extLst>
              <p:ext uri="{D42A27DB-BD31-4B8C-83A1-F6EECF244321}">
                <p14:modId xmlns:p14="http://schemas.microsoft.com/office/powerpoint/2010/main" val="3176615438"/>
              </p:ext>
            </p:extLst>
          </p:nvPr>
        </p:nvGraphicFramePr>
        <p:xfrm>
          <a:off x="1049103" y="5500375"/>
          <a:ext cx="1916285" cy="960250"/>
        </p:xfrm>
        <a:graphic>
          <a:graphicData uri="http://schemas.openxmlformats.org/drawingml/2006/table">
            <a:tbl>
              <a:tblPr firstRow="1" firstCol="1" bandRow="1">
                <a:tableStyleId>{5C22544A-7EE6-4342-B048-85BDC9FD1C3A}</a:tableStyleId>
              </a:tblPr>
              <a:tblGrid>
                <a:gridCol w="573455">
                  <a:extLst>
                    <a:ext uri="{9D8B030D-6E8A-4147-A177-3AD203B41FA5}">
                      <a16:colId xmlns:a16="http://schemas.microsoft.com/office/drawing/2014/main" val="400669114"/>
                    </a:ext>
                  </a:extLst>
                </a:gridCol>
                <a:gridCol w="621363">
                  <a:extLst>
                    <a:ext uri="{9D8B030D-6E8A-4147-A177-3AD203B41FA5}">
                      <a16:colId xmlns:a16="http://schemas.microsoft.com/office/drawing/2014/main" val="47251755"/>
                    </a:ext>
                  </a:extLst>
                </a:gridCol>
                <a:gridCol w="721467">
                  <a:extLst>
                    <a:ext uri="{9D8B030D-6E8A-4147-A177-3AD203B41FA5}">
                      <a16:colId xmlns:a16="http://schemas.microsoft.com/office/drawing/2014/main" val="53380357"/>
                    </a:ext>
                  </a:extLst>
                </a:gridCol>
              </a:tblGrid>
              <a:tr h="245664">
                <a:tc>
                  <a:txBody>
                    <a:bodyPr/>
                    <a:lstStyle/>
                    <a:p>
                      <a:r>
                        <a:rPr lang="es-PE" sz="1100" dirty="0">
                          <a:effectLst/>
                        </a:rPr>
                        <a:t>UUOO</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2022 </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a:effectLst/>
                        </a:rPr>
                        <a:t>2024 </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28351491"/>
                  </a:ext>
                </a:extLst>
              </a:tr>
              <a:tr h="234461">
                <a:tc>
                  <a:txBody>
                    <a:bodyPr/>
                    <a:lstStyle/>
                    <a:p>
                      <a:r>
                        <a:rPr lang="es-PE" sz="1100">
                          <a:effectLst/>
                        </a:rPr>
                        <a:t>DCCI </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22</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17</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04503170"/>
                  </a:ext>
                </a:extLst>
              </a:tr>
              <a:tr h="245664">
                <a:tc>
                  <a:txBody>
                    <a:bodyPr/>
                    <a:lstStyle/>
                    <a:p>
                      <a:r>
                        <a:rPr lang="es-PE" sz="1100">
                          <a:effectLst/>
                        </a:rPr>
                        <a:t>DCCII </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4.5</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10</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76236002"/>
                  </a:ext>
                </a:extLst>
              </a:tr>
              <a:tr h="234461">
                <a:tc>
                  <a:txBody>
                    <a:bodyPr/>
                    <a:lstStyle/>
                    <a:p>
                      <a:r>
                        <a:rPr lang="es-PE" sz="1100" dirty="0">
                          <a:effectLst/>
                        </a:rPr>
                        <a:t>DCP</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a:effectLst/>
                        </a:rPr>
                        <a:t>2.2 </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4.29</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27154280"/>
                  </a:ext>
                </a:extLst>
              </a:tr>
            </a:tbl>
          </a:graphicData>
        </a:graphic>
      </p:graphicFrame>
      <p:sp>
        <p:nvSpPr>
          <p:cNvPr id="6" name="Rectangle 2">
            <a:extLst>
              <a:ext uri="{FF2B5EF4-FFF2-40B4-BE49-F238E27FC236}">
                <a16:creationId xmlns:a16="http://schemas.microsoft.com/office/drawing/2014/main" id="{BA891A4B-9BC0-4C39-B620-0738C91CD272}"/>
              </a:ext>
            </a:extLst>
          </p:cNvPr>
          <p:cNvSpPr>
            <a:spLocks noChangeArrowheads="1"/>
          </p:cNvSpPr>
          <p:nvPr/>
        </p:nvSpPr>
        <p:spPr bwMode="auto">
          <a:xfrm>
            <a:off x="5245100" y="533024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PE"/>
          </a:p>
        </p:txBody>
      </p:sp>
      <p:sp>
        <p:nvSpPr>
          <p:cNvPr id="10" name="Título 94">
            <a:extLst>
              <a:ext uri="{FF2B5EF4-FFF2-40B4-BE49-F238E27FC236}">
                <a16:creationId xmlns:a16="http://schemas.microsoft.com/office/drawing/2014/main" id="{5E639BFF-C474-4303-B9F1-6A675CBE0E77}"/>
              </a:ext>
            </a:extLst>
          </p:cNvPr>
          <p:cNvSpPr txBox="1">
            <a:spLocks/>
          </p:cNvSpPr>
          <p:nvPr/>
        </p:nvSpPr>
        <p:spPr>
          <a:xfrm>
            <a:off x="394707" y="4820616"/>
            <a:ext cx="3040702" cy="5943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1000" b="1" dirty="0">
                <a:latin typeface="Arial" panose="020B0604020202020204" pitchFamily="34" charset="0"/>
                <a:cs typeface="Arial" panose="020B0604020202020204" pitchFamily="34" charset="0"/>
              </a:rPr>
              <a:t>               </a:t>
            </a:r>
          </a:p>
          <a:p>
            <a:r>
              <a:rPr lang="es-ES" sz="1000" b="1" dirty="0">
                <a:latin typeface="Arial" panose="020B0604020202020204" pitchFamily="34" charset="0"/>
                <a:cs typeface="Arial" panose="020B0604020202020204" pitchFamily="34" charset="0"/>
              </a:rPr>
              <a:t>                </a:t>
            </a:r>
          </a:p>
          <a:p>
            <a:r>
              <a:rPr lang="es-ES" sz="1000" b="1" dirty="0">
                <a:latin typeface="Arial" panose="020B0604020202020204" pitchFamily="34" charset="0"/>
                <a:cs typeface="Arial" panose="020B0604020202020204" pitchFamily="34" charset="0"/>
              </a:rPr>
              <a:t>               Antecedente </a:t>
            </a:r>
            <a:endParaRPr lang="es-PE" sz="1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85960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PRODUCTIVIDAD POR SUPERVISIÓN</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657226" y="183959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657226" y="3439416"/>
            <a:ext cx="1028700" cy="638174"/>
          </a:xfrm>
          <a:prstGeom prst="rightArrow">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sp>
        <p:nvSpPr>
          <p:cNvPr id="16" name="Flecha: a la derecha 15">
            <a:extLst>
              <a:ext uri="{FF2B5EF4-FFF2-40B4-BE49-F238E27FC236}">
                <a16:creationId xmlns:a16="http://schemas.microsoft.com/office/drawing/2014/main" id="{5B46D489-2A56-01B0-EB9C-D57AAAD377E8}"/>
              </a:ext>
            </a:extLst>
          </p:cNvPr>
          <p:cNvSpPr/>
          <p:nvPr/>
        </p:nvSpPr>
        <p:spPr>
          <a:xfrm>
            <a:off x="647698" y="4915686"/>
            <a:ext cx="1028700" cy="638174"/>
          </a:xfrm>
          <a:prstGeom prst="rightArrow">
            <a:avLst/>
          </a:prstGeom>
          <a:ln w="28575">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DCP</a:t>
            </a:r>
            <a:endParaRPr lang="es-PE" dirty="0"/>
          </a:p>
        </p:txBody>
      </p:sp>
      <p:graphicFrame>
        <p:nvGraphicFramePr>
          <p:cNvPr id="3" name="Tabla 2">
            <a:extLst>
              <a:ext uri="{FF2B5EF4-FFF2-40B4-BE49-F238E27FC236}">
                <a16:creationId xmlns:a16="http://schemas.microsoft.com/office/drawing/2014/main" id="{F0ADA2C1-AAD1-1A2B-5E48-C4B607DCDAF6}"/>
              </a:ext>
            </a:extLst>
          </p:cNvPr>
          <p:cNvGraphicFramePr>
            <a:graphicFrameLocks noGrp="1"/>
          </p:cNvGraphicFramePr>
          <p:nvPr>
            <p:extLst>
              <p:ext uri="{D42A27DB-BD31-4B8C-83A1-F6EECF244321}">
                <p14:modId xmlns:p14="http://schemas.microsoft.com/office/powerpoint/2010/main" val="3591541770"/>
              </p:ext>
            </p:extLst>
          </p:nvPr>
        </p:nvGraphicFramePr>
        <p:xfrm>
          <a:off x="2393298" y="3270180"/>
          <a:ext cx="8693802" cy="1400897"/>
        </p:xfrm>
        <a:graphic>
          <a:graphicData uri="http://schemas.openxmlformats.org/drawingml/2006/table">
            <a:tbl>
              <a:tblPr firstRow="1" firstCol="1" bandRow="1">
                <a:tableStyleId>{00A15C55-8517-42AA-B614-E9B94910E393}</a:tableStyleId>
              </a:tblPr>
              <a:tblGrid>
                <a:gridCol w="1455080">
                  <a:extLst>
                    <a:ext uri="{9D8B030D-6E8A-4147-A177-3AD203B41FA5}">
                      <a16:colId xmlns:a16="http://schemas.microsoft.com/office/drawing/2014/main" val="3257801786"/>
                    </a:ext>
                  </a:extLst>
                </a:gridCol>
                <a:gridCol w="2136188">
                  <a:extLst>
                    <a:ext uri="{9D8B030D-6E8A-4147-A177-3AD203B41FA5}">
                      <a16:colId xmlns:a16="http://schemas.microsoft.com/office/drawing/2014/main" val="1776142972"/>
                    </a:ext>
                  </a:extLst>
                </a:gridCol>
                <a:gridCol w="1096282">
                  <a:extLst>
                    <a:ext uri="{9D8B030D-6E8A-4147-A177-3AD203B41FA5}">
                      <a16:colId xmlns:a16="http://schemas.microsoft.com/office/drawing/2014/main" val="153233266"/>
                    </a:ext>
                  </a:extLst>
                </a:gridCol>
                <a:gridCol w="1192082">
                  <a:extLst>
                    <a:ext uri="{9D8B030D-6E8A-4147-A177-3AD203B41FA5}">
                      <a16:colId xmlns:a16="http://schemas.microsoft.com/office/drawing/2014/main" val="1566383420"/>
                    </a:ext>
                  </a:extLst>
                </a:gridCol>
                <a:gridCol w="1378511">
                  <a:extLst>
                    <a:ext uri="{9D8B030D-6E8A-4147-A177-3AD203B41FA5}">
                      <a16:colId xmlns:a16="http://schemas.microsoft.com/office/drawing/2014/main" val="2882639219"/>
                    </a:ext>
                  </a:extLst>
                </a:gridCol>
                <a:gridCol w="1435659">
                  <a:extLst>
                    <a:ext uri="{9D8B030D-6E8A-4147-A177-3AD203B41FA5}">
                      <a16:colId xmlns:a16="http://schemas.microsoft.com/office/drawing/2014/main" val="2536285859"/>
                    </a:ext>
                  </a:extLst>
                </a:gridCol>
              </a:tblGrid>
              <a:tr h="424874">
                <a:tc>
                  <a:txBody>
                    <a:bodyPr/>
                    <a:lstStyle/>
                    <a:p>
                      <a:pPr algn="ctr"/>
                      <a:r>
                        <a:rPr lang="es-PE" sz="1600" b="1" dirty="0">
                          <a:solidFill>
                            <a:srgbClr val="FFFFFF"/>
                          </a:solidFill>
                          <a:effectLst/>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a:solidFill>
                            <a:srgbClr val="FFFFFF"/>
                          </a:solidFill>
                          <a:effectLst/>
                        </a:rPr>
                        <a:t>Resolución aplicada</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rPr>
                        <a:t>Resolutor efectivo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rPr>
                        <a:t>Producción promedio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extLst>
                  <a:ext uri="{0D108BD9-81ED-4DB2-BD59-A6C34878D82A}">
                    <a16:rowId xmlns:a16="http://schemas.microsoft.com/office/drawing/2014/main" val="1468347544"/>
                  </a:ext>
                </a:extLst>
              </a:tr>
              <a:tr h="410828">
                <a:tc>
                  <a:txBody>
                    <a:bodyPr/>
                    <a:lstStyle/>
                    <a:p>
                      <a:pPr algn="ctr"/>
                      <a:r>
                        <a:rPr lang="es-PE" sz="1600" b="1" dirty="0">
                          <a:solidFill>
                            <a:srgbClr val="FFFFFF"/>
                          </a:solidFill>
                          <a:effectLst/>
                        </a:rPr>
                        <a:t>7U7201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r>
                        <a:rPr lang="es-PE" sz="1800" dirty="0">
                          <a:solidFill>
                            <a:srgbClr val="000000"/>
                          </a:solidFill>
                          <a:effectLst/>
                        </a:rPr>
                        <a:t>Yessenia Salcedo</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43</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4.2</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PE" sz="1800" b="0" kern="1200" dirty="0">
                          <a:solidFill>
                            <a:schemeClr val="tx1"/>
                          </a:solidFill>
                          <a:effectLst/>
                          <a:latin typeface="+mn-lt"/>
                          <a:ea typeface="+mn-ea"/>
                          <a:cs typeface="+mn-cs"/>
                        </a:rPr>
                        <a:t>MEDIO/ALTA</a:t>
                      </a:r>
                    </a:p>
                  </a:txBody>
                  <a:tcPr marL="68580" marR="68580" marT="9525" marB="0" anchor="ctr">
                    <a:solidFill>
                      <a:srgbClr val="FFCCFF"/>
                    </a:solidFill>
                  </a:tcPr>
                </a:tc>
                <a:tc>
                  <a:txBody>
                    <a:bodyPr/>
                    <a:lstStyle/>
                    <a:p>
                      <a:pPr marL="0" algn="ctr" defTabSz="914400" rtl="0" eaLnBrk="1" latinLnBrk="0" hangingPunct="1"/>
                      <a:r>
                        <a:rPr lang="es-ES" sz="1800" b="0" kern="1200" dirty="0">
                          <a:solidFill>
                            <a:schemeClr val="tx1"/>
                          </a:solidFill>
                          <a:effectLst/>
                          <a:latin typeface="+mn-lt"/>
                          <a:ea typeface="+mn-ea"/>
                          <a:cs typeface="+mn-cs"/>
                        </a:rPr>
                        <a:t>10.24</a:t>
                      </a:r>
                      <a:endParaRPr lang="es-PE" sz="1800" b="0" kern="1200" dirty="0">
                        <a:solidFill>
                          <a:schemeClr val="tx1"/>
                        </a:solidFill>
                        <a:effectLst/>
                        <a:latin typeface="+mn-lt"/>
                        <a:ea typeface="+mn-ea"/>
                        <a:cs typeface="+mn-cs"/>
                      </a:endParaRPr>
                    </a:p>
                  </a:txBody>
                  <a:tcPr marL="68580" marR="68580" marT="9525" marB="0" anchor="ctr">
                    <a:solidFill>
                      <a:srgbClr val="FFCCFF"/>
                    </a:solidFill>
                  </a:tcPr>
                </a:tc>
                <a:extLst>
                  <a:ext uri="{0D108BD9-81ED-4DB2-BD59-A6C34878D82A}">
                    <a16:rowId xmlns:a16="http://schemas.microsoft.com/office/drawing/2014/main" val="160037749"/>
                  </a:ext>
                </a:extLst>
              </a:tr>
              <a:tr h="502389">
                <a:tc>
                  <a:txBody>
                    <a:bodyPr/>
                    <a:lstStyle/>
                    <a:p>
                      <a:pPr algn="ctr"/>
                      <a:r>
                        <a:rPr lang="es-ES" sz="1600" b="1" dirty="0">
                          <a:solidFill>
                            <a:srgbClr val="FFFFFF"/>
                          </a:solidFill>
                          <a:effectLst/>
                        </a:rPr>
                        <a:t>7U7202</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r>
                        <a:rPr lang="es-PE" sz="1800" kern="1200" dirty="0">
                          <a:solidFill>
                            <a:schemeClr val="tx1"/>
                          </a:solidFill>
                          <a:effectLst/>
                        </a:rPr>
                        <a:t>Allison Castro</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46</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4.6</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PE" sz="1800" b="0" kern="1200" dirty="0">
                          <a:solidFill>
                            <a:schemeClr val="tx1"/>
                          </a:solidFill>
                          <a:effectLst/>
                          <a:latin typeface="+mn-lt"/>
                          <a:ea typeface="+mn-ea"/>
                          <a:cs typeface="+mn-cs"/>
                        </a:rPr>
                        <a:t>MEDIO/ALTA</a:t>
                      </a:r>
                    </a:p>
                  </a:txBody>
                  <a:tcPr marL="68580" marR="68580" marT="9525" marB="0" anchor="ctr">
                    <a:solidFill>
                      <a:srgbClr val="FFCCFF"/>
                    </a:solidFill>
                  </a:tcPr>
                </a:tc>
                <a:tc>
                  <a:txBody>
                    <a:bodyPr/>
                    <a:lstStyle/>
                    <a:p>
                      <a:pPr marL="0" algn="ctr" defTabSz="914400" rtl="0" eaLnBrk="1" latinLnBrk="0" hangingPunct="1"/>
                      <a:r>
                        <a:rPr lang="es-ES" sz="1800" b="0" kern="1200" dirty="0">
                          <a:solidFill>
                            <a:schemeClr val="tx1"/>
                          </a:solidFill>
                          <a:effectLst/>
                          <a:latin typeface="+mn-lt"/>
                          <a:ea typeface="+mn-ea"/>
                          <a:cs typeface="+mn-cs"/>
                        </a:rPr>
                        <a:t>10</a:t>
                      </a:r>
                      <a:endParaRPr lang="es-PE" sz="1800" b="0" kern="1200" dirty="0">
                        <a:solidFill>
                          <a:schemeClr val="tx1"/>
                        </a:solidFill>
                        <a:effectLst/>
                        <a:latin typeface="+mn-lt"/>
                        <a:ea typeface="+mn-ea"/>
                        <a:cs typeface="+mn-cs"/>
                      </a:endParaRPr>
                    </a:p>
                  </a:txBody>
                  <a:tcPr marL="68580" marR="68580" marT="9525" marB="0" anchor="ctr">
                    <a:solidFill>
                      <a:srgbClr val="FFCCFF"/>
                    </a:solidFill>
                  </a:tcPr>
                </a:tc>
                <a:extLst>
                  <a:ext uri="{0D108BD9-81ED-4DB2-BD59-A6C34878D82A}">
                    <a16:rowId xmlns:a16="http://schemas.microsoft.com/office/drawing/2014/main" val="660552211"/>
                  </a:ext>
                </a:extLst>
              </a:tr>
            </a:tbl>
          </a:graphicData>
        </a:graphic>
      </p:graphicFrame>
      <p:graphicFrame>
        <p:nvGraphicFramePr>
          <p:cNvPr id="4" name="Tabla 3">
            <a:extLst>
              <a:ext uri="{FF2B5EF4-FFF2-40B4-BE49-F238E27FC236}">
                <a16:creationId xmlns:a16="http://schemas.microsoft.com/office/drawing/2014/main" id="{0D7F5025-96FD-A7EE-5367-617ABB2327E9}"/>
              </a:ext>
            </a:extLst>
          </p:cNvPr>
          <p:cNvGraphicFramePr>
            <a:graphicFrameLocks noGrp="1"/>
          </p:cNvGraphicFramePr>
          <p:nvPr>
            <p:extLst>
              <p:ext uri="{D42A27DB-BD31-4B8C-83A1-F6EECF244321}">
                <p14:modId xmlns:p14="http://schemas.microsoft.com/office/powerpoint/2010/main" val="478091596"/>
              </p:ext>
            </p:extLst>
          </p:nvPr>
        </p:nvGraphicFramePr>
        <p:xfrm>
          <a:off x="2393298" y="4800995"/>
          <a:ext cx="8636651" cy="1153306"/>
        </p:xfrm>
        <a:graphic>
          <a:graphicData uri="http://schemas.openxmlformats.org/drawingml/2006/table">
            <a:tbl>
              <a:tblPr firstRow="1" firstCol="1" bandRow="1"/>
              <a:tblGrid>
                <a:gridCol w="1584015">
                  <a:extLst>
                    <a:ext uri="{9D8B030D-6E8A-4147-A177-3AD203B41FA5}">
                      <a16:colId xmlns:a16="http://schemas.microsoft.com/office/drawing/2014/main" val="1791917023"/>
                    </a:ext>
                  </a:extLst>
                </a:gridCol>
                <a:gridCol w="1998876">
                  <a:extLst>
                    <a:ext uri="{9D8B030D-6E8A-4147-A177-3AD203B41FA5}">
                      <a16:colId xmlns:a16="http://schemas.microsoft.com/office/drawing/2014/main" val="778085126"/>
                    </a:ext>
                  </a:extLst>
                </a:gridCol>
                <a:gridCol w="1093724">
                  <a:extLst>
                    <a:ext uri="{9D8B030D-6E8A-4147-A177-3AD203B41FA5}">
                      <a16:colId xmlns:a16="http://schemas.microsoft.com/office/drawing/2014/main" val="3808763990"/>
                    </a:ext>
                  </a:extLst>
                </a:gridCol>
                <a:gridCol w="1169154">
                  <a:extLst>
                    <a:ext uri="{9D8B030D-6E8A-4147-A177-3AD203B41FA5}">
                      <a16:colId xmlns:a16="http://schemas.microsoft.com/office/drawing/2014/main" val="2363829853"/>
                    </a:ext>
                  </a:extLst>
                </a:gridCol>
                <a:gridCol w="1395441">
                  <a:extLst>
                    <a:ext uri="{9D8B030D-6E8A-4147-A177-3AD203B41FA5}">
                      <a16:colId xmlns:a16="http://schemas.microsoft.com/office/drawing/2014/main" val="3525508578"/>
                    </a:ext>
                  </a:extLst>
                </a:gridCol>
                <a:gridCol w="1395441">
                  <a:extLst>
                    <a:ext uri="{9D8B030D-6E8A-4147-A177-3AD203B41FA5}">
                      <a16:colId xmlns:a16="http://schemas.microsoft.com/office/drawing/2014/main" val="3174711922"/>
                    </a:ext>
                  </a:extLst>
                </a:gridCol>
              </a:tblGrid>
              <a:tr h="60466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aplicada</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Resolutor efectivo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Producción promedio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2803327267"/>
                  </a:ext>
                </a:extLst>
              </a:tr>
              <a:tr h="0">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7U7301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l"/>
                      <a:r>
                        <a:rPr lang="es-PE"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Ellsworth Carpio</a:t>
                      </a:r>
                    </a:p>
                    <a:p>
                      <a:pPr algn="ct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800" kern="1200" dirty="0">
                          <a:solidFill>
                            <a:schemeClr val="tx1"/>
                          </a:solidFill>
                          <a:effectLst/>
                          <a:latin typeface="+mn-lt"/>
                          <a:ea typeface="+mn-ea"/>
                          <a:cs typeface="+mn-cs"/>
                        </a:rPr>
                        <a:t>18</a:t>
                      </a:r>
                      <a:endParaRPr lang="es-PE" sz="1800" kern="1200" dirty="0">
                        <a:solidFill>
                          <a:schemeClr val="tx1"/>
                        </a:solidFill>
                        <a:effectLst/>
                        <a:latin typeface="+mn-lt"/>
                        <a:ea typeface="+mn-ea"/>
                        <a:cs typeface="+mn-cs"/>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800" dirty="0">
                          <a:effectLst/>
                          <a:latin typeface="Calibri" panose="020F0502020204030204" pitchFamily="34" charset="0"/>
                          <a:ea typeface="Calibri" panose="020F0502020204030204" pitchFamily="34" charset="0"/>
                          <a:cs typeface="Times New Roman" panose="02020603050405020304" pitchFamily="18" charset="0"/>
                        </a:rPr>
                        <a:t>5.32</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l"/>
                      <a:r>
                        <a:rPr lang="es-ES" sz="1800" b="0" dirty="0">
                          <a:effectLst/>
                          <a:latin typeface="Calibri" panose="020F0502020204030204" pitchFamily="34" charset="0"/>
                          <a:ea typeface="Calibri" panose="020F0502020204030204" pitchFamily="34" charset="0"/>
                          <a:cs typeface="Times New Roman" panose="02020603050405020304" pitchFamily="18" charset="0"/>
                        </a:rPr>
                        <a:t>07 ALTA</a:t>
                      </a:r>
                    </a:p>
                    <a:p>
                      <a:pPr algn="l"/>
                      <a:r>
                        <a:rPr lang="es-ES" sz="1800" b="0" dirty="0">
                          <a:effectLst/>
                          <a:latin typeface="Calibri" panose="020F0502020204030204" pitchFamily="34" charset="0"/>
                          <a:ea typeface="Calibri" panose="020F0502020204030204" pitchFamily="34" charset="0"/>
                          <a:cs typeface="Times New Roman" panose="02020603050405020304" pitchFamily="18" charset="0"/>
                        </a:rPr>
                        <a:t>11 MEDIA</a:t>
                      </a: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800" b="0" kern="1200" dirty="0">
                          <a:solidFill>
                            <a:schemeClr val="tx1"/>
                          </a:solidFill>
                          <a:effectLst/>
                          <a:latin typeface="+mn-lt"/>
                          <a:ea typeface="+mn-ea"/>
                          <a:cs typeface="+mn-cs"/>
                        </a:rPr>
                        <a:t>3.38</a:t>
                      </a:r>
                      <a:endParaRPr lang="es-PE" sz="1800" b="0" kern="1200" dirty="0">
                        <a:solidFill>
                          <a:schemeClr val="tx1"/>
                        </a:solidFill>
                        <a:effectLst/>
                        <a:latin typeface="+mn-lt"/>
                        <a:ea typeface="+mn-ea"/>
                        <a:cs typeface="+mn-cs"/>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2639818158"/>
                  </a:ext>
                </a:extLst>
              </a:tr>
            </a:tbl>
          </a:graphicData>
        </a:graphic>
      </p:graphicFrame>
      <p:graphicFrame>
        <p:nvGraphicFramePr>
          <p:cNvPr id="5" name="Tabla 4">
            <a:extLst>
              <a:ext uri="{FF2B5EF4-FFF2-40B4-BE49-F238E27FC236}">
                <a16:creationId xmlns:a16="http://schemas.microsoft.com/office/drawing/2014/main" id="{99B5AFAD-2AB6-6CDE-A9C3-4DCFAEE25A1E}"/>
              </a:ext>
            </a:extLst>
          </p:cNvPr>
          <p:cNvGraphicFramePr>
            <a:graphicFrameLocks noGrp="1"/>
          </p:cNvGraphicFramePr>
          <p:nvPr>
            <p:extLst>
              <p:ext uri="{D42A27DB-BD31-4B8C-83A1-F6EECF244321}">
                <p14:modId xmlns:p14="http://schemas.microsoft.com/office/powerpoint/2010/main" val="2505402204"/>
              </p:ext>
            </p:extLst>
          </p:nvPr>
        </p:nvGraphicFramePr>
        <p:xfrm>
          <a:off x="2393298" y="1177101"/>
          <a:ext cx="8636653" cy="1963161"/>
        </p:xfrm>
        <a:graphic>
          <a:graphicData uri="http://schemas.openxmlformats.org/drawingml/2006/table">
            <a:tbl>
              <a:tblPr firstRow="1" firstCol="1" bandRow="1"/>
              <a:tblGrid>
                <a:gridCol w="1469809">
                  <a:extLst>
                    <a:ext uri="{9D8B030D-6E8A-4147-A177-3AD203B41FA5}">
                      <a16:colId xmlns:a16="http://schemas.microsoft.com/office/drawing/2014/main" val="2785956031"/>
                    </a:ext>
                  </a:extLst>
                </a:gridCol>
                <a:gridCol w="2101353">
                  <a:extLst>
                    <a:ext uri="{9D8B030D-6E8A-4147-A177-3AD203B41FA5}">
                      <a16:colId xmlns:a16="http://schemas.microsoft.com/office/drawing/2014/main" val="1033099074"/>
                    </a:ext>
                  </a:extLst>
                </a:gridCol>
                <a:gridCol w="1056369">
                  <a:extLst>
                    <a:ext uri="{9D8B030D-6E8A-4147-A177-3AD203B41FA5}">
                      <a16:colId xmlns:a16="http://schemas.microsoft.com/office/drawing/2014/main" val="1980848825"/>
                    </a:ext>
                  </a:extLst>
                </a:gridCol>
                <a:gridCol w="1165860">
                  <a:extLst>
                    <a:ext uri="{9D8B030D-6E8A-4147-A177-3AD203B41FA5}">
                      <a16:colId xmlns:a16="http://schemas.microsoft.com/office/drawing/2014/main" val="176937328"/>
                    </a:ext>
                  </a:extLst>
                </a:gridCol>
                <a:gridCol w="1421631">
                  <a:extLst>
                    <a:ext uri="{9D8B030D-6E8A-4147-A177-3AD203B41FA5}">
                      <a16:colId xmlns:a16="http://schemas.microsoft.com/office/drawing/2014/main" val="1472209076"/>
                    </a:ext>
                  </a:extLst>
                </a:gridCol>
                <a:gridCol w="1421631">
                  <a:extLst>
                    <a:ext uri="{9D8B030D-6E8A-4147-A177-3AD203B41FA5}">
                      <a16:colId xmlns:a16="http://schemas.microsoft.com/office/drawing/2014/main" val="1870332436"/>
                    </a:ext>
                  </a:extLst>
                </a:gridCol>
              </a:tblGrid>
              <a:tr h="85578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aplicada</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Resolutor efectivo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Producción promedio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1785748822"/>
                  </a:ext>
                </a:extLst>
              </a:tr>
              <a:tr h="361856">
                <a:tc>
                  <a:txBody>
                    <a:bodyPr/>
                    <a:lstStyle/>
                    <a:p>
                      <a:pPr algn="ctr"/>
                      <a:r>
                        <a:rPr lang="es-PE" sz="1600" b="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7U7101</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r>
                        <a:rPr lang="es-E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Roberto Vera Tudela</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87</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6.1</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dirty="0">
                        <a:ln>
                          <a:noFill/>
                        </a:ln>
                        <a:solidFill>
                          <a:schemeClr val="tx1"/>
                        </a:solidFill>
                        <a:effectLst/>
                        <a:highlight>
                          <a:srgbClr val="FFFF00"/>
                        </a:highlight>
                        <a:uLnTx/>
                        <a:uFillTx/>
                        <a:latin typeface="Calibri" panose="020F0502020204030204"/>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14.26</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67962714"/>
                  </a:ext>
                </a:extLst>
              </a:tr>
              <a:tr h="317626">
                <a:tc>
                  <a:txBody>
                    <a:bodyPr/>
                    <a:lstStyle/>
                    <a:p>
                      <a:pPr algn="ctr"/>
                      <a:r>
                        <a:rPr lang="es-ES" sz="1600" b="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7U7102</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r>
                        <a:rPr lang="es-ES"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Vanesa Chávez</a:t>
                      </a:r>
                      <a:endParaRPr lang="es-PE"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73</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4.8</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dirty="0">
                        <a:ln>
                          <a:noFill/>
                        </a:ln>
                        <a:solidFill>
                          <a:schemeClr val="tx1"/>
                        </a:solidFill>
                        <a:effectLst/>
                        <a:highlight>
                          <a:srgbClr val="FFFF00"/>
                        </a:highlight>
                        <a:uLnTx/>
                        <a:uFillTx/>
                        <a:latin typeface="Calibri" panose="020F0502020204030204"/>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15.21</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extLst>
                  <a:ext uri="{0D108BD9-81ED-4DB2-BD59-A6C34878D82A}">
                    <a16:rowId xmlns:a16="http://schemas.microsoft.com/office/drawing/2014/main" val="839718254"/>
                  </a:ext>
                </a:extLst>
              </a:tr>
              <a:tr h="427893">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7U7103</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r>
                        <a:rPr lang="es-E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Angelita Santillan</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96</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6.9</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dirty="0">
                        <a:ln>
                          <a:noFill/>
                        </a:ln>
                        <a:solidFill>
                          <a:schemeClr val="tx1"/>
                        </a:solidFill>
                        <a:effectLst/>
                        <a:highlight>
                          <a:srgbClr val="FFFF00"/>
                        </a:highlight>
                        <a:uLnTx/>
                        <a:uFillTx/>
                        <a:latin typeface="Calibri" panose="020F0502020204030204"/>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a:solidFill>
                            <a:schemeClr val="tx1"/>
                          </a:solidFill>
                          <a:effectLst/>
                          <a:latin typeface="+mn-lt"/>
                          <a:ea typeface="+mn-ea"/>
                          <a:cs typeface="+mn-cs"/>
                        </a:rPr>
                        <a:t>13.91</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981451865"/>
                  </a:ext>
                </a:extLst>
              </a:tr>
            </a:tbl>
          </a:graphicData>
        </a:graphic>
      </p:graphicFrame>
      <p:sp>
        <p:nvSpPr>
          <p:cNvPr id="12" name="CuadroTexto 11">
            <a:extLst>
              <a:ext uri="{FF2B5EF4-FFF2-40B4-BE49-F238E27FC236}">
                <a16:creationId xmlns:a16="http://schemas.microsoft.com/office/drawing/2014/main" id="{F1A3A9A0-10E0-46A6-8403-828918BD052E}"/>
              </a:ext>
            </a:extLst>
          </p:cNvPr>
          <p:cNvSpPr txBox="1"/>
          <p:nvPr/>
        </p:nvSpPr>
        <p:spPr>
          <a:xfrm>
            <a:off x="2437703" y="6158729"/>
            <a:ext cx="2427912" cy="261610"/>
          </a:xfrm>
          <a:prstGeom prst="rect">
            <a:avLst/>
          </a:prstGeom>
          <a:noFill/>
        </p:spPr>
        <p:txBody>
          <a:bodyPr wrap="square" rtlCol="0">
            <a:spAutoFit/>
          </a:bodyPr>
          <a:lstStyle/>
          <a:p>
            <a:r>
              <a:rPr lang="es-PE" sz="1100" dirty="0"/>
              <a:t>(*) Incluye informe de demanda </a:t>
            </a:r>
          </a:p>
        </p:txBody>
      </p:sp>
    </p:spTree>
    <p:extLst>
      <p:ext uri="{BB962C8B-B14F-4D97-AF65-F5344CB8AC3E}">
        <p14:creationId xmlns:p14="http://schemas.microsoft.com/office/powerpoint/2010/main" val="7725137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PROYECTADO Y NO APLICADO </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657226" y="183959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723902" y="4202223"/>
            <a:ext cx="1028700" cy="638174"/>
          </a:xfrm>
          <a:prstGeom prst="rightArrow">
            <a:avLst/>
          </a:prstGeom>
          <a:ln w="28575">
            <a:solidFill>
              <a:srgbClr val="FF66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sp>
        <p:nvSpPr>
          <p:cNvPr id="16" name="Flecha: a la derecha 15">
            <a:extLst>
              <a:ext uri="{FF2B5EF4-FFF2-40B4-BE49-F238E27FC236}">
                <a16:creationId xmlns:a16="http://schemas.microsoft.com/office/drawing/2014/main" id="{5B46D489-2A56-01B0-EB9C-D57AAAD377E8}"/>
              </a:ext>
            </a:extLst>
          </p:cNvPr>
          <p:cNvSpPr/>
          <p:nvPr/>
        </p:nvSpPr>
        <p:spPr>
          <a:xfrm>
            <a:off x="723902" y="5793585"/>
            <a:ext cx="1028700" cy="638174"/>
          </a:xfrm>
          <a:prstGeom prst="rightArrow">
            <a:avLst/>
          </a:prstGeom>
          <a:ln w="28575">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DCP</a:t>
            </a:r>
            <a:endParaRPr lang="es-PE" dirty="0"/>
          </a:p>
        </p:txBody>
      </p:sp>
      <p:graphicFrame>
        <p:nvGraphicFramePr>
          <p:cNvPr id="2" name="Tabla 1">
            <a:extLst>
              <a:ext uri="{FF2B5EF4-FFF2-40B4-BE49-F238E27FC236}">
                <a16:creationId xmlns:a16="http://schemas.microsoft.com/office/drawing/2014/main" id="{7D983311-D5D2-D4A1-1B19-7BD4F56B92BF}"/>
              </a:ext>
            </a:extLst>
          </p:cNvPr>
          <p:cNvGraphicFramePr>
            <a:graphicFrameLocks noGrp="1"/>
          </p:cNvGraphicFramePr>
          <p:nvPr>
            <p:extLst>
              <p:ext uri="{D42A27DB-BD31-4B8C-83A1-F6EECF244321}">
                <p14:modId xmlns:p14="http://schemas.microsoft.com/office/powerpoint/2010/main" val="1474269360"/>
              </p:ext>
            </p:extLst>
          </p:nvPr>
        </p:nvGraphicFramePr>
        <p:xfrm>
          <a:off x="2349855" y="1022521"/>
          <a:ext cx="9012794" cy="2488693"/>
        </p:xfrm>
        <a:graphic>
          <a:graphicData uri="http://schemas.openxmlformats.org/drawingml/2006/table">
            <a:tbl>
              <a:tblPr firstRow="1" firstCol="1" bandRow="1"/>
              <a:tblGrid>
                <a:gridCol w="1363960">
                  <a:extLst>
                    <a:ext uri="{9D8B030D-6E8A-4147-A177-3AD203B41FA5}">
                      <a16:colId xmlns:a16="http://schemas.microsoft.com/office/drawing/2014/main" val="2785956031"/>
                    </a:ext>
                  </a:extLst>
                </a:gridCol>
                <a:gridCol w="1946617">
                  <a:extLst>
                    <a:ext uri="{9D8B030D-6E8A-4147-A177-3AD203B41FA5}">
                      <a16:colId xmlns:a16="http://schemas.microsoft.com/office/drawing/2014/main" val="1033099074"/>
                    </a:ext>
                  </a:extLst>
                </a:gridCol>
                <a:gridCol w="1403098">
                  <a:extLst>
                    <a:ext uri="{9D8B030D-6E8A-4147-A177-3AD203B41FA5}">
                      <a16:colId xmlns:a16="http://schemas.microsoft.com/office/drawing/2014/main" val="1980848825"/>
                    </a:ext>
                  </a:extLst>
                </a:gridCol>
                <a:gridCol w="1249960">
                  <a:extLst>
                    <a:ext uri="{9D8B030D-6E8A-4147-A177-3AD203B41FA5}">
                      <a16:colId xmlns:a16="http://schemas.microsoft.com/office/drawing/2014/main" val="176937328"/>
                    </a:ext>
                  </a:extLst>
                </a:gridCol>
                <a:gridCol w="1837189">
                  <a:extLst>
                    <a:ext uri="{9D8B030D-6E8A-4147-A177-3AD203B41FA5}">
                      <a16:colId xmlns:a16="http://schemas.microsoft.com/office/drawing/2014/main" val="1870332436"/>
                    </a:ext>
                  </a:extLst>
                </a:gridCol>
                <a:gridCol w="1211970">
                  <a:extLst>
                    <a:ext uri="{9D8B030D-6E8A-4147-A177-3AD203B41FA5}">
                      <a16:colId xmlns:a16="http://schemas.microsoft.com/office/drawing/2014/main" val="617388905"/>
                    </a:ext>
                  </a:extLst>
                </a:gridCol>
              </a:tblGrid>
              <a:tr h="46520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proyectada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aplicada</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6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Motivo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1785748822"/>
                  </a:ext>
                </a:extLst>
              </a:tr>
              <a:tr h="304916">
                <a:tc>
                  <a:txBody>
                    <a:bodyPr/>
                    <a:lstStyle/>
                    <a:p>
                      <a:pPr algn="l"/>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l"/>
                      <a:r>
                        <a:rPr lang="es-E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Roberto Vera Tudela</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400" dirty="0">
                          <a:effectLst/>
                          <a:latin typeface="Calibri" panose="020F0502020204030204" pitchFamily="34" charset="0"/>
                          <a:ea typeface="Calibri" panose="020F0502020204030204" pitchFamily="34" charset="0"/>
                          <a:cs typeface="Times New Roman" panose="02020603050405020304" pitchFamily="18" charset="0"/>
                        </a:rPr>
                        <a:t>89</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400" kern="1200" dirty="0">
                          <a:solidFill>
                            <a:schemeClr val="tx1"/>
                          </a:solidFill>
                          <a:effectLst/>
                          <a:latin typeface="+mn-lt"/>
                          <a:ea typeface="+mn-ea"/>
                          <a:cs typeface="+mn-cs"/>
                        </a:rPr>
                        <a:t>87</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l"/>
                      <a:r>
                        <a:rPr lang="es-PE" sz="1400" b="0" dirty="0">
                          <a:effectLst/>
                          <a:latin typeface="Calibri" panose="020F0502020204030204" pitchFamily="34" charset="0"/>
                          <a:ea typeface="Calibri" panose="020F0502020204030204" pitchFamily="34" charset="0"/>
                          <a:cs typeface="Times New Roman" panose="02020603050405020304" pitchFamily="18" charset="0"/>
                        </a:rPr>
                        <a:t>Proyectos observados</a:t>
                      </a:r>
                      <a:endParaRPr lang="es-PE" sz="1400" b="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67962714"/>
                  </a:ext>
                </a:extLst>
              </a:tr>
              <a:tr h="536229">
                <a:tc>
                  <a:txBody>
                    <a:bodyPr/>
                    <a:lstStyle/>
                    <a:p>
                      <a:pPr algn="l"/>
                      <a:r>
                        <a:rPr lang="es-ES" sz="1600" b="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7U7102</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l"/>
                      <a:r>
                        <a:rPr lang="es-E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Vanesa Chávez</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algn="ctr"/>
                      <a:r>
                        <a:rPr lang="es-ES" sz="1400" dirty="0">
                          <a:effectLst/>
                          <a:latin typeface="Calibri" panose="020F0502020204030204" pitchFamily="34" charset="0"/>
                          <a:ea typeface="Calibri" panose="020F0502020204030204" pitchFamily="34" charset="0"/>
                          <a:cs typeface="Times New Roman" panose="02020603050405020304" pitchFamily="18" charset="0"/>
                        </a:rPr>
                        <a:t>78</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algn="ctr"/>
                      <a:r>
                        <a:rPr lang="es-ES" sz="1400" dirty="0">
                          <a:effectLst/>
                          <a:latin typeface="Calibri" panose="020F0502020204030204" pitchFamily="34" charset="0"/>
                          <a:ea typeface="Calibri" panose="020F0502020204030204" pitchFamily="34" charset="0"/>
                          <a:cs typeface="Times New Roman" panose="02020603050405020304" pitchFamily="18" charset="0"/>
                        </a:rPr>
                        <a:t>73</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l" defTabSz="914400" rtl="0" eaLnBrk="1" latinLnBrk="0" hangingPunct="1"/>
                      <a:r>
                        <a:rPr lang="es-ES" sz="1400" b="0" kern="1200" dirty="0">
                          <a:solidFill>
                            <a:schemeClr val="tx1"/>
                          </a:solidFill>
                          <a:effectLst/>
                          <a:latin typeface="Calibri" panose="020F0502020204030204" pitchFamily="34" charset="0"/>
                          <a:ea typeface="+mn-ea"/>
                          <a:cs typeface="Times New Roman" panose="02020603050405020304" pitchFamily="18" charset="0"/>
                        </a:rPr>
                        <a:t>Proyectos observados</a:t>
                      </a:r>
                      <a:endParaRPr lang="es-ES" sz="1400" b="0" kern="1200" dirty="0">
                        <a:solidFill>
                          <a:schemeClr val="tx1"/>
                        </a:solidFill>
                        <a:effectLst/>
                        <a:highlight>
                          <a:srgbClr val="FFFF00"/>
                        </a:highlight>
                        <a:latin typeface="Calibri" panose="020F0502020204030204" pitchFamily="34" charset="0"/>
                        <a:ea typeface="+mn-ea"/>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400" b="0" kern="1200" dirty="0">
                          <a:solidFill>
                            <a:schemeClr val="tx1"/>
                          </a:solidFill>
                          <a:effectLst/>
                          <a:latin typeface="Calibri" panose="020F0502020204030204" pitchFamily="34" charset="0"/>
                          <a:ea typeface="+mn-ea"/>
                          <a:cs typeface="Times New Roman" panose="02020603050405020304" pitchFamily="18" charset="0"/>
                        </a:rPr>
                        <a:t>-</a:t>
                      </a:r>
                      <a:endParaRPr lang="es-PE" sz="1400" b="0" kern="1200" dirty="0">
                        <a:solidFill>
                          <a:schemeClr val="tx1"/>
                        </a:solidFill>
                        <a:effectLst/>
                        <a:latin typeface="Calibri" panose="020F0502020204030204" pitchFamily="34" charset="0"/>
                        <a:ea typeface="+mn-ea"/>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extLst>
                  <a:ext uri="{0D108BD9-81ED-4DB2-BD59-A6C34878D82A}">
                    <a16:rowId xmlns:a16="http://schemas.microsoft.com/office/drawing/2014/main" val="839718254"/>
                  </a:ext>
                </a:extLst>
              </a:tr>
              <a:tr h="1159868">
                <a:tc>
                  <a:txBody>
                    <a:bodyPr/>
                    <a:lstStyle/>
                    <a:p>
                      <a:pPr algn="l"/>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7U7103</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l"/>
                      <a:r>
                        <a:rPr lang="es-E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Angelita Santillan</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400" kern="1200" dirty="0">
                          <a:solidFill>
                            <a:schemeClr val="tx1"/>
                          </a:solidFill>
                          <a:effectLst/>
                          <a:latin typeface="+mn-lt"/>
                          <a:ea typeface="+mn-ea"/>
                          <a:cs typeface="+mn-cs"/>
                        </a:rPr>
                        <a:t>97</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PE" sz="1400" kern="1200" dirty="0">
                          <a:solidFill>
                            <a:schemeClr val="tx1"/>
                          </a:solidFill>
                          <a:effectLst/>
                          <a:latin typeface="+mn-lt"/>
                          <a:ea typeface="+mn-ea"/>
                          <a:cs typeface="+mn-cs"/>
                        </a:rPr>
                        <a:t>96 </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l"/>
                      <a:r>
                        <a:rPr lang="es-PE" sz="1400" kern="1200" dirty="0">
                          <a:solidFill>
                            <a:schemeClr val="tx1"/>
                          </a:solidFill>
                          <a:effectLst/>
                          <a:latin typeface="+mn-lt"/>
                          <a:ea typeface="+mn-ea"/>
                          <a:cs typeface="+mn-cs"/>
                        </a:rPr>
                        <a:t>Por pedido de información</a:t>
                      </a:r>
                      <a:endParaRPr lang="es-PE" sz="1400" kern="1200" dirty="0">
                        <a:solidFill>
                          <a:schemeClr val="tx1"/>
                        </a:solidFill>
                        <a:effectLst/>
                        <a:highlight>
                          <a:srgbClr val="FFFF00"/>
                        </a:highlight>
                        <a:latin typeface="+mn-lt"/>
                        <a:ea typeface="+mn-ea"/>
                        <a:cs typeface="+mn-cs"/>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PE" sz="1400" kern="1200" dirty="0">
                          <a:solidFill>
                            <a:schemeClr val="tx1"/>
                          </a:solidFill>
                          <a:effectLst/>
                          <a:latin typeface="+mn-lt"/>
                          <a:ea typeface="+mn-ea"/>
                          <a:cs typeface="+mn-cs"/>
                        </a:rPr>
                        <a:t>-</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981451865"/>
                  </a:ext>
                </a:extLst>
              </a:tr>
            </a:tbl>
          </a:graphicData>
        </a:graphic>
      </p:graphicFrame>
      <p:graphicFrame>
        <p:nvGraphicFramePr>
          <p:cNvPr id="3" name="Tabla 2">
            <a:extLst>
              <a:ext uri="{FF2B5EF4-FFF2-40B4-BE49-F238E27FC236}">
                <a16:creationId xmlns:a16="http://schemas.microsoft.com/office/drawing/2014/main" id="{DF7A7C28-D61E-7992-8D2D-1107C72400A6}"/>
              </a:ext>
            </a:extLst>
          </p:cNvPr>
          <p:cNvGraphicFramePr>
            <a:graphicFrameLocks noGrp="1"/>
          </p:cNvGraphicFramePr>
          <p:nvPr>
            <p:extLst>
              <p:ext uri="{D42A27DB-BD31-4B8C-83A1-F6EECF244321}">
                <p14:modId xmlns:p14="http://schemas.microsoft.com/office/powerpoint/2010/main" val="1933138523"/>
              </p:ext>
            </p:extLst>
          </p:nvPr>
        </p:nvGraphicFramePr>
        <p:xfrm>
          <a:off x="2345422" y="3616752"/>
          <a:ext cx="9017226" cy="1809318"/>
        </p:xfrm>
        <a:graphic>
          <a:graphicData uri="http://schemas.openxmlformats.org/drawingml/2006/table">
            <a:tbl>
              <a:tblPr firstRow="1" firstCol="1" bandRow="1"/>
              <a:tblGrid>
                <a:gridCol w="1372640">
                  <a:extLst>
                    <a:ext uri="{9D8B030D-6E8A-4147-A177-3AD203B41FA5}">
                      <a16:colId xmlns:a16="http://schemas.microsoft.com/office/drawing/2014/main" val="3257801786"/>
                    </a:ext>
                  </a:extLst>
                </a:gridCol>
                <a:gridCol w="1978063">
                  <a:extLst>
                    <a:ext uri="{9D8B030D-6E8A-4147-A177-3AD203B41FA5}">
                      <a16:colId xmlns:a16="http://schemas.microsoft.com/office/drawing/2014/main" val="1776142972"/>
                    </a:ext>
                  </a:extLst>
                </a:gridCol>
                <a:gridCol w="1350627">
                  <a:extLst>
                    <a:ext uri="{9D8B030D-6E8A-4147-A177-3AD203B41FA5}">
                      <a16:colId xmlns:a16="http://schemas.microsoft.com/office/drawing/2014/main" val="153233266"/>
                    </a:ext>
                  </a:extLst>
                </a:gridCol>
                <a:gridCol w="1291905">
                  <a:extLst>
                    <a:ext uri="{9D8B030D-6E8A-4147-A177-3AD203B41FA5}">
                      <a16:colId xmlns:a16="http://schemas.microsoft.com/office/drawing/2014/main" val="1566383420"/>
                    </a:ext>
                  </a:extLst>
                </a:gridCol>
                <a:gridCol w="1786855">
                  <a:extLst>
                    <a:ext uri="{9D8B030D-6E8A-4147-A177-3AD203B41FA5}">
                      <a16:colId xmlns:a16="http://schemas.microsoft.com/office/drawing/2014/main" val="2536285859"/>
                    </a:ext>
                  </a:extLst>
                </a:gridCol>
                <a:gridCol w="1237136">
                  <a:extLst>
                    <a:ext uri="{9D8B030D-6E8A-4147-A177-3AD203B41FA5}">
                      <a16:colId xmlns:a16="http://schemas.microsoft.com/office/drawing/2014/main" val="2628142879"/>
                    </a:ext>
                  </a:extLst>
                </a:gridCol>
              </a:tblGrid>
              <a:tr h="480075">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proyectada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aplicada</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6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Motivo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extLst>
                  <a:ext uri="{0D108BD9-81ED-4DB2-BD59-A6C34878D82A}">
                    <a16:rowId xmlns:a16="http://schemas.microsoft.com/office/drawing/2014/main" val="1468347544"/>
                  </a:ext>
                </a:extLst>
              </a:tr>
              <a:tr h="468198">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7U7201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r>
                        <a:rPr lang="es-PE"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Yessenia Salcedo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45</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43</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l"/>
                      <a:r>
                        <a:rPr lang="es-E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Pendiente de evaluación / Pendiente de respuesta</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Medio alto</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extLst>
                  <a:ext uri="{0D108BD9-81ED-4DB2-BD59-A6C34878D82A}">
                    <a16:rowId xmlns:a16="http://schemas.microsoft.com/office/drawing/2014/main" val="160037749"/>
                  </a:ext>
                </a:extLst>
              </a:tr>
              <a:tr h="468198">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7U7202</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r>
                        <a:rPr lang="es-PE" sz="1400" kern="1200" dirty="0">
                          <a:solidFill>
                            <a:schemeClr val="tx1"/>
                          </a:solidFill>
                          <a:effectLst/>
                          <a:latin typeface="+mn-lt"/>
                          <a:ea typeface="+mn-ea"/>
                          <a:cs typeface="+mn-cs"/>
                        </a:rPr>
                        <a:t>Allison Castro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47</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46</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l"/>
                      <a:r>
                        <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faltaban actuados (incompleto)</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Medio alto</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extLst>
                  <a:ext uri="{0D108BD9-81ED-4DB2-BD59-A6C34878D82A}">
                    <a16:rowId xmlns:a16="http://schemas.microsoft.com/office/drawing/2014/main" val="660552211"/>
                  </a:ext>
                </a:extLst>
              </a:tr>
            </a:tbl>
          </a:graphicData>
        </a:graphic>
      </p:graphicFrame>
      <p:graphicFrame>
        <p:nvGraphicFramePr>
          <p:cNvPr id="4" name="Tabla 3">
            <a:extLst>
              <a:ext uri="{FF2B5EF4-FFF2-40B4-BE49-F238E27FC236}">
                <a16:creationId xmlns:a16="http://schemas.microsoft.com/office/drawing/2014/main" id="{CED00117-3C55-7947-AD48-A563CEB4C5F1}"/>
              </a:ext>
            </a:extLst>
          </p:cNvPr>
          <p:cNvGraphicFramePr>
            <a:graphicFrameLocks noGrp="1"/>
          </p:cNvGraphicFramePr>
          <p:nvPr>
            <p:extLst>
              <p:ext uri="{D42A27DB-BD31-4B8C-83A1-F6EECF244321}">
                <p14:modId xmlns:p14="http://schemas.microsoft.com/office/powerpoint/2010/main" val="3800707859"/>
              </p:ext>
            </p:extLst>
          </p:nvPr>
        </p:nvGraphicFramePr>
        <p:xfrm>
          <a:off x="2345422" y="5538659"/>
          <a:ext cx="9017226" cy="1194372"/>
        </p:xfrm>
        <a:graphic>
          <a:graphicData uri="http://schemas.openxmlformats.org/drawingml/2006/table">
            <a:tbl>
              <a:tblPr firstRow="1" firstCol="1" bandRow="1"/>
              <a:tblGrid>
                <a:gridCol w="1383294">
                  <a:extLst>
                    <a:ext uri="{9D8B030D-6E8A-4147-A177-3AD203B41FA5}">
                      <a16:colId xmlns:a16="http://schemas.microsoft.com/office/drawing/2014/main" val="1791917023"/>
                    </a:ext>
                  </a:extLst>
                </a:gridCol>
                <a:gridCol w="2017743">
                  <a:extLst>
                    <a:ext uri="{9D8B030D-6E8A-4147-A177-3AD203B41FA5}">
                      <a16:colId xmlns:a16="http://schemas.microsoft.com/office/drawing/2014/main" val="778085126"/>
                    </a:ext>
                  </a:extLst>
                </a:gridCol>
                <a:gridCol w="1308682">
                  <a:extLst>
                    <a:ext uri="{9D8B030D-6E8A-4147-A177-3AD203B41FA5}">
                      <a16:colId xmlns:a16="http://schemas.microsoft.com/office/drawing/2014/main" val="3808763990"/>
                    </a:ext>
                  </a:extLst>
                </a:gridCol>
                <a:gridCol w="1266738">
                  <a:extLst>
                    <a:ext uri="{9D8B030D-6E8A-4147-A177-3AD203B41FA5}">
                      <a16:colId xmlns:a16="http://schemas.microsoft.com/office/drawing/2014/main" val="2363829853"/>
                    </a:ext>
                  </a:extLst>
                </a:gridCol>
                <a:gridCol w="1795244">
                  <a:extLst>
                    <a:ext uri="{9D8B030D-6E8A-4147-A177-3AD203B41FA5}">
                      <a16:colId xmlns:a16="http://schemas.microsoft.com/office/drawing/2014/main" val="3174711922"/>
                    </a:ext>
                  </a:extLst>
                </a:gridCol>
                <a:gridCol w="1245525">
                  <a:extLst>
                    <a:ext uri="{9D8B030D-6E8A-4147-A177-3AD203B41FA5}">
                      <a16:colId xmlns:a16="http://schemas.microsoft.com/office/drawing/2014/main" val="2946329490"/>
                    </a:ext>
                  </a:extLst>
                </a:gridCol>
              </a:tblGrid>
              <a:tr h="60466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proyectada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aplicada</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6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Motivo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2803327267"/>
                  </a:ext>
                </a:extLst>
              </a:tr>
              <a:tr h="58970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7U7301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PE"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Ellsworth Carpio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400" kern="1200" dirty="0">
                          <a:solidFill>
                            <a:schemeClr val="tx1"/>
                          </a:solidFill>
                          <a:effectLst/>
                          <a:latin typeface="+mn-lt"/>
                          <a:ea typeface="+mn-ea"/>
                          <a:cs typeface="+mn-cs"/>
                        </a:rPr>
                        <a:t>0</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400" kern="1200" dirty="0">
                          <a:solidFill>
                            <a:schemeClr val="tx1"/>
                          </a:solidFill>
                          <a:effectLst/>
                          <a:latin typeface="+mn-lt"/>
                          <a:ea typeface="+mn-ea"/>
                          <a:cs typeface="+mn-cs"/>
                        </a:rPr>
                        <a:t>No </a:t>
                      </a:r>
                      <a:endParaRPr lang="es-PE" sz="1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0</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2639818158"/>
                  </a:ext>
                </a:extLst>
              </a:tr>
            </a:tbl>
          </a:graphicData>
        </a:graphic>
      </p:graphicFrame>
    </p:spTree>
    <p:extLst>
      <p:ext uri="{BB962C8B-B14F-4D97-AF65-F5344CB8AC3E}">
        <p14:creationId xmlns:p14="http://schemas.microsoft.com/office/powerpoint/2010/main" val="699909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PRODUCCIÓN POR RESOLUTOR-DCCI</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506BF35C-A620-14C5-709B-343B3BA7CF6A}"/>
              </a:ext>
            </a:extLst>
          </p:cNvPr>
          <p:cNvGraphicFramePr>
            <a:graphicFrameLocks noGrp="1"/>
          </p:cNvGraphicFramePr>
          <p:nvPr>
            <p:extLst>
              <p:ext uri="{D42A27DB-BD31-4B8C-83A1-F6EECF244321}">
                <p14:modId xmlns:p14="http://schemas.microsoft.com/office/powerpoint/2010/main" val="3106715017"/>
              </p:ext>
            </p:extLst>
          </p:nvPr>
        </p:nvGraphicFramePr>
        <p:xfrm>
          <a:off x="1157969" y="1181294"/>
          <a:ext cx="8226890" cy="4984905"/>
        </p:xfrm>
        <a:graphic>
          <a:graphicData uri="http://schemas.openxmlformats.org/drawingml/2006/table">
            <a:tbl>
              <a:tblPr firstRow="1" firstCol="1" bandRow="1"/>
              <a:tblGrid>
                <a:gridCol w="1401112">
                  <a:extLst>
                    <a:ext uri="{9D8B030D-6E8A-4147-A177-3AD203B41FA5}">
                      <a16:colId xmlns:a16="http://schemas.microsoft.com/office/drawing/2014/main" val="2775420412"/>
                    </a:ext>
                  </a:extLst>
                </a:gridCol>
                <a:gridCol w="1493959">
                  <a:extLst>
                    <a:ext uri="{9D8B030D-6E8A-4147-A177-3AD203B41FA5}">
                      <a16:colId xmlns:a16="http://schemas.microsoft.com/office/drawing/2014/main" val="1302868493"/>
                    </a:ext>
                  </a:extLst>
                </a:gridCol>
                <a:gridCol w="1193749">
                  <a:extLst>
                    <a:ext uri="{9D8B030D-6E8A-4147-A177-3AD203B41FA5}">
                      <a16:colId xmlns:a16="http://schemas.microsoft.com/office/drawing/2014/main" val="2619335631"/>
                    </a:ext>
                  </a:extLst>
                </a:gridCol>
                <a:gridCol w="2253856">
                  <a:extLst>
                    <a:ext uri="{9D8B030D-6E8A-4147-A177-3AD203B41FA5}">
                      <a16:colId xmlns:a16="http://schemas.microsoft.com/office/drawing/2014/main" val="3518194475"/>
                    </a:ext>
                  </a:extLst>
                </a:gridCol>
                <a:gridCol w="942107">
                  <a:extLst>
                    <a:ext uri="{9D8B030D-6E8A-4147-A177-3AD203B41FA5}">
                      <a16:colId xmlns:a16="http://schemas.microsoft.com/office/drawing/2014/main" val="2121101367"/>
                    </a:ext>
                  </a:extLst>
                </a:gridCol>
                <a:gridCol w="942107">
                  <a:extLst>
                    <a:ext uri="{9D8B030D-6E8A-4147-A177-3AD203B41FA5}">
                      <a16:colId xmlns:a16="http://schemas.microsoft.com/office/drawing/2014/main" val="2184007081"/>
                    </a:ext>
                  </a:extLst>
                </a:gridCol>
              </a:tblGrid>
              <a:tr h="667188">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UUOO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SUPERVISIONES</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REGISTRO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FUNCIONARIO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CARGO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PRODUCCIÓN PROMEDIO MENSUAL</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991739676"/>
                  </a:ext>
                </a:extLst>
              </a:tr>
              <a:tr h="208075">
                <a:tc rowSpan="25">
                  <a:txBody>
                    <a:bodyPr/>
                    <a:lstStyle/>
                    <a:p>
                      <a:pPr algn="ctr"/>
                      <a:r>
                        <a:rPr lang="es-PE" sz="1100" b="1" dirty="0">
                          <a:solidFill>
                            <a:srgbClr val="000000"/>
                          </a:solidFill>
                          <a:effectLst/>
                          <a:latin typeface="+mn-lt"/>
                          <a:ea typeface="Times New Roman" panose="02020603050405020304" pitchFamily="18" charset="0"/>
                          <a:cs typeface="Times New Roman" panose="02020603050405020304" pitchFamily="18" charset="0"/>
                        </a:rPr>
                        <a:t>7U7100 DIVISION DE CONTROL CONCURRENTE I</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5877</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Roberto Vera Tudela Gallesi</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Supervisor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a:solidFill>
                            <a:srgbClr val="000000"/>
                          </a:solidFill>
                          <a:effectLst/>
                          <a:latin typeface="+mn-lt"/>
                          <a:ea typeface="Times New Roman" panose="02020603050405020304" pitchFamily="18" charset="0"/>
                          <a:cs typeface="Times New Roman" panose="02020603050405020304" pitchFamily="18" charset="0"/>
                        </a:rPr>
                        <a:t> </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extLst>
                  <a:ext uri="{0D108BD9-81ED-4DB2-BD59-A6C34878D82A}">
                    <a16:rowId xmlns:a16="http://schemas.microsoft.com/office/drawing/2014/main" val="48333111"/>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dirty="0">
                          <a:solidFill>
                            <a:srgbClr val="000000"/>
                          </a:solidFill>
                          <a:effectLst/>
                          <a:latin typeface="+mn-lt"/>
                          <a:ea typeface="Times New Roman" panose="02020603050405020304" pitchFamily="18" charset="0"/>
                          <a:cs typeface="Times New Roman" panose="02020603050405020304" pitchFamily="18" charset="0"/>
                        </a:rPr>
                        <a:t>2900</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Carolina Cavero Carrion</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15828024"/>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4469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Maria Hurtado Custodio</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10</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302405233"/>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5534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Celso Sanchez Garrido</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702427210"/>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3284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Ana Diaz Jurado</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10</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839885504"/>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3085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Edgar Cosio Jara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9</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623908171"/>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8351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Debra Araoz Laines</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a:t>
                      </a:r>
                      <a:r>
                        <a:rPr lang="es-PE" sz="1100" dirty="0">
                          <a:solidFill>
                            <a:srgbClr val="000000"/>
                          </a:solidFill>
                          <a:effectLst/>
                          <a:latin typeface="+mn-lt"/>
                          <a:ea typeface="Calibri" panose="020F0502020204030204" pitchFamily="34" charset="0"/>
                          <a:cs typeface="Times New Roman" panose="02020603050405020304" pitchFamily="18" charset="0"/>
                        </a:rPr>
                        <a:t>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327649333"/>
                  </a:ext>
                </a:extLst>
              </a:tr>
              <a:tr h="253922">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5565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Victoria Santa Cruz Martinez</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a:t>
                      </a:r>
                      <a:r>
                        <a:rPr lang="es-PE" sz="1100" dirty="0">
                          <a:solidFill>
                            <a:srgbClr val="000000"/>
                          </a:solidFill>
                          <a:effectLst/>
                          <a:latin typeface="+mn-lt"/>
                          <a:ea typeface="Calibri" panose="020F0502020204030204" pitchFamily="34" charset="0"/>
                          <a:cs typeface="Times New Roman" panose="02020603050405020304" pitchFamily="18" charset="0"/>
                        </a:rPr>
                        <a:t>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856526119"/>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4644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Cesar Linares Alcantara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7</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1587912357"/>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7580</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Vanesa Chavez Silva</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Supervisor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dirty="0">
                          <a:solidFill>
                            <a:srgbClr val="000000"/>
                          </a:solidFill>
                          <a:effectLst/>
                          <a:latin typeface="+mn-lt"/>
                          <a:ea typeface="Times New Roman" panose="02020603050405020304" pitchFamily="18" charset="0"/>
                          <a:cs typeface="Times New Roman" panose="02020603050405020304" pitchFamily="18" charset="0"/>
                        </a:rPr>
                        <a:t> </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extLst>
                  <a:ext uri="{0D108BD9-81ED-4DB2-BD59-A6C34878D82A}">
                    <a16:rowId xmlns:a16="http://schemas.microsoft.com/office/drawing/2014/main" val="2807075679"/>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2968</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Maria Chire Tunque</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8</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622672239"/>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4949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Javier Oyarse Cruz</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64470116"/>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4504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Hugo Jimenez Suclla </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357379770"/>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8319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Carla </a:t>
                      </a:r>
                      <a:r>
                        <a:rPr lang="es-PE" sz="1100" dirty="0" err="1">
                          <a:solidFill>
                            <a:srgbClr val="000000"/>
                          </a:solidFill>
                          <a:effectLst/>
                          <a:latin typeface="+mn-lt"/>
                          <a:ea typeface="Times New Roman" panose="02020603050405020304" pitchFamily="18" charset="0"/>
                          <a:cs typeface="Times New Roman" panose="02020603050405020304" pitchFamily="18" charset="0"/>
                        </a:rPr>
                        <a:t>Vilcapaza</a:t>
                      </a:r>
                      <a:r>
                        <a:rPr lang="es-PE" sz="1100" dirty="0">
                          <a:solidFill>
                            <a:srgbClr val="000000"/>
                          </a:solidFill>
                          <a:effectLst/>
                          <a:latin typeface="+mn-lt"/>
                          <a:ea typeface="Times New Roman" panose="02020603050405020304" pitchFamily="18" charset="0"/>
                          <a:cs typeface="Times New Roman" panose="02020603050405020304" pitchFamily="18" charset="0"/>
                        </a:rPr>
                        <a:t> Amaro</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17</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2331214071"/>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3977</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William Godoy Escalante</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402332093"/>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7324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Zaira Carbajal Jara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2290309015"/>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5569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Gladys Santillan Valdivia</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Supervisor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dirty="0">
                          <a:solidFill>
                            <a:srgbClr val="000000"/>
                          </a:solidFill>
                          <a:effectLst/>
                          <a:latin typeface="+mn-lt"/>
                          <a:ea typeface="Times New Roman" panose="02020603050405020304" pitchFamily="18" charset="0"/>
                          <a:cs typeface="Times New Roman" panose="02020603050405020304" pitchFamily="18" charset="0"/>
                        </a:rPr>
                        <a:t> </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extLst>
                  <a:ext uri="{0D108BD9-81ED-4DB2-BD59-A6C34878D82A}">
                    <a16:rowId xmlns:a16="http://schemas.microsoft.com/office/drawing/2014/main" val="2865749343"/>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7625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Teresita Quezada Villar</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4067612033"/>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7330</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Tania Rosales Ochoa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973642436"/>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4770</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Maritza Mollinedo Catunta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10</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4094291206"/>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2858</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Julio Castañeda Calderon</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16</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060839985"/>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7611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err="1">
                          <a:solidFill>
                            <a:srgbClr val="000000"/>
                          </a:solidFill>
                          <a:effectLst/>
                          <a:latin typeface="+mn-lt"/>
                          <a:ea typeface="Times New Roman" panose="02020603050405020304" pitchFamily="18" charset="0"/>
                          <a:cs typeface="Times New Roman" panose="02020603050405020304" pitchFamily="18" charset="0"/>
                        </a:rPr>
                        <a:t>Azhir</a:t>
                      </a:r>
                      <a:r>
                        <a:rPr lang="es-PE" sz="1100" dirty="0">
                          <a:solidFill>
                            <a:srgbClr val="000000"/>
                          </a:solidFill>
                          <a:effectLst/>
                          <a:latin typeface="+mn-lt"/>
                          <a:ea typeface="Times New Roman" panose="02020603050405020304" pitchFamily="18" charset="0"/>
                          <a:cs typeface="Times New Roman" panose="02020603050405020304" pitchFamily="18" charset="0"/>
                        </a:rPr>
                        <a:t> Sandoval Guevara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effectLst/>
                          <a:latin typeface="+mn-lt"/>
                          <a:ea typeface="Calibri" panose="020F0502020204030204" pitchFamily="34" charset="0"/>
                          <a:cs typeface="Times New Roman" panose="02020603050405020304" pitchFamily="18" charset="0"/>
                        </a:rPr>
                        <a:t>10</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4115887700"/>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7661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Luis Cordova Meza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effectLst/>
                          <a:latin typeface="+mn-lt"/>
                          <a:ea typeface="Calibri" panose="020F0502020204030204" pitchFamily="34" charset="0"/>
                          <a:cs typeface="Times New Roman" panose="02020603050405020304" pitchFamily="18" charset="0"/>
                        </a:rPr>
                        <a:t>7</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654128652"/>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7674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Andres Angulo Farfan</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effectLst/>
                          <a:latin typeface="+mn-lt"/>
                          <a:ea typeface="Calibri" panose="020F0502020204030204" pitchFamily="34" charset="0"/>
                          <a:cs typeface="Times New Roman" panose="02020603050405020304" pitchFamily="18" charset="0"/>
                        </a:rPr>
                        <a:t>12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333068020"/>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5556</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Jorge </a:t>
                      </a:r>
                      <a:r>
                        <a:rPr lang="es-PE" sz="1100" dirty="0" err="1">
                          <a:solidFill>
                            <a:srgbClr val="000000"/>
                          </a:solidFill>
                          <a:effectLst/>
                          <a:latin typeface="+mn-lt"/>
                          <a:ea typeface="Times New Roman" panose="02020603050405020304" pitchFamily="18" charset="0"/>
                          <a:cs typeface="Times New Roman" panose="02020603050405020304" pitchFamily="18" charset="0"/>
                        </a:rPr>
                        <a:t>Sanchez</a:t>
                      </a:r>
                      <a:r>
                        <a:rPr lang="es-PE" sz="1100" dirty="0">
                          <a:solidFill>
                            <a:srgbClr val="000000"/>
                          </a:solidFill>
                          <a:effectLst/>
                          <a:latin typeface="+mn-lt"/>
                          <a:ea typeface="Times New Roman" panose="02020603050405020304" pitchFamily="18" charset="0"/>
                          <a:cs typeface="Times New Roman" panose="02020603050405020304" pitchFamily="18" charset="0"/>
                        </a:rPr>
                        <a:t> Torres</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effectLst/>
                          <a:latin typeface="+mn-lt"/>
                          <a:ea typeface="Calibri" panose="020F0502020204030204" pitchFamily="34" charset="0"/>
                          <a:cs typeface="Times New Roman" panose="02020603050405020304" pitchFamily="18" charset="0"/>
                        </a:rPr>
                        <a:t>15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3290609114"/>
                  </a:ext>
                </a:extLst>
              </a:tr>
            </a:tbl>
          </a:graphicData>
        </a:graphic>
      </p:graphicFrame>
    </p:spTree>
    <p:extLst>
      <p:ext uri="{BB962C8B-B14F-4D97-AF65-F5344CB8AC3E}">
        <p14:creationId xmlns:p14="http://schemas.microsoft.com/office/powerpoint/2010/main" val="2629915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PRODUCCIÓN POR RESOLUTOR-DCCII</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2E864E31-624B-DBA5-F636-0330773E385F}"/>
              </a:ext>
            </a:extLst>
          </p:cNvPr>
          <p:cNvGraphicFramePr>
            <a:graphicFrameLocks noGrp="1"/>
          </p:cNvGraphicFramePr>
          <p:nvPr>
            <p:extLst>
              <p:ext uri="{D42A27DB-BD31-4B8C-83A1-F6EECF244321}">
                <p14:modId xmlns:p14="http://schemas.microsoft.com/office/powerpoint/2010/main" val="583792329"/>
              </p:ext>
            </p:extLst>
          </p:nvPr>
        </p:nvGraphicFramePr>
        <p:xfrm>
          <a:off x="1201409" y="1383544"/>
          <a:ext cx="8597395" cy="4283456"/>
        </p:xfrm>
        <a:graphic>
          <a:graphicData uri="http://schemas.openxmlformats.org/drawingml/2006/table">
            <a:tbl>
              <a:tblPr/>
              <a:tblGrid>
                <a:gridCol w="1089162">
                  <a:extLst>
                    <a:ext uri="{9D8B030D-6E8A-4147-A177-3AD203B41FA5}">
                      <a16:colId xmlns:a16="http://schemas.microsoft.com/office/drawing/2014/main" val="2857257721"/>
                    </a:ext>
                  </a:extLst>
                </a:gridCol>
                <a:gridCol w="1089162">
                  <a:extLst>
                    <a:ext uri="{9D8B030D-6E8A-4147-A177-3AD203B41FA5}">
                      <a16:colId xmlns:a16="http://schemas.microsoft.com/office/drawing/2014/main" val="4161489616"/>
                    </a:ext>
                  </a:extLst>
                </a:gridCol>
                <a:gridCol w="1584051">
                  <a:extLst>
                    <a:ext uri="{9D8B030D-6E8A-4147-A177-3AD203B41FA5}">
                      <a16:colId xmlns:a16="http://schemas.microsoft.com/office/drawing/2014/main" val="1630339697"/>
                    </a:ext>
                  </a:extLst>
                </a:gridCol>
                <a:gridCol w="2314575">
                  <a:extLst>
                    <a:ext uri="{9D8B030D-6E8A-4147-A177-3AD203B41FA5}">
                      <a16:colId xmlns:a16="http://schemas.microsoft.com/office/drawing/2014/main" val="1004286328"/>
                    </a:ext>
                  </a:extLst>
                </a:gridCol>
                <a:gridCol w="1205995">
                  <a:extLst>
                    <a:ext uri="{9D8B030D-6E8A-4147-A177-3AD203B41FA5}">
                      <a16:colId xmlns:a16="http://schemas.microsoft.com/office/drawing/2014/main" val="3904268956"/>
                    </a:ext>
                  </a:extLst>
                </a:gridCol>
                <a:gridCol w="1314450">
                  <a:extLst>
                    <a:ext uri="{9D8B030D-6E8A-4147-A177-3AD203B41FA5}">
                      <a16:colId xmlns:a16="http://schemas.microsoft.com/office/drawing/2014/main" val="781816914"/>
                    </a:ext>
                  </a:extLst>
                </a:gridCol>
              </a:tblGrid>
              <a:tr h="683285">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UUOO</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SUPERVISIONES</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REGISTRO</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FUNCIONARIO</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CARGO</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PRODUCCIÓN PROMEDIO MENSUAL</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150195547"/>
                  </a:ext>
                </a:extLst>
              </a:tr>
              <a:tr h="188207">
                <a:tc rowSpan="15">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7U7200 DIVISION DE CONTROL CONCURRENTE II</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7U7201 </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pPr algn="ctr"/>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7587</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Yessenia Salcedo Diaz</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 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extLst>
                  <a:ext uri="{0D108BD9-81ED-4DB2-BD59-A6C34878D82A}">
                    <a16:rowId xmlns:a16="http://schemas.microsoft.com/office/drawing/2014/main" val="3937105208"/>
                  </a:ext>
                </a:extLst>
              </a:tr>
              <a:tr h="188207">
                <a:tc vMerge="1">
                  <a:txBody>
                    <a:bodyPr/>
                    <a:lstStyle/>
                    <a:p>
                      <a:endParaRPr lang="es-PE"/>
                    </a:p>
                  </a:txBody>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7342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dirty="0">
                          <a:effectLst/>
                          <a:latin typeface="Calibri" panose="020F0502020204030204" pitchFamily="34" charset="0"/>
                          <a:ea typeface="Calibri" panose="020F0502020204030204" pitchFamily="34" charset="0"/>
                          <a:cs typeface="Times New Roman" panose="02020603050405020304" pitchFamily="18" charset="0"/>
                        </a:rPr>
                        <a:t>Juan Cuya Velarde </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11</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927316586"/>
                  </a:ext>
                </a:extLst>
              </a:tr>
              <a:tr h="317718">
                <a:tc vMerge="1">
                  <a:txBody>
                    <a:bodyPr/>
                    <a:lstStyle/>
                    <a:p>
                      <a:endParaRPr lang="es-PE"/>
                    </a:p>
                  </a:txBody>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4644</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Carlos Malaga Portocarrero</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8</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4120784360"/>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4569</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dirty="0">
                          <a:effectLst/>
                          <a:latin typeface="Calibri" panose="020F0502020204030204" pitchFamily="34" charset="0"/>
                          <a:ea typeface="Calibri" panose="020F0502020204030204" pitchFamily="34" charset="0"/>
                          <a:cs typeface="Times New Roman" panose="02020603050405020304" pitchFamily="18" charset="0"/>
                        </a:rPr>
                        <a:t>Jose Linarez Amacifuen </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001276232"/>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AO21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Renierd Rios Gomez</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CAS</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261432791"/>
                  </a:ext>
                </a:extLst>
              </a:tr>
              <a:tr h="317718">
                <a:tc vMerge="1">
                  <a:txBody>
                    <a:bodyPr/>
                    <a:lstStyle/>
                    <a:p>
                      <a:endParaRPr lang="es-PE"/>
                    </a:p>
                  </a:txBody>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7211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dirty="0">
                          <a:effectLst/>
                          <a:latin typeface="Calibri" panose="020F0502020204030204" pitchFamily="34" charset="0"/>
                          <a:ea typeface="Calibri" panose="020F0502020204030204" pitchFamily="34" charset="0"/>
                          <a:cs typeface="Times New Roman" panose="02020603050405020304" pitchFamily="18" charset="0"/>
                        </a:rPr>
                        <a:t>Roberto Rivarola Hidalgo</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2</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525078045"/>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7624</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Poul Valdivia Charca</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2</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9</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857867095"/>
                  </a:ext>
                </a:extLst>
              </a:tr>
              <a:tr h="317718">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5844</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dirty="0">
                          <a:effectLst/>
                          <a:latin typeface="Calibri" panose="020F0502020204030204" pitchFamily="34" charset="0"/>
                          <a:ea typeface="Calibri" panose="020F0502020204030204" pitchFamily="34" charset="0"/>
                          <a:cs typeface="Times New Roman" panose="02020603050405020304" pitchFamily="18" charset="0"/>
                        </a:rPr>
                        <a:t>Richard Vela Nuñez </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386600010"/>
                  </a:ext>
                </a:extLst>
              </a:tr>
              <a:tr h="188207">
                <a:tc vMerge="1">
                  <a:txBody>
                    <a:bodyPr/>
                    <a:lstStyle/>
                    <a:p>
                      <a:endParaRPr lang="es-PE"/>
                    </a:p>
                  </a:txBody>
                  <a:tcPr/>
                </a:tc>
                <a:tc>
                  <a:txBody>
                    <a:bodyPr/>
                    <a:lstStyle/>
                    <a:p>
                      <a:pPr algn="ctr"/>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pPr algn="ctr"/>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7575</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Allison Castro </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 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pPr algn="ctr"/>
                      <a:endParaRPr lang="es-PE" sz="1100" dirty="0">
                        <a:solidFill>
                          <a:schemeClr val="tx1"/>
                        </a:solidFill>
                        <a:effectLst/>
                        <a:latin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extLst>
                  <a:ext uri="{0D108BD9-81ED-4DB2-BD59-A6C34878D82A}">
                    <a16:rowId xmlns:a16="http://schemas.microsoft.com/office/drawing/2014/main" val="1716248280"/>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2423</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Cecilia Acosta Salazar</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4</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9</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113725865"/>
                  </a:ext>
                </a:extLst>
              </a:tr>
              <a:tr h="317718">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7326</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Lydia Arestegui Pereyra</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612536542"/>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AT75</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Victoria Flores Alvitez</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CAS</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10</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60215262"/>
                  </a:ext>
                </a:extLst>
              </a:tr>
              <a:tr h="317718">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7151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Lourdes Pretel Noblecilla</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10</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1613490926"/>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5749</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Wilder Ulloa Ascencio</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5</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10</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4053996281"/>
                  </a:ext>
                </a:extLst>
              </a:tr>
              <a:tr h="317718">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AX34</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Enrique Villanueva Hurtado</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CAS</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0</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887998396"/>
                  </a:ext>
                </a:extLst>
              </a:tr>
            </a:tbl>
          </a:graphicData>
        </a:graphic>
      </p:graphicFrame>
    </p:spTree>
    <p:extLst>
      <p:ext uri="{BB962C8B-B14F-4D97-AF65-F5344CB8AC3E}">
        <p14:creationId xmlns:p14="http://schemas.microsoft.com/office/powerpoint/2010/main" val="10356260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PRODUCCIÓN POR RESOLUTOR-DCP</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EB7C2AC0-86A4-ABEE-06F2-450F63287B6F}"/>
              </a:ext>
            </a:extLst>
          </p:cNvPr>
          <p:cNvGraphicFramePr>
            <a:graphicFrameLocks noGrp="1"/>
          </p:cNvGraphicFramePr>
          <p:nvPr>
            <p:extLst>
              <p:ext uri="{D42A27DB-BD31-4B8C-83A1-F6EECF244321}">
                <p14:modId xmlns:p14="http://schemas.microsoft.com/office/powerpoint/2010/main" val="195678687"/>
              </p:ext>
            </p:extLst>
          </p:nvPr>
        </p:nvGraphicFramePr>
        <p:xfrm>
          <a:off x="2301715" y="1751700"/>
          <a:ext cx="6911134" cy="3761231"/>
        </p:xfrm>
        <a:graphic>
          <a:graphicData uri="http://schemas.openxmlformats.org/drawingml/2006/table">
            <a:tbl>
              <a:tblPr firstRow="1" firstCol="1" bandRow="1"/>
              <a:tblGrid>
                <a:gridCol w="1185506">
                  <a:extLst>
                    <a:ext uri="{9D8B030D-6E8A-4147-A177-3AD203B41FA5}">
                      <a16:colId xmlns:a16="http://schemas.microsoft.com/office/drawing/2014/main" val="850406056"/>
                    </a:ext>
                  </a:extLst>
                </a:gridCol>
                <a:gridCol w="1075569">
                  <a:extLst>
                    <a:ext uri="{9D8B030D-6E8A-4147-A177-3AD203B41FA5}">
                      <a16:colId xmlns:a16="http://schemas.microsoft.com/office/drawing/2014/main" val="973022981"/>
                    </a:ext>
                  </a:extLst>
                </a:gridCol>
                <a:gridCol w="916110">
                  <a:extLst>
                    <a:ext uri="{9D8B030D-6E8A-4147-A177-3AD203B41FA5}">
                      <a16:colId xmlns:a16="http://schemas.microsoft.com/office/drawing/2014/main" val="2347363923"/>
                    </a:ext>
                  </a:extLst>
                </a:gridCol>
                <a:gridCol w="1802019">
                  <a:extLst>
                    <a:ext uri="{9D8B030D-6E8A-4147-A177-3AD203B41FA5}">
                      <a16:colId xmlns:a16="http://schemas.microsoft.com/office/drawing/2014/main" val="2396742907"/>
                    </a:ext>
                  </a:extLst>
                </a:gridCol>
                <a:gridCol w="1006766">
                  <a:extLst>
                    <a:ext uri="{9D8B030D-6E8A-4147-A177-3AD203B41FA5}">
                      <a16:colId xmlns:a16="http://schemas.microsoft.com/office/drawing/2014/main" val="4024969280"/>
                    </a:ext>
                  </a:extLst>
                </a:gridCol>
                <a:gridCol w="925164">
                  <a:extLst>
                    <a:ext uri="{9D8B030D-6E8A-4147-A177-3AD203B41FA5}">
                      <a16:colId xmlns:a16="http://schemas.microsoft.com/office/drawing/2014/main" val="2141008519"/>
                    </a:ext>
                  </a:extLst>
                </a:gridCol>
              </a:tblGrid>
              <a:tr h="567112">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UUOO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SUPERVISIONES</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REGISTRO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FUNCIONARIO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CARGO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PRODUCCIÓN PROMEDIO MENSUAL</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2539397411"/>
                  </a:ext>
                </a:extLst>
              </a:tr>
              <a:tr h="347695">
                <a:tc rowSpan="7">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7U7300 DIVISION DE CONTROL POSTERIOR</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2834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pPr algn="l"/>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Ellsworth Carpio Charres </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Supervisor 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extLst>
                  <a:ext uri="{0D108BD9-81ED-4DB2-BD59-A6C34878D82A}">
                    <a16:rowId xmlns:a16="http://schemas.microsoft.com/office/drawing/2014/main" val="124970691"/>
                  </a:ext>
                </a:extLst>
              </a:tr>
              <a:tr h="406632">
                <a:tc vMerge="1">
                  <a:txBody>
                    <a:bodyPr/>
                    <a:lstStyle/>
                    <a:p>
                      <a:endParaRPr lang="es-PE"/>
                    </a:p>
                  </a:txBody>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2694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Gustavo Bernuy Nuñez</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5</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3</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367585655"/>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4700</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Carlos Mauro Sampen</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4</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1670296521"/>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7660</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Marco Fournier Castillo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2</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991154502"/>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7148</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Jesus Garcia Rodriguez</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2</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1</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2960929415"/>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4594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Carlos Lopez Cornelio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5</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4</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4155215880"/>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4990</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Cecilia Pantoja Urizar Garfias </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4</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4</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2559747884"/>
                  </a:ext>
                </a:extLst>
              </a:tr>
              <a:tr h="406632">
                <a:tc gridSpan="4">
                  <a:txBody>
                    <a:bodyPr/>
                    <a:lstStyle/>
                    <a:p>
                      <a:pPr algn="ct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hMerge="1">
                  <a:txBody>
                    <a:bodyPr/>
                    <a:lstStyle/>
                    <a:p>
                      <a:pPr algn="ct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hMerge="1">
                  <a:txBody>
                    <a:bodyPr/>
                    <a:lstStyle/>
                    <a:p>
                      <a:pPr algn="ct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hMerge="1">
                  <a:txBody>
                    <a:bodyPr/>
                    <a:lstStyle/>
                    <a:p>
                      <a:pPr algn="l"/>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200" dirty="0">
                          <a:effectLst/>
                          <a:latin typeface="Calibri" panose="020F0502020204030204" pitchFamily="34" charset="0"/>
                          <a:ea typeface="Calibri" panose="020F0502020204030204" pitchFamily="34" charset="0"/>
                          <a:cs typeface="Times New Roman" panose="02020603050405020304" pitchFamily="18" charset="0"/>
                        </a:rPr>
                        <a:t>TOTAL</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18</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2801576743"/>
                  </a:ext>
                </a:extLst>
              </a:tr>
            </a:tbl>
          </a:graphicData>
        </a:graphic>
      </p:graphicFrame>
    </p:spTree>
    <p:extLst>
      <p:ext uri="{BB962C8B-B14F-4D97-AF65-F5344CB8AC3E}">
        <p14:creationId xmlns:p14="http://schemas.microsoft.com/office/powerpoint/2010/main" val="5633880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STOCK VENCIDOS</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1285875" y="139746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1285875" y="3163517"/>
            <a:ext cx="1028700" cy="638174"/>
          </a:xfrm>
          <a:prstGeom prst="rightArrow">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sp>
        <p:nvSpPr>
          <p:cNvPr id="16" name="Flecha: a la derecha 15">
            <a:extLst>
              <a:ext uri="{FF2B5EF4-FFF2-40B4-BE49-F238E27FC236}">
                <a16:creationId xmlns:a16="http://schemas.microsoft.com/office/drawing/2014/main" id="{5B46D489-2A56-01B0-EB9C-D57AAAD377E8}"/>
              </a:ext>
            </a:extLst>
          </p:cNvPr>
          <p:cNvSpPr/>
          <p:nvPr/>
        </p:nvSpPr>
        <p:spPr>
          <a:xfrm>
            <a:off x="1285875" y="4929570"/>
            <a:ext cx="1028700" cy="638174"/>
          </a:xfrm>
          <a:prstGeom prst="rightArrow">
            <a:avLst/>
          </a:prstGeom>
          <a:ln w="28575">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DCP</a:t>
            </a:r>
            <a:endParaRPr lang="es-PE" dirty="0"/>
          </a:p>
        </p:txBody>
      </p:sp>
      <p:sp>
        <p:nvSpPr>
          <p:cNvPr id="2" name="CuadroTexto 1">
            <a:extLst>
              <a:ext uri="{FF2B5EF4-FFF2-40B4-BE49-F238E27FC236}">
                <a16:creationId xmlns:a16="http://schemas.microsoft.com/office/drawing/2014/main" id="{39315DDD-5468-DE29-D6F6-5BBFA86E57E4}"/>
              </a:ext>
            </a:extLst>
          </p:cNvPr>
          <p:cNvSpPr txBox="1"/>
          <p:nvPr/>
        </p:nvSpPr>
        <p:spPr>
          <a:xfrm>
            <a:off x="1285874" y="6238635"/>
            <a:ext cx="3124201" cy="276999"/>
          </a:xfrm>
          <a:prstGeom prst="rect">
            <a:avLst/>
          </a:prstGeom>
          <a:noFill/>
        </p:spPr>
        <p:txBody>
          <a:bodyPr wrap="square">
            <a:spAutoFit/>
          </a:bodyPr>
          <a:lstStyle/>
          <a:p>
            <a:r>
              <a:rPr lang="es-PE" sz="1200" b="1" dirty="0">
                <a:latin typeface="Calibri Light" panose="020F0302020204030204" pitchFamily="34" charset="0"/>
                <a:ea typeface="Calibri" panose="020F0502020204030204" pitchFamily="34" charset="0"/>
              </a:rPr>
              <a:t>Fuente</a:t>
            </a:r>
            <a:r>
              <a:rPr lang="es-PE" sz="1200" dirty="0">
                <a:latin typeface="Calibri Light" panose="020F0302020204030204" pitchFamily="34" charset="0"/>
                <a:ea typeface="Calibri" panose="020F0502020204030204" pitchFamily="34" charset="0"/>
              </a:rPr>
              <a:t>: Módulo SIGERI al 01.04.2024</a:t>
            </a:r>
          </a:p>
        </p:txBody>
      </p:sp>
      <p:sp>
        <p:nvSpPr>
          <p:cNvPr id="3" name="Bocadillo nube: nube 2">
            <a:extLst>
              <a:ext uri="{FF2B5EF4-FFF2-40B4-BE49-F238E27FC236}">
                <a16:creationId xmlns:a16="http://schemas.microsoft.com/office/drawing/2014/main" id="{2CDF9045-FFEB-A6E3-8A64-92964C7B93F3}"/>
              </a:ext>
            </a:extLst>
          </p:cNvPr>
          <p:cNvSpPr/>
          <p:nvPr/>
        </p:nvSpPr>
        <p:spPr>
          <a:xfrm>
            <a:off x="9321799" y="1034932"/>
            <a:ext cx="2300202" cy="1076003"/>
          </a:xfrm>
          <a:prstGeom prst="cloudCallout">
            <a:avLst>
              <a:gd name="adj1" fmla="val -63383"/>
              <a:gd name="adj2" fmla="val -19035"/>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sz="1400" dirty="0">
                <a:solidFill>
                  <a:schemeClr val="tx1"/>
                </a:solidFill>
              </a:rPr>
              <a:t>13 total (0/0/13/12/11/17/15/10/12/17/07)</a:t>
            </a:r>
            <a:endParaRPr lang="es-PE" sz="1400" dirty="0">
              <a:solidFill>
                <a:schemeClr val="tx1"/>
              </a:solidFill>
            </a:endParaRPr>
          </a:p>
        </p:txBody>
      </p:sp>
      <p:sp>
        <p:nvSpPr>
          <p:cNvPr id="4" name="Bocadillo nube: nube 3">
            <a:extLst>
              <a:ext uri="{FF2B5EF4-FFF2-40B4-BE49-F238E27FC236}">
                <a16:creationId xmlns:a16="http://schemas.microsoft.com/office/drawing/2014/main" id="{30F3CF21-67BC-6869-D144-28C16A383425}"/>
              </a:ext>
            </a:extLst>
          </p:cNvPr>
          <p:cNvSpPr/>
          <p:nvPr/>
        </p:nvSpPr>
        <p:spPr>
          <a:xfrm>
            <a:off x="9321799" y="2833275"/>
            <a:ext cx="2300202" cy="1076003"/>
          </a:xfrm>
          <a:prstGeom prst="cloudCallout">
            <a:avLst>
              <a:gd name="adj1" fmla="val -63383"/>
              <a:gd name="adj2" fmla="val -19035"/>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sz="1400" dirty="0">
                <a:solidFill>
                  <a:schemeClr val="tx1"/>
                </a:solidFill>
              </a:rPr>
              <a:t>0 total (0/0/06/09/08/5/16/17/5/40/15)</a:t>
            </a:r>
            <a:endParaRPr lang="es-PE" sz="1400" dirty="0">
              <a:solidFill>
                <a:schemeClr val="tx1"/>
              </a:solidFill>
            </a:endParaRPr>
          </a:p>
        </p:txBody>
      </p:sp>
      <p:sp>
        <p:nvSpPr>
          <p:cNvPr id="5" name="Bocadillo nube: nube 4">
            <a:extLst>
              <a:ext uri="{FF2B5EF4-FFF2-40B4-BE49-F238E27FC236}">
                <a16:creationId xmlns:a16="http://schemas.microsoft.com/office/drawing/2014/main" id="{9E55A7AD-D2BB-78A2-7C74-0EE92587C86C}"/>
              </a:ext>
            </a:extLst>
          </p:cNvPr>
          <p:cNvSpPr/>
          <p:nvPr/>
        </p:nvSpPr>
        <p:spPr>
          <a:xfrm>
            <a:off x="9321799" y="4710655"/>
            <a:ext cx="2193925" cy="1076003"/>
          </a:xfrm>
          <a:prstGeom prst="cloudCallout">
            <a:avLst>
              <a:gd name="adj1" fmla="val -63383"/>
              <a:gd name="adj2" fmla="val -19035"/>
            </a:avLst>
          </a:prstGeom>
          <a:ln w="28575">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sz="1400" dirty="0">
                <a:solidFill>
                  <a:schemeClr val="tx1"/>
                </a:solidFill>
              </a:rPr>
              <a:t>2 total (0/0/0/1/1/3/3/5/0)</a:t>
            </a:r>
            <a:endParaRPr lang="es-PE" sz="1400" dirty="0">
              <a:solidFill>
                <a:schemeClr val="tx1"/>
              </a:solidFill>
            </a:endParaRPr>
          </a:p>
        </p:txBody>
      </p:sp>
      <p:graphicFrame>
        <p:nvGraphicFramePr>
          <p:cNvPr id="6" name="Tabla 5">
            <a:extLst>
              <a:ext uri="{FF2B5EF4-FFF2-40B4-BE49-F238E27FC236}">
                <a16:creationId xmlns:a16="http://schemas.microsoft.com/office/drawing/2014/main" id="{7A1E3C9B-1922-2F33-DB7C-BE5BC2DDBA90}"/>
              </a:ext>
            </a:extLst>
          </p:cNvPr>
          <p:cNvGraphicFramePr>
            <a:graphicFrameLocks noGrp="1"/>
          </p:cNvGraphicFramePr>
          <p:nvPr>
            <p:extLst>
              <p:ext uri="{D42A27DB-BD31-4B8C-83A1-F6EECF244321}">
                <p14:modId xmlns:p14="http://schemas.microsoft.com/office/powerpoint/2010/main" val="3792169146"/>
              </p:ext>
            </p:extLst>
          </p:nvPr>
        </p:nvGraphicFramePr>
        <p:xfrm>
          <a:off x="2946400" y="1116590"/>
          <a:ext cx="5988049" cy="1164424"/>
        </p:xfrm>
        <a:graphic>
          <a:graphicData uri="http://schemas.openxmlformats.org/drawingml/2006/table">
            <a:tbl>
              <a:tblPr firstRow="1" firstCol="1" bandRow="1"/>
              <a:tblGrid>
                <a:gridCol w="1003584">
                  <a:extLst>
                    <a:ext uri="{9D8B030D-6E8A-4147-A177-3AD203B41FA5}">
                      <a16:colId xmlns:a16="http://schemas.microsoft.com/office/drawing/2014/main" val="3074884351"/>
                    </a:ext>
                  </a:extLst>
                </a:gridCol>
                <a:gridCol w="1321384">
                  <a:extLst>
                    <a:ext uri="{9D8B030D-6E8A-4147-A177-3AD203B41FA5}">
                      <a16:colId xmlns:a16="http://schemas.microsoft.com/office/drawing/2014/main" val="1526047758"/>
                    </a:ext>
                  </a:extLst>
                </a:gridCol>
                <a:gridCol w="1655913">
                  <a:extLst>
                    <a:ext uri="{9D8B030D-6E8A-4147-A177-3AD203B41FA5}">
                      <a16:colId xmlns:a16="http://schemas.microsoft.com/office/drawing/2014/main" val="436782002"/>
                    </a:ext>
                  </a:extLst>
                </a:gridCol>
                <a:gridCol w="1003584">
                  <a:extLst>
                    <a:ext uri="{9D8B030D-6E8A-4147-A177-3AD203B41FA5}">
                      <a16:colId xmlns:a16="http://schemas.microsoft.com/office/drawing/2014/main" val="2134817539"/>
                    </a:ext>
                  </a:extLst>
                </a:gridCol>
                <a:gridCol w="1003584">
                  <a:extLst>
                    <a:ext uri="{9D8B030D-6E8A-4147-A177-3AD203B41FA5}">
                      <a16:colId xmlns:a16="http://schemas.microsoft.com/office/drawing/2014/main" val="3157735613"/>
                    </a:ext>
                  </a:extLst>
                </a:gridCol>
              </a:tblGrid>
              <a:tr h="547964">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UUOO</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VENCIDO +9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8 MESES</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7 MESES</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extLst>
                  <a:ext uri="{0D108BD9-81ED-4DB2-BD59-A6C34878D82A}">
                    <a16:rowId xmlns:a16="http://schemas.microsoft.com/office/drawing/2014/main" val="2434845465"/>
                  </a:ext>
                </a:extLst>
              </a:tr>
              <a:tr h="308230">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DCCI</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ES" sz="1800" b="1" dirty="0">
                          <a:solidFill>
                            <a:schemeClr val="tx1"/>
                          </a:solidFill>
                          <a:effectLst/>
                          <a:latin typeface="+mj-lt"/>
                          <a:ea typeface="Calibri" panose="020F0502020204030204" pitchFamily="34" charset="0"/>
                        </a:rPr>
                        <a:t>13 (*)</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16544557"/>
                  </a:ext>
                </a:extLst>
              </a:tr>
              <a:tr h="308230">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DAP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2074556671"/>
                  </a:ext>
                </a:extLst>
              </a:tr>
            </a:tbl>
          </a:graphicData>
        </a:graphic>
      </p:graphicFrame>
      <p:graphicFrame>
        <p:nvGraphicFramePr>
          <p:cNvPr id="11" name="Tabla 10">
            <a:extLst>
              <a:ext uri="{FF2B5EF4-FFF2-40B4-BE49-F238E27FC236}">
                <a16:creationId xmlns:a16="http://schemas.microsoft.com/office/drawing/2014/main" id="{21873085-0F54-8216-09FC-126BB27871B1}"/>
              </a:ext>
            </a:extLst>
          </p:cNvPr>
          <p:cNvGraphicFramePr>
            <a:graphicFrameLocks noGrp="1"/>
          </p:cNvGraphicFramePr>
          <p:nvPr>
            <p:extLst>
              <p:ext uri="{D42A27DB-BD31-4B8C-83A1-F6EECF244321}">
                <p14:modId xmlns:p14="http://schemas.microsoft.com/office/powerpoint/2010/main" val="739162914"/>
              </p:ext>
            </p:extLst>
          </p:nvPr>
        </p:nvGraphicFramePr>
        <p:xfrm>
          <a:off x="2946402" y="2856991"/>
          <a:ext cx="5988047" cy="1164421"/>
        </p:xfrm>
        <a:graphic>
          <a:graphicData uri="http://schemas.openxmlformats.org/drawingml/2006/table">
            <a:tbl>
              <a:tblPr firstRow="1" firstCol="1" bandRow="1"/>
              <a:tblGrid>
                <a:gridCol w="1003583">
                  <a:extLst>
                    <a:ext uri="{9D8B030D-6E8A-4147-A177-3AD203B41FA5}">
                      <a16:colId xmlns:a16="http://schemas.microsoft.com/office/drawing/2014/main" val="3114367696"/>
                    </a:ext>
                  </a:extLst>
                </a:gridCol>
                <a:gridCol w="1321385">
                  <a:extLst>
                    <a:ext uri="{9D8B030D-6E8A-4147-A177-3AD203B41FA5}">
                      <a16:colId xmlns:a16="http://schemas.microsoft.com/office/drawing/2014/main" val="4084865074"/>
                    </a:ext>
                  </a:extLst>
                </a:gridCol>
                <a:gridCol w="1655913">
                  <a:extLst>
                    <a:ext uri="{9D8B030D-6E8A-4147-A177-3AD203B41FA5}">
                      <a16:colId xmlns:a16="http://schemas.microsoft.com/office/drawing/2014/main" val="1706993894"/>
                    </a:ext>
                  </a:extLst>
                </a:gridCol>
                <a:gridCol w="1003583">
                  <a:extLst>
                    <a:ext uri="{9D8B030D-6E8A-4147-A177-3AD203B41FA5}">
                      <a16:colId xmlns:a16="http://schemas.microsoft.com/office/drawing/2014/main" val="871379910"/>
                    </a:ext>
                  </a:extLst>
                </a:gridCol>
                <a:gridCol w="1003583">
                  <a:extLst>
                    <a:ext uri="{9D8B030D-6E8A-4147-A177-3AD203B41FA5}">
                      <a16:colId xmlns:a16="http://schemas.microsoft.com/office/drawing/2014/main" val="1362448182"/>
                    </a:ext>
                  </a:extLst>
                </a:gridCol>
              </a:tblGrid>
              <a:tr h="527759">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UUOO</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VENCIDO +9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8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7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extLst>
                  <a:ext uri="{0D108BD9-81ED-4DB2-BD59-A6C34878D82A}">
                    <a16:rowId xmlns:a16="http://schemas.microsoft.com/office/drawing/2014/main" val="2637099436"/>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DCCII</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extLst>
                  <a:ext uri="{0D108BD9-81ED-4DB2-BD59-A6C34878D82A}">
                    <a16:rowId xmlns:a16="http://schemas.microsoft.com/office/drawing/2014/main" val="3189419138"/>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DAP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extLst>
                  <a:ext uri="{0D108BD9-81ED-4DB2-BD59-A6C34878D82A}">
                    <a16:rowId xmlns:a16="http://schemas.microsoft.com/office/drawing/2014/main" val="3621642096"/>
                  </a:ext>
                </a:extLst>
              </a:tr>
            </a:tbl>
          </a:graphicData>
        </a:graphic>
      </p:graphicFrame>
      <p:graphicFrame>
        <p:nvGraphicFramePr>
          <p:cNvPr id="12" name="Tabla 11">
            <a:extLst>
              <a:ext uri="{FF2B5EF4-FFF2-40B4-BE49-F238E27FC236}">
                <a16:creationId xmlns:a16="http://schemas.microsoft.com/office/drawing/2014/main" id="{7C375469-0EF9-D038-F02C-458E309B4E33}"/>
              </a:ext>
            </a:extLst>
          </p:cNvPr>
          <p:cNvGraphicFramePr>
            <a:graphicFrameLocks noGrp="1"/>
          </p:cNvGraphicFramePr>
          <p:nvPr>
            <p:extLst>
              <p:ext uri="{D42A27DB-BD31-4B8C-83A1-F6EECF244321}">
                <p14:modId xmlns:p14="http://schemas.microsoft.com/office/powerpoint/2010/main" val="2749774706"/>
              </p:ext>
            </p:extLst>
          </p:nvPr>
        </p:nvGraphicFramePr>
        <p:xfrm>
          <a:off x="2946400" y="4622237"/>
          <a:ext cx="5988047" cy="1164421"/>
        </p:xfrm>
        <a:graphic>
          <a:graphicData uri="http://schemas.openxmlformats.org/drawingml/2006/table">
            <a:tbl>
              <a:tblPr firstRow="1" firstCol="1" bandRow="1"/>
              <a:tblGrid>
                <a:gridCol w="1003583">
                  <a:extLst>
                    <a:ext uri="{9D8B030D-6E8A-4147-A177-3AD203B41FA5}">
                      <a16:colId xmlns:a16="http://schemas.microsoft.com/office/drawing/2014/main" val="3114367696"/>
                    </a:ext>
                  </a:extLst>
                </a:gridCol>
                <a:gridCol w="1321385">
                  <a:extLst>
                    <a:ext uri="{9D8B030D-6E8A-4147-A177-3AD203B41FA5}">
                      <a16:colId xmlns:a16="http://schemas.microsoft.com/office/drawing/2014/main" val="4084865074"/>
                    </a:ext>
                  </a:extLst>
                </a:gridCol>
                <a:gridCol w="1655913">
                  <a:extLst>
                    <a:ext uri="{9D8B030D-6E8A-4147-A177-3AD203B41FA5}">
                      <a16:colId xmlns:a16="http://schemas.microsoft.com/office/drawing/2014/main" val="1706993894"/>
                    </a:ext>
                  </a:extLst>
                </a:gridCol>
                <a:gridCol w="1003583">
                  <a:extLst>
                    <a:ext uri="{9D8B030D-6E8A-4147-A177-3AD203B41FA5}">
                      <a16:colId xmlns:a16="http://schemas.microsoft.com/office/drawing/2014/main" val="871379910"/>
                    </a:ext>
                  </a:extLst>
                </a:gridCol>
                <a:gridCol w="1003583">
                  <a:extLst>
                    <a:ext uri="{9D8B030D-6E8A-4147-A177-3AD203B41FA5}">
                      <a16:colId xmlns:a16="http://schemas.microsoft.com/office/drawing/2014/main" val="1362448182"/>
                    </a:ext>
                  </a:extLst>
                </a:gridCol>
              </a:tblGrid>
              <a:tr h="527759">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UUOO</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VENCIDO +9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9 MESES</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8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7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637099436"/>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DCP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2</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extLst>
                  <a:ext uri="{0D108BD9-81ED-4DB2-BD59-A6C34878D82A}">
                    <a16:rowId xmlns:a16="http://schemas.microsoft.com/office/drawing/2014/main" val="3189419138"/>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DAP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PE" sz="1800" b="1" dirty="0">
                          <a:solidFill>
                            <a:schemeClr val="tx1"/>
                          </a:solidFill>
                          <a:effectLst/>
                          <a:latin typeface="Calibri Light" panose="020F0302020204030204" pitchFamily="34" charset="0"/>
                          <a:ea typeface="Calibri" panose="020F0502020204030204" pitchFamily="34" charset="0"/>
                        </a:rPr>
                        <a:t> 0</a:t>
                      </a:r>
                      <a:endParaRPr lang="es-PE" sz="14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621642096"/>
                  </a:ext>
                </a:extLst>
              </a:tr>
            </a:tbl>
          </a:graphicData>
        </a:graphic>
      </p:graphicFrame>
      <p:sp>
        <p:nvSpPr>
          <p:cNvPr id="7" name="CuadroTexto 6">
            <a:extLst>
              <a:ext uri="{FF2B5EF4-FFF2-40B4-BE49-F238E27FC236}">
                <a16:creationId xmlns:a16="http://schemas.microsoft.com/office/drawing/2014/main" id="{EFF59043-EB5A-0DD0-D3E1-3D34EAF24267}"/>
              </a:ext>
            </a:extLst>
          </p:cNvPr>
          <p:cNvSpPr txBox="1"/>
          <p:nvPr/>
        </p:nvSpPr>
        <p:spPr>
          <a:xfrm>
            <a:off x="2946399" y="2363659"/>
            <a:ext cx="5845175" cy="261610"/>
          </a:xfrm>
          <a:prstGeom prst="rect">
            <a:avLst/>
          </a:prstGeom>
          <a:noFill/>
        </p:spPr>
        <p:txBody>
          <a:bodyPr wrap="square" rtlCol="0">
            <a:spAutoFit/>
          </a:bodyPr>
          <a:lstStyle/>
          <a:p>
            <a:r>
              <a:rPr lang="es-ES" sz="1100" dirty="0"/>
              <a:t>(*) Ocho de los trece son Reingresados</a:t>
            </a:r>
            <a:endParaRPr lang="es-PE" sz="1100" dirty="0"/>
          </a:p>
        </p:txBody>
      </p:sp>
    </p:spTree>
    <p:extLst>
      <p:ext uri="{BB962C8B-B14F-4D97-AF65-F5344CB8AC3E}">
        <p14:creationId xmlns:p14="http://schemas.microsoft.com/office/powerpoint/2010/main" val="1854213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NO GESTIONABLE Y REINGRESADOS </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1285875" y="139746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1285875" y="3163517"/>
            <a:ext cx="1028700" cy="638174"/>
          </a:xfrm>
          <a:prstGeom prst="rightArrow">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graphicFrame>
        <p:nvGraphicFramePr>
          <p:cNvPr id="2" name="Tabla 1">
            <a:extLst>
              <a:ext uri="{FF2B5EF4-FFF2-40B4-BE49-F238E27FC236}">
                <a16:creationId xmlns:a16="http://schemas.microsoft.com/office/drawing/2014/main" id="{5D48A263-D39C-6FFA-07AD-924DAA71C7EB}"/>
              </a:ext>
            </a:extLst>
          </p:cNvPr>
          <p:cNvGraphicFramePr>
            <a:graphicFrameLocks noGrp="1"/>
          </p:cNvGraphicFramePr>
          <p:nvPr>
            <p:extLst>
              <p:ext uri="{D42A27DB-BD31-4B8C-83A1-F6EECF244321}">
                <p14:modId xmlns:p14="http://schemas.microsoft.com/office/powerpoint/2010/main" val="861674598"/>
              </p:ext>
            </p:extLst>
          </p:nvPr>
        </p:nvGraphicFramePr>
        <p:xfrm>
          <a:off x="2766026" y="1152524"/>
          <a:ext cx="3190996" cy="1291141"/>
        </p:xfrm>
        <a:graphic>
          <a:graphicData uri="http://schemas.openxmlformats.org/drawingml/2006/table">
            <a:tbl>
              <a:tblPr/>
              <a:tblGrid>
                <a:gridCol w="1626299">
                  <a:extLst>
                    <a:ext uri="{9D8B030D-6E8A-4147-A177-3AD203B41FA5}">
                      <a16:colId xmlns:a16="http://schemas.microsoft.com/office/drawing/2014/main" val="303441847"/>
                    </a:ext>
                  </a:extLst>
                </a:gridCol>
                <a:gridCol w="1564697">
                  <a:extLst>
                    <a:ext uri="{9D8B030D-6E8A-4147-A177-3AD203B41FA5}">
                      <a16:colId xmlns:a16="http://schemas.microsoft.com/office/drawing/2014/main" val="1716151770"/>
                    </a:ext>
                  </a:extLst>
                </a:gridCol>
              </a:tblGrid>
              <a:tr h="349456">
                <a:tc gridSpan="2">
                  <a:txBody>
                    <a:bodyPr/>
                    <a:lstStyle/>
                    <a:p>
                      <a:pPr algn="ctr" fontAlgn="ctr"/>
                      <a:r>
                        <a:rPr lang="es-PE" sz="1400" b="1" i="0" u="none" strike="noStrike" dirty="0">
                          <a:solidFill>
                            <a:srgbClr val="000000"/>
                          </a:solidFill>
                          <a:effectLst/>
                          <a:latin typeface="+mn-lt"/>
                        </a:rPr>
                        <a:t>DCCI</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hMerge="1">
                  <a:txBody>
                    <a:bodyPr/>
                    <a:lstStyle/>
                    <a:p>
                      <a:endParaRPr lang="es-PE"/>
                    </a:p>
                  </a:txBody>
                  <a:tcPr/>
                </a:tc>
                <a:extLst>
                  <a:ext uri="{0D108BD9-81ED-4DB2-BD59-A6C34878D82A}">
                    <a16:rowId xmlns:a16="http://schemas.microsoft.com/office/drawing/2014/main" val="3528009855"/>
                  </a:ext>
                </a:extLst>
              </a:tr>
              <a:tr h="313895">
                <a:tc>
                  <a:txBody>
                    <a:bodyPr/>
                    <a:lstStyle/>
                    <a:p>
                      <a:pPr algn="l" fontAlgn="ctr"/>
                      <a:r>
                        <a:rPr lang="es-ES" sz="1400" b="1" i="0" u="none" strike="noStrike" dirty="0">
                          <a:solidFill>
                            <a:srgbClr val="000000"/>
                          </a:solidFill>
                          <a:effectLst/>
                          <a:latin typeface="+mn-lt"/>
                        </a:rPr>
                        <a:t>N</a:t>
                      </a:r>
                      <a:r>
                        <a:rPr lang="es-PE" sz="1400" b="1" i="0" u="none" strike="noStrike" dirty="0">
                          <a:solidFill>
                            <a:srgbClr val="000000"/>
                          </a:solidFill>
                          <a:effectLst/>
                          <a:latin typeface="+mn-lt"/>
                        </a:rPr>
                        <a:t>O GESTIONABLE</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mn-lt"/>
                        </a:rPr>
                        <a:t>1</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944027070"/>
                  </a:ext>
                </a:extLst>
              </a:tr>
              <a:tr h="313895">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fontAlgn="ctr"/>
                      <a:r>
                        <a:rPr lang="es-ES" sz="1400" b="1" i="0" u="none" strike="noStrike" dirty="0">
                          <a:solidFill>
                            <a:schemeClr val="tx1"/>
                          </a:solidFill>
                          <a:effectLst/>
                          <a:latin typeface="+mn-lt"/>
                        </a:rPr>
                        <a:t>0</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17716666"/>
                  </a:ext>
                </a:extLst>
              </a:tr>
              <a:tr h="313895">
                <a:tc>
                  <a:txBody>
                    <a:bodyPr/>
                    <a:lstStyle/>
                    <a:p>
                      <a:pPr algn="l" fontAlgn="ctr"/>
                      <a:r>
                        <a:rPr lang="es-ES" sz="1400" b="1" i="0" u="none" strike="noStrike" dirty="0">
                          <a:solidFill>
                            <a:srgbClr val="000000"/>
                          </a:solidFill>
                          <a:effectLst/>
                          <a:latin typeface="+mn-lt"/>
                        </a:rPr>
                        <a:t>R</a:t>
                      </a:r>
                      <a:r>
                        <a:rPr lang="es-PE" sz="1400" b="1" i="0" u="none" strike="noStrike" dirty="0">
                          <a:solidFill>
                            <a:srgbClr val="000000"/>
                          </a:solidFill>
                          <a:effectLst/>
                          <a:latin typeface="+mn-lt"/>
                        </a:rPr>
                        <a:t>EINGRESADOS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mn-lt"/>
                        </a:rPr>
                        <a:t>10</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331887893"/>
                  </a:ext>
                </a:extLst>
              </a:tr>
            </a:tbl>
          </a:graphicData>
        </a:graphic>
      </p:graphicFrame>
      <p:graphicFrame>
        <p:nvGraphicFramePr>
          <p:cNvPr id="6" name="Tabla 5">
            <a:extLst>
              <a:ext uri="{FF2B5EF4-FFF2-40B4-BE49-F238E27FC236}">
                <a16:creationId xmlns:a16="http://schemas.microsoft.com/office/drawing/2014/main" id="{7D8D1F39-161B-98DA-5982-C2CD772C41D2}"/>
              </a:ext>
            </a:extLst>
          </p:cNvPr>
          <p:cNvGraphicFramePr>
            <a:graphicFrameLocks noGrp="1"/>
          </p:cNvGraphicFramePr>
          <p:nvPr>
            <p:extLst>
              <p:ext uri="{D42A27DB-BD31-4B8C-83A1-F6EECF244321}">
                <p14:modId xmlns:p14="http://schemas.microsoft.com/office/powerpoint/2010/main" val="1350905698"/>
              </p:ext>
            </p:extLst>
          </p:nvPr>
        </p:nvGraphicFramePr>
        <p:xfrm>
          <a:off x="2766026" y="2837033"/>
          <a:ext cx="3190996" cy="1291141"/>
        </p:xfrm>
        <a:graphic>
          <a:graphicData uri="http://schemas.openxmlformats.org/drawingml/2006/table">
            <a:tbl>
              <a:tblPr/>
              <a:tblGrid>
                <a:gridCol w="1626299">
                  <a:extLst>
                    <a:ext uri="{9D8B030D-6E8A-4147-A177-3AD203B41FA5}">
                      <a16:colId xmlns:a16="http://schemas.microsoft.com/office/drawing/2014/main" val="303441847"/>
                    </a:ext>
                  </a:extLst>
                </a:gridCol>
                <a:gridCol w="1564697">
                  <a:extLst>
                    <a:ext uri="{9D8B030D-6E8A-4147-A177-3AD203B41FA5}">
                      <a16:colId xmlns:a16="http://schemas.microsoft.com/office/drawing/2014/main" val="1716151770"/>
                    </a:ext>
                  </a:extLst>
                </a:gridCol>
              </a:tblGrid>
              <a:tr h="349456">
                <a:tc gridSpan="2">
                  <a:txBody>
                    <a:bodyPr/>
                    <a:lstStyle/>
                    <a:p>
                      <a:pPr algn="ctr" fontAlgn="ctr"/>
                      <a:r>
                        <a:rPr lang="es-PE" sz="1400" b="1" i="0" u="none" strike="noStrike" dirty="0">
                          <a:solidFill>
                            <a:srgbClr val="000000"/>
                          </a:solidFill>
                          <a:effectLst/>
                          <a:latin typeface="+mn-lt"/>
                        </a:rPr>
                        <a:t>DCCII</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99FF"/>
                    </a:solidFill>
                  </a:tcPr>
                </a:tc>
                <a:tc hMerge="1">
                  <a:txBody>
                    <a:bodyPr/>
                    <a:lstStyle/>
                    <a:p>
                      <a:endParaRPr lang="es-PE"/>
                    </a:p>
                  </a:txBody>
                  <a:tcPr/>
                </a:tc>
                <a:extLst>
                  <a:ext uri="{0D108BD9-81ED-4DB2-BD59-A6C34878D82A}">
                    <a16:rowId xmlns:a16="http://schemas.microsoft.com/office/drawing/2014/main" val="3528009855"/>
                  </a:ext>
                </a:extLst>
              </a:tr>
              <a:tr h="313895">
                <a:tc>
                  <a:txBody>
                    <a:bodyPr/>
                    <a:lstStyle/>
                    <a:p>
                      <a:pPr algn="l" fontAlgn="ctr"/>
                      <a:r>
                        <a:rPr lang="es-ES" sz="1400" b="1" i="0" u="none" strike="noStrike" dirty="0">
                          <a:solidFill>
                            <a:srgbClr val="000000"/>
                          </a:solidFill>
                          <a:effectLst/>
                          <a:latin typeface="+mn-lt"/>
                        </a:rPr>
                        <a:t>N</a:t>
                      </a:r>
                      <a:r>
                        <a:rPr lang="es-PE" sz="1400" b="1" i="0" u="none" strike="noStrike" dirty="0">
                          <a:solidFill>
                            <a:srgbClr val="000000"/>
                          </a:solidFill>
                          <a:effectLst/>
                          <a:latin typeface="+mn-lt"/>
                        </a:rPr>
                        <a:t>O GESTIONABLE</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fontAlgn="ctr"/>
                      <a:r>
                        <a:rPr lang="es-ES" sz="1400" b="1" i="0" u="none" strike="noStrike" dirty="0">
                          <a:solidFill>
                            <a:schemeClr val="tx1"/>
                          </a:solidFill>
                          <a:effectLst/>
                          <a:latin typeface="+mn-lt"/>
                        </a:rPr>
                        <a:t>29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extLst>
                  <a:ext uri="{0D108BD9-81ED-4DB2-BD59-A6C34878D82A}">
                    <a16:rowId xmlns:a16="http://schemas.microsoft.com/office/drawing/2014/main" val="2944027070"/>
                  </a:ext>
                </a:extLst>
              </a:tr>
              <a:tr h="313895">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fontAlgn="ctr"/>
                      <a:r>
                        <a:rPr lang="es-ES" sz="1400" b="1" i="0" u="none" strike="noStrike" dirty="0">
                          <a:solidFill>
                            <a:schemeClr val="tx1"/>
                          </a:solidFill>
                          <a:effectLst/>
                          <a:latin typeface="+mn-lt"/>
                        </a:rPr>
                        <a:t>0</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17716666"/>
                  </a:ext>
                </a:extLst>
              </a:tr>
              <a:tr h="313895">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400" b="1" i="0" u="none" strike="noStrike" dirty="0">
                          <a:solidFill>
                            <a:srgbClr val="000000"/>
                          </a:solidFill>
                          <a:effectLst/>
                          <a:latin typeface="+mn-lt"/>
                        </a:rPr>
                        <a:t>R</a:t>
                      </a:r>
                      <a:r>
                        <a:rPr lang="es-PE" sz="1400" b="1" i="0" u="none" strike="noStrike" dirty="0">
                          <a:solidFill>
                            <a:srgbClr val="000000"/>
                          </a:solidFill>
                          <a:effectLst/>
                          <a:latin typeface="+mn-lt"/>
                        </a:rPr>
                        <a:t>EINGRESADOS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fontAlgn="ctr"/>
                      <a:r>
                        <a:rPr lang="es-ES" sz="1400" b="1" i="0" u="none" strike="noStrike" dirty="0">
                          <a:solidFill>
                            <a:schemeClr val="tx1"/>
                          </a:solidFill>
                          <a:effectLst/>
                          <a:latin typeface="+mn-lt"/>
                        </a:rPr>
                        <a:t>3</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extLst>
                  <a:ext uri="{0D108BD9-81ED-4DB2-BD59-A6C34878D82A}">
                    <a16:rowId xmlns:a16="http://schemas.microsoft.com/office/drawing/2014/main" val="2331887893"/>
                  </a:ext>
                </a:extLst>
              </a:tr>
            </a:tbl>
          </a:graphicData>
        </a:graphic>
      </p:graphicFrame>
      <p:graphicFrame>
        <p:nvGraphicFramePr>
          <p:cNvPr id="7" name="Tabla 6">
            <a:extLst>
              <a:ext uri="{FF2B5EF4-FFF2-40B4-BE49-F238E27FC236}">
                <a16:creationId xmlns:a16="http://schemas.microsoft.com/office/drawing/2014/main" id="{0F487CDF-AEF2-6A89-6E62-3C2229D25977}"/>
              </a:ext>
            </a:extLst>
          </p:cNvPr>
          <p:cNvGraphicFramePr>
            <a:graphicFrameLocks noGrp="1"/>
          </p:cNvGraphicFramePr>
          <p:nvPr>
            <p:extLst>
              <p:ext uri="{D42A27DB-BD31-4B8C-83A1-F6EECF244321}">
                <p14:modId xmlns:p14="http://schemas.microsoft.com/office/powerpoint/2010/main" val="4015934136"/>
              </p:ext>
            </p:extLst>
          </p:nvPr>
        </p:nvGraphicFramePr>
        <p:xfrm>
          <a:off x="2766026" y="4603086"/>
          <a:ext cx="3190996" cy="1291141"/>
        </p:xfrm>
        <a:graphic>
          <a:graphicData uri="http://schemas.openxmlformats.org/drawingml/2006/table">
            <a:tbl>
              <a:tblPr/>
              <a:tblGrid>
                <a:gridCol w="1626299">
                  <a:extLst>
                    <a:ext uri="{9D8B030D-6E8A-4147-A177-3AD203B41FA5}">
                      <a16:colId xmlns:a16="http://schemas.microsoft.com/office/drawing/2014/main" val="303441847"/>
                    </a:ext>
                  </a:extLst>
                </a:gridCol>
                <a:gridCol w="1564697">
                  <a:extLst>
                    <a:ext uri="{9D8B030D-6E8A-4147-A177-3AD203B41FA5}">
                      <a16:colId xmlns:a16="http://schemas.microsoft.com/office/drawing/2014/main" val="1716151770"/>
                    </a:ext>
                  </a:extLst>
                </a:gridCol>
              </a:tblGrid>
              <a:tr h="349456">
                <a:tc gridSpan="2">
                  <a:txBody>
                    <a:bodyPr/>
                    <a:lstStyle/>
                    <a:p>
                      <a:pPr algn="ctr" fontAlgn="ctr"/>
                      <a:r>
                        <a:rPr lang="es-PE" sz="1400" b="1" i="0" u="none" strike="noStrike" dirty="0">
                          <a:solidFill>
                            <a:srgbClr val="000000"/>
                          </a:solidFill>
                          <a:effectLst/>
                          <a:latin typeface="+mn-lt"/>
                        </a:rPr>
                        <a:t>DCP</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B050"/>
                    </a:solidFill>
                  </a:tcPr>
                </a:tc>
                <a:tc hMerge="1">
                  <a:txBody>
                    <a:bodyPr/>
                    <a:lstStyle/>
                    <a:p>
                      <a:endParaRPr lang="es-PE"/>
                    </a:p>
                  </a:txBody>
                  <a:tcPr/>
                </a:tc>
                <a:extLst>
                  <a:ext uri="{0D108BD9-81ED-4DB2-BD59-A6C34878D82A}">
                    <a16:rowId xmlns:a16="http://schemas.microsoft.com/office/drawing/2014/main" val="3528009855"/>
                  </a:ext>
                </a:extLst>
              </a:tr>
              <a:tr h="313895">
                <a:tc>
                  <a:txBody>
                    <a:bodyPr/>
                    <a:lstStyle/>
                    <a:p>
                      <a:pPr algn="l" fontAlgn="ctr"/>
                      <a:r>
                        <a:rPr lang="es-ES" sz="1400" b="1" i="0" u="none" strike="noStrike" dirty="0">
                          <a:solidFill>
                            <a:srgbClr val="000000"/>
                          </a:solidFill>
                          <a:effectLst/>
                          <a:latin typeface="+mn-lt"/>
                        </a:rPr>
                        <a:t>N</a:t>
                      </a:r>
                      <a:r>
                        <a:rPr lang="es-PE" sz="1400" b="1" i="0" u="none" strike="noStrike" dirty="0">
                          <a:solidFill>
                            <a:srgbClr val="000000"/>
                          </a:solidFill>
                          <a:effectLst/>
                          <a:latin typeface="+mn-lt"/>
                        </a:rPr>
                        <a:t>O GESTIONABLE</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fontAlgn="ctr"/>
                      <a:r>
                        <a:rPr lang="es-ES" sz="1400" b="1" i="0" u="none" strike="noStrike" dirty="0">
                          <a:solidFill>
                            <a:srgbClr val="000000"/>
                          </a:solidFill>
                          <a:effectLst/>
                          <a:latin typeface="+mn-lt"/>
                        </a:rPr>
                        <a:t>0 </a:t>
                      </a:r>
                      <a:endParaRPr lang="es-PE" sz="1400" b="1" i="0" u="none" strike="noStrike" dirty="0">
                        <a:solidFill>
                          <a:srgbClr val="000000"/>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extLst>
                  <a:ext uri="{0D108BD9-81ED-4DB2-BD59-A6C34878D82A}">
                    <a16:rowId xmlns:a16="http://schemas.microsoft.com/office/drawing/2014/main" val="2944027070"/>
                  </a:ext>
                </a:extLst>
              </a:tr>
              <a:tr h="313895">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fontAlgn="ctr"/>
                      <a:r>
                        <a:rPr lang="es-ES" sz="1400" b="1" i="0" u="none" strike="noStrike" dirty="0">
                          <a:solidFill>
                            <a:schemeClr val="tx1"/>
                          </a:solidFill>
                          <a:effectLst/>
                          <a:latin typeface="+mn-lt"/>
                        </a:rPr>
                        <a:t>0</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17716666"/>
                  </a:ext>
                </a:extLst>
              </a:tr>
              <a:tr h="313895">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400" b="1" i="0" u="none" strike="noStrike" dirty="0">
                          <a:solidFill>
                            <a:srgbClr val="000000"/>
                          </a:solidFill>
                          <a:effectLst/>
                          <a:latin typeface="+mn-lt"/>
                        </a:rPr>
                        <a:t>R</a:t>
                      </a:r>
                      <a:r>
                        <a:rPr lang="es-PE" sz="1400" b="1" i="0" u="none" strike="noStrike" dirty="0">
                          <a:solidFill>
                            <a:srgbClr val="000000"/>
                          </a:solidFill>
                          <a:effectLst/>
                          <a:latin typeface="+mn-lt"/>
                        </a:rPr>
                        <a:t>EINGRESADOS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fontAlgn="ctr"/>
                      <a:r>
                        <a:rPr lang="es-ES" sz="1400" b="1" i="0" u="none" strike="noStrike" dirty="0">
                          <a:solidFill>
                            <a:schemeClr val="tx1"/>
                          </a:solidFill>
                          <a:effectLst/>
                          <a:latin typeface="+mn-lt"/>
                        </a:rPr>
                        <a:t>1</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extLst>
                  <a:ext uri="{0D108BD9-81ED-4DB2-BD59-A6C34878D82A}">
                    <a16:rowId xmlns:a16="http://schemas.microsoft.com/office/drawing/2014/main" val="2331887893"/>
                  </a:ext>
                </a:extLst>
              </a:tr>
            </a:tbl>
          </a:graphicData>
        </a:graphic>
      </p:graphicFrame>
      <p:sp>
        <p:nvSpPr>
          <p:cNvPr id="3" name="Flecha: a la derecha 2">
            <a:extLst>
              <a:ext uri="{FF2B5EF4-FFF2-40B4-BE49-F238E27FC236}">
                <a16:creationId xmlns:a16="http://schemas.microsoft.com/office/drawing/2014/main" id="{A7976BD3-E52B-5499-C044-AC7EC4328524}"/>
              </a:ext>
            </a:extLst>
          </p:cNvPr>
          <p:cNvSpPr/>
          <p:nvPr/>
        </p:nvSpPr>
        <p:spPr>
          <a:xfrm>
            <a:off x="1285875" y="4929569"/>
            <a:ext cx="1028700" cy="638174"/>
          </a:xfrm>
          <a:prstGeom prst="rightArrow">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s-ES" dirty="0"/>
              <a:t>DCP</a:t>
            </a:r>
            <a:endParaRPr lang="es-PE" dirty="0"/>
          </a:p>
        </p:txBody>
      </p:sp>
      <p:sp>
        <p:nvSpPr>
          <p:cNvPr id="11" name="CuadroTexto 10">
            <a:extLst>
              <a:ext uri="{FF2B5EF4-FFF2-40B4-BE49-F238E27FC236}">
                <a16:creationId xmlns:a16="http://schemas.microsoft.com/office/drawing/2014/main" id="{DEEB20DA-1378-47AA-A835-431E4B5135F4}"/>
              </a:ext>
            </a:extLst>
          </p:cNvPr>
          <p:cNvSpPr txBox="1"/>
          <p:nvPr/>
        </p:nvSpPr>
        <p:spPr>
          <a:xfrm>
            <a:off x="1285874" y="6238635"/>
            <a:ext cx="3124201" cy="276999"/>
          </a:xfrm>
          <a:prstGeom prst="rect">
            <a:avLst/>
          </a:prstGeom>
          <a:noFill/>
        </p:spPr>
        <p:txBody>
          <a:bodyPr wrap="square">
            <a:spAutoFit/>
          </a:bodyPr>
          <a:lstStyle/>
          <a:p>
            <a:r>
              <a:rPr lang="es-PE" sz="1200" b="1" dirty="0">
                <a:latin typeface="Calibri Light" panose="020F0302020204030204" pitchFamily="34" charset="0"/>
                <a:ea typeface="Calibri" panose="020F0502020204030204" pitchFamily="34" charset="0"/>
              </a:rPr>
              <a:t>Fuente</a:t>
            </a:r>
            <a:r>
              <a:rPr lang="es-PE" sz="1200" dirty="0">
                <a:latin typeface="Calibri Light" panose="020F0302020204030204" pitchFamily="34" charset="0"/>
                <a:ea typeface="Calibri" panose="020F0502020204030204" pitchFamily="34" charset="0"/>
              </a:rPr>
              <a:t>: Módulo SIGERI al 30.04.2024</a:t>
            </a:r>
          </a:p>
        </p:txBody>
      </p:sp>
    </p:spTree>
    <p:extLst>
      <p:ext uri="{BB962C8B-B14F-4D97-AF65-F5344CB8AC3E}">
        <p14:creationId xmlns:p14="http://schemas.microsoft.com/office/powerpoint/2010/main" val="2838625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ITOP REPORTADOS–2023</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D55D1268-DC29-7290-F4BC-4E91D0CD92F1}"/>
              </a:ext>
            </a:extLst>
          </p:cNvPr>
          <p:cNvGraphicFramePr>
            <a:graphicFrameLocks noGrp="1"/>
          </p:cNvGraphicFramePr>
          <p:nvPr>
            <p:extLst>
              <p:ext uri="{D42A27DB-BD31-4B8C-83A1-F6EECF244321}">
                <p14:modId xmlns:p14="http://schemas.microsoft.com/office/powerpoint/2010/main" val="573742567"/>
              </p:ext>
            </p:extLst>
          </p:nvPr>
        </p:nvGraphicFramePr>
        <p:xfrm>
          <a:off x="1485901" y="1424085"/>
          <a:ext cx="9058276" cy="5265677"/>
        </p:xfrm>
        <a:graphic>
          <a:graphicData uri="http://schemas.openxmlformats.org/drawingml/2006/table">
            <a:tbl>
              <a:tblPr firstRow="1" firstCol="1" bandRow="1"/>
              <a:tblGrid>
                <a:gridCol w="1552367">
                  <a:extLst>
                    <a:ext uri="{9D8B030D-6E8A-4147-A177-3AD203B41FA5}">
                      <a16:colId xmlns:a16="http://schemas.microsoft.com/office/drawing/2014/main" val="1329933936"/>
                    </a:ext>
                  </a:extLst>
                </a:gridCol>
                <a:gridCol w="2036233">
                  <a:extLst>
                    <a:ext uri="{9D8B030D-6E8A-4147-A177-3AD203B41FA5}">
                      <a16:colId xmlns:a16="http://schemas.microsoft.com/office/drawing/2014/main" val="63170076"/>
                    </a:ext>
                  </a:extLst>
                </a:gridCol>
                <a:gridCol w="5469676">
                  <a:extLst>
                    <a:ext uri="{9D8B030D-6E8A-4147-A177-3AD203B41FA5}">
                      <a16:colId xmlns:a16="http://schemas.microsoft.com/office/drawing/2014/main" val="3005957556"/>
                    </a:ext>
                  </a:extLst>
                </a:gridCol>
              </a:tblGrid>
              <a:tr h="191254">
                <a:tc gridSpan="3">
                  <a:txBody>
                    <a:bodyPr/>
                    <a:lstStyle/>
                    <a:p>
                      <a:pPr algn="ctr"/>
                      <a:r>
                        <a:rPr lang="es-PE" sz="1050" b="1" dirty="0">
                          <a:effectLst/>
                          <a:latin typeface="Calibri" panose="020F0502020204030204" pitchFamily="34" charset="0"/>
                          <a:ea typeface="Calibri" panose="020F0502020204030204" pitchFamily="34" charset="0"/>
                          <a:cs typeface="Times New Roman" panose="02020603050405020304" pitchFamily="18" charset="0"/>
                        </a:rPr>
                        <a:t>ITOP REPORTADOS</a:t>
                      </a: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28575" cap="flat" cmpd="sng" algn="ctr">
                      <a:solidFill>
                        <a:srgbClr val="70AD47"/>
                      </a:solidFill>
                      <a:prstDash val="solid"/>
                      <a:round/>
                      <a:headEnd type="none" w="med" len="med"/>
                      <a:tailEnd type="none" w="med" len="med"/>
                    </a:lnB>
                  </a:tcPr>
                </a:tc>
                <a:tc hMerge="1">
                  <a:txBody>
                    <a:bodyPr/>
                    <a:lstStyle/>
                    <a:p>
                      <a:pPr algn="ct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tcPr>
                </a:tc>
                <a:tc hMerge="1">
                  <a:txBody>
                    <a:bodyPr/>
                    <a:lstStyle/>
                    <a:p>
                      <a:pPr algn="ct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tcPr>
                </a:tc>
                <a:extLst>
                  <a:ext uri="{0D108BD9-81ED-4DB2-BD59-A6C34878D82A}">
                    <a16:rowId xmlns:a16="http://schemas.microsoft.com/office/drawing/2014/main" val="1785700418"/>
                  </a:ext>
                </a:extLst>
              </a:tr>
              <a:tr h="191254">
                <a:tc>
                  <a:txBody>
                    <a:bodyPr/>
                    <a:lstStyle/>
                    <a:p>
                      <a:r>
                        <a:rPr lang="es-PE" sz="105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05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28575"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gridSpan="2">
                  <a:txBody>
                    <a:bodyPr/>
                    <a:lstStyle/>
                    <a:p>
                      <a:pPr algn="ctr"/>
                      <a:r>
                        <a:rPr lang="es-ES" sz="105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a:t>
                      </a:r>
                      <a:r>
                        <a:rPr lang="es-PE" sz="105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ICIEMBRE</a:t>
                      </a: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B w="12700" cap="flat" cmpd="sng" algn="ctr">
                      <a:solidFill>
                        <a:srgbClr val="70AD47"/>
                      </a:solidFill>
                      <a:prstDash val="solid"/>
                      <a:round/>
                      <a:headEnd type="none" w="med" len="med"/>
                      <a:tailEnd type="none" w="med" len="med"/>
                    </a:lnB>
                    <a:solidFill>
                      <a:srgbClr val="EBF1E9"/>
                    </a:solidFill>
                  </a:tcPr>
                </a:tc>
                <a:tc hMerge="1">
                  <a:txBody>
                    <a:bodyPr/>
                    <a:lstStyle/>
                    <a:p>
                      <a:pPr algn="ct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R w="12700" cap="flat" cmpd="sng" algn="ctr">
                      <a:solidFill>
                        <a:srgbClr val="70AD47"/>
                      </a:solidFill>
                      <a:prstDash val="solid"/>
                      <a:round/>
                      <a:headEnd type="none" w="med" len="med"/>
                      <a:tailEnd type="none" w="med" len="med"/>
                    </a:lnR>
                    <a:lnB w="12700" cap="flat" cmpd="sng" algn="ctr">
                      <a:solidFill>
                        <a:srgbClr val="70AD47"/>
                      </a:solidFill>
                      <a:prstDash val="solid"/>
                      <a:round/>
                      <a:headEnd type="none" w="med" len="med"/>
                      <a:tailEnd type="none" w="med" len="med"/>
                    </a:lnB>
                    <a:solidFill>
                      <a:srgbClr val="EBF1E9"/>
                    </a:solidFill>
                  </a:tcPr>
                </a:tc>
                <a:extLst>
                  <a:ext uri="{0D108BD9-81ED-4DB2-BD59-A6C34878D82A}">
                    <a16:rowId xmlns:a16="http://schemas.microsoft.com/office/drawing/2014/main" val="1129546492"/>
                  </a:ext>
                </a:extLst>
              </a:tr>
              <a:tr h="373130">
                <a:tc>
                  <a:txBody>
                    <a:bodyPr/>
                    <a:lstStyle/>
                    <a:p>
                      <a:r>
                        <a:rPr lang="es-PE" sz="1050" b="1">
                          <a:effectLst/>
                          <a:latin typeface="Calibri" panose="020F0502020204030204" pitchFamily="34" charset="0"/>
                          <a:ea typeface="Calibri" panose="020F0502020204030204" pitchFamily="34" charset="0"/>
                          <a:cs typeface="Times New Roman" panose="02020603050405020304" pitchFamily="18" charset="0"/>
                        </a:rPr>
                        <a:t> </a:t>
                      </a:r>
                      <a:endParaRPr lang="es-PE" sz="105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050" b="1" dirty="0" err="1">
                          <a:effectLst/>
                          <a:latin typeface="Calibri" panose="020F0502020204030204" pitchFamily="34" charset="0"/>
                          <a:ea typeface="Calibri" panose="020F0502020204030204" pitchFamily="34" charset="0"/>
                          <a:cs typeface="Times New Roman" panose="02020603050405020304" pitchFamily="18" charset="0"/>
                        </a:rPr>
                        <a:t>N°</a:t>
                      </a:r>
                      <a:r>
                        <a:rPr lang="es-PE" sz="1050" b="1" dirty="0">
                          <a:effectLst/>
                          <a:latin typeface="Calibri" panose="020F0502020204030204" pitchFamily="34" charset="0"/>
                          <a:ea typeface="Calibri" panose="020F0502020204030204" pitchFamily="34" charset="0"/>
                          <a:cs typeface="Times New Roman" panose="02020603050405020304" pitchFamily="18" charset="0"/>
                        </a:rPr>
                        <a:t> ITOP</a:t>
                      </a: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050" b="1" dirty="0">
                          <a:effectLst/>
                          <a:latin typeface="Calibri" panose="020F0502020204030204" pitchFamily="34" charset="0"/>
                          <a:ea typeface="Calibri" panose="020F0502020204030204" pitchFamily="34" charset="0"/>
                          <a:cs typeface="Times New Roman" panose="02020603050405020304" pitchFamily="18" charset="0"/>
                        </a:rPr>
                        <a:t> ASUNTO</a:t>
                      </a: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1393214133"/>
                  </a:ext>
                </a:extLst>
              </a:tr>
              <a:tr h="355210">
                <a:tc>
                  <a:txBody>
                    <a:bodyPr/>
                    <a:lstStyle/>
                    <a:p>
                      <a:r>
                        <a:rPr lang="es-PE" sz="105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DCCI</a:t>
                      </a:r>
                      <a:endParaRPr lang="es-PE" sz="105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5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0</a:t>
                      </a:r>
                      <a:endParaRPr lang="es-PE" sz="105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pPr algn="l"/>
                      <a:endParaRPr lang="es-PE" sz="1050" u="none" kern="1200" dirty="0">
                        <a:solidFill>
                          <a:srgbClr val="FF0000"/>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extLst>
                  <a:ext uri="{0D108BD9-81ED-4DB2-BD59-A6C34878D82A}">
                    <a16:rowId xmlns:a16="http://schemas.microsoft.com/office/drawing/2014/main" val="2877909416"/>
                  </a:ext>
                </a:extLst>
              </a:tr>
              <a:tr h="2012268">
                <a:tc>
                  <a:txBody>
                    <a:bodyPr/>
                    <a:lstStyle/>
                    <a:p>
                      <a:r>
                        <a:rPr lang="es-ES" sz="105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DCCII</a:t>
                      </a:r>
                      <a:endParaRPr lang="es-PE"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ctr"/>
                      <a:r>
                        <a:rPr lang="es-ES"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19</a:t>
                      </a:r>
                      <a:endParaRPr lang="es-PE"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I-853703, I-889537, I-888239, I-8882343, R-891970 , R-890289, I- 873908, I-875847, I-875856, I-878412, R-899402, R-890289, I-891013, I-889537, R-878455, I-879682, R-883290.</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 permite registro manual de Notificacion de RD_ SIGERI 4090340006585</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-Tramite admisibilidad</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 se puede devolver expediente a admisibilidad</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-Error en la transmisión del Manifiesto de Carga </a:t>
                      </a:r>
                      <a:r>
                        <a:rPr lang="es-ES" sz="105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Exportacion</a:t>
                      </a:r>
                      <a:r>
                        <a:rPr lang="es-ES"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235-2021-2094 (DSEER Exportación 235-2021-4099)</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-Error para REVERTIR NOTIFICACION MANUAL en SIGERI 4090340005388 -RUSSA CRESPO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-Error para REVERTIR NOTIFICACION MANUAL en SIGERI 4090340005225 -RUSSA CRESPO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 se actualiza DATO de NOTIFICACION en SIGERI 4090340007175 (ANA CRISTINA DIOSES ZAPATA)</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 permite devolver expediente 4090340007869 a Admisibilidad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-REVERTIR ESTADO DE RECLAMO en la LC 082-2023-000078 (EXSA SA) vinculado a SIGERI 4090340003576 (dado de baja)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-Vincular SIGERI 4090340007305 con la LC </a:t>
                      </a:r>
                      <a:r>
                        <a:rPr lang="es-ES" sz="105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a:t>
                      </a:r>
                      <a:r>
                        <a:rPr lang="es-ES"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046-2023-003725 (INVERSIONES GENERALES GARCES &amp; SEMINARIO S.R.L)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-RECTIFICAR en la LC 019-2022-003784 (GISIS SA) RESULTADO DE RECLAMO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1707347665"/>
                  </a:ext>
                </a:extLst>
              </a:tr>
              <a:tr h="1243235">
                <a:tc>
                  <a:txBody>
                    <a:bodyPr/>
                    <a:lstStyle/>
                    <a:p>
                      <a:r>
                        <a:rPr lang="es-PE" sz="105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DCP</a:t>
                      </a:r>
                      <a:endParaRPr lang="es-PE" sz="105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pPr algn="ctr"/>
                      <a:r>
                        <a:rPr lang="es-ES" sz="1050" b="1" dirty="0">
                          <a:effectLst/>
                          <a:latin typeface="Calibri" panose="020F0502020204030204" pitchFamily="34" charset="0"/>
                          <a:ea typeface="Calibri" panose="020F0502020204030204" pitchFamily="34" charset="0"/>
                          <a:cs typeface="Times New Roman" panose="02020603050405020304" pitchFamily="18" charset="0"/>
                        </a:rPr>
                        <a:t>4</a:t>
                      </a:r>
                      <a:endParaRPr lang="es-PE" sz="105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r>
                        <a:rPr lang="es-PE" sz="1050" dirty="0">
                          <a:effectLst/>
                          <a:latin typeface="Calibri" panose="020F0502020204030204" pitchFamily="34" charset="0"/>
                          <a:ea typeface="Calibri" panose="020F0502020204030204" pitchFamily="34" charset="0"/>
                          <a:cs typeface="Times New Roman" panose="02020603050405020304" pitchFamily="18" charset="0"/>
                        </a:rPr>
                        <a:t>I-900776 No generó SINE</a:t>
                      </a:r>
                    </a:p>
                    <a:p>
                      <a:r>
                        <a:rPr lang="es-PE" sz="1050" dirty="0">
                          <a:effectLst/>
                          <a:latin typeface="Calibri" panose="020F0502020204030204" pitchFamily="34" charset="0"/>
                          <a:ea typeface="Calibri" panose="020F0502020204030204" pitchFamily="34" charset="0"/>
                          <a:cs typeface="Times New Roman" panose="02020603050405020304" pitchFamily="18" charset="0"/>
                        </a:rPr>
                        <a:t>I-900398 Cerrar SIGERI</a:t>
                      </a:r>
                    </a:p>
                    <a:p>
                      <a:r>
                        <a:rPr lang="es-PE" sz="1050" dirty="0">
                          <a:effectLst/>
                          <a:latin typeface="Calibri" panose="020F0502020204030204" pitchFamily="34" charset="0"/>
                          <a:ea typeface="Calibri" panose="020F0502020204030204" pitchFamily="34" charset="0"/>
                          <a:cs typeface="Times New Roman" panose="02020603050405020304" pitchFamily="18" charset="0"/>
                        </a:rPr>
                        <a:t>I-899449 No generó SINE</a:t>
                      </a:r>
                    </a:p>
                    <a:p>
                      <a:r>
                        <a:rPr lang="es-PE" sz="1050" dirty="0">
                          <a:effectLst/>
                          <a:latin typeface="Calibri" panose="020F0502020204030204" pitchFamily="34" charset="0"/>
                          <a:ea typeface="Calibri" panose="020F0502020204030204" pitchFamily="34" charset="0"/>
                          <a:cs typeface="Times New Roman" panose="02020603050405020304" pitchFamily="18" charset="0"/>
                        </a:rPr>
                        <a:t>I-887614 Actualizar L/Cs</a:t>
                      </a:r>
                    </a:p>
                    <a:p>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p>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extLst>
                  <a:ext uri="{0D108BD9-81ED-4DB2-BD59-A6C34878D82A}">
                    <a16:rowId xmlns:a16="http://schemas.microsoft.com/office/drawing/2014/main" val="476787184"/>
                  </a:ext>
                </a:extLst>
              </a:tr>
              <a:tr h="191254">
                <a:tc>
                  <a:txBody>
                    <a:bodyPr/>
                    <a:lstStyle/>
                    <a:p>
                      <a:r>
                        <a:rPr lang="es-PE" sz="1050" b="1">
                          <a:effectLst/>
                          <a:latin typeface="Calibri" panose="020F0502020204030204" pitchFamily="34" charset="0"/>
                          <a:ea typeface="Calibri" panose="020F0502020204030204" pitchFamily="34" charset="0"/>
                          <a:cs typeface="Times New Roman" panose="02020603050405020304" pitchFamily="18" charset="0"/>
                        </a:rPr>
                        <a:t>TOTAL</a:t>
                      </a:r>
                      <a:endParaRPr lang="es-PE" sz="105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ctr"/>
                      <a:r>
                        <a:rPr lang="es-ES" sz="1050" b="1" dirty="0">
                          <a:effectLst/>
                          <a:latin typeface="Calibri" panose="020F0502020204030204" pitchFamily="34" charset="0"/>
                          <a:ea typeface="Calibri" panose="020F0502020204030204" pitchFamily="34" charset="0"/>
                          <a:cs typeface="Times New Roman" panose="02020603050405020304" pitchFamily="18" charset="0"/>
                        </a:rPr>
                        <a:t>23</a:t>
                      </a:r>
                      <a:endParaRPr lang="es-PE" sz="105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1168371186"/>
                  </a:ext>
                </a:extLst>
              </a:tr>
            </a:tbl>
          </a:graphicData>
        </a:graphic>
      </p:graphicFrame>
    </p:spTree>
    <p:extLst>
      <p:ext uri="{BB962C8B-B14F-4D97-AF65-F5344CB8AC3E}">
        <p14:creationId xmlns:p14="http://schemas.microsoft.com/office/powerpoint/2010/main" val="27286710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800" b="1" dirty="0">
                <a:latin typeface="Arial" panose="020B0604020202020204" pitchFamily="34" charset="0"/>
                <a:cs typeface="Arial" panose="020B0604020202020204" pitchFamily="34" charset="0"/>
              </a:rPr>
              <a:t>RESULTADOS DE RECLAMO - 2024</a:t>
            </a:r>
            <a:br>
              <a:rPr lang="es-ES" sz="2800" b="1" dirty="0">
                <a:latin typeface="Arial" panose="020B0604020202020204" pitchFamily="34" charset="0"/>
                <a:cs typeface="Arial" panose="020B0604020202020204" pitchFamily="34" charset="0"/>
              </a:rPr>
            </a:br>
            <a:endParaRPr lang="es-PE" sz="2800" b="1" dirty="0">
              <a:latin typeface="Arial" panose="020B0604020202020204" pitchFamily="34" charset="0"/>
              <a:cs typeface="Arial" panose="020B0604020202020204" pitchFamily="34" charset="0"/>
            </a:endParaRPr>
          </a:p>
        </p:txBody>
      </p:sp>
      <p:graphicFrame>
        <p:nvGraphicFramePr>
          <p:cNvPr id="6" name="Tabla 5">
            <a:extLst>
              <a:ext uri="{FF2B5EF4-FFF2-40B4-BE49-F238E27FC236}">
                <a16:creationId xmlns:a16="http://schemas.microsoft.com/office/drawing/2014/main" id="{5C1F8767-F3D1-FC7C-4DC5-DC221001CBFC}"/>
              </a:ext>
            </a:extLst>
          </p:cNvPr>
          <p:cNvGraphicFramePr>
            <a:graphicFrameLocks noGrp="1"/>
          </p:cNvGraphicFramePr>
          <p:nvPr>
            <p:extLst>
              <p:ext uri="{D42A27DB-BD31-4B8C-83A1-F6EECF244321}">
                <p14:modId xmlns:p14="http://schemas.microsoft.com/office/powerpoint/2010/main" val="1313354196"/>
              </p:ext>
            </p:extLst>
          </p:nvPr>
        </p:nvGraphicFramePr>
        <p:xfrm>
          <a:off x="742949" y="1342634"/>
          <a:ext cx="10262912" cy="4581915"/>
        </p:xfrm>
        <a:graphic>
          <a:graphicData uri="http://schemas.openxmlformats.org/drawingml/2006/table">
            <a:tbl>
              <a:tblPr/>
              <a:tblGrid>
                <a:gridCol w="1014544">
                  <a:extLst>
                    <a:ext uri="{9D8B030D-6E8A-4147-A177-3AD203B41FA5}">
                      <a16:colId xmlns:a16="http://schemas.microsoft.com/office/drawing/2014/main" val="1830478753"/>
                    </a:ext>
                  </a:extLst>
                </a:gridCol>
                <a:gridCol w="456515">
                  <a:extLst>
                    <a:ext uri="{9D8B030D-6E8A-4147-A177-3AD203B41FA5}">
                      <a16:colId xmlns:a16="http://schemas.microsoft.com/office/drawing/2014/main" val="976110479"/>
                    </a:ext>
                  </a:extLst>
                </a:gridCol>
                <a:gridCol w="531458">
                  <a:extLst>
                    <a:ext uri="{9D8B030D-6E8A-4147-A177-3AD203B41FA5}">
                      <a16:colId xmlns:a16="http://schemas.microsoft.com/office/drawing/2014/main" val="2657161292"/>
                    </a:ext>
                  </a:extLst>
                </a:gridCol>
                <a:gridCol w="750945">
                  <a:extLst>
                    <a:ext uri="{9D8B030D-6E8A-4147-A177-3AD203B41FA5}">
                      <a16:colId xmlns:a16="http://schemas.microsoft.com/office/drawing/2014/main" val="2571861186"/>
                    </a:ext>
                  </a:extLst>
                </a:gridCol>
                <a:gridCol w="750945">
                  <a:extLst>
                    <a:ext uri="{9D8B030D-6E8A-4147-A177-3AD203B41FA5}">
                      <a16:colId xmlns:a16="http://schemas.microsoft.com/office/drawing/2014/main" val="3123508407"/>
                    </a:ext>
                  </a:extLst>
                </a:gridCol>
                <a:gridCol w="750945">
                  <a:extLst>
                    <a:ext uri="{9D8B030D-6E8A-4147-A177-3AD203B41FA5}">
                      <a16:colId xmlns:a16="http://schemas.microsoft.com/office/drawing/2014/main" val="1761037411"/>
                    </a:ext>
                  </a:extLst>
                </a:gridCol>
                <a:gridCol w="750945">
                  <a:extLst>
                    <a:ext uri="{9D8B030D-6E8A-4147-A177-3AD203B41FA5}">
                      <a16:colId xmlns:a16="http://schemas.microsoft.com/office/drawing/2014/main" val="4069715718"/>
                    </a:ext>
                  </a:extLst>
                </a:gridCol>
                <a:gridCol w="750945">
                  <a:extLst>
                    <a:ext uri="{9D8B030D-6E8A-4147-A177-3AD203B41FA5}">
                      <a16:colId xmlns:a16="http://schemas.microsoft.com/office/drawing/2014/main" val="2827311752"/>
                    </a:ext>
                  </a:extLst>
                </a:gridCol>
                <a:gridCol w="750945">
                  <a:extLst>
                    <a:ext uri="{9D8B030D-6E8A-4147-A177-3AD203B41FA5}">
                      <a16:colId xmlns:a16="http://schemas.microsoft.com/office/drawing/2014/main" val="3158204159"/>
                    </a:ext>
                  </a:extLst>
                </a:gridCol>
                <a:gridCol w="750945">
                  <a:extLst>
                    <a:ext uri="{9D8B030D-6E8A-4147-A177-3AD203B41FA5}">
                      <a16:colId xmlns:a16="http://schemas.microsoft.com/office/drawing/2014/main" val="1845870146"/>
                    </a:ext>
                  </a:extLst>
                </a:gridCol>
                <a:gridCol w="750945">
                  <a:extLst>
                    <a:ext uri="{9D8B030D-6E8A-4147-A177-3AD203B41FA5}">
                      <a16:colId xmlns:a16="http://schemas.microsoft.com/office/drawing/2014/main" val="2669878163"/>
                    </a:ext>
                  </a:extLst>
                </a:gridCol>
                <a:gridCol w="750945">
                  <a:extLst>
                    <a:ext uri="{9D8B030D-6E8A-4147-A177-3AD203B41FA5}">
                      <a16:colId xmlns:a16="http://schemas.microsoft.com/office/drawing/2014/main" val="3086343668"/>
                    </a:ext>
                  </a:extLst>
                </a:gridCol>
                <a:gridCol w="750945">
                  <a:extLst>
                    <a:ext uri="{9D8B030D-6E8A-4147-A177-3AD203B41FA5}">
                      <a16:colId xmlns:a16="http://schemas.microsoft.com/office/drawing/2014/main" val="607963361"/>
                    </a:ext>
                  </a:extLst>
                </a:gridCol>
                <a:gridCol w="750945">
                  <a:extLst>
                    <a:ext uri="{9D8B030D-6E8A-4147-A177-3AD203B41FA5}">
                      <a16:colId xmlns:a16="http://schemas.microsoft.com/office/drawing/2014/main" val="345460417"/>
                    </a:ext>
                  </a:extLst>
                </a:gridCol>
              </a:tblGrid>
              <a:tr h="290625">
                <a:tc rowSpan="2">
                  <a:txBody>
                    <a:bodyPr/>
                    <a:lstStyle/>
                    <a:p>
                      <a:pPr algn="ctr" fontAlgn="b"/>
                      <a:r>
                        <a:rPr lang="es-PE" sz="1700" b="0" i="0" u="none" strike="noStrike" dirty="0">
                          <a:solidFill>
                            <a:srgbClr val="000000"/>
                          </a:solidFill>
                          <a:effectLst/>
                          <a:latin typeface="Times New Roman" panose="02020603050405020304" pitchFamily="18" charset="0"/>
                        </a:rPr>
                        <a:t> </a:t>
                      </a:r>
                    </a:p>
                  </a:txBody>
                  <a:tcPr marL="6350" marR="6350" marT="6350"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gridSpan="3">
                  <a:txBody>
                    <a:bodyPr/>
                    <a:lstStyle/>
                    <a:p>
                      <a:pPr algn="ctr" fontAlgn="ctr"/>
                      <a:r>
                        <a:rPr lang="es-PE" sz="1700" b="0" i="0" u="none" strike="noStrike">
                          <a:solidFill>
                            <a:srgbClr val="000000"/>
                          </a:solidFill>
                          <a:effectLst/>
                          <a:latin typeface="Calibri" panose="020F0502020204030204" pitchFamily="34" charset="0"/>
                        </a:rPr>
                        <a:t>ENERO</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PE"/>
                    </a:p>
                  </a:txBody>
                  <a:tcPr/>
                </a:tc>
                <a:tc hMerge="1">
                  <a:txBody>
                    <a:bodyPr/>
                    <a:lstStyle/>
                    <a:p>
                      <a:endParaRPr lang="es-PE"/>
                    </a:p>
                  </a:txBody>
                  <a:tcPr/>
                </a:tc>
                <a:tc gridSpan="3">
                  <a:txBody>
                    <a:bodyPr/>
                    <a:lstStyle/>
                    <a:p>
                      <a:pPr algn="ctr" fontAlgn="ctr"/>
                      <a:r>
                        <a:rPr lang="es-ES" sz="1700" b="0" i="0" u="none" strike="noStrike" dirty="0">
                          <a:solidFill>
                            <a:srgbClr val="000000"/>
                          </a:solidFill>
                          <a:effectLst/>
                          <a:latin typeface="Calibri" panose="020F0502020204030204" pitchFamily="34" charset="0"/>
                        </a:rPr>
                        <a:t>FEBRERO</a:t>
                      </a: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1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1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fontAlgn="ctr"/>
                      <a:r>
                        <a:rPr lang="es-ES" sz="1700" b="0" i="0" u="none" strike="noStrike" dirty="0">
                          <a:solidFill>
                            <a:srgbClr val="000000"/>
                          </a:solidFill>
                          <a:effectLst/>
                          <a:latin typeface="Calibri" panose="020F0502020204030204" pitchFamily="34" charset="0"/>
                        </a:rPr>
                        <a:t>MARZO</a:t>
                      </a: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fontAlgn="ctr"/>
                      <a:r>
                        <a:rPr lang="es-ES" sz="1700" b="0" i="0" u="none" strike="noStrike" dirty="0">
                          <a:solidFill>
                            <a:srgbClr val="000000"/>
                          </a:solidFill>
                          <a:effectLst/>
                          <a:latin typeface="Calibri" panose="020F0502020204030204" pitchFamily="34" charset="0"/>
                        </a:rPr>
                        <a:t>ABRIL</a:t>
                      </a: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5952588"/>
                  </a:ext>
                </a:extLst>
              </a:tr>
              <a:tr h="363126">
                <a:tc vMerge="1">
                  <a:txBody>
                    <a:bodyPr/>
                    <a:lstStyle/>
                    <a:p>
                      <a:endParaRPr lang="es-PE"/>
                    </a:p>
                  </a:txBody>
                  <a:tcPr/>
                </a:tc>
                <a:tc>
                  <a:txBody>
                    <a:bodyPr/>
                    <a:lstStyle/>
                    <a:p>
                      <a:pPr algn="ctr" fontAlgn="ctr"/>
                      <a:r>
                        <a:rPr lang="es-PE" sz="17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ES" sz="1700" b="1" i="0" u="none" strike="noStrike" dirty="0">
                          <a:solidFill>
                            <a:srgbClr val="FFFFFF"/>
                          </a:solidFill>
                          <a:effectLst/>
                          <a:latin typeface="Calibri Light" panose="020F0302020204030204" pitchFamily="34" charset="0"/>
                        </a:rPr>
                        <a:t>TOTAL</a:t>
                      </a:r>
                      <a:endParaRPr lang="es-PE" sz="1700" b="1" i="0" u="none" strike="noStrike" dirty="0">
                        <a:solidFill>
                          <a:srgbClr val="FFFFFF"/>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extLst>
                  <a:ext uri="{0D108BD9-81ED-4DB2-BD59-A6C34878D82A}">
                    <a16:rowId xmlns:a16="http://schemas.microsoft.com/office/drawing/2014/main" val="3661435629"/>
                  </a:ext>
                </a:extLst>
              </a:tr>
              <a:tr h="563507">
                <a:tc>
                  <a:txBody>
                    <a:bodyPr/>
                    <a:lstStyle/>
                    <a:p>
                      <a:pPr algn="ctr" fontAlgn="ctr"/>
                      <a:r>
                        <a:rPr lang="es-PE" sz="1700" b="1" i="0" u="none" strike="noStrike" dirty="0">
                          <a:solidFill>
                            <a:srgbClr val="FFFFFF"/>
                          </a:solidFill>
                          <a:effectLst/>
                          <a:latin typeface="Calibri Light" panose="020F0302020204030204" pitchFamily="34" charset="0"/>
                        </a:rPr>
                        <a:t>Infundado</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255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75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14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236</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s-ES" sz="900" b="1" i="0" u="none" strike="noStrike" kern="1200" dirty="0">
                        <a:solidFill>
                          <a:schemeClr val="tx1"/>
                        </a:solidFill>
                        <a:effectLst/>
                        <a:latin typeface="Calibri Light" panose="020F0302020204030204" pitchFamily="34" charset="0"/>
                        <a:ea typeface="+mn-ea"/>
                        <a:cs typeface="+mn-cs"/>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s-ES" sz="1700" b="1" i="0" u="none" strike="noStrike" kern="1200" dirty="0">
                          <a:solidFill>
                            <a:schemeClr val="tx1"/>
                          </a:solidFill>
                          <a:effectLst/>
                          <a:latin typeface="Calibri Light" panose="020F0302020204030204" pitchFamily="34" charset="0"/>
                          <a:ea typeface="+mn-ea"/>
                          <a:cs typeface="+mn-cs"/>
                        </a:rPr>
                        <a:t>78</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700" b="1" i="0" u="none" strike="noStrike" kern="1200" dirty="0">
                          <a:solidFill>
                            <a:schemeClr val="tx1"/>
                          </a:solidFill>
                          <a:effectLst/>
                          <a:latin typeface="Calibri Light" panose="020F0302020204030204" pitchFamily="34" charset="0"/>
                          <a:ea typeface="+mn-ea"/>
                          <a:cs typeface="+mn-cs"/>
                        </a:rPr>
                        <a:t>17</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700" b="1" i="0" u="none" strike="noStrike" kern="1200" dirty="0">
                          <a:solidFill>
                            <a:srgbClr val="000000"/>
                          </a:solidFill>
                          <a:effectLst/>
                          <a:latin typeface="Calibri Light" panose="020F0302020204030204" pitchFamily="34" charset="0"/>
                          <a:ea typeface="+mn-ea"/>
                          <a:cs typeface="+mn-cs"/>
                        </a:rPr>
                        <a:t>206</a:t>
                      </a:r>
                      <a:endParaRPr lang="es-PE" sz="17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700" b="1" i="0" u="none" strike="noStrike" dirty="0">
                          <a:solidFill>
                            <a:srgbClr val="000000"/>
                          </a:solidFill>
                          <a:effectLst/>
                          <a:latin typeface="Calibri Light" panose="020F0302020204030204" pitchFamily="34" charset="0"/>
                        </a:rPr>
                        <a:t>70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700" b="1" i="0" u="none" strike="noStrike" dirty="0">
                          <a:solidFill>
                            <a:srgbClr val="000000"/>
                          </a:solidFill>
                          <a:effectLst/>
                          <a:latin typeface="Calibri Light" panose="020F0302020204030204" pitchFamily="34" charset="0"/>
                        </a:rPr>
                        <a:t>18</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700" b="1" i="0" u="none" strike="noStrike" dirty="0">
                          <a:solidFill>
                            <a:srgbClr val="000000"/>
                          </a:solidFill>
                          <a:effectLst/>
                          <a:latin typeface="Calibri Light" panose="020F0302020204030204" pitchFamily="34" charset="0"/>
                        </a:rPr>
                        <a:t>204</a:t>
                      </a:r>
                      <a:endParaRPr lang="es-PE" sz="17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700" b="1" i="0" u="none" strike="noStrike" dirty="0">
                          <a:solidFill>
                            <a:srgbClr val="000000"/>
                          </a:solidFill>
                          <a:effectLst/>
                          <a:latin typeface="Calibri Light" panose="020F0302020204030204" pitchFamily="34" charset="0"/>
                        </a:rPr>
                        <a:t>83</a:t>
                      </a:r>
                      <a:endParaRPr lang="es-PE" sz="17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700" b="1" i="0" u="none" strike="noStrike" dirty="0">
                          <a:solidFill>
                            <a:srgbClr val="000000"/>
                          </a:solidFill>
                          <a:effectLst/>
                          <a:latin typeface="Calibri Light" panose="020F0302020204030204" pitchFamily="34" charset="0"/>
                        </a:rPr>
                        <a:t>16</a:t>
                      </a:r>
                      <a:endParaRPr lang="es-PE" sz="17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rgbClr val="833C0C"/>
                          </a:solidFill>
                          <a:effectLst/>
                          <a:latin typeface="Calibri Light" panose="020F0302020204030204" pitchFamily="34" charset="0"/>
                        </a:rPr>
                        <a:t>303</a:t>
                      </a: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2595509009"/>
                  </a:ext>
                </a:extLst>
              </a:tr>
              <a:tr h="716698">
                <a:tc>
                  <a:txBody>
                    <a:bodyPr/>
                    <a:lstStyle/>
                    <a:p>
                      <a:pPr algn="ctr" fontAlgn="ctr"/>
                      <a:r>
                        <a:rPr lang="es-PE" sz="1700" b="1" i="0" u="none" strike="noStrike" dirty="0">
                          <a:solidFill>
                            <a:srgbClr val="FFFFFF"/>
                          </a:solidFill>
                          <a:effectLst/>
                          <a:latin typeface="Calibri Light" panose="020F0302020204030204" pitchFamily="34" charset="0"/>
                        </a:rPr>
                        <a:t>Fundado / F.P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2</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700" b="1" i="0" u="none" strike="noStrike" kern="1200" dirty="0">
                          <a:solidFill>
                            <a:schemeClr val="tx1"/>
                          </a:solidFill>
                          <a:effectLst/>
                          <a:latin typeface="Calibri Light" panose="020F0302020204030204" pitchFamily="34" charset="0"/>
                          <a:ea typeface="+mn-ea"/>
                          <a:cs typeface="+mn-cs"/>
                        </a:rPr>
                        <a:t>16</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700" b="1" i="0" u="none" strike="noStrike" kern="1200" dirty="0">
                          <a:solidFill>
                            <a:schemeClr val="tx1"/>
                          </a:solidFill>
                          <a:effectLst/>
                          <a:latin typeface="Calibri Light" panose="020F0302020204030204" pitchFamily="34" charset="0"/>
                          <a:ea typeface="+mn-ea"/>
                          <a:cs typeface="+mn-cs"/>
                        </a:rPr>
                        <a:t>0</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700" b="1" i="0" u="none" strike="noStrike" kern="1200" dirty="0">
                          <a:solidFill>
                            <a:schemeClr val="tx1"/>
                          </a:solidFill>
                          <a:effectLst/>
                          <a:latin typeface="Calibri Light" panose="020F0302020204030204" pitchFamily="34" charset="0"/>
                          <a:ea typeface="+mn-ea"/>
                          <a:cs typeface="+mn-cs"/>
                        </a:rPr>
                        <a:t>2</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700" b="1" i="0" u="none" strike="noStrike" kern="1200" dirty="0">
                          <a:solidFill>
                            <a:srgbClr val="000000"/>
                          </a:solidFill>
                          <a:effectLst/>
                          <a:latin typeface="Calibri Light" panose="020F0302020204030204" pitchFamily="34" charset="0"/>
                          <a:ea typeface="+mn-ea"/>
                          <a:cs typeface="+mn-cs"/>
                        </a:rPr>
                        <a:t>4</a:t>
                      </a:r>
                      <a:endParaRPr lang="es-PE" sz="17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700" b="1" i="0" u="none" strike="noStrike" kern="1200" dirty="0">
                          <a:solidFill>
                            <a:schemeClr val="tx1"/>
                          </a:solidFill>
                          <a:effectLst/>
                          <a:latin typeface="Calibri Light" panose="020F0302020204030204" pitchFamily="34" charset="0"/>
                          <a:ea typeface="+mn-ea"/>
                          <a:cs typeface="+mn-cs"/>
                        </a:rPr>
                        <a:t>11</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700" b="1" i="0" u="none" strike="noStrike" kern="1200" dirty="0">
                          <a:solidFill>
                            <a:schemeClr val="tx1"/>
                          </a:solidFill>
                          <a:effectLst/>
                          <a:latin typeface="Calibri Light" panose="020F0302020204030204" pitchFamily="34" charset="0"/>
                          <a:ea typeface="+mn-ea"/>
                          <a:cs typeface="+mn-cs"/>
                        </a:rPr>
                        <a:t>1</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700" b="1" i="0" u="none" strike="noStrike" kern="1200" dirty="0">
                          <a:solidFill>
                            <a:schemeClr val="tx1"/>
                          </a:solidFill>
                          <a:effectLst/>
                          <a:latin typeface="Calibri Light" panose="020F0302020204030204" pitchFamily="34" charset="0"/>
                          <a:ea typeface="+mn-ea"/>
                          <a:cs typeface="+mn-cs"/>
                        </a:rPr>
                        <a:t>1</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s-ES" sz="1700" b="1" i="0" u="none" strike="noStrike" dirty="0">
                          <a:solidFill>
                            <a:srgbClr val="833C0C"/>
                          </a:solidFill>
                          <a:effectLst/>
                          <a:latin typeface="Calibri Light" panose="020F0302020204030204" pitchFamily="34" charset="0"/>
                        </a:rPr>
                        <a:t>13</a:t>
                      </a: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423245537"/>
                  </a:ext>
                </a:extLst>
              </a:tr>
              <a:tr h="363126">
                <a:tc>
                  <a:txBody>
                    <a:bodyPr/>
                    <a:lstStyle/>
                    <a:p>
                      <a:pPr algn="ctr" fontAlgn="ctr"/>
                      <a:r>
                        <a:rPr lang="es-PE" sz="1700" b="1" i="0" u="none" strike="noStrike">
                          <a:solidFill>
                            <a:srgbClr val="FFFFFF"/>
                          </a:solidFill>
                          <a:effectLst/>
                          <a:latin typeface="Calibri Light" panose="020F0302020204030204" pitchFamily="34" charset="0"/>
                        </a:rPr>
                        <a:t>Nulidad</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16</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3</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9</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2</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700" b="1" i="0" u="none" strike="noStrike" kern="1200" dirty="0">
                          <a:solidFill>
                            <a:schemeClr val="tx1"/>
                          </a:solidFill>
                          <a:effectLst/>
                          <a:latin typeface="Calibri Light" panose="020F0302020204030204" pitchFamily="34" charset="0"/>
                          <a:ea typeface="+mn-ea"/>
                          <a:cs typeface="+mn-cs"/>
                        </a:rPr>
                        <a:t>0</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700" b="1" i="0" u="none" strike="noStrike" kern="1200" dirty="0">
                          <a:solidFill>
                            <a:srgbClr val="000000"/>
                          </a:solidFill>
                          <a:effectLst/>
                          <a:latin typeface="Calibri Light" panose="020F0302020204030204" pitchFamily="34" charset="0"/>
                          <a:ea typeface="+mn-ea"/>
                          <a:cs typeface="+mn-cs"/>
                        </a:rPr>
                        <a:t>25</a:t>
                      </a:r>
                      <a:endParaRPr lang="es-PE" sz="17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700" b="1" i="0" u="none" strike="noStrike">
                          <a:solidFill>
                            <a:srgbClr val="000000"/>
                          </a:solidFill>
                          <a:effectLst/>
                          <a:latin typeface="Calibri Light" panose="020F0302020204030204" pitchFamily="34" charset="0"/>
                        </a:rPr>
                        <a:t>3</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700" b="1" i="0" u="none" strike="noStrike" dirty="0">
                          <a:solidFill>
                            <a:srgbClr val="000000"/>
                          </a:solidFill>
                          <a:effectLst/>
                          <a:latin typeface="Calibri Light" panose="020F0302020204030204" pitchFamily="34" charset="0"/>
                        </a:rPr>
                        <a:t>2</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700" b="1" i="0" u="none" strike="noStrike" dirty="0">
                          <a:solidFill>
                            <a:srgbClr val="000000"/>
                          </a:solidFill>
                          <a:effectLst/>
                          <a:latin typeface="Calibri Light" panose="020F0302020204030204" pitchFamily="34" charset="0"/>
                        </a:rPr>
                        <a:t>41</a:t>
                      </a:r>
                      <a:endParaRPr lang="es-PE" sz="17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700" b="1" i="0" u="none" strike="noStrike" dirty="0">
                          <a:solidFill>
                            <a:srgbClr val="000000"/>
                          </a:solidFill>
                          <a:effectLst/>
                          <a:latin typeface="Calibri Light" panose="020F0302020204030204" pitchFamily="34" charset="0"/>
                        </a:rPr>
                        <a:t>5</a:t>
                      </a:r>
                      <a:endParaRPr lang="es-PE" sz="17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700" b="1" i="0" u="none" strike="noStrike" dirty="0">
                          <a:solidFill>
                            <a:srgbClr val="000000"/>
                          </a:solidFill>
                          <a:effectLst/>
                          <a:latin typeface="Calibri Light" panose="020F0302020204030204" pitchFamily="34" charset="0"/>
                        </a:rPr>
                        <a:t>1</a:t>
                      </a:r>
                      <a:endParaRPr lang="es-PE" sz="17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rgbClr val="833C0C"/>
                          </a:solidFill>
                          <a:effectLst/>
                          <a:latin typeface="Calibri Light" panose="020F0302020204030204" pitchFamily="34" charset="0"/>
                        </a:rPr>
                        <a:t>47</a:t>
                      </a: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3848495558"/>
                  </a:ext>
                </a:extLst>
              </a:tr>
              <a:tr h="841883">
                <a:tc>
                  <a:txBody>
                    <a:bodyPr/>
                    <a:lstStyle/>
                    <a:p>
                      <a:pPr algn="ctr" fontAlgn="ctr"/>
                      <a:r>
                        <a:rPr lang="es-PE" sz="1700" b="1" i="0" u="none" strike="noStrike">
                          <a:solidFill>
                            <a:srgbClr val="FFFFFF"/>
                          </a:solidFill>
                          <a:effectLst/>
                          <a:latin typeface="Calibri Light" panose="020F0302020204030204" pitchFamily="34" charset="0"/>
                        </a:rPr>
                        <a:t>Improcedente</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0</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0</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700" b="1" i="0" u="none" strike="noStrike" kern="1200" dirty="0">
                          <a:solidFill>
                            <a:schemeClr val="tx1"/>
                          </a:solidFill>
                          <a:effectLst/>
                          <a:latin typeface="Calibri Light" panose="020F0302020204030204" pitchFamily="34" charset="0"/>
                          <a:ea typeface="+mn-ea"/>
                          <a:cs typeface="+mn-cs"/>
                        </a:rPr>
                        <a:t>0</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700" b="1" i="0" u="none" strike="noStrike" kern="1200" dirty="0">
                          <a:solidFill>
                            <a:srgbClr val="000000"/>
                          </a:solidFill>
                          <a:effectLst/>
                          <a:latin typeface="Calibri Light" panose="020F0302020204030204" pitchFamily="34" charset="0"/>
                          <a:ea typeface="+mn-ea"/>
                          <a:cs typeface="+mn-cs"/>
                        </a:rPr>
                        <a:t>0</a:t>
                      </a:r>
                      <a:endParaRPr lang="es-PE" sz="17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7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7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700" b="1" i="0" u="none" strike="noStrike" dirty="0">
                          <a:solidFill>
                            <a:srgbClr val="000000"/>
                          </a:solidFill>
                          <a:effectLst/>
                          <a:latin typeface="Calibri Light" panose="020F0302020204030204" pitchFamily="34" charset="0"/>
                        </a:rPr>
                        <a:t>0</a:t>
                      </a:r>
                      <a:endParaRPr lang="es-PE" sz="17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700" b="1" i="0" u="none" strike="noStrike" dirty="0">
                          <a:solidFill>
                            <a:srgbClr val="000000"/>
                          </a:solidFill>
                          <a:effectLst/>
                          <a:latin typeface="Calibri Light" panose="020F0302020204030204" pitchFamily="34" charset="0"/>
                        </a:rPr>
                        <a:t>0</a:t>
                      </a:r>
                      <a:endParaRPr lang="es-PE" sz="17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700" b="1" i="0" u="none" strike="noStrike" dirty="0">
                          <a:solidFill>
                            <a:srgbClr val="000000"/>
                          </a:solidFill>
                          <a:effectLst/>
                          <a:latin typeface="Calibri Light" panose="020F0302020204030204" pitchFamily="34" charset="0"/>
                        </a:rPr>
                        <a:t>0</a:t>
                      </a:r>
                      <a:endParaRPr lang="es-PE" sz="17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rgbClr val="833C0C"/>
                          </a:solidFill>
                          <a:effectLst/>
                          <a:latin typeface="Calibri Light" panose="020F0302020204030204" pitchFamily="34" charset="0"/>
                        </a:rPr>
                        <a:t>0</a:t>
                      </a: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2611323000"/>
                  </a:ext>
                </a:extLst>
              </a:tr>
              <a:tr h="716698">
                <a:tc>
                  <a:txBody>
                    <a:bodyPr/>
                    <a:lstStyle/>
                    <a:p>
                      <a:pPr algn="ctr" fontAlgn="ctr"/>
                      <a:r>
                        <a:rPr lang="es-PE" sz="1700" b="1" i="0" u="none" strike="noStrike">
                          <a:solidFill>
                            <a:srgbClr val="FFFFFF"/>
                          </a:solidFill>
                          <a:effectLst/>
                          <a:latin typeface="Calibri Light" panose="020F0302020204030204" pitchFamily="34" charset="0"/>
                        </a:rPr>
                        <a:t>Desistimiento </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0</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1</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700" b="1" i="0" u="none" strike="noStrike" kern="1200" dirty="0">
                          <a:solidFill>
                            <a:schemeClr val="tx1"/>
                          </a:solidFill>
                          <a:effectLst/>
                          <a:latin typeface="Calibri Light" panose="020F0302020204030204" pitchFamily="34" charset="0"/>
                          <a:ea typeface="+mn-ea"/>
                          <a:cs typeface="+mn-cs"/>
                        </a:rPr>
                        <a:t>0</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700" b="1" i="0" u="none" strike="noStrike" kern="1200" dirty="0">
                          <a:solidFill>
                            <a:srgbClr val="000000"/>
                          </a:solidFill>
                          <a:effectLst/>
                          <a:latin typeface="Calibri Light" panose="020F0302020204030204" pitchFamily="34" charset="0"/>
                          <a:ea typeface="+mn-ea"/>
                          <a:cs typeface="+mn-cs"/>
                        </a:rPr>
                        <a:t>0</a:t>
                      </a:r>
                      <a:endParaRPr lang="es-PE" sz="17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7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7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700" b="1" i="0" u="none" strike="noStrike" dirty="0">
                          <a:solidFill>
                            <a:srgbClr val="000000"/>
                          </a:solidFill>
                          <a:effectLst/>
                          <a:latin typeface="Calibri Light" panose="020F0302020204030204" pitchFamily="34" charset="0"/>
                        </a:rPr>
                        <a:t>0</a:t>
                      </a:r>
                      <a:endParaRPr lang="es-PE" sz="17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700" b="1" i="0" u="none" strike="noStrike" dirty="0">
                          <a:solidFill>
                            <a:srgbClr val="000000"/>
                          </a:solidFill>
                          <a:effectLst/>
                          <a:latin typeface="Calibri Light" panose="020F0302020204030204" pitchFamily="34" charset="0"/>
                        </a:rPr>
                        <a:t>0</a:t>
                      </a:r>
                      <a:endParaRPr lang="es-PE" sz="17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700" b="1" i="0" u="none" strike="noStrike" dirty="0">
                          <a:solidFill>
                            <a:srgbClr val="000000"/>
                          </a:solidFill>
                          <a:effectLst/>
                          <a:latin typeface="Calibri Light" panose="020F0302020204030204" pitchFamily="34" charset="0"/>
                        </a:rPr>
                        <a:t>0</a:t>
                      </a:r>
                      <a:endParaRPr lang="es-PE" sz="17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rgbClr val="833C0C"/>
                          </a:solidFill>
                          <a:effectLst/>
                          <a:latin typeface="Calibri Light" panose="020F0302020204030204" pitchFamily="34" charset="0"/>
                        </a:rPr>
                        <a:t>0</a:t>
                      </a: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1532965810"/>
                  </a:ext>
                </a:extLst>
              </a:tr>
              <a:tr h="363126">
                <a:tc>
                  <a:txBody>
                    <a:bodyPr/>
                    <a:lstStyle/>
                    <a:p>
                      <a:pPr algn="ctr" fontAlgn="ctr"/>
                      <a:r>
                        <a:rPr lang="es-PE" sz="1700" b="1" i="0" u="none" strike="noStrike">
                          <a:solidFill>
                            <a:srgbClr val="FFFFFF"/>
                          </a:solidFill>
                          <a:effectLst/>
                          <a:latin typeface="Calibri Light" panose="020F0302020204030204" pitchFamily="34" charset="0"/>
                        </a:rPr>
                        <a:t>Otros </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700" b="1" i="0" u="none" strike="noStrike" kern="1200">
                          <a:solidFill>
                            <a:schemeClr val="tx1"/>
                          </a:solidFill>
                          <a:effectLst/>
                          <a:latin typeface="Calibri Light" panose="020F0302020204030204" pitchFamily="34" charset="0"/>
                          <a:ea typeface="+mn-ea"/>
                          <a:cs typeface="+mn-cs"/>
                        </a:rPr>
                        <a:t>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1</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2</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700" b="1" i="0" u="none" strike="noStrike" kern="1200" dirty="0">
                          <a:solidFill>
                            <a:schemeClr val="tx1"/>
                          </a:solidFill>
                          <a:effectLst/>
                          <a:latin typeface="Calibri Light" panose="020F0302020204030204" pitchFamily="34" charset="0"/>
                          <a:ea typeface="+mn-ea"/>
                          <a:cs typeface="+mn-cs"/>
                        </a:rPr>
                        <a:t>0</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700" b="1" i="0" u="none" strike="noStrike" kern="1200" dirty="0">
                          <a:solidFill>
                            <a:srgbClr val="000000"/>
                          </a:solidFill>
                          <a:effectLst/>
                          <a:latin typeface="Calibri Light" panose="020F0302020204030204" pitchFamily="34" charset="0"/>
                          <a:ea typeface="+mn-ea"/>
                          <a:cs typeface="+mn-cs"/>
                        </a:rPr>
                        <a:t>1</a:t>
                      </a:r>
                      <a:endParaRPr lang="es-PE" sz="17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700" b="1" i="0" u="none" strike="noStrike" dirty="0">
                          <a:solidFill>
                            <a:srgbClr val="000000"/>
                          </a:solidFill>
                          <a:effectLst/>
                          <a:latin typeface="Calibri Light" panose="020F0302020204030204" pitchFamily="34" charset="0"/>
                        </a:rPr>
                        <a:t>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7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700" b="1" i="0" u="none" strike="noStrike" dirty="0">
                          <a:solidFill>
                            <a:srgbClr val="000000"/>
                          </a:solidFill>
                          <a:effectLst/>
                          <a:latin typeface="Calibri Light" panose="020F0302020204030204" pitchFamily="34" charset="0"/>
                        </a:rPr>
                        <a:t>0</a:t>
                      </a:r>
                      <a:endParaRPr lang="es-PE" sz="17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700" b="1" i="0" u="none" strike="noStrike" dirty="0">
                          <a:solidFill>
                            <a:srgbClr val="000000"/>
                          </a:solidFill>
                          <a:effectLst/>
                          <a:latin typeface="Calibri Light" panose="020F0302020204030204" pitchFamily="34" charset="0"/>
                        </a:rPr>
                        <a:t>0</a:t>
                      </a:r>
                      <a:endParaRPr lang="es-PE" sz="17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700" b="1" i="0" u="none" strike="noStrike" dirty="0">
                          <a:solidFill>
                            <a:srgbClr val="000000"/>
                          </a:solidFill>
                          <a:effectLst/>
                          <a:latin typeface="Calibri Light" panose="020F0302020204030204" pitchFamily="34" charset="0"/>
                        </a:rPr>
                        <a:t>0</a:t>
                      </a:r>
                      <a:endParaRPr lang="es-PE" sz="17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rgbClr val="833C0C"/>
                          </a:solidFill>
                          <a:effectLst/>
                          <a:latin typeface="Calibri Light" panose="020F0302020204030204" pitchFamily="34" charset="0"/>
                        </a:rPr>
                        <a:t>0</a:t>
                      </a: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358868893"/>
                  </a:ext>
                </a:extLst>
              </a:tr>
              <a:tr h="363126">
                <a:tc>
                  <a:txBody>
                    <a:bodyPr/>
                    <a:lstStyle/>
                    <a:p>
                      <a:pPr algn="ctr" fontAlgn="ctr"/>
                      <a:r>
                        <a:rPr lang="es-PE" sz="1700" b="1" i="0" u="none" strike="noStrike">
                          <a:solidFill>
                            <a:srgbClr val="FFFFFF"/>
                          </a:solidFill>
                          <a:effectLst/>
                          <a:latin typeface="Calibri Light" panose="020F0302020204030204" pitchFamily="34" charset="0"/>
                        </a:rPr>
                        <a:t>TOTAL</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285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79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19*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262</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83</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700" b="1" i="0" u="none" strike="noStrike" kern="1200" dirty="0">
                          <a:solidFill>
                            <a:schemeClr val="tx1"/>
                          </a:solidFill>
                          <a:effectLst/>
                          <a:latin typeface="Calibri Light" panose="020F0302020204030204" pitchFamily="34" charset="0"/>
                          <a:ea typeface="+mn-ea"/>
                          <a:cs typeface="+mn-cs"/>
                        </a:rPr>
                        <a:t>19</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700" b="1" i="0" u="none" strike="noStrike" kern="1200" dirty="0">
                          <a:solidFill>
                            <a:srgbClr val="000000"/>
                          </a:solidFill>
                          <a:effectLst/>
                          <a:latin typeface="Calibri Light" panose="020F0302020204030204" pitchFamily="34" charset="0"/>
                          <a:ea typeface="+mn-ea"/>
                          <a:cs typeface="+mn-cs"/>
                        </a:rPr>
                        <a:t>236</a:t>
                      </a:r>
                      <a:endParaRPr lang="es-PE" sz="17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77</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20</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256</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89</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18</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800" b="1" i="0" u="none" strike="noStrike" dirty="0">
                          <a:solidFill>
                            <a:srgbClr val="833C0C"/>
                          </a:solidFill>
                          <a:effectLst/>
                          <a:latin typeface="Calibri Light" panose="020F0302020204030204" pitchFamily="34" charset="0"/>
                        </a:rPr>
                        <a:t>363</a:t>
                      </a:r>
                      <a:endParaRPr lang="es-PE" sz="18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544681814"/>
                  </a:ext>
                </a:extLst>
              </a:tr>
            </a:tbl>
          </a:graphicData>
        </a:graphic>
      </p:graphicFrame>
    </p:spTree>
    <p:extLst>
      <p:ext uri="{BB962C8B-B14F-4D97-AF65-F5344CB8AC3E}">
        <p14:creationId xmlns:p14="http://schemas.microsoft.com/office/powerpoint/2010/main" val="33940854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000" b="1" dirty="0">
                <a:latin typeface="Arial" panose="020B0604020202020204" pitchFamily="34" charset="0"/>
                <a:cs typeface="Arial" panose="020B0604020202020204" pitchFamily="34" charset="0"/>
              </a:rPr>
              <a:t>SUMILLAS DE NULIDADES DECLARADAS POR LA GAFA-DCCI</a:t>
            </a:r>
            <a:endParaRPr lang="es-PE" sz="2000" b="1" dirty="0">
              <a:latin typeface="Arial" panose="020B0604020202020204" pitchFamily="34" charset="0"/>
              <a:cs typeface="Arial" panose="020B0604020202020204" pitchFamily="34" charset="0"/>
            </a:endParaRPr>
          </a:p>
        </p:txBody>
      </p:sp>
      <p:graphicFrame>
        <p:nvGraphicFramePr>
          <p:cNvPr id="5" name="Tabla 4">
            <a:extLst>
              <a:ext uri="{FF2B5EF4-FFF2-40B4-BE49-F238E27FC236}">
                <a16:creationId xmlns:a16="http://schemas.microsoft.com/office/drawing/2014/main" id="{C330C6B4-96DF-A584-6AF8-C44A4E04A83B}"/>
              </a:ext>
            </a:extLst>
          </p:cNvPr>
          <p:cNvGraphicFramePr>
            <a:graphicFrameLocks noGrp="1"/>
          </p:cNvGraphicFramePr>
          <p:nvPr>
            <p:extLst>
              <p:ext uri="{D42A27DB-BD31-4B8C-83A1-F6EECF244321}">
                <p14:modId xmlns:p14="http://schemas.microsoft.com/office/powerpoint/2010/main" val="773957507"/>
              </p:ext>
            </p:extLst>
          </p:nvPr>
        </p:nvGraphicFramePr>
        <p:xfrm>
          <a:off x="357414" y="1187551"/>
          <a:ext cx="11199215" cy="5087808"/>
        </p:xfrm>
        <a:graphic>
          <a:graphicData uri="http://schemas.openxmlformats.org/drawingml/2006/table">
            <a:tbl>
              <a:tblPr/>
              <a:tblGrid>
                <a:gridCol w="751890">
                  <a:extLst>
                    <a:ext uri="{9D8B030D-6E8A-4147-A177-3AD203B41FA5}">
                      <a16:colId xmlns:a16="http://schemas.microsoft.com/office/drawing/2014/main" val="3477769612"/>
                    </a:ext>
                  </a:extLst>
                </a:gridCol>
                <a:gridCol w="593599">
                  <a:extLst>
                    <a:ext uri="{9D8B030D-6E8A-4147-A177-3AD203B41FA5}">
                      <a16:colId xmlns:a16="http://schemas.microsoft.com/office/drawing/2014/main" val="1364713357"/>
                    </a:ext>
                  </a:extLst>
                </a:gridCol>
                <a:gridCol w="890397">
                  <a:extLst>
                    <a:ext uri="{9D8B030D-6E8A-4147-A177-3AD203B41FA5}">
                      <a16:colId xmlns:a16="http://schemas.microsoft.com/office/drawing/2014/main" val="1516457662"/>
                    </a:ext>
                  </a:extLst>
                </a:gridCol>
                <a:gridCol w="8963329">
                  <a:extLst>
                    <a:ext uri="{9D8B030D-6E8A-4147-A177-3AD203B41FA5}">
                      <a16:colId xmlns:a16="http://schemas.microsoft.com/office/drawing/2014/main" val="2013981903"/>
                    </a:ext>
                  </a:extLst>
                </a:gridCol>
              </a:tblGrid>
              <a:tr h="120870">
                <a:tc>
                  <a:txBody>
                    <a:bodyPr/>
                    <a:lstStyle/>
                    <a:p>
                      <a:pPr algn="ctr" fontAlgn="ctr"/>
                      <a:r>
                        <a:rPr lang="es-PE" sz="900" b="1" i="0" u="none" strike="noStrike">
                          <a:solidFill>
                            <a:srgbClr val="000000"/>
                          </a:solidFill>
                          <a:effectLst/>
                          <a:latin typeface="Calibri" panose="020F0502020204030204" pitchFamily="34" charset="0"/>
                        </a:rPr>
                        <a:t>DEPENDENCIA</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s-PE" sz="900" b="1" i="0" u="none" strike="noStrike">
                          <a:solidFill>
                            <a:srgbClr val="000000"/>
                          </a:solidFill>
                          <a:effectLst/>
                          <a:latin typeface="Calibri" panose="020F0502020204030204" pitchFamily="34" charset="0"/>
                        </a:rPr>
                        <a:t>FECHA</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s-PE" sz="900" b="1" i="0" u="none" strike="noStrike">
                          <a:solidFill>
                            <a:srgbClr val="000000"/>
                          </a:solidFill>
                          <a:effectLst/>
                          <a:latin typeface="Calibri" panose="020F0502020204030204" pitchFamily="34" charset="0"/>
                        </a:rPr>
                        <a:t>N° RD</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s-PE" sz="900" b="1" i="0" u="none" strike="noStrike">
                          <a:solidFill>
                            <a:srgbClr val="000000"/>
                          </a:solidFill>
                          <a:effectLst/>
                          <a:latin typeface="Calibri" panose="020F0502020204030204" pitchFamily="34" charset="0"/>
                        </a:rPr>
                        <a:t>SUMILLA</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464253880"/>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25/04/2024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4090140007747</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NULIDAD:Indebido procedimiento.  La adminsitración no requirió la aclaración de referencias múltiples.</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461264"/>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25/04/2024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4090140007746</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NULIDAD:Indebido procedimiento.  La adminsitración no requirió la aclaración de referencias múltiples.</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4966775"/>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25/04/2024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4090140007748</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NULIDAD:Indebido procedimiento.  La adminsitración no requirió la aclaración de referencias múltiples.</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70317606"/>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25/04/2024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4090140007749</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NULIDAD:Indebido procedimiento.  La adminsitración no requirió la aclaración de referencias múltiples.</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39371912"/>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29/04/2024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4090140007785</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NULIDAD:Indebido procedimiento.  La adminsitración no requirió la aclaración de referencias múltiples.</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69444930"/>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29/04/2024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4090140007784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NULIDAD:Indebido procedimiento.  La adminsitración no requirió la aclaración de referencias múltiples.</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59950208"/>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30/04/2024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4090140007842</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FUNDADO EN PARTE:No procede multa. No se tomo en cuenta la suspensión de plazos aceptada por la Administracion </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1761882"/>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30/04/2024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4090140007881</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FUNDADO EN PARTE:Se utilizó una referencia ajustada contraviniendo el artículo 13 del D.S. N° 189-99/EF</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9116079"/>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30/04/2024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4090140007924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NULIDAD:No se ha motivado correctamente. No se pronuncia sobre un expediene.</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753427"/>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29/04/2024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4090140007782</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NULIDAD:Indebido procedimiento.  La adminsitración no requirió la aclaración de referencias múltiples.</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4011991"/>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23/04/2024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4090140007717</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NULIDAD:No notificó que justifique idoneidad de referencias presentadas</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15775501"/>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30/04/2024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4090140007841</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FUNDADO EN PARTE:Una de las series de la DAM cuestionada excede del margen de tolerancia por lo que corresponde  ajustar la deuda tributaria, en aplicación de Circular INTA 018-2022.</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57137460"/>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23/04/2024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4090140007718</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FUNDADO EN PARTE:No procede el reembarque, presentó resolución autorizante de DIGESA</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7642771"/>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05/04/2024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4090140007480</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NULIDAD:Indebido procedimiento.  La adminsitración no requirió la aclaración de referencias múltiples.</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1407220"/>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29/04/2024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4090140007800</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FUNDADO:No procede la multa por no reembarcar tiene documento autorizante.</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7884495"/>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29/04/2024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4090140007791</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NULIDAD:No se requirió a importador subsanar información de las DAM de referencias ofrecidas.</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47796640"/>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05/04/2024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4090140007487</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NULIDAD:Falta de motivación, no se analizó todos los puntos controvertidos solicitados por el reclamante ( requisitos del TLC)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65865"/>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30/04/2024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4090140007913</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NULIDAD:No se evaluó expedientes previos presentados por la recurrente.</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6653445"/>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30/04/2024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4090140007905</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NULIDAD:No se evaluó expedientes previos presentados por la recurrente.</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57719455"/>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30/04/2024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4090140007907</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NULIDAD:No se evaluó expedientes previos presentados por la recurrente.</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04706513"/>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18/04/2024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4090140007652</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FUNDADO:No procede la multa, no se consideron la ultima fecha del embarque parcial</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5325364"/>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10/04/2024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4090140007527</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NULIDAD:No se merituaron las referencias presentadas por el importador </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54519164"/>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05/04/2024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4090140007486</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NULIDAD:se descartó referencias de forma genérica. RTF declaró la nulidad del IDV</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9110726"/>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30/04/2024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4090140007884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NULIDAD:Notificación incorrecta de acto reclamado.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0195510"/>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30/04/2024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4090140007885</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NULIDAD:Notificación incorrecta de acto reclamado.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6724575"/>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28/04/2024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4090140007763</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del IDV y de la LC 30 por no realizar examen de idoneidad de las referencias presentadas por el importador para aplicar el tercer método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61728248"/>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29/04/2024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4090140007819</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FUNDADO: la multa prescribía el primer día hábil del 2024 y se le notificó el 15/01</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2065963"/>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29/04/2024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4090140007786</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Nula aplicación del tercer método, IDV y LC 30. No se notificó al importador para que éste precise y realice estudio de 5,113 referencias aportadas: </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9541000"/>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30/04/2024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4090140007876</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Nula aplicación del tercer método, IDV y LC 30. No se notificó al importador para que éste precise y realice estudio de 13 referencias aportadas: </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451089"/>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30/04/2024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4090140007887</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Nula aplicación del tercer método, IDV y LC 30. No se notificó al importador para que éste precise y realice estudio de 48 referencias aportadas: </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345044"/>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30/04/2024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4090140007838</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Nula aplicación del tercer método, IDV y LC 30. No se notificó al importador para que éste precise y realice estudio de 1038 referencias aportadas: </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29336277"/>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30/04/2024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4090140007886</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bancaria y contable insuficiente</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2022622"/>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30/04/2024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4090140007953</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Cambió partida y declaró prohibida una mercancía sin rectificar DAM</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8233725"/>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30/04/2024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4090140007839</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Nula aplicación del tercer método, IDV y LC 30. No se notificó al importador para que éste precise y realice estudio de mas de 600 referencias aportadas: </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61207976"/>
                  </a:ext>
                </a:extLst>
              </a:tr>
              <a:tr h="120870">
                <a:tc>
                  <a:txBody>
                    <a:bodyPr/>
                    <a:lstStyle/>
                    <a:p>
                      <a:pPr algn="ctr" fontAlgn="ctr"/>
                      <a:r>
                        <a:rPr lang="es-PE" sz="900" b="0" i="0" u="none" strike="noStrike">
                          <a:solidFill>
                            <a:srgbClr val="000000"/>
                          </a:solidFill>
                          <a:effectLst/>
                          <a:latin typeface="Calibri" panose="020F0502020204030204" pitchFamily="34" charset="0"/>
                        </a:rPr>
                        <a:t>IAMC</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04/04/2024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4090140007476</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dirty="0">
                          <a:solidFill>
                            <a:srgbClr val="000000"/>
                          </a:solidFill>
                          <a:effectLst/>
                          <a:latin typeface="Calibri" panose="020F0502020204030204" pitchFamily="34" charset="0"/>
                        </a:rPr>
                        <a:t>NULIDAD: No se evaluó documentación contable y parcialmente la </a:t>
                      </a:r>
                      <a:r>
                        <a:rPr lang="es-ES" sz="900" b="0" i="0" u="none" strike="noStrike" dirty="0" err="1">
                          <a:solidFill>
                            <a:srgbClr val="000000"/>
                          </a:solidFill>
                          <a:effectLst/>
                          <a:latin typeface="Calibri" panose="020F0502020204030204" pitchFamily="34" charset="0"/>
                        </a:rPr>
                        <a:t>bancariaI</a:t>
                      </a:r>
                      <a:r>
                        <a:rPr lang="es-ES" sz="900" b="0" i="0" u="none" strike="noStrike" dirty="0">
                          <a:solidFill>
                            <a:srgbClr val="000000"/>
                          </a:solidFill>
                          <a:effectLst/>
                          <a:latin typeface="Calibri" panose="020F0502020204030204" pitchFamily="34" charset="0"/>
                        </a:rPr>
                        <a:t>. Tampoco se evaluaron todas las referencias ofrecidas por el importador</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914501"/>
                  </a:ext>
                </a:extLst>
              </a:tr>
            </a:tbl>
          </a:graphicData>
        </a:graphic>
      </p:graphicFrame>
    </p:spTree>
    <p:extLst>
      <p:ext uri="{BB962C8B-B14F-4D97-AF65-F5344CB8AC3E}">
        <p14:creationId xmlns:p14="http://schemas.microsoft.com/office/powerpoint/2010/main" val="41017426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000" b="1" dirty="0">
                <a:latin typeface="Arial" panose="020B0604020202020204" pitchFamily="34" charset="0"/>
                <a:cs typeface="Arial" panose="020B0604020202020204" pitchFamily="34" charset="0"/>
              </a:rPr>
              <a:t>SUMILLAS DE NULIDADES DECLARADAS POR LA GAFA-DCCI</a:t>
            </a:r>
            <a:endParaRPr lang="es-PE" sz="2000" b="1" dirty="0">
              <a:latin typeface="Arial" panose="020B0604020202020204" pitchFamily="34" charset="0"/>
              <a:cs typeface="Arial" panose="020B0604020202020204" pitchFamily="34" charset="0"/>
            </a:endParaRPr>
          </a:p>
        </p:txBody>
      </p:sp>
      <p:graphicFrame>
        <p:nvGraphicFramePr>
          <p:cNvPr id="3" name="Tabla 2">
            <a:extLst>
              <a:ext uri="{FF2B5EF4-FFF2-40B4-BE49-F238E27FC236}">
                <a16:creationId xmlns:a16="http://schemas.microsoft.com/office/drawing/2014/main" id="{D02394DB-C6B1-7CC3-FAAA-38CB7FFC42A3}"/>
              </a:ext>
            </a:extLst>
          </p:cNvPr>
          <p:cNvGraphicFramePr>
            <a:graphicFrameLocks noGrp="1"/>
          </p:cNvGraphicFramePr>
          <p:nvPr>
            <p:extLst>
              <p:ext uri="{D42A27DB-BD31-4B8C-83A1-F6EECF244321}">
                <p14:modId xmlns:p14="http://schemas.microsoft.com/office/powerpoint/2010/main" val="3179177832"/>
              </p:ext>
            </p:extLst>
          </p:nvPr>
        </p:nvGraphicFramePr>
        <p:xfrm>
          <a:off x="391574" y="1001498"/>
          <a:ext cx="11130895" cy="5510534"/>
        </p:xfrm>
        <a:graphic>
          <a:graphicData uri="http://schemas.openxmlformats.org/drawingml/2006/table">
            <a:tbl>
              <a:tblPr/>
              <a:tblGrid>
                <a:gridCol w="875851">
                  <a:extLst>
                    <a:ext uri="{9D8B030D-6E8A-4147-A177-3AD203B41FA5}">
                      <a16:colId xmlns:a16="http://schemas.microsoft.com/office/drawing/2014/main" val="2990704565"/>
                    </a:ext>
                  </a:extLst>
                </a:gridCol>
                <a:gridCol w="748188">
                  <a:extLst>
                    <a:ext uri="{9D8B030D-6E8A-4147-A177-3AD203B41FA5}">
                      <a16:colId xmlns:a16="http://schemas.microsoft.com/office/drawing/2014/main" val="2379323297"/>
                    </a:ext>
                  </a:extLst>
                </a:gridCol>
                <a:gridCol w="973393">
                  <a:extLst>
                    <a:ext uri="{9D8B030D-6E8A-4147-A177-3AD203B41FA5}">
                      <a16:colId xmlns:a16="http://schemas.microsoft.com/office/drawing/2014/main" val="3431746186"/>
                    </a:ext>
                  </a:extLst>
                </a:gridCol>
                <a:gridCol w="8533463">
                  <a:extLst>
                    <a:ext uri="{9D8B030D-6E8A-4147-A177-3AD203B41FA5}">
                      <a16:colId xmlns:a16="http://schemas.microsoft.com/office/drawing/2014/main" val="1395126718"/>
                    </a:ext>
                  </a:extLst>
                </a:gridCol>
              </a:tblGrid>
              <a:tr h="389570">
                <a:tc>
                  <a:txBody>
                    <a:bodyPr/>
                    <a:lstStyle/>
                    <a:p>
                      <a:pPr algn="ctr" fontAlgn="ctr"/>
                      <a:r>
                        <a:rPr lang="es-PE" sz="1000" b="1" i="0" u="none" strike="noStrike" dirty="0">
                          <a:solidFill>
                            <a:srgbClr val="000000"/>
                          </a:solidFill>
                          <a:effectLst/>
                          <a:latin typeface="Calibri" panose="020F0502020204030204" pitchFamily="34" charset="0"/>
                        </a:rPr>
                        <a:t>DEPENDENCIA</a:t>
                      </a:r>
                    </a:p>
                  </a:txBody>
                  <a:tcPr marL="4645" marR="4645" marT="46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s-PE" sz="1000" b="1" i="0" u="none" strike="noStrike" dirty="0">
                          <a:solidFill>
                            <a:srgbClr val="000000"/>
                          </a:solidFill>
                          <a:effectLst/>
                          <a:latin typeface="Calibri" panose="020F0502020204030204" pitchFamily="34" charset="0"/>
                        </a:rPr>
                        <a:t>FECHA</a:t>
                      </a:r>
                    </a:p>
                  </a:txBody>
                  <a:tcPr marL="4645" marR="4645" marT="46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s-PE" sz="1000" b="1" i="0" u="none" strike="noStrike" dirty="0" err="1">
                          <a:solidFill>
                            <a:srgbClr val="000000"/>
                          </a:solidFill>
                          <a:effectLst/>
                          <a:latin typeface="Calibri" panose="020F0502020204030204" pitchFamily="34" charset="0"/>
                        </a:rPr>
                        <a:t>N°</a:t>
                      </a:r>
                      <a:r>
                        <a:rPr lang="es-PE" sz="1000" b="1" i="0" u="none" strike="noStrike" dirty="0">
                          <a:solidFill>
                            <a:srgbClr val="000000"/>
                          </a:solidFill>
                          <a:effectLst/>
                          <a:latin typeface="Calibri" panose="020F0502020204030204" pitchFamily="34" charset="0"/>
                        </a:rPr>
                        <a:t> RD</a:t>
                      </a:r>
                    </a:p>
                  </a:txBody>
                  <a:tcPr marL="4645" marR="4645" marT="46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b"/>
                      <a:r>
                        <a:rPr lang="es-PE" sz="1000" b="1" i="0" u="none" strike="noStrike" dirty="0">
                          <a:solidFill>
                            <a:srgbClr val="000000"/>
                          </a:solidFill>
                          <a:effectLst/>
                          <a:latin typeface="Calibri" panose="020F0502020204030204" pitchFamily="34" charset="0"/>
                        </a:rPr>
                        <a:t>SUMILLA</a:t>
                      </a:r>
                    </a:p>
                  </a:txBody>
                  <a:tcPr marL="4645" marR="4645" marT="46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4017979158"/>
                  </a:ext>
                </a:extLst>
              </a:tr>
              <a:tr h="289261">
                <a:tc>
                  <a:txBody>
                    <a:bodyPr/>
                    <a:lstStyle/>
                    <a:p>
                      <a:pPr algn="ctr" fontAlgn="ctr"/>
                      <a:r>
                        <a:rPr lang="es-PE" sz="1000" b="0" i="0" u="none" strike="noStrike">
                          <a:solidFill>
                            <a:srgbClr val="000000"/>
                          </a:solidFill>
                          <a:effectLst/>
                          <a:latin typeface="Calibri" panose="020F0502020204030204" pitchFamily="34" charset="0"/>
                        </a:rPr>
                        <a:t>IAMC</a:t>
                      </a:r>
                    </a:p>
                  </a:txBody>
                  <a:tcPr marL="4645" marR="4645" marT="46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29/04/2024</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4090140007787</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dirty="0">
                          <a:solidFill>
                            <a:srgbClr val="000000"/>
                          </a:solidFill>
                          <a:effectLst/>
                          <a:latin typeface="Calibri" panose="020F0502020204030204" pitchFamily="34" charset="0"/>
                        </a:rPr>
                        <a:t>NULIDAD: Nula aplicación del tercer método, IDV y LC 30. No se notificó al importador para que éste precise y realice estudio de mas de 300 referencias aportadas: </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9675998"/>
                  </a:ext>
                </a:extLst>
              </a:tr>
              <a:tr h="389570">
                <a:tc>
                  <a:txBody>
                    <a:bodyPr/>
                    <a:lstStyle/>
                    <a:p>
                      <a:pPr algn="ctr" fontAlgn="ctr"/>
                      <a:r>
                        <a:rPr lang="es-PE" sz="1000" b="0" i="0" u="none" strike="noStrike">
                          <a:solidFill>
                            <a:srgbClr val="000000"/>
                          </a:solidFill>
                          <a:effectLst/>
                          <a:latin typeface="Calibri" panose="020F0502020204030204" pitchFamily="34" charset="0"/>
                        </a:rPr>
                        <a:t>IAMC</a:t>
                      </a:r>
                    </a:p>
                  </a:txBody>
                  <a:tcPr marL="4645" marR="4645" marT="46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12/04/2024</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4090140007571</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dirty="0">
                          <a:solidFill>
                            <a:srgbClr val="000000"/>
                          </a:solidFill>
                          <a:effectLst/>
                          <a:latin typeface="Calibri" panose="020F0502020204030204" pitchFamily="34" charset="0"/>
                        </a:rPr>
                        <a:t>FUNDADO: el peso (ticket) que se le entregó al dueño es el mismo peso que ingresó al depósito autorizado. No se evaluó la carta aclaratoria del proveedor que la propia administración le requirió</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756847"/>
                  </a:ext>
                </a:extLst>
              </a:tr>
              <a:tr h="289261">
                <a:tc>
                  <a:txBody>
                    <a:bodyPr/>
                    <a:lstStyle/>
                    <a:p>
                      <a:pPr algn="ctr" fontAlgn="ctr"/>
                      <a:r>
                        <a:rPr lang="es-PE" sz="1000" b="0" i="0" u="none" strike="noStrike">
                          <a:solidFill>
                            <a:srgbClr val="000000"/>
                          </a:solidFill>
                          <a:effectLst/>
                          <a:latin typeface="Calibri" panose="020F0502020204030204" pitchFamily="34" charset="0"/>
                        </a:rPr>
                        <a:t>IAMC</a:t>
                      </a:r>
                    </a:p>
                  </a:txBody>
                  <a:tcPr marL="4645" marR="4645" marT="46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29/04/2024</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4090140007783</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NULIDAD: Nula aplicación del tercer método, IDV y LC 30. No se notificó al importador para que éste precise y realice estudio de 7,736 referencias aportadas: </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99641176"/>
                  </a:ext>
                </a:extLst>
              </a:tr>
              <a:tr h="289261">
                <a:tc>
                  <a:txBody>
                    <a:bodyPr/>
                    <a:lstStyle/>
                    <a:p>
                      <a:pPr algn="ctr" fontAlgn="ctr"/>
                      <a:r>
                        <a:rPr lang="es-PE" sz="1000" b="0" i="0" u="none" strike="noStrike">
                          <a:solidFill>
                            <a:srgbClr val="000000"/>
                          </a:solidFill>
                          <a:effectLst/>
                          <a:latin typeface="Calibri" panose="020F0502020204030204" pitchFamily="34" charset="0"/>
                        </a:rPr>
                        <a:t>IAMC</a:t>
                      </a:r>
                    </a:p>
                  </a:txBody>
                  <a:tcPr marL="4645" marR="4645" marT="46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30/04/2024</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4090140007888</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NULIDAD: No se evaluó de manera completa la documentación contable presentada como prueba</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59564085"/>
                  </a:ext>
                </a:extLst>
              </a:tr>
              <a:tr h="289261">
                <a:tc>
                  <a:txBody>
                    <a:bodyPr/>
                    <a:lstStyle/>
                    <a:p>
                      <a:pPr algn="ctr" fontAlgn="ctr"/>
                      <a:r>
                        <a:rPr lang="es-PE" sz="1000" b="0" i="0" u="none" strike="noStrike">
                          <a:solidFill>
                            <a:srgbClr val="000000"/>
                          </a:solidFill>
                          <a:effectLst/>
                          <a:latin typeface="Calibri" panose="020F0502020204030204" pitchFamily="34" charset="0"/>
                        </a:rPr>
                        <a:t>IAMC</a:t>
                      </a:r>
                    </a:p>
                  </a:txBody>
                  <a:tcPr marL="4645" marR="4645" marT="46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30/04/2024</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4090140007900</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dirty="0">
                          <a:solidFill>
                            <a:srgbClr val="000000"/>
                          </a:solidFill>
                          <a:effectLst/>
                          <a:latin typeface="Calibri" panose="020F0502020204030204" pitchFamily="34" charset="0"/>
                        </a:rPr>
                        <a:t>NULIDAD: No se evaluaron expedientes previos presentados por la recurrente.</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6682549"/>
                  </a:ext>
                </a:extLst>
              </a:tr>
              <a:tr h="289261">
                <a:tc>
                  <a:txBody>
                    <a:bodyPr/>
                    <a:lstStyle/>
                    <a:p>
                      <a:pPr algn="ctr" fontAlgn="ctr"/>
                      <a:r>
                        <a:rPr lang="es-PE" sz="1000" b="0" i="0" u="none" strike="noStrike">
                          <a:solidFill>
                            <a:srgbClr val="000000"/>
                          </a:solidFill>
                          <a:effectLst/>
                          <a:latin typeface="Calibri" panose="020F0502020204030204" pitchFamily="34" charset="0"/>
                        </a:rPr>
                        <a:t>IAMC</a:t>
                      </a:r>
                    </a:p>
                  </a:txBody>
                  <a:tcPr marL="4645" marR="4645" marT="46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29/04/2024</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4090140007816</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FUNDADO: Se aplicó multa por no usar medios de pago a Migrante retornado</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64393926"/>
                  </a:ext>
                </a:extLst>
              </a:tr>
              <a:tr h="289261">
                <a:tc>
                  <a:txBody>
                    <a:bodyPr/>
                    <a:lstStyle/>
                    <a:p>
                      <a:pPr algn="ctr" fontAlgn="ctr"/>
                      <a:r>
                        <a:rPr lang="es-PE" sz="1000" b="0" i="0" u="none" strike="noStrike">
                          <a:solidFill>
                            <a:srgbClr val="000000"/>
                          </a:solidFill>
                          <a:effectLst/>
                          <a:latin typeface="Calibri" panose="020F0502020204030204" pitchFamily="34" charset="0"/>
                        </a:rPr>
                        <a:t>IAMC</a:t>
                      </a:r>
                    </a:p>
                  </a:txBody>
                  <a:tcPr marL="4645" marR="4645" marT="46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24/04/2024</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4090140007730</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NULIDAD: Se le cursó al importador un requerimiento (Notificación) que era de otro importador,</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52514869"/>
                  </a:ext>
                </a:extLst>
              </a:tr>
              <a:tr h="389570">
                <a:tc>
                  <a:txBody>
                    <a:bodyPr/>
                    <a:lstStyle/>
                    <a:p>
                      <a:pPr algn="ctr" fontAlgn="ctr"/>
                      <a:r>
                        <a:rPr lang="es-PE" sz="1000" b="0" i="0" u="none" strike="noStrike">
                          <a:solidFill>
                            <a:srgbClr val="000000"/>
                          </a:solidFill>
                          <a:effectLst/>
                          <a:latin typeface="Calibri" panose="020F0502020204030204" pitchFamily="34" charset="0"/>
                        </a:rPr>
                        <a:t>IAMC</a:t>
                      </a:r>
                    </a:p>
                  </a:txBody>
                  <a:tcPr marL="4645" marR="4645" marT="46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18/04/2024</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4090140007627</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dirty="0">
                          <a:solidFill>
                            <a:srgbClr val="000000"/>
                          </a:solidFill>
                          <a:effectLst/>
                          <a:latin typeface="Calibri" panose="020F0502020204030204" pitchFamily="34" charset="0"/>
                        </a:rPr>
                        <a:t>Nulidad: no ha </a:t>
                      </a:r>
                      <a:br>
                        <a:rPr lang="es-ES" sz="1000" b="0" i="0" u="none" strike="noStrike" dirty="0">
                          <a:solidFill>
                            <a:srgbClr val="000000"/>
                          </a:solidFill>
                          <a:effectLst/>
                          <a:latin typeface="Calibri" panose="020F0502020204030204" pitchFamily="34" charset="0"/>
                        </a:rPr>
                      </a:br>
                      <a:r>
                        <a:rPr lang="es-ES" sz="1000" b="0" i="0" u="none" strike="noStrike" dirty="0">
                          <a:solidFill>
                            <a:srgbClr val="000000"/>
                          </a:solidFill>
                          <a:effectLst/>
                          <a:latin typeface="Calibri" panose="020F0502020204030204" pitchFamily="34" charset="0"/>
                        </a:rPr>
                        <a:t>analizado la documentación contable presentada por el importador.</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8754362"/>
                  </a:ext>
                </a:extLst>
              </a:tr>
              <a:tr h="581431">
                <a:tc>
                  <a:txBody>
                    <a:bodyPr/>
                    <a:lstStyle/>
                    <a:p>
                      <a:pPr algn="ctr" fontAlgn="ctr"/>
                      <a:r>
                        <a:rPr lang="es-PE" sz="1000" b="0" i="0" u="none" strike="noStrike">
                          <a:solidFill>
                            <a:srgbClr val="000000"/>
                          </a:solidFill>
                          <a:effectLst/>
                          <a:latin typeface="Calibri" panose="020F0502020204030204" pitchFamily="34" charset="0"/>
                        </a:rPr>
                        <a:t>IAMC</a:t>
                      </a:r>
                    </a:p>
                  </a:txBody>
                  <a:tcPr marL="4645" marR="4645" marT="46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19/04/2024</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4090140007671</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Nulidad: no existe medios de prueba que vinculen a la mercancía </a:t>
                      </a:r>
                      <a:br>
                        <a:rPr lang="es-ES" sz="1000" b="0" i="0" u="none" strike="noStrike">
                          <a:solidFill>
                            <a:srgbClr val="000000"/>
                          </a:solidFill>
                          <a:effectLst/>
                          <a:latin typeface="Calibri" panose="020F0502020204030204" pitchFamily="34" charset="0"/>
                        </a:rPr>
                      </a:br>
                      <a:r>
                        <a:rPr lang="es-ES" sz="1000" b="0" i="0" u="none" strike="noStrike">
                          <a:solidFill>
                            <a:srgbClr val="000000"/>
                          </a:solidFill>
                          <a:effectLst/>
                          <a:latin typeface="Calibri" panose="020F0502020204030204" pitchFamily="34" charset="0"/>
                        </a:rPr>
                        <a:t>incautada con el B/L N° XGGCAL044 y que permita de manera indubitable imputar la propiedad a </a:t>
                      </a:r>
                      <a:br>
                        <a:rPr lang="es-ES" sz="1000" b="0" i="0" u="none" strike="noStrike">
                          <a:solidFill>
                            <a:srgbClr val="000000"/>
                          </a:solidFill>
                          <a:effectLst/>
                          <a:latin typeface="Calibri" panose="020F0502020204030204" pitchFamily="34" charset="0"/>
                        </a:rPr>
                      </a:br>
                      <a:r>
                        <a:rPr lang="es-ES" sz="1000" b="0" i="0" u="none" strike="noStrike">
                          <a:solidFill>
                            <a:srgbClr val="000000"/>
                          </a:solidFill>
                          <a:effectLst/>
                          <a:latin typeface="Calibri" panose="020F0502020204030204" pitchFamily="34" charset="0"/>
                        </a:rPr>
                        <a:t>la recurrente</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23622052"/>
                  </a:ext>
                </a:extLst>
              </a:tr>
              <a:tr h="289261">
                <a:tc>
                  <a:txBody>
                    <a:bodyPr/>
                    <a:lstStyle/>
                    <a:p>
                      <a:pPr algn="ctr" fontAlgn="ctr"/>
                      <a:r>
                        <a:rPr lang="es-PE" sz="1000" b="0" i="0" u="none" strike="noStrike">
                          <a:solidFill>
                            <a:srgbClr val="000000"/>
                          </a:solidFill>
                          <a:effectLst/>
                          <a:latin typeface="Calibri" panose="020F0502020204030204" pitchFamily="34" charset="0"/>
                        </a:rPr>
                        <a:t>IAMC</a:t>
                      </a:r>
                    </a:p>
                  </a:txBody>
                  <a:tcPr marL="4645" marR="4645" marT="46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23/04/2024</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4090140007702</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Fundado en parte:  existencia de un pago en exceso por diferencia de peso en aplicación de la Circular N° INTA-CR-018-2002, acredita medios de pago.</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4422165"/>
                  </a:ext>
                </a:extLst>
              </a:tr>
              <a:tr h="289261">
                <a:tc>
                  <a:txBody>
                    <a:bodyPr/>
                    <a:lstStyle/>
                    <a:p>
                      <a:pPr algn="ctr" fontAlgn="ctr"/>
                      <a:r>
                        <a:rPr lang="es-PE" sz="1000" b="0" i="0" u="none" strike="noStrike">
                          <a:solidFill>
                            <a:srgbClr val="000000"/>
                          </a:solidFill>
                          <a:effectLst/>
                          <a:latin typeface="Calibri" panose="020F0502020204030204" pitchFamily="34" charset="0"/>
                        </a:rPr>
                        <a:t>IAMC</a:t>
                      </a:r>
                    </a:p>
                  </a:txBody>
                  <a:tcPr marL="4645" marR="4645" marT="46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23/04/2024</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4090140007704</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Nulidad: no evaluaron referencias aportadas por el importador.</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7327628"/>
                  </a:ext>
                </a:extLst>
              </a:tr>
              <a:tr h="289261">
                <a:tc>
                  <a:txBody>
                    <a:bodyPr/>
                    <a:lstStyle/>
                    <a:p>
                      <a:pPr algn="ctr" fontAlgn="ctr"/>
                      <a:r>
                        <a:rPr lang="es-PE" sz="1000" b="0" i="0" u="none" strike="noStrike">
                          <a:solidFill>
                            <a:srgbClr val="000000"/>
                          </a:solidFill>
                          <a:effectLst/>
                          <a:latin typeface="Calibri" panose="020F0502020204030204" pitchFamily="34" charset="0"/>
                        </a:rPr>
                        <a:t>IAMC</a:t>
                      </a:r>
                    </a:p>
                  </a:txBody>
                  <a:tcPr marL="4645" marR="4645" marT="46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28/04/2024</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4090140007766</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Fundado: conforme información de sistemas, el importador al numerar la DAM manifestó la voluntad de acogerse a TLC.</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0678940"/>
                  </a:ext>
                </a:extLst>
              </a:tr>
              <a:tr h="289261">
                <a:tc>
                  <a:txBody>
                    <a:bodyPr/>
                    <a:lstStyle/>
                    <a:p>
                      <a:pPr algn="ctr" fontAlgn="ctr"/>
                      <a:r>
                        <a:rPr lang="es-PE" sz="1000" b="0" i="0" u="none" strike="noStrike">
                          <a:solidFill>
                            <a:srgbClr val="000000"/>
                          </a:solidFill>
                          <a:effectLst/>
                          <a:latin typeface="Calibri" panose="020F0502020204030204" pitchFamily="34" charset="0"/>
                        </a:rPr>
                        <a:t>IAMC</a:t>
                      </a:r>
                    </a:p>
                  </a:txBody>
                  <a:tcPr marL="4645" marR="4645" marT="46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30/04/2024</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4090140007943</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Nulidad: no merituaron medios probatorios adjuntos a un expediente presentado dentro de plazo.</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7759028"/>
                  </a:ext>
                </a:extLst>
              </a:tr>
              <a:tr h="289261">
                <a:tc>
                  <a:txBody>
                    <a:bodyPr/>
                    <a:lstStyle/>
                    <a:p>
                      <a:pPr algn="ctr" fontAlgn="ctr"/>
                      <a:r>
                        <a:rPr lang="es-PE" sz="1000" b="0" i="0" u="none" strike="noStrike">
                          <a:solidFill>
                            <a:srgbClr val="000000"/>
                          </a:solidFill>
                          <a:effectLst/>
                          <a:latin typeface="Calibri" panose="020F0502020204030204" pitchFamily="34" charset="0"/>
                        </a:rPr>
                        <a:t>IAMC</a:t>
                      </a:r>
                    </a:p>
                  </a:txBody>
                  <a:tcPr marL="4645" marR="4645" marT="46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30/04/2024</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4090140007938</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Nulidad: no merituaron expedientes presentados dentro de plazo.</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6043757"/>
                  </a:ext>
                </a:extLst>
              </a:tr>
              <a:tr h="289261">
                <a:tc>
                  <a:txBody>
                    <a:bodyPr/>
                    <a:lstStyle/>
                    <a:p>
                      <a:pPr algn="ctr" fontAlgn="ctr"/>
                      <a:r>
                        <a:rPr lang="es-PE" sz="1000" b="0" i="0" u="none" strike="noStrike">
                          <a:solidFill>
                            <a:srgbClr val="000000"/>
                          </a:solidFill>
                          <a:effectLst/>
                          <a:latin typeface="Calibri" panose="020F0502020204030204" pitchFamily="34" charset="0"/>
                        </a:rPr>
                        <a:t>IAMC</a:t>
                      </a:r>
                    </a:p>
                  </a:txBody>
                  <a:tcPr marL="4645" marR="4645" marT="46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30/04/2024</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4090140007865</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Nulidad: referencias múltiples, la Administración debió requerir análisis comparativo de las referencias aportadas por el importador.</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0449639"/>
                  </a:ext>
                </a:extLst>
              </a:tr>
              <a:tr h="289261">
                <a:tc>
                  <a:txBody>
                    <a:bodyPr/>
                    <a:lstStyle/>
                    <a:p>
                      <a:pPr algn="ctr" fontAlgn="ctr"/>
                      <a:r>
                        <a:rPr lang="es-PE" sz="1000" b="0" i="0" u="none" strike="noStrike">
                          <a:solidFill>
                            <a:srgbClr val="000000"/>
                          </a:solidFill>
                          <a:effectLst/>
                          <a:latin typeface="Calibri" panose="020F0502020204030204" pitchFamily="34" charset="0"/>
                        </a:rPr>
                        <a:t>IAMC</a:t>
                      </a:r>
                    </a:p>
                  </a:txBody>
                  <a:tcPr marL="4645" marR="4645" marT="46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30/04/2024</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4090140007870</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dirty="0">
                          <a:solidFill>
                            <a:srgbClr val="000000"/>
                          </a:solidFill>
                          <a:effectLst/>
                          <a:latin typeface="Calibri" panose="020F0502020204030204" pitchFamily="34" charset="0"/>
                        </a:rPr>
                        <a:t>Nulidad: referencias múltiples, la Administración debió requerir análisis comparativo de las referencias aportadas por el importador.</a:t>
                      </a:r>
                    </a:p>
                  </a:txBody>
                  <a:tcPr marL="4645" marR="4645" marT="46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67492083"/>
                  </a:ext>
                </a:extLst>
              </a:tr>
            </a:tbl>
          </a:graphicData>
        </a:graphic>
      </p:graphicFrame>
    </p:spTree>
    <p:extLst>
      <p:ext uri="{BB962C8B-B14F-4D97-AF65-F5344CB8AC3E}">
        <p14:creationId xmlns:p14="http://schemas.microsoft.com/office/powerpoint/2010/main" val="2472157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8" name="Título 94">
            <a:extLst>
              <a:ext uri="{FF2B5EF4-FFF2-40B4-BE49-F238E27FC236}">
                <a16:creationId xmlns:a16="http://schemas.microsoft.com/office/drawing/2014/main" id="{1EB64A6E-130E-BC7D-B2AF-91C94A288A85}"/>
              </a:ext>
            </a:extLst>
          </p:cNvPr>
          <p:cNvSpPr>
            <a:spLocks noGrp="1"/>
          </p:cNvSpPr>
          <p:nvPr>
            <p:ph type="title"/>
          </p:nvPr>
        </p:nvSpPr>
        <p:spPr>
          <a:xfrm>
            <a:off x="239713" y="338138"/>
            <a:ext cx="10515600" cy="849312"/>
          </a:xfrm>
        </p:spPr>
        <p:txBody>
          <a:bodyPr>
            <a:noAutofit/>
          </a:bodyPr>
          <a:lstStyle/>
          <a:p>
            <a:r>
              <a:rPr lang="es-ES" sz="2400" b="1" dirty="0">
                <a:latin typeface="Arial" panose="020B0604020202020204" pitchFamily="34" charset="0"/>
                <a:cs typeface="Arial" panose="020B0604020202020204" pitchFamily="34" charset="0"/>
              </a:rPr>
              <a:t>SUMILLAS DE NULIDADES DECLARADAS POR LA GAFA-DCCII</a:t>
            </a:r>
            <a:endParaRPr lang="es-PE" sz="2400" b="1" dirty="0">
              <a:latin typeface="Arial" panose="020B0604020202020204" pitchFamily="34" charset="0"/>
              <a:cs typeface="Arial" panose="020B0604020202020204" pitchFamily="34" charset="0"/>
            </a:endParaRPr>
          </a:p>
        </p:txBody>
      </p:sp>
      <p:graphicFrame>
        <p:nvGraphicFramePr>
          <p:cNvPr id="3" name="Tabla 2">
            <a:extLst>
              <a:ext uri="{FF2B5EF4-FFF2-40B4-BE49-F238E27FC236}">
                <a16:creationId xmlns:a16="http://schemas.microsoft.com/office/drawing/2014/main" id="{1438E113-A4B0-87AA-0523-181EE7FC1E87}"/>
              </a:ext>
            </a:extLst>
          </p:cNvPr>
          <p:cNvGraphicFramePr>
            <a:graphicFrameLocks noGrp="1"/>
          </p:cNvGraphicFramePr>
          <p:nvPr>
            <p:extLst>
              <p:ext uri="{D42A27DB-BD31-4B8C-83A1-F6EECF244321}">
                <p14:modId xmlns:p14="http://schemas.microsoft.com/office/powerpoint/2010/main" val="799452832"/>
              </p:ext>
            </p:extLst>
          </p:nvPr>
        </p:nvGraphicFramePr>
        <p:xfrm>
          <a:off x="387308" y="1081186"/>
          <a:ext cx="10801349" cy="5584873"/>
        </p:xfrm>
        <a:graphic>
          <a:graphicData uri="http://schemas.openxmlformats.org/drawingml/2006/table">
            <a:tbl>
              <a:tblPr/>
              <a:tblGrid>
                <a:gridCol w="1971675">
                  <a:extLst>
                    <a:ext uri="{9D8B030D-6E8A-4147-A177-3AD203B41FA5}">
                      <a16:colId xmlns:a16="http://schemas.microsoft.com/office/drawing/2014/main" val="3772477910"/>
                    </a:ext>
                  </a:extLst>
                </a:gridCol>
                <a:gridCol w="2177415">
                  <a:extLst>
                    <a:ext uri="{9D8B030D-6E8A-4147-A177-3AD203B41FA5}">
                      <a16:colId xmlns:a16="http://schemas.microsoft.com/office/drawing/2014/main" val="2572556959"/>
                    </a:ext>
                  </a:extLst>
                </a:gridCol>
                <a:gridCol w="2245995">
                  <a:extLst>
                    <a:ext uri="{9D8B030D-6E8A-4147-A177-3AD203B41FA5}">
                      <a16:colId xmlns:a16="http://schemas.microsoft.com/office/drawing/2014/main" val="1666243510"/>
                    </a:ext>
                  </a:extLst>
                </a:gridCol>
                <a:gridCol w="4406264">
                  <a:extLst>
                    <a:ext uri="{9D8B030D-6E8A-4147-A177-3AD203B41FA5}">
                      <a16:colId xmlns:a16="http://schemas.microsoft.com/office/drawing/2014/main" val="2051851763"/>
                    </a:ext>
                  </a:extLst>
                </a:gridCol>
              </a:tblGrid>
              <a:tr h="156305">
                <a:tc>
                  <a:txBody>
                    <a:bodyPr/>
                    <a:lstStyle/>
                    <a:p>
                      <a:pPr algn="ctr" fontAlgn="b"/>
                      <a:r>
                        <a:rPr lang="es-PE" sz="1400" b="1" i="0" u="none" strike="noStrike">
                          <a:solidFill>
                            <a:srgbClr val="000000"/>
                          </a:solidFill>
                          <a:effectLst/>
                          <a:latin typeface="Calibri" panose="020F0502020204030204" pitchFamily="34" charset="0"/>
                        </a:rPr>
                        <a:t>DEPENDENCIA</a:t>
                      </a:r>
                    </a:p>
                  </a:txBody>
                  <a:tcPr marL="5359" marR="5359" marT="5359"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ctr" fontAlgn="b"/>
                      <a:r>
                        <a:rPr lang="es-PE" sz="1400" b="1" i="0" u="none" strike="noStrike">
                          <a:solidFill>
                            <a:srgbClr val="000000"/>
                          </a:solidFill>
                          <a:effectLst/>
                          <a:latin typeface="Calibri" panose="020F0502020204030204" pitchFamily="34" charset="0"/>
                        </a:rPr>
                        <a:t>MES</a:t>
                      </a:r>
                    </a:p>
                  </a:txBody>
                  <a:tcPr marL="5359" marR="5359" marT="53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ctr" fontAlgn="b"/>
                      <a:r>
                        <a:rPr lang="es-PE" sz="1400" b="1" i="0" u="none" strike="noStrike" dirty="0" err="1">
                          <a:solidFill>
                            <a:srgbClr val="000000"/>
                          </a:solidFill>
                          <a:effectLst/>
                          <a:latin typeface="Calibri" panose="020F0502020204030204" pitchFamily="34" charset="0"/>
                        </a:rPr>
                        <a:t>N°</a:t>
                      </a:r>
                      <a:r>
                        <a:rPr lang="es-PE" sz="1400" b="1" i="0" u="none" strike="noStrike" dirty="0">
                          <a:solidFill>
                            <a:srgbClr val="000000"/>
                          </a:solidFill>
                          <a:effectLst/>
                          <a:latin typeface="Calibri" panose="020F0502020204030204" pitchFamily="34" charset="0"/>
                        </a:rPr>
                        <a:t> RD</a:t>
                      </a:r>
                    </a:p>
                  </a:txBody>
                  <a:tcPr marL="5359" marR="5359" marT="53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ctr" fontAlgn="b"/>
                      <a:r>
                        <a:rPr lang="es-PE" sz="1400" b="1" i="0" u="none" strike="noStrike">
                          <a:solidFill>
                            <a:srgbClr val="000000"/>
                          </a:solidFill>
                          <a:effectLst/>
                          <a:latin typeface="Calibri" panose="020F0502020204030204" pitchFamily="34" charset="0"/>
                        </a:rPr>
                        <a:t>SUMILLA MOTIVO REVOCA/NULA</a:t>
                      </a:r>
                    </a:p>
                  </a:txBody>
                  <a:tcPr marL="5359" marR="5359" marT="5359"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extLst>
                  <a:ext uri="{0D108BD9-81ED-4DB2-BD59-A6C34878D82A}">
                    <a16:rowId xmlns:a16="http://schemas.microsoft.com/office/drawing/2014/main" val="2196421510"/>
                  </a:ext>
                </a:extLst>
              </a:tr>
              <a:tr h="747850">
                <a:tc>
                  <a:txBody>
                    <a:bodyPr/>
                    <a:lstStyle/>
                    <a:p>
                      <a:pPr algn="l" fontAlgn="ctr"/>
                      <a:r>
                        <a:rPr lang="es-PE" sz="1400" b="0" i="0" u="none" strike="noStrike">
                          <a:solidFill>
                            <a:srgbClr val="000000"/>
                          </a:solidFill>
                          <a:effectLst/>
                          <a:latin typeface="Calibri" panose="020F0502020204030204" pitchFamily="34" charset="0"/>
                        </a:rPr>
                        <a:t>I.A. Tarapoto</a:t>
                      </a:r>
                    </a:p>
                  </a:txBody>
                  <a:tcPr marL="5359" marR="5359" marT="53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Abril</a:t>
                      </a:r>
                    </a:p>
                  </a:txBody>
                  <a:tcPr marL="5359" marR="5359" marT="53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409014007473</a:t>
                      </a:r>
                    </a:p>
                  </a:txBody>
                  <a:tcPr marL="5359" marR="5359" marT="53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t"/>
                      <a:r>
                        <a:rPr lang="es-ES" sz="1400" b="0" i="0" u="none" strike="noStrike">
                          <a:solidFill>
                            <a:srgbClr val="000000"/>
                          </a:solidFill>
                          <a:effectLst/>
                          <a:latin typeface="Calibri" panose="020F0502020204030204" pitchFamily="34" charset="0"/>
                        </a:rPr>
                        <a:t>NULIDAD Se declaró improcedente la solicitud de regularización (PECO/Amazonía) por haberse presentado fuera de plazo, no obstante, el usuario habia presentado un expediente de suspension de plazo, el cual aún se encuentra en evaluación. </a:t>
                      </a:r>
                    </a:p>
                  </a:txBody>
                  <a:tcPr marL="5359" marR="5359" marT="53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44467352"/>
                  </a:ext>
                </a:extLst>
              </a:tr>
              <a:tr h="747850">
                <a:tc>
                  <a:txBody>
                    <a:bodyPr/>
                    <a:lstStyle/>
                    <a:p>
                      <a:pPr algn="l" fontAlgn="ctr"/>
                      <a:r>
                        <a:rPr lang="es-PE" sz="1400" b="0" i="0" u="none" strike="noStrike">
                          <a:solidFill>
                            <a:srgbClr val="000000"/>
                          </a:solidFill>
                          <a:effectLst/>
                          <a:latin typeface="Calibri" panose="020F0502020204030204" pitchFamily="34" charset="0"/>
                        </a:rPr>
                        <a:t>I.A. Ilo</a:t>
                      </a:r>
                    </a:p>
                  </a:txBody>
                  <a:tcPr marL="5359" marR="5359" marT="53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Abril</a:t>
                      </a:r>
                    </a:p>
                  </a:txBody>
                  <a:tcPr marL="5359" marR="5359" marT="53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409014007523</a:t>
                      </a:r>
                    </a:p>
                  </a:txBody>
                  <a:tcPr marL="5359" marR="5359" marT="53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t"/>
                      <a:r>
                        <a:rPr lang="es-ES" sz="1400" b="0" i="0" u="none" strike="noStrike">
                          <a:solidFill>
                            <a:srgbClr val="000000"/>
                          </a:solidFill>
                          <a:effectLst/>
                          <a:latin typeface="Calibri" panose="020F0502020204030204" pitchFamily="34" charset="0"/>
                        </a:rPr>
                        <a:t>NULIDAD Se confirmó la Duda Razonable y descarte del Primer Método de Valoración sin tomar en cuenta Expedientes en los que el usuario había presentado documentación comercial y bancaria.</a:t>
                      </a:r>
                    </a:p>
                  </a:txBody>
                  <a:tcPr marL="5359" marR="5359" marT="53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3796785"/>
                  </a:ext>
                </a:extLst>
              </a:tr>
              <a:tr h="747850">
                <a:tc>
                  <a:txBody>
                    <a:bodyPr/>
                    <a:lstStyle/>
                    <a:p>
                      <a:pPr algn="l" fontAlgn="ctr"/>
                      <a:r>
                        <a:rPr lang="es-PE" sz="1400" b="0" i="0" u="none" strike="noStrike">
                          <a:solidFill>
                            <a:srgbClr val="000000"/>
                          </a:solidFill>
                          <a:effectLst/>
                          <a:latin typeface="Calibri" panose="020F0502020204030204" pitchFamily="34" charset="0"/>
                        </a:rPr>
                        <a:t>I.A. Paita</a:t>
                      </a:r>
                    </a:p>
                  </a:txBody>
                  <a:tcPr marL="5359" marR="5359" marT="53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Abril</a:t>
                      </a:r>
                    </a:p>
                  </a:txBody>
                  <a:tcPr marL="5359" marR="5359" marT="53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409014007567</a:t>
                      </a:r>
                    </a:p>
                  </a:txBody>
                  <a:tcPr marL="5359" marR="5359" marT="53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t"/>
                      <a:r>
                        <a:rPr lang="es-ES" sz="1400" b="0" i="0" u="none" strike="noStrike">
                          <a:solidFill>
                            <a:srgbClr val="000000"/>
                          </a:solidFill>
                          <a:effectLst/>
                          <a:latin typeface="Calibri" panose="020F0502020204030204" pitchFamily="34" charset="0"/>
                        </a:rPr>
                        <a:t>NULIDAD Se rechazó como no subsanable la solicitud de Drawback por no presentar la documentación requerida, antes del vencimiento del plazo otorgado, a su vez, no se consideró base legal.</a:t>
                      </a:r>
                    </a:p>
                  </a:txBody>
                  <a:tcPr marL="5359" marR="5359" marT="53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68924572"/>
                  </a:ext>
                </a:extLst>
              </a:tr>
              <a:tr h="458786">
                <a:tc>
                  <a:txBody>
                    <a:bodyPr/>
                    <a:lstStyle/>
                    <a:p>
                      <a:pPr algn="l" fontAlgn="ctr"/>
                      <a:r>
                        <a:rPr lang="es-PE" sz="1400" b="0" i="0" u="none" strike="noStrike">
                          <a:solidFill>
                            <a:srgbClr val="000000"/>
                          </a:solidFill>
                          <a:effectLst/>
                          <a:latin typeface="Calibri" panose="020F0502020204030204" pitchFamily="34" charset="0"/>
                        </a:rPr>
                        <a:t>I.A. Mollendo</a:t>
                      </a:r>
                    </a:p>
                  </a:txBody>
                  <a:tcPr marL="5359" marR="5359" marT="53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Abril</a:t>
                      </a:r>
                    </a:p>
                  </a:txBody>
                  <a:tcPr marL="5359" marR="5359" marT="53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409014007699</a:t>
                      </a:r>
                    </a:p>
                  </a:txBody>
                  <a:tcPr marL="5359" marR="5359" marT="53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t"/>
                      <a:r>
                        <a:rPr lang="es-ES" sz="1400" b="0" i="0" u="none" strike="noStrike">
                          <a:solidFill>
                            <a:srgbClr val="000000"/>
                          </a:solidFill>
                          <a:effectLst/>
                          <a:latin typeface="Calibri" panose="020F0502020204030204" pitchFamily="34" charset="0"/>
                        </a:rPr>
                        <a:t>NULIDAD Se emitió sancion al operador como transportista, cuando su actuación habia sido como agente de carga internacional.</a:t>
                      </a:r>
                    </a:p>
                  </a:txBody>
                  <a:tcPr marL="5359" marR="5359" marT="53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0967921"/>
                  </a:ext>
                </a:extLst>
              </a:tr>
              <a:tr h="1193574">
                <a:tc>
                  <a:txBody>
                    <a:bodyPr/>
                    <a:lstStyle/>
                    <a:p>
                      <a:pPr algn="l" fontAlgn="ctr"/>
                      <a:r>
                        <a:rPr lang="es-ES" sz="1400" b="0" i="0" u="none" strike="noStrike">
                          <a:solidFill>
                            <a:srgbClr val="000000"/>
                          </a:solidFill>
                          <a:effectLst/>
                          <a:latin typeface="Calibri" panose="020F0502020204030204" pitchFamily="34" charset="0"/>
                        </a:rPr>
                        <a:t>I.A. Aérea y Postal</a:t>
                      </a:r>
                    </a:p>
                  </a:txBody>
                  <a:tcPr marL="5359" marR="5359" marT="53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Abril</a:t>
                      </a:r>
                    </a:p>
                  </a:txBody>
                  <a:tcPr marL="5359" marR="5359" marT="53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409014007773</a:t>
                      </a:r>
                    </a:p>
                  </a:txBody>
                  <a:tcPr marL="5359" marR="5359" marT="53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t"/>
                      <a:r>
                        <a:rPr lang="es-ES" sz="1400" b="0" i="0" u="none" strike="noStrike">
                          <a:solidFill>
                            <a:srgbClr val="000000"/>
                          </a:solidFill>
                          <a:effectLst/>
                          <a:latin typeface="Calibri" panose="020F0502020204030204" pitchFamily="34" charset="0"/>
                        </a:rPr>
                        <a:t>FUNDADO Se sancióno al exportador con el comiso de la mercancia, dado que el Boletín Químico establecía una SPN diferente a la declarada (lo que incidía en los porcentajes declarados en la Factura) no obstante, luego de un segundo análisis, el laboratorio emitió un Informe dirimiente, confirmando lo declarado por el exportador.</a:t>
                      </a:r>
                    </a:p>
                  </a:txBody>
                  <a:tcPr marL="5359" marR="5359" marT="53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47396051"/>
                  </a:ext>
                </a:extLst>
              </a:tr>
              <a:tr h="599275">
                <a:tc>
                  <a:txBody>
                    <a:bodyPr/>
                    <a:lstStyle/>
                    <a:p>
                      <a:pPr algn="l" fontAlgn="ctr"/>
                      <a:r>
                        <a:rPr lang="es-PE" sz="1400" b="0" i="0" u="none" strike="noStrike">
                          <a:solidFill>
                            <a:srgbClr val="000000"/>
                          </a:solidFill>
                          <a:effectLst/>
                          <a:latin typeface="Calibri" panose="020F0502020204030204" pitchFamily="34" charset="0"/>
                        </a:rPr>
                        <a:t>I.A. Ilo</a:t>
                      </a:r>
                    </a:p>
                  </a:txBody>
                  <a:tcPr marL="5359" marR="5359" marT="53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Abril</a:t>
                      </a:r>
                    </a:p>
                  </a:txBody>
                  <a:tcPr marL="5359" marR="5359" marT="53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409014007861</a:t>
                      </a:r>
                    </a:p>
                  </a:txBody>
                  <a:tcPr marL="5359" marR="5359" marT="53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t"/>
                      <a:r>
                        <a:rPr lang="es-ES" sz="1400" b="0" i="0" u="none" strike="noStrike" dirty="0">
                          <a:solidFill>
                            <a:srgbClr val="000000"/>
                          </a:solidFill>
                          <a:effectLst/>
                          <a:latin typeface="Calibri" panose="020F0502020204030204" pitchFamily="34" charset="0"/>
                        </a:rPr>
                        <a:t>NULIDAD Se </a:t>
                      </a:r>
                      <a:r>
                        <a:rPr lang="es-ES" sz="1400" b="0" i="0" u="none" strike="noStrike" dirty="0" err="1">
                          <a:solidFill>
                            <a:srgbClr val="000000"/>
                          </a:solidFill>
                          <a:effectLst/>
                          <a:latin typeface="Calibri" panose="020F0502020204030204" pitchFamily="34" charset="0"/>
                        </a:rPr>
                        <a:t>sancióno</a:t>
                      </a:r>
                      <a:r>
                        <a:rPr lang="es-ES" sz="1400" b="0" i="0" u="none" strike="noStrike" dirty="0">
                          <a:solidFill>
                            <a:srgbClr val="000000"/>
                          </a:solidFill>
                          <a:effectLst/>
                          <a:latin typeface="Calibri" panose="020F0502020204030204" pitchFamily="34" charset="0"/>
                        </a:rPr>
                        <a:t> por no utilización de medios de pago, sin tomar en consideración que el importador </a:t>
                      </a:r>
                      <a:r>
                        <a:rPr lang="es-ES" sz="1400" b="0" i="0" u="none" strike="noStrike" dirty="0" err="1">
                          <a:solidFill>
                            <a:srgbClr val="000000"/>
                          </a:solidFill>
                          <a:effectLst/>
                          <a:latin typeface="Calibri" panose="020F0502020204030204" pitchFamily="34" charset="0"/>
                        </a:rPr>
                        <a:t>habia</a:t>
                      </a:r>
                      <a:r>
                        <a:rPr lang="es-ES" sz="1400" b="0" i="0" u="none" strike="noStrike" dirty="0">
                          <a:solidFill>
                            <a:srgbClr val="000000"/>
                          </a:solidFill>
                          <a:effectLst/>
                          <a:latin typeface="Calibri" panose="020F0502020204030204" pitchFamily="34" charset="0"/>
                        </a:rPr>
                        <a:t> presentado documentación digitalizada en el despacho.</a:t>
                      </a:r>
                    </a:p>
                  </a:txBody>
                  <a:tcPr marL="5359" marR="5359" marT="53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87370744"/>
                  </a:ext>
                </a:extLst>
              </a:tr>
            </a:tbl>
          </a:graphicData>
        </a:graphic>
      </p:graphicFrame>
    </p:spTree>
    <p:extLst>
      <p:ext uri="{BB962C8B-B14F-4D97-AF65-F5344CB8AC3E}">
        <p14:creationId xmlns:p14="http://schemas.microsoft.com/office/powerpoint/2010/main" val="9916034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8" name="Título 94">
            <a:extLst>
              <a:ext uri="{FF2B5EF4-FFF2-40B4-BE49-F238E27FC236}">
                <a16:creationId xmlns:a16="http://schemas.microsoft.com/office/drawing/2014/main" id="{1EB64A6E-130E-BC7D-B2AF-91C94A288A85}"/>
              </a:ext>
            </a:extLst>
          </p:cNvPr>
          <p:cNvSpPr>
            <a:spLocks noGrp="1"/>
          </p:cNvSpPr>
          <p:nvPr>
            <p:ph type="title"/>
          </p:nvPr>
        </p:nvSpPr>
        <p:spPr>
          <a:xfrm>
            <a:off x="239713" y="338138"/>
            <a:ext cx="10515600" cy="849312"/>
          </a:xfrm>
        </p:spPr>
        <p:txBody>
          <a:bodyPr>
            <a:noAutofit/>
          </a:bodyPr>
          <a:lstStyle/>
          <a:p>
            <a:r>
              <a:rPr lang="es-ES" sz="2400" b="1" dirty="0">
                <a:latin typeface="Arial" panose="020B0604020202020204" pitchFamily="34" charset="0"/>
                <a:cs typeface="Arial" panose="020B0604020202020204" pitchFamily="34" charset="0"/>
              </a:rPr>
              <a:t>SUMILLAS DE NULIDADES DECLARADAS POR LA GAFA-DCP</a:t>
            </a:r>
            <a:endParaRPr lang="es-PE" sz="2400" b="1" dirty="0">
              <a:latin typeface="Arial" panose="020B0604020202020204" pitchFamily="34" charset="0"/>
              <a:cs typeface="Arial" panose="020B0604020202020204" pitchFamily="34" charset="0"/>
            </a:endParaRPr>
          </a:p>
        </p:txBody>
      </p:sp>
      <p:graphicFrame>
        <p:nvGraphicFramePr>
          <p:cNvPr id="3" name="Tabla 2">
            <a:extLst>
              <a:ext uri="{FF2B5EF4-FFF2-40B4-BE49-F238E27FC236}">
                <a16:creationId xmlns:a16="http://schemas.microsoft.com/office/drawing/2014/main" id="{55DDDABE-D631-9856-83AE-D1760050C036}"/>
              </a:ext>
            </a:extLst>
          </p:cNvPr>
          <p:cNvGraphicFramePr>
            <a:graphicFrameLocks noGrp="1"/>
          </p:cNvGraphicFramePr>
          <p:nvPr>
            <p:extLst>
              <p:ext uri="{D42A27DB-BD31-4B8C-83A1-F6EECF244321}">
                <p14:modId xmlns:p14="http://schemas.microsoft.com/office/powerpoint/2010/main" val="2590503364"/>
              </p:ext>
            </p:extLst>
          </p:nvPr>
        </p:nvGraphicFramePr>
        <p:xfrm>
          <a:off x="292044" y="1228082"/>
          <a:ext cx="11147481" cy="3890164"/>
        </p:xfrm>
        <a:graphic>
          <a:graphicData uri="http://schemas.openxmlformats.org/drawingml/2006/table">
            <a:tbl>
              <a:tblPr/>
              <a:tblGrid>
                <a:gridCol w="1492454">
                  <a:extLst>
                    <a:ext uri="{9D8B030D-6E8A-4147-A177-3AD203B41FA5}">
                      <a16:colId xmlns:a16="http://schemas.microsoft.com/office/drawing/2014/main" val="3747236072"/>
                    </a:ext>
                  </a:extLst>
                </a:gridCol>
                <a:gridCol w="734746">
                  <a:extLst>
                    <a:ext uri="{9D8B030D-6E8A-4147-A177-3AD203B41FA5}">
                      <a16:colId xmlns:a16="http://schemas.microsoft.com/office/drawing/2014/main" val="3194332797"/>
                    </a:ext>
                  </a:extLst>
                </a:gridCol>
                <a:gridCol w="1377649">
                  <a:extLst>
                    <a:ext uri="{9D8B030D-6E8A-4147-A177-3AD203B41FA5}">
                      <a16:colId xmlns:a16="http://schemas.microsoft.com/office/drawing/2014/main" val="120617691"/>
                    </a:ext>
                  </a:extLst>
                </a:gridCol>
                <a:gridCol w="7542632">
                  <a:extLst>
                    <a:ext uri="{9D8B030D-6E8A-4147-A177-3AD203B41FA5}">
                      <a16:colId xmlns:a16="http://schemas.microsoft.com/office/drawing/2014/main" val="714070298"/>
                    </a:ext>
                  </a:extLst>
                </a:gridCol>
              </a:tblGrid>
              <a:tr h="395875">
                <a:tc>
                  <a:txBody>
                    <a:bodyPr/>
                    <a:lstStyle/>
                    <a:p>
                      <a:pPr algn="ctr" fontAlgn="b"/>
                      <a:r>
                        <a:rPr lang="es-PE" sz="1400" b="1" i="0" u="none" strike="noStrike">
                          <a:solidFill>
                            <a:srgbClr val="000000"/>
                          </a:solidFill>
                          <a:effectLst/>
                          <a:latin typeface="Calibri" panose="020F0502020204030204" pitchFamily="34" charset="0"/>
                        </a:rPr>
                        <a:t>DEPENDENCIA</a:t>
                      </a:r>
                    </a:p>
                  </a:txBody>
                  <a:tcPr marL="5415" marR="5415" marT="541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s-PE" sz="1400" b="1" i="0" u="none" strike="noStrike">
                          <a:solidFill>
                            <a:srgbClr val="000000"/>
                          </a:solidFill>
                          <a:effectLst/>
                          <a:latin typeface="Calibri" panose="020F0502020204030204" pitchFamily="34" charset="0"/>
                        </a:rPr>
                        <a:t>MES</a:t>
                      </a:r>
                    </a:p>
                  </a:txBody>
                  <a:tcPr marL="5415" marR="5415" marT="54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s-PE" sz="1400" b="1" i="0" u="none" strike="noStrike" dirty="0" err="1">
                          <a:solidFill>
                            <a:srgbClr val="000000"/>
                          </a:solidFill>
                          <a:effectLst/>
                          <a:latin typeface="Calibri" panose="020F0502020204030204" pitchFamily="34" charset="0"/>
                        </a:rPr>
                        <a:t>N°</a:t>
                      </a:r>
                      <a:r>
                        <a:rPr lang="es-PE" sz="1400" b="1" i="0" u="none" strike="noStrike" dirty="0">
                          <a:solidFill>
                            <a:srgbClr val="000000"/>
                          </a:solidFill>
                          <a:effectLst/>
                          <a:latin typeface="Calibri" panose="020F0502020204030204" pitchFamily="34" charset="0"/>
                        </a:rPr>
                        <a:t> RD</a:t>
                      </a:r>
                    </a:p>
                  </a:txBody>
                  <a:tcPr marL="5415" marR="5415" marT="54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s-PE" sz="1400" b="1" i="0" u="none" strike="noStrike">
                          <a:solidFill>
                            <a:srgbClr val="000000"/>
                          </a:solidFill>
                          <a:effectLst/>
                          <a:latin typeface="Calibri" panose="020F0502020204030204" pitchFamily="34" charset="0"/>
                        </a:rPr>
                        <a:t>SUMILLA MOTIVO REVOCA/NULA</a:t>
                      </a:r>
                    </a:p>
                  </a:txBody>
                  <a:tcPr marL="5415" marR="5415" marT="541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4224319827"/>
                  </a:ext>
                </a:extLst>
              </a:tr>
              <a:tr h="1554106">
                <a:tc>
                  <a:txBody>
                    <a:bodyPr/>
                    <a:lstStyle/>
                    <a:p>
                      <a:pPr algn="l" fontAlgn="ctr"/>
                      <a:r>
                        <a:rPr lang="es-PE" sz="1400" b="0" i="0" u="none" strike="noStrike">
                          <a:solidFill>
                            <a:srgbClr val="000000"/>
                          </a:solidFill>
                          <a:effectLst/>
                          <a:latin typeface="Calibri" panose="020F0502020204030204" pitchFamily="34" charset="0"/>
                        </a:rPr>
                        <a:t>SEDE CENTRAL - CHUCUITO</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Abril</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4090140007779</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ES" sz="1400" b="0" i="0" u="none" strike="noStrike" dirty="0">
                          <a:solidFill>
                            <a:srgbClr val="000000"/>
                          </a:solidFill>
                          <a:effectLst/>
                          <a:latin typeface="Calibri" panose="020F0502020204030204" pitchFamily="34" charset="0"/>
                        </a:rPr>
                        <a:t>Se deja sin efecto resolución de la Division de Fiscalización Posterior para que el caso retorne a fiscalización porque posterior a la RD y RM llegó información del exterior y de las entidades bancarias. Se ha verificado que no se consideró el pago de US$ 150,000.00 consignado en el  resultado de requerimiento </a:t>
                      </a:r>
                      <a:r>
                        <a:rPr lang="es-ES" sz="1400" b="0" i="0" u="none" strike="noStrike" dirty="0" err="1">
                          <a:solidFill>
                            <a:srgbClr val="000000"/>
                          </a:solidFill>
                          <a:effectLst/>
                          <a:latin typeface="Calibri" panose="020F0502020204030204" pitchFamily="34" charset="0"/>
                        </a:rPr>
                        <a:t>N°</a:t>
                      </a:r>
                      <a:r>
                        <a:rPr lang="es-ES" sz="1400" b="0" i="0" u="none" strike="noStrike" dirty="0">
                          <a:solidFill>
                            <a:srgbClr val="000000"/>
                          </a:solidFill>
                          <a:effectLst/>
                          <a:latin typeface="Calibri" panose="020F0502020204030204" pitchFamily="34" charset="0"/>
                        </a:rPr>
                        <a:t> 1977-2023-SUNAT-323100 para el ajuste por pagos adicionales.</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5519934"/>
                  </a:ext>
                </a:extLst>
              </a:tr>
              <a:tr h="1940183">
                <a:tc>
                  <a:txBody>
                    <a:bodyPr/>
                    <a:lstStyle/>
                    <a:p>
                      <a:pPr algn="l" fontAlgn="ctr"/>
                      <a:r>
                        <a:rPr lang="es-PE" sz="1400" b="0" i="0" u="none" strike="noStrike">
                          <a:solidFill>
                            <a:srgbClr val="000000"/>
                          </a:solidFill>
                          <a:effectLst/>
                          <a:latin typeface="Calibri" panose="020F0502020204030204" pitchFamily="34" charset="0"/>
                        </a:rPr>
                        <a:t>SEDE CENTRAL - CHUCUITO</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Abril </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003-2023-SUNAT-7U7300</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ES" sz="1400" b="0" i="0" u="none" strike="noStrike" dirty="0">
                          <a:solidFill>
                            <a:srgbClr val="000000"/>
                          </a:solidFill>
                          <a:effectLst/>
                          <a:latin typeface="Calibri" panose="020F0502020204030204" pitchFamily="34" charset="0"/>
                        </a:rPr>
                        <a:t>Se declara fundado en parte al verificarse que el plazo para determinar infracciones prescribió el 01/01/2021 y la Carta de Presentación y Primer Requerimiento </a:t>
                      </a:r>
                      <a:r>
                        <a:rPr lang="es-ES" sz="1400" b="0" i="0" u="none" strike="noStrike" dirty="0" err="1">
                          <a:solidFill>
                            <a:srgbClr val="000000"/>
                          </a:solidFill>
                          <a:effectLst/>
                          <a:latin typeface="Calibri" panose="020F0502020204030204" pitchFamily="34" charset="0"/>
                        </a:rPr>
                        <a:t>N°</a:t>
                      </a:r>
                      <a:r>
                        <a:rPr lang="es-ES" sz="1400" b="0" i="0" u="none" strike="noStrike" dirty="0">
                          <a:solidFill>
                            <a:srgbClr val="000000"/>
                          </a:solidFill>
                          <a:effectLst/>
                          <a:latin typeface="Calibri" panose="020F0502020204030204" pitchFamily="34" charset="0"/>
                        </a:rPr>
                        <a:t> 98-2021-SUNAT/323100 se notificaron el 18/01/2021 (cuatro años y 17 días de iniciado el plazo </a:t>
                      </a:r>
                      <a:r>
                        <a:rPr lang="es-ES" sz="1400" b="0" i="0" u="none" strike="noStrike" dirty="0" err="1">
                          <a:solidFill>
                            <a:srgbClr val="000000"/>
                          </a:solidFill>
                          <a:effectLst/>
                          <a:latin typeface="Calibri" panose="020F0502020204030204" pitchFamily="34" charset="0"/>
                        </a:rPr>
                        <a:t>prescripcitorio</a:t>
                      </a:r>
                      <a:r>
                        <a:rPr lang="es-ES" sz="1400" b="0" i="0" u="none" strike="noStrike" dirty="0">
                          <a:solidFill>
                            <a:srgbClr val="000000"/>
                          </a:solidFill>
                          <a:effectLst/>
                          <a:latin typeface="Calibri" panose="020F0502020204030204" pitchFamily="34" charset="0"/>
                        </a:rPr>
                        <a:t>). Los Certificados Insumo Productos - CIP son del año 2016 (Del 08.4.20216 al 27.12.2016), por lo que el plazo </a:t>
                      </a:r>
                      <a:r>
                        <a:rPr lang="es-ES" sz="1400" b="0" i="0" u="none" strike="noStrike" dirty="0" err="1">
                          <a:solidFill>
                            <a:srgbClr val="000000"/>
                          </a:solidFill>
                          <a:effectLst/>
                          <a:latin typeface="Calibri" panose="020F0502020204030204" pitchFamily="34" charset="0"/>
                        </a:rPr>
                        <a:t>prescriptorio</a:t>
                      </a:r>
                      <a:r>
                        <a:rPr lang="es-ES" sz="1400" b="0" i="0" u="none" strike="noStrike" dirty="0">
                          <a:solidFill>
                            <a:srgbClr val="000000"/>
                          </a:solidFill>
                          <a:effectLst/>
                          <a:latin typeface="Calibri" panose="020F0502020204030204" pitchFamily="34" charset="0"/>
                        </a:rPr>
                        <a:t> para imponer sanciones corría a partir del 01.01.2017 y culminó el 01.01.2021. </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37327570"/>
                  </a:ext>
                </a:extLst>
              </a:tr>
            </a:tbl>
          </a:graphicData>
        </a:graphic>
      </p:graphicFrame>
    </p:spTree>
    <p:extLst>
      <p:ext uri="{BB962C8B-B14F-4D97-AF65-F5344CB8AC3E}">
        <p14:creationId xmlns:p14="http://schemas.microsoft.com/office/powerpoint/2010/main" val="28597235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800" b="1" dirty="0">
                <a:latin typeface="Arial" panose="020B0604020202020204" pitchFamily="34" charset="0"/>
                <a:cs typeface="Arial" panose="020B0604020202020204" pitchFamily="34" charset="0"/>
              </a:rPr>
              <a:t>OPORTUNIDAD DE MEJORA</a:t>
            </a:r>
            <a:br>
              <a:rPr lang="es-ES" sz="2800" b="1" dirty="0">
                <a:latin typeface="Arial" panose="020B0604020202020204" pitchFamily="34" charset="0"/>
                <a:cs typeface="Arial" panose="020B0604020202020204" pitchFamily="34" charset="0"/>
              </a:rPr>
            </a:br>
            <a:endParaRPr lang="es-PE" sz="2800" b="1" dirty="0">
              <a:latin typeface="Arial" panose="020B0604020202020204" pitchFamily="34" charset="0"/>
              <a:cs typeface="Arial" panose="020B0604020202020204" pitchFamily="34" charset="0"/>
            </a:endParaRPr>
          </a:p>
        </p:txBody>
      </p:sp>
      <p:graphicFrame>
        <p:nvGraphicFramePr>
          <p:cNvPr id="4" name="Gráfico 3">
            <a:extLst>
              <a:ext uri="{FF2B5EF4-FFF2-40B4-BE49-F238E27FC236}">
                <a16:creationId xmlns:a16="http://schemas.microsoft.com/office/drawing/2014/main" id="{B31EA813-B8F6-C57D-8F96-0686A481EB8B}"/>
              </a:ext>
            </a:extLst>
          </p:cNvPr>
          <p:cNvGraphicFramePr>
            <a:graphicFrameLocks/>
          </p:cNvGraphicFramePr>
          <p:nvPr>
            <p:extLst>
              <p:ext uri="{D42A27DB-BD31-4B8C-83A1-F6EECF244321}">
                <p14:modId xmlns:p14="http://schemas.microsoft.com/office/powerpoint/2010/main" val="3977856105"/>
              </p:ext>
            </p:extLst>
          </p:nvPr>
        </p:nvGraphicFramePr>
        <p:xfrm>
          <a:off x="567336" y="1187962"/>
          <a:ext cx="10239375" cy="324349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Tabla 5">
            <a:extLst>
              <a:ext uri="{FF2B5EF4-FFF2-40B4-BE49-F238E27FC236}">
                <a16:creationId xmlns:a16="http://schemas.microsoft.com/office/drawing/2014/main" id="{645F0F7F-91F6-E1DE-93C2-205FAFF61B12}"/>
              </a:ext>
            </a:extLst>
          </p:cNvPr>
          <p:cNvGraphicFramePr>
            <a:graphicFrameLocks noGrp="1"/>
          </p:cNvGraphicFramePr>
          <p:nvPr>
            <p:extLst>
              <p:ext uri="{D42A27DB-BD31-4B8C-83A1-F6EECF244321}">
                <p14:modId xmlns:p14="http://schemas.microsoft.com/office/powerpoint/2010/main" val="1473467996"/>
              </p:ext>
            </p:extLst>
          </p:nvPr>
        </p:nvGraphicFramePr>
        <p:xfrm>
          <a:off x="4163023" y="4618231"/>
          <a:ext cx="3048000" cy="1927758"/>
        </p:xfrm>
        <a:graphic>
          <a:graphicData uri="http://schemas.openxmlformats.org/drawingml/2006/table">
            <a:tbl>
              <a:tblPr>
                <a:tableStyleId>{5DA37D80-6434-44D0-A028-1B22A696006F}</a:tableStyleId>
              </a:tblPr>
              <a:tblGrid>
                <a:gridCol w="1294356">
                  <a:extLst>
                    <a:ext uri="{9D8B030D-6E8A-4147-A177-3AD203B41FA5}">
                      <a16:colId xmlns:a16="http://schemas.microsoft.com/office/drawing/2014/main" val="4122274139"/>
                    </a:ext>
                  </a:extLst>
                </a:gridCol>
                <a:gridCol w="876822">
                  <a:extLst>
                    <a:ext uri="{9D8B030D-6E8A-4147-A177-3AD203B41FA5}">
                      <a16:colId xmlns:a16="http://schemas.microsoft.com/office/drawing/2014/main" val="1382003201"/>
                    </a:ext>
                  </a:extLst>
                </a:gridCol>
                <a:gridCol w="876822">
                  <a:extLst>
                    <a:ext uri="{9D8B030D-6E8A-4147-A177-3AD203B41FA5}">
                      <a16:colId xmlns:a16="http://schemas.microsoft.com/office/drawing/2014/main" val="587845490"/>
                    </a:ext>
                  </a:extLst>
                </a:gridCol>
              </a:tblGrid>
              <a:tr h="189605">
                <a:tc>
                  <a:txBody>
                    <a:bodyPr/>
                    <a:lstStyle/>
                    <a:p>
                      <a:pPr algn="ctr" fontAlgn="ctr"/>
                      <a:r>
                        <a:rPr lang="es-PE" sz="1400" b="1" u="none" strike="noStrike" dirty="0">
                          <a:solidFill>
                            <a:sysClr val="windowText" lastClr="000000"/>
                          </a:solidFill>
                          <a:effectLst/>
                        </a:rPr>
                        <a:t>ESTADO</a:t>
                      </a:r>
                      <a:endParaRPr lang="es-PE" sz="1400" b="1" i="0" u="none" strike="noStrike" dirty="0">
                        <a:solidFill>
                          <a:sysClr val="windowText" lastClr="000000"/>
                        </a:solidFill>
                        <a:effectLst/>
                        <a:latin typeface="Calibri Light" panose="020F0302020204030204" pitchFamily="34" charset="0"/>
                      </a:endParaRPr>
                    </a:p>
                  </a:txBody>
                  <a:tcPr marL="0" marR="0" marT="0" marB="0" anchor="ctr">
                    <a:solidFill>
                      <a:schemeClr val="accent2">
                        <a:lumMod val="60000"/>
                        <a:lumOff val="40000"/>
                      </a:schemeClr>
                    </a:solidFill>
                  </a:tcPr>
                </a:tc>
                <a:tc>
                  <a:txBody>
                    <a:bodyPr/>
                    <a:lstStyle/>
                    <a:p>
                      <a:pPr algn="ctr" fontAlgn="ctr"/>
                      <a:r>
                        <a:rPr lang="es-PE" sz="1400" b="1" u="none" strike="noStrike" dirty="0">
                          <a:solidFill>
                            <a:sysClr val="windowText" lastClr="000000"/>
                          </a:solidFill>
                          <a:effectLst/>
                        </a:rPr>
                        <a:t>Total</a:t>
                      </a:r>
                      <a:endParaRPr lang="es-PE" sz="1400" b="1" i="0" u="none" strike="noStrike" dirty="0">
                        <a:solidFill>
                          <a:sysClr val="windowText" lastClr="000000"/>
                        </a:solidFill>
                        <a:effectLst/>
                        <a:latin typeface="Calibri Light" panose="020F0302020204030204" pitchFamily="34" charset="0"/>
                      </a:endParaRPr>
                    </a:p>
                  </a:txBody>
                  <a:tcPr marL="0" marR="0" marT="0" marB="0" anchor="ctr">
                    <a:solidFill>
                      <a:schemeClr val="accent2">
                        <a:lumMod val="60000"/>
                        <a:lumOff val="40000"/>
                      </a:schemeClr>
                    </a:solidFill>
                  </a:tcPr>
                </a:tc>
                <a:tc>
                  <a:txBody>
                    <a:bodyPr/>
                    <a:lstStyle/>
                    <a:p>
                      <a:pPr algn="ctr" fontAlgn="ctr"/>
                      <a:r>
                        <a:rPr lang="es-PE" sz="1400" b="1" u="none" strike="noStrike" dirty="0">
                          <a:solidFill>
                            <a:sysClr val="windowText" lastClr="000000"/>
                          </a:solidFill>
                          <a:effectLst/>
                        </a:rPr>
                        <a:t>Porcentaje</a:t>
                      </a:r>
                      <a:endParaRPr lang="es-PE" sz="1400" b="1" i="0" u="none" strike="noStrike" dirty="0">
                        <a:solidFill>
                          <a:sysClr val="windowText" lastClr="000000"/>
                        </a:solidFill>
                        <a:effectLst/>
                        <a:latin typeface="Calibri Light" panose="020F0302020204030204" pitchFamily="34" charset="0"/>
                      </a:endParaRPr>
                    </a:p>
                  </a:txBody>
                  <a:tcPr marL="0" marR="0" marT="0" marB="0" anchor="ctr">
                    <a:solidFill>
                      <a:schemeClr val="accent2">
                        <a:lumMod val="60000"/>
                        <a:lumOff val="40000"/>
                      </a:schemeClr>
                    </a:solidFill>
                  </a:tcPr>
                </a:tc>
                <a:extLst>
                  <a:ext uri="{0D108BD9-81ED-4DB2-BD59-A6C34878D82A}">
                    <a16:rowId xmlns:a16="http://schemas.microsoft.com/office/drawing/2014/main" val="2309498888"/>
                  </a:ext>
                </a:extLst>
              </a:tr>
              <a:tr h="250173">
                <a:tc>
                  <a:txBody>
                    <a:bodyPr/>
                    <a:lstStyle/>
                    <a:p>
                      <a:pPr algn="l" fontAlgn="ctr"/>
                      <a:r>
                        <a:rPr lang="es-PE" sz="1600" b="1" u="none" strike="noStrike">
                          <a:solidFill>
                            <a:srgbClr val="000000"/>
                          </a:solidFill>
                          <a:effectLst/>
                        </a:rPr>
                        <a:t>Infundado</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4740</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87.24%</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227574320"/>
                  </a:ext>
                </a:extLst>
              </a:tr>
              <a:tr h="250173">
                <a:tc>
                  <a:txBody>
                    <a:bodyPr/>
                    <a:lstStyle/>
                    <a:p>
                      <a:pPr algn="l" fontAlgn="ctr"/>
                      <a:r>
                        <a:rPr lang="es-PE" sz="1600" b="1" u="none" strike="noStrike">
                          <a:solidFill>
                            <a:srgbClr val="000000"/>
                          </a:solidFill>
                          <a:effectLst/>
                        </a:rPr>
                        <a:t>Fundado/F.P</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211</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3.88%</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317111707"/>
                  </a:ext>
                </a:extLst>
              </a:tr>
              <a:tr h="250173">
                <a:tc>
                  <a:txBody>
                    <a:bodyPr/>
                    <a:lstStyle/>
                    <a:p>
                      <a:pPr algn="l" fontAlgn="ctr"/>
                      <a:r>
                        <a:rPr lang="es-PE" sz="1600" b="1" u="none" strike="noStrike">
                          <a:solidFill>
                            <a:srgbClr val="000000"/>
                          </a:solidFill>
                          <a:effectLst/>
                        </a:rPr>
                        <a:t>Nulidad</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404</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7.44%</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359762901"/>
                  </a:ext>
                </a:extLst>
              </a:tr>
              <a:tr h="250173">
                <a:tc>
                  <a:txBody>
                    <a:bodyPr/>
                    <a:lstStyle/>
                    <a:p>
                      <a:pPr algn="l" fontAlgn="ctr"/>
                      <a:r>
                        <a:rPr lang="es-PE" sz="1600" b="1" u="none" strike="noStrike">
                          <a:solidFill>
                            <a:srgbClr val="000000"/>
                          </a:solidFill>
                          <a:effectLst/>
                        </a:rPr>
                        <a:t>Improcedente</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dirty="0">
                          <a:solidFill>
                            <a:srgbClr val="000000"/>
                          </a:solidFill>
                          <a:effectLst/>
                        </a:rPr>
                        <a:t>8</a:t>
                      </a:r>
                      <a:endParaRPr lang="es-PE" sz="1400" b="1" i="0" u="none" strike="noStrike" dirty="0">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0.15%</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91319216"/>
                  </a:ext>
                </a:extLst>
              </a:tr>
              <a:tr h="250173">
                <a:tc>
                  <a:txBody>
                    <a:bodyPr/>
                    <a:lstStyle/>
                    <a:p>
                      <a:pPr algn="l" fontAlgn="ctr"/>
                      <a:r>
                        <a:rPr lang="es-PE" sz="1600" b="1" u="none" strike="noStrike">
                          <a:solidFill>
                            <a:srgbClr val="000000"/>
                          </a:solidFill>
                          <a:effectLst/>
                        </a:rPr>
                        <a:t>Desistimiento</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4</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0.07%</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196137711"/>
                  </a:ext>
                </a:extLst>
              </a:tr>
              <a:tr h="250173">
                <a:tc>
                  <a:txBody>
                    <a:bodyPr/>
                    <a:lstStyle/>
                    <a:p>
                      <a:pPr algn="l" fontAlgn="ctr"/>
                      <a:r>
                        <a:rPr lang="es-PE" sz="1600" b="1" u="none" strike="noStrike">
                          <a:solidFill>
                            <a:srgbClr val="000000"/>
                          </a:solidFill>
                          <a:effectLst/>
                        </a:rPr>
                        <a:t>Otros</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66</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1.21%</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72302321"/>
                  </a:ext>
                </a:extLst>
              </a:tr>
              <a:tr h="210672">
                <a:tc>
                  <a:txBody>
                    <a:bodyPr/>
                    <a:lstStyle/>
                    <a:p>
                      <a:pPr algn="l" fontAlgn="ctr"/>
                      <a:r>
                        <a:rPr lang="es-PE" sz="1400" b="1" u="none" strike="noStrike">
                          <a:solidFill>
                            <a:srgbClr val="000000"/>
                          </a:solidFill>
                          <a:effectLst/>
                        </a:rPr>
                        <a:t>Total</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5433</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dirty="0">
                          <a:solidFill>
                            <a:srgbClr val="000000"/>
                          </a:solidFill>
                          <a:effectLst/>
                        </a:rPr>
                        <a:t>100.00%</a:t>
                      </a:r>
                      <a:endParaRPr lang="es-PE" sz="12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1610975"/>
                  </a:ext>
                </a:extLst>
              </a:tr>
            </a:tbl>
          </a:graphicData>
        </a:graphic>
      </p:graphicFrame>
    </p:spTree>
    <p:extLst>
      <p:ext uri="{BB962C8B-B14F-4D97-AF65-F5344CB8AC3E}">
        <p14:creationId xmlns:p14="http://schemas.microsoft.com/office/powerpoint/2010/main" val="988800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800" b="1" dirty="0">
                <a:latin typeface="Arial" panose="020B0604020202020204" pitchFamily="34" charset="0"/>
                <a:cs typeface="Arial" panose="020B0604020202020204" pitchFamily="34" charset="0"/>
              </a:rPr>
              <a:t>OPORTUNIDAD DE MEJORA</a:t>
            </a:r>
            <a:br>
              <a:rPr lang="es-ES" sz="2800" b="1" dirty="0">
                <a:latin typeface="Arial" panose="020B0604020202020204" pitchFamily="34" charset="0"/>
                <a:cs typeface="Arial" panose="020B0604020202020204" pitchFamily="34" charset="0"/>
              </a:rPr>
            </a:br>
            <a:endParaRPr lang="es-PE" sz="2800" b="1" dirty="0">
              <a:latin typeface="Arial" panose="020B0604020202020204" pitchFamily="34" charset="0"/>
              <a:cs typeface="Arial" panose="020B0604020202020204" pitchFamily="34" charset="0"/>
            </a:endParaRPr>
          </a:p>
        </p:txBody>
      </p:sp>
      <p:graphicFrame>
        <p:nvGraphicFramePr>
          <p:cNvPr id="6" name="Tabla 5">
            <a:extLst>
              <a:ext uri="{FF2B5EF4-FFF2-40B4-BE49-F238E27FC236}">
                <a16:creationId xmlns:a16="http://schemas.microsoft.com/office/drawing/2014/main" id="{C8367E05-A6BA-F64C-FC77-6E25B8986E41}"/>
              </a:ext>
            </a:extLst>
          </p:cNvPr>
          <p:cNvGraphicFramePr>
            <a:graphicFrameLocks noGrp="1"/>
          </p:cNvGraphicFramePr>
          <p:nvPr>
            <p:extLst>
              <p:ext uri="{D42A27DB-BD31-4B8C-83A1-F6EECF244321}">
                <p14:modId xmlns:p14="http://schemas.microsoft.com/office/powerpoint/2010/main" val="732829978"/>
              </p:ext>
            </p:extLst>
          </p:nvPr>
        </p:nvGraphicFramePr>
        <p:xfrm>
          <a:off x="423192" y="4265522"/>
          <a:ext cx="2604487" cy="2438402"/>
        </p:xfrm>
        <a:graphic>
          <a:graphicData uri="http://schemas.openxmlformats.org/drawingml/2006/table">
            <a:tbl>
              <a:tblPr firstRow="1" firstCol="1" bandRow="1"/>
              <a:tblGrid>
                <a:gridCol w="873453">
                  <a:extLst>
                    <a:ext uri="{9D8B030D-6E8A-4147-A177-3AD203B41FA5}">
                      <a16:colId xmlns:a16="http://schemas.microsoft.com/office/drawing/2014/main" val="1686963227"/>
                    </a:ext>
                  </a:extLst>
                </a:gridCol>
                <a:gridCol w="865517">
                  <a:extLst>
                    <a:ext uri="{9D8B030D-6E8A-4147-A177-3AD203B41FA5}">
                      <a16:colId xmlns:a16="http://schemas.microsoft.com/office/drawing/2014/main" val="164123852"/>
                    </a:ext>
                  </a:extLst>
                </a:gridCol>
                <a:gridCol w="865517">
                  <a:extLst>
                    <a:ext uri="{9D8B030D-6E8A-4147-A177-3AD203B41FA5}">
                      <a16:colId xmlns:a16="http://schemas.microsoft.com/office/drawing/2014/main" val="4252558311"/>
                    </a:ext>
                  </a:extLst>
                </a:gridCol>
              </a:tblGrid>
              <a:tr h="439697">
                <a:tc>
                  <a:txBody>
                    <a:bodyPr/>
                    <a:lstStyle/>
                    <a:p>
                      <a:pPr algn="ctr"/>
                      <a:r>
                        <a:rPr lang="es-PE" sz="1050" b="1" dirty="0">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ESTADO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2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Total</a:t>
                      </a:r>
                      <a:endParaRPr lang="es-PE"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2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Porcentaje</a:t>
                      </a:r>
                      <a:endParaRPr lang="es-PE"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extLst>
                  <a:ext uri="{0D108BD9-81ED-4DB2-BD59-A6C34878D82A}">
                    <a16:rowId xmlns:a16="http://schemas.microsoft.com/office/drawing/2014/main" val="2109774381"/>
                  </a:ext>
                </a:extLst>
              </a:tr>
              <a:tr h="221376">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Infundado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fontAlgn="b"/>
                      <a:r>
                        <a:rPr lang="es-PE" sz="1000" b="0" i="0" u="none" strike="noStrike" dirty="0">
                          <a:solidFill>
                            <a:srgbClr val="000000"/>
                          </a:solidFill>
                          <a:effectLst/>
                          <a:latin typeface="Arial" panose="020B0604020202020204" pitchFamily="34" charset="0"/>
                        </a:rPr>
                        <a:t>1272</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fontAlgn="b"/>
                      <a:r>
                        <a:rPr lang="es-PE" sz="1000" b="0" i="0" u="none" strike="noStrike" dirty="0">
                          <a:solidFill>
                            <a:srgbClr val="000000"/>
                          </a:solidFill>
                          <a:effectLst/>
                          <a:latin typeface="Arial" panose="020B0604020202020204" pitchFamily="34" charset="0"/>
                        </a:rPr>
                        <a:t>88.15%</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1473417804"/>
                  </a:ext>
                </a:extLst>
              </a:tr>
              <a:tr h="371067">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Fundado / F.P</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fontAlgn="b"/>
                      <a:r>
                        <a:rPr lang="es-PE" sz="1000" b="0" i="0" u="none" strike="noStrike">
                          <a:solidFill>
                            <a:srgbClr val="000000"/>
                          </a:solidFill>
                          <a:effectLst/>
                          <a:latin typeface="Arial" panose="020B0604020202020204" pitchFamily="34" charset="0"/>
                        </a:rPr>
                        <a:t>42</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fontAlgn="b"/>
                      <a:r>
                        <a:rPr lang="es-PE" sz="1000" b="0" i="0" u="none" strike="noStrike" dirty="0">
                          <a:solidFill>
                            <a:srgbClr val="000000"/>
                          </a:solidFill>
                          <a:effectLst/>
                          <a:latin typeface="Arial" panose="020B0604020202020204" pitchFamily="34" charset="0"/>
                        </a:rPr>
                        <a:t>2.91%</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811766697"/>
                  </a:ext>
                </a:extLst>
              </a:tr>
              <a:tr h="221376">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Nulidad</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fontAlgn="b"/>
                      <a:r>
                        <a:rPr lang="es-PE" sz="1000" b="0" i="0" u="none" strike="noStrike">
                          <a:solidFill>
                            <a:srgbClr val="000000"/>
                          </a:solidFill>
                          <a:effectLst/>
                          <a:latin typeface="Arial" panose="020B0604020202020204" pitchFamily="34" charset="0"/>
                        </a:rPr>
                        <a:t>107</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fontAlgn="b"/>
                      <a:r>
                        <a:rPr lang="es-PE" sz="1000" b="0" i="0" u="none" strike="noStrike" dirty="0">
                          <a:solidFill>
                            <a:srgbClr val="000000"/>
                          </a:solidFill>
                          <a:effectLst/>
                          <a:latin typeface="Arial" panose="020B0604020202020204" pitchFamily="34" charset="0"/>
                        </a:rPr>
                        <a:t>7.42%</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902813794"/>
                  </a:ext>
                </a:extLst>
              </a:tr>
              <a:tr h="371067">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Improcedente</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fontAlgn="b"/>
                      <a:r>
                        <a:rPr lang="es-PE" sz="1000" b="0" i="0" u="none" strike="noStrike">
                          <a:solidFill>
                            <a:srgbClr val="000000"/>
                          </a:solidFill>
                          <a:effectLst/>
                          <a:latin typeface="Arial" panose="020B0604020202020204" pitchFamily="34" charset="0"/>
                        </a:rPr>
                        <a:t>0</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fontAlgn="b"/>
                      <a:r>
                        <a:rPr lang="es-PE" sz="1000" b="0" i="0" u="none" strike="noStrike" dirty="0">
                          <a:solidFill>
                            <a:srgbClr val="000000"/>
                          </a:solidFill>
                          <a:effectLst/>
                          <a:latin typeface="Arial" panose="020B0604020202020204" pitchFamily="34" charset="0"/>
                        </a:rPr>
                        <a:t>0.00%</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794638817"/>
                  </a:ext>
                </a:extLst>
              </a:tr>
              <a:tr h="371067">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Desistimiento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fontAlgn="b"/>
                      <a:r>
                        <a:rPr lang="es-PE" sz="1000" b="0" i="0" u="none" strike="noStrike">
                          <a:solidFill>
                            <a:srgbClr val="000000"/>
                          </a:solidFill>
                          <a:effectLst/>
                          <a:latin typeface="Arial" panose="020B0604020202020204" pitchFamily="34" charset="0"/>
                        </a:rPr>
                        <a:t>1</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fontAlgn="b"/>
                      <a:r>
                        <a:rPr lang="es-PE" sz="1000" b="0" i="0" u="none" strike="noStrike" dirty="0">
                          <a:solidFill>
                            <a:srgbClr val="000000"/>
                          </a:solidFill>
                          <a:effectLst/>
                          <a:latin typeface="Arial" panose="020B0604020202020204" pitchFamily="34" charset="0"/>
                        </a:rPr>
                        <a:t>0.07%</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3928559859"/>
                  </a:ext>
                </a:extLst>
              </a:tr>
              <a:tr h="221376">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Otros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fontAlgn="b"/>
                      <a:r>
                        <a:rPr lang="es-PE" sz="1000" b="0" i="0" u="none" strike="noStrike">
                          <a:solidFill>
                            <a:srgbClr val="000000"/>
                          </a:solidFill>
                          <a:effectLst/>
                          <a:latin typeface="Arial" panose="020B0604020202020204" pitchFamily="34" charset="0"/>
                        </a:rPr>
                        <a:t>21</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fontAlgn="b"/>
                      <a:r>
                        <a:rPr lang="es-PE" sz="1000" b="0" i="0" u="none" strike="noStrike" dirty="0">
                          <a:solidFill>
                            <a:srgbClr val="000000"/>
                          </a:solidFill>
                          <a:effectLst/>
                          <a:latin typeface="Arial" panose="020B0604020202020204" pitchFamily="34" charset="0"/>
                        </a:rPr>
                        <a:t>1.46%</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2125970851"/>
                  </a:ext>
                </a:extLst>
              </a:tr>
              <a:tr h="221376">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TOTAL</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fontAlgn="b"/>
                      <a:r>
                        <a:rPr lang="es-PE" sz="1000" b="0" i="0" u="none" strike="noStrike" dirty="0">
                          <a:solidFill>
                            <a:srgbClr val="000000"/>
                          </a:solidFill>
                          <a:effectLst/>
                          <a:latin typeface="Arial" panose="020B0604020202020204" pitchFamily="34" charset="0"/>
                        </a:rPr>
                        <a:t>1443</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fontAlgn="b"/>
                      <a:r>
                        <a:rPr lang="es-PE" sz="1000" b="0" i="0" u="none" strike="noStrike" dirty="0">
                          <a:solidFill>
                            <a:srgbClr val="000000"/>
                          </a:solidFill>
                          <a:effectLst/>
                          <a:latin typeface="Arial" panose="020B0604020202020204" pitchFamily="34" charset="0"/>
                        </a:rPr>
                        <a:t>100.00%</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828734499"/>
                  </a:ext>
                </a:extLst>
              </a:tr>
            </a:tbl>
          </a:graphicData>
        </a:graphic>
      </p:graphicFrame>
      <p:graphicFrame>
        <p:nvGraphicFramePr>
          <p:cNvPr id="7" name="Tabla 6">
            <a:extLst>
              <a:ext uri="{FF2B5EF4-FFF2-40B4-BE49-F238E27FC236}">
                <a16:creationId xmlns:a16="http://schemas.microsoft.com/office/drawing/2014/main" id="{1883E0D7-950F-7FFC-80E9-3259A189F823}"/>
              </a:ext>
            </a:extLst>
          </p:cNvPr>
          <p:cNvGraphicFramePr>
            <a:graphicFrameLocks noGrp="1"/>
          </p:cNvGraphicFramePr>
          <p:nvPr>
            <p:extLst>
              <p:ext uri="{D42A27DB-BD31-4B8C-83A1-F6EECF244321}">
                <p14:modId xmlns:p14="http://schemas.microsoft.com/office/powerpoint/2010/main" val="3538821093"/>
              </p:ext>
            </p:extLst>
          </p:nvPr>
        </p:nvGraphicFramePr>
        <p:xfrm>
          <a:off x="3165877" y="4290468"/>
          <a:ext cx="7884156" cy="2412494"/>
        </p:xfrm>
        <a:graphic>
          <a:graphicData uri="http://schemas.openxmlformats.org/drawingml/2006/table">
            <a:tbl>
              <a:tblPr firstRow="1" firstCol="1" bandRow="1"/>
              <a:tblGrid>
                <a:gridCol w="563154">
                  <a:extLst>
                    <a:ext uri="{9D8B030D-6E8A-4147-A177-3AD203B41FA5}">
                      <a16:colId xmlns:a16="http://schemas.microsoft.com/office/drawing/2014/main" val="4105813593"/>
                    </a:ext>
                  </a:extLst>
                </a:gridCol>
                <a:gridCol w="563154">
                  <a:extLst>
                    <a:ext uri="{9D8B030D-6E8A-4147-A177-3AD203B41FA5}">
                      <a16:colId xmlns:a16="http://schemas.microsoft.com/office/drawing/2014/main" val="4238957158"/>
                    </a:ext>
                  </a:extLst>
                </a:gridCol>
                <a:gridCol w="563154">
                  <a:extLst>
                    <a:ext uri="{9D8B030D-6E8A-4147-A177-3AD203B41FA5}">
                      <a16:colId xmlns:a16="http://schemas.microsoft.com/office/drawing/2014/main" val="2157927079"/>
                    </a:ext>
                  </a:extLst>
                </a:gridCol>
                <a:gridCol w="563154">
                  <a:extLst>
                    <a:ext uri="{9D8B030D-6E8A-4147-A177-3AD203B41FA5}">
                      <a16:colId xmlns:a16="http://schemas.microsoft.com/office/drawing/2014/main" val="3061587117"/>
                    </a:ext>
                  </a:extLst>
                </a:gridCol>
                <a:gridCol w="563154">
                  <a:extLst>
                    <a:ext uri="{9D8B030D-6E8A-4147-A177-3AD203B41FA5}">
                      <a16:colId xmlns:a16="http://schemas.microsoft.com/office/drawing/2014/main" val="2228714572"/>
                    </a:ext>
                  </a:extLst>
                </a:gridCol>
                <a:gridCol w="563154">
                  <a:extLst>
                    <a:ext uri="{9D8B030D-6E8A-4147-A177-3AD203B41FA5}">
                      <a16:colId xmlns:a16="http://schemas.microsoft.com/office/drawing/2014/main" val="2531718189"/>
                    </a:ext>
                  </a:extLst>
                </a:gridCol>
                <a:gridCol w="563154">
                  <a:extLst>
                    <a:ext uri="{9D8B030D-6E8A-4147-A177-3AD203B41FA5}">
                      <a16:colId xmlns:a16="http://schemas.microsoft.com/office/drawing/2014/main" val="68257077"/>
                    </a:ext>
                  </a:extLst>
                </a:gridCol>
                <a:gridCol w="563154">
                  <a:extLst>
                    <a:ext uri="{9D8B030D-6E8A-4147-A177-3AD203B41FA5}">
                      <a16:colId xmlns:a16="http://schemas.microsoft.com/office/drawing/2014/main" val="1489147444"/>
                    </a:ext>
                  </a:extLst>
                </a:gridCol>
                <a:gridCol w="563154">
                  <a:extLst>
                    <a:ext uri="{9D8B030D-6E8A-4147-A177-3AD203B41FA5}">
                      <a16:colId xmlns:a16="http://schemas.microsoft.com/office/drawing/2014/main" val="1241165266"/>
                    </a:ext>
                  </a:extLst>
                </a:gridCol>
                <a:gridCol w="563154">
                  <a:extLst>
                    <a:ext uri="{9D8B030D-6E8A-4147-A177-3AD203B41FA5}">
                      <a16:colId xmlns:a16="http://schemas.microsoft.com/office/drawing/2014/main" val="4197366162"/>
                    </a:ext>
                  </a:extLst>
                </a:gridCol>
                <a:gridCol w="563154">
                  <a:extLst>
                    <a:ext uri="{9D8B030D-6E8A-4147-A177-3AD203B41FA5}">
                      <a16:colId xmlns:a16="http://schemas.microsoft.com/office/drawing/2014/main" val="2527937750"/>
                    </a:ext>
                  </a:extLst>
                </a:gridCol>
                <a:gridCol w="563154">
                  <a:extLst>
                    <a:ext uri="{9D8B030D-6E8A-4147-A177-3AD203B41FA5}">
                      <a16:colId xmlns:a16="http://schemas.microsoft.com/office/drawing/2014/main" val="1441641794"/>
                    </a:ext>
                  </a:extLst>
                </a:gridCol>
                <a:gridCol w="563154">
                  <a:extLst>
                    <a:ext uri="{9D8B030D-6E8A-4147-A177-3AD203B41FA5}">
                      <a16:colId xmlns:a16="http://schemas.microsoft.com/office/drawing/2014/main" val="120561687"/>
                    </a:ext>
                  </a:extLst>
                </a:gridCol>
                <a:gridCol w="563154">
                  <a:extLst>
                    <a:ext uri="{9D8B030D-6E8A-4147-A177-3AD203B41FA5}">
                      <a16:colId xmlns:a16="http://schemas.microsoft.com/office/drawing/2014/main" val="4054452720"/>
                    </a:ext>
                  </a:extLst>
                </a:gridCol>
              </a:tblGrid>
              <a:tr h="240497">
                <a:tc rowSpan="2">
                  <a:txBody>
                    <a:bodyPr/>
                    <a:lstStyle/>
                    <a:p>
                      <a:pPr algn="ctr"/>
                      <a:r>
                        <a:rPr lang="es-PE" sz="105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gridSpan="3">
                  <a:txBody>
                    <a:bodyPr/>
                    <a:lstStyle/>
                    <a:p>
                      <a:pPr algn="ctr"/>
                      <a:r>
                        <a:rPr lang="es-PE" sz="1050" b="1">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ENERO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hMerge="1">
                  <a:txBody>
                    <a:bodyPr/>
                    <a:lstStyle/>
                    <a:p>
                      <a:endParaRPr lang="es-PE"/>
                    </a:p>
                  </a:txBody>
                  <a:tcPr/>
                </a:tc>
                <a:tc hMerge="1">
                  <a:txBody>
                    <a:bodyPr/>
                    <a:lstStyle/>
                    <a:p>
                      <a:endParaRPr lang="es-PE"/>
                    </a:p>
                  </a:txBody>
                  <a:tcPr/>
                </a:tc>
                <a:tc gridSpan="3">
                  <a:txBody>
                    <a:bodyPr/>
                    <a:lstStyle/>
                    <a:p>
                      <a:pPr algn="ctr"/>
                      <a:r>
                        <a:rPr lang="es-PE" sz="1050" b="1" dirty="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FEBRERO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hMerge="1">
                  <a:txBody>
                    <a:bodyPr/>
                    <a:lstStyle/>
                    <a:p>
                      <a:endParaRPr lang="es-PE"/>
                    </a:p>
                  </a:txBody>
                  <a:tcPr/>
                </a:tc>
                <a:tc hMerge="1">
                  <a:txBody>
                    <a:bodyPr/>
                    <a:lstStyle/>
                    <a:p>
                      <a:endParaRPr lang="es-PE"/>
                    </a:p>
                  </a:txBody>
                  <a:tcPr/>
                </a:tc>
                <a:tc gridSpan="3">
                  <a:txBody>
                    <a:bodyPr/>
                    <a:lstStyle/>
                    <a:p>
                      <a:pPr algn="ctr"/>
                      <a:r>
                        <a:rPr lang="es-PE" sz="1050" b="1" dirty="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MARZO</a:t>
                      </a: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hMerge="1">
                  <a:txBody>
                    <a:bodyPr/>
                    <a:lstStyle/>
                    <a:p>
                      <a:endParaRPr lang="es-PE"/>
                    </a:p>
                  </a:txBody>
                  <a:tcPr/>
                </a:tc>
                <a:tc hMerge="1">
                  <a:txBody>
                    <a:bodyPr/>
                    <a:lstStyle/>
                    <a:p>
                      <a:endParaRPr lang="es-PE"/>
                    </a:p>
                  </a:txBody>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050" b="1" dirty="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MARZO</a:t>
                      </a: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hMerge="1">
                  <a:txBody>
                    <a:bodyPr/>
                    <a:lstStyle/>
                    <a:p>
                      <a:pPr algn="ct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hMerge="1">
                  <a:txBody>
                    <a:bodyPr/>
                    <a:lstStyle/>
                    <a:p>
                      <a:pPr algn="ct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endParaRPr lang="es-PE" sz="1200" dirty="0">
                        <a:effectLst/>
                        <a:latin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extLst>
                  <a:ext uri="{0D108BD9-81ED-4DB2-BD59-A6C34878D82A}">
                    <a16:rowId xmlns:a16="http://schemas.microsoft.com/office/drawing/2014/main" val="3586470851"/>
                  </a:ext>
                </a:extLst>
              </a:tr>
              <a:tr h="180373">
                <a:tc vMerge="1">
                  <a:txBody>
                    <a:bodyPr/>
                    <a:lstStyle/>
                    <a:p>
                      <a:endParaRPr lang="es-PE"/>
                    </a:p>
                  </a:txBody>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DCCII</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DCP</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DCCII</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DCP</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DCCII</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DCP</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DCCII</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DCP</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TOTAL</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1449680717"/>
                  </a:ext>
                </a:extLst>
              </a:tr>
              <a:tr h="360746">
                <a:tc>
                  <a:txBody>
                    <a:bodyPr/>
                    <a:lstStyle/>
                    <a:p>
                      <a:pPr algn="ctr"/>
                      <a:r>
                        <a:rPr lang="es-PE" sz="1050" b="1">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Infundado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5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255</a:t>
                      </a:r>
                      <a:endParaRPr lang="es-PE"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75</a:t>
                      </a:r>
                      <a:endParaRPr lang="es-PE"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14</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236</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78</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17</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206</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70</a:t>
                      </a:r>
                      <a:endParaRPr lang="es-PE"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18</a:t>
                      </a:r>
                      <a:endParaRPr lang="es-PE"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050" b="0" dirty="0">
                          <a:effectLst/>
                          <a:latin typeface="Calibri" panose="020F0502020204030204" pitchFamily="34" charset="0"/>
                          <a:ea typeface="Calibri" panose="020F0502020204030204" pitchFamily="34" charset="0"/>
                          <a:cs typeface="Times New Roman" panose="02020603050405020304" pitchFamily="18" charset="0"/>
                        </a:rPr>
                        <a:t>204</a:t>
                      </a:r>
                      <a:endParaRPr lang="es-PE" sz="105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050" b="0" dirty="0">
                          <a:effectLst/>
                          <a:latin typeface="Calibri" panose="020F0502020204030204" pitchFamily="34" charset="0"/>
                          <a:ea typeface="Calibri" panose="020F0502020204030204" pitchFamily="34" charset="0"/>
                          <a:cs typeface="Times New Roman" panose="02020603050405020304" pitchFamily="18" charset="0"/>
                        </a:rPr>
                        <a:t>83</a:t>
                      </a:r>
                      <a:endParaRPr lang="es-PE" sz="105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050" b="0" dirty="0">
                          <a:effectLst/>
                          <a:latin typeface="Calibri" panose="020F0502020204030204" pitchFamily="34" charset="0"/>
                          <a:ea typeface="Calibri" panose="020F0502020204030204" pitchFamily="34" charset="0"/>
                          <a:cs typeface="Times New Roman" panose="02020603050405020304" pitchFamily="18" charset="0"/>
                        </a:rPr>
                        <a:t>16</a:t>
                      </a:r>
                      <a:endParaRPr lang="es-PE" sz="105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200" b="1" dirty="0">
                          <a:effectLst/>
                          <a:latin typeface="Calibri" panose="020F0502020204030204" pitchFamily="34" charset="0"/>
                          <a:ea typeface="Calibri" panose="020F0502020204030204" pitchFamily="34" charset="0"/>
                          <a:cs typeface="Times New Roman" panose="02020603050405020304" pitchFamily="18" charset="0"/>
                        </a:rPr>
                        <a:t>1272</a:t>
                      </a:r>
                      <a:endParaRPr lang="es-PE"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2701575571"/>
                  </a:ext>
                </a:extLst>
              </a:tr>
              <a:tr h="360746">
                <a:tc>
                  <a:txBody>
                    <a:bodyPr/>
                    <a:lstStyle/>
                    <a:p>
                      <a:pPr algn="ctr"/>
                      <a:r>
                        <a:rPr lang="es-PE" sz="1050" b="1">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Fundado / F.P</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5</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2</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16</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050" b="0" dirty="0">
                          <a:effectLst/>
                          <a:latin typeface="Calibri" panose="020F0502020204030204" pitchFamily="34" charset="0"/>
                          <a:ea typeface="Calibri" panose="020F0502020204030204" pitchFamily="34" charset="0"/>
                          <a:cs typeface="Times New Roman" panose="02020603050405020304" pitchFamily="18" charset="0"/>
                        </a:rPr>
                        <a:t>11</a:t>
                      </a:r>
                      <a:endParaRPr lang="es-PE" sz="105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050" b="0" dirty="0">
                          <a:effectLst/>
                          <a:latin typeface="Calibri" panose="020F0502020204030204" pitchFamily="34" charset="0"/>
                          <a:ea typeface="Calibri" panose="020F0502020204030204" pitchFamily="34" charset="0"/>
                          <a:cs typeface="Times New Roman" panose="02020603050405020304" pitchFamily="18" charset="0"/>
                        </a:rPr>
                        <a:t>1</a:t>
                      </a:r>
                      <a:endParaRPr lang="es-PE" sz="105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050" b="0" dirty="0">
                          <a:effectLst/>
                          <a:latin typeface="Calibri" panose="020F0502020204030204" pitchFamily="34" charset="0"/>
                          <a:ea typeface="Calibri" panose="020F0502020204030204" pitchFamily="34" charset="0"/>
                          <a:cs typeface="Times New Roman" panose="02020603050405020304" pitchFamily="18" charset="0"/>
                        </a:rPr>
                        <a:t>1</a:t>
                      </a:r>
                      <a:endParaRPr lang="es-PE" sz="105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200" b="1" dirty="0">
                          <a:effectLst/>
                          <a:latin typeface="Calibri" panose="020F0502020204030204" pitchFamily="34" charset="0"/>
                          <a:ea typeface="Calibri" panose="020F0502020204030204" pitchFamily="34" charset="0"/>
                          <a:cs typeface="Times New Roman" panose="02020603050405020304" pitchFamily="18" charset="0"/>
                        </a:rPr>
                        <a:t>42</a:t>
                      </a:r>
                      <a:endParaRPr lang="es-PE"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4188786604"/>
                  </a:ext>
                </a:extLst>
              </a:tr>
              <a:tr h="180373">
                <a:tc>
                  <a:txBody>
                    <a:bodyPr/>
                    <a:lstStyle/>
                    <a:p>
                      <a:pPr algn="ctr"/>
                      <a:r>
                        <a:rPr lang="es-PE" sz="1050" b="1">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Nulidad</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16</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3</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9</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25</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3</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a:t>
                      </a:r>
                      <a:endParaRPr lang="es-PE"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050" b="0" dirty="0">
                          <a:effectLst/>
                          <a:latin typeface="Calibri" panose="020F0502020204030204" pitchFamily="34" charset="0"/>
                          <a:ea typeface="Calibri" panose="020F0502020204030204" pitchFamily="34" charset="0"/>
                          <a:cs typeface="Times New Roman" panose="02020603050405020304" pitchFamily="18" charset="0"/>
                        </a:rPr>
                        <a:t>41</a:t>
                      </a:r>
                      <a:endParaRPr lang="es-PE" sz="105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050" b="0" dirty="0">
                          <a:effectLst/>
                          <a:latin typeface="Calibri" panose="020F0502020204030204" pitchFamily="34" charset="0"/>
                          <a:ea typeface="Calibri" panose="020F0502020204030204" pitchFamily="34" charset="0"/>
                          <a:cs typeface="Times New Roman" panose="02020603050405020304" pitchFamily="18" charset="0"/>
                        </a:rPr>
                        <a:t>5</a:t>
                      </a:r>
                      <a:endParaRPr lang="es-PE" sz="105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050" b="0" dirty="0">
                          <a:effectLst/>
                          <a:latin typeface="Calibri" panose="020F0502020204030204" pitchFamily="34" charset="0"/>
                          <a:ea typeface="Calibri" panose="020F0502020204030204" pitchFamily="34" charset="0"/>
                          <a:cs typeface="Times New Roman" panose="02020603050405020304" pitchFamily="18" charset="0"/>
                        </a:rPr>
                        <a:t>1</a:t>
                      </a:r>
                      <a:endParaRPr lang="es-PE" sz="105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200" b="1" dirty="0">
                          <a:effectLst/>
                          <a:latin typeface="Calibri" panose="020F0502020204030204" pitchFamily="34" charset="0"/>
                          <a:ea typeface="Calibri" panose="020F0502020204030204" pitchFamily="34" charset="0"/>
                          <a:cs typeface="Times New Roman" panose="02020603050405020304" pitchFamily="18" charset="0"/>
                        </a:rPr>
                        <a:t>107</a:t>
                      </a:r>
                      <a:endParaRPr lang="es-PE"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3682196660"/>
                  </a:ext>
                </a:extLst>
              </a:tr>
              <a:tr h="360746">
                <a:tc>
                  <a:txBody>
                    <a:bodyPr/>
                    <a:lstStyle/>
                    <a:p>
                      <a:pPr algn="ctr"/>
                      <a:r>
                        <a:rPr lang="es-PE" sz="1050" b="1">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Improcedente</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05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05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05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05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05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05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200" b="1" dirty="0">
                          <a:effectLst/>
                          <a:latin typeface="Calibri" panose="020F0502020204030204" pitchFamily="34" charset="0"/>
                          <a:ea typeface="Calibri" panose="020F0502020204030204" pitchFamily="34" charset="0"/>
                          <a:cs typeface="Times New Roman" panose="02020603050405020304" pitchFamily="18" charset="0"/>
                        </a:rPr>
                        <a:t>0</a:t>
                      </a:r>
                      <a:endParaRPr lang="es-PE"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3639372174"/>
                  </a:ext>
                </a:extLst>
              </a:tr>
              <a:tr h="360746">
                <a:tc>
                  <a:txBody>
                    <a:bodyPr/>
                    <a:lstStyle/>
                    <a:p>
                      <a:pPr algn="ctr"/>
                      <a:r>
                        <a:rPr lang="es-PE" sz="1050" b="1">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Desistimiento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05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05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05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05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05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05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200" b="1" dirty="0">
                          <a:effectLst/>
                          <a:latin typeface="Calibri" panose="020F0502020204030204" pitchFamily="34" charset="0"/>
                          <a:ea typeface="Calibri" panose="020F0502020204030204" pitchFamily="34" charset="0"/>
                          <a:cs typeface="Times New Roman" panose="02020603050405020304" pitchFamily="18" charset="0"/>
                        </a:rPr>
                        <a:t>1</a:t>
                      </a:r>
                      <a:endParaRPr lang="es-PE"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3318708488"/>
                  </a:ext>
                </a:extLst>
              </a:tr>
              <a:tr h="180373">
                <a:tc>
                  <a:txBody>
                    <a:bodyPr/>
                    <a:lstStyle/>
                    <a:p>
                      <a:pPr algn="ctr"/>
                      <a:r>
                        <a:rPr lang="es-PE" sz="1050" b="1">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Otros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9</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4</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a:t>
                      </a:r>
                      <a:endParaRPr lang="es-PE" sz="1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5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05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05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05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05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050" b="0" dirty="0">
                          <a:effectLst/>
                          <a:latin typeface="Calibri" panose="020F0502020204030204" pitchFamily="34" charset="0"/>
                          <a:ea typeface="Calibri" panose="020F0502020204030204" pitchFamily="34" charset="0"/>
                          <a:cs typeface="Times New Roman" panose="02020603050405020304" pitchFamily="18" charset="0"/>
                        </a:rPr>
                        <a:t>0</a:t>
                      </a:r>
                      <a:endParaRPr lang="es-PE" sz="105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200" b="1" dirty="0">
                          <a:effectLst/>
                          <a:latin typeface="Calibri" panose="020F0502020204030204" pitchFamily="34" charset="0"/>
                          <a:ea typeface="Calibri" panose="020F0502020204030204" pitchFamily="34" charset="0"/>
                          <a:cs typeface="Times New Roman" panose="02020603050405020304" pitchFamily="18" charset="0"/>
                        </a:rPr>
                        <a:t>21</a:t>
                      </a:r>
                      <a:endParaRPr lang="es-PE"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227754453"/>
                  </a:ext>
                </a:extLst>
              </a:tr>
              <a:tr h="180373">
                <a:tc>
                  <a:txBody>
                    <a:bodyPr/>
                    <a:lstStyle/>
                    <a:p>
                      <a:pPr algn="ctr"/>
                      <a:r>
                        <a:rPr lang="es-PE" sz="1050" b="1">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TOTAL</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285</a:t>
                      </a:r>
                      <a:endParaRPr lang="es-PE"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79</a:t>
                      </a:r>
                      <a:endParaRPr lang="es-PE"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19</a:t>
                      </a:r>
                      <a:endParaRPr lang="es-PE"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262</a:t>
                      </a:r>
                      <a:endParaRPr lang="es-PE"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83</a:t>
                      </a:r>
                      <a:endParaRPr lang="es-PE"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19</a:t>
                      </a:r>
                      <a:endParaRPr lang="es-PE"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236</a:t>
                      </a:r>
                      <a:endParaRPr lang="es-PE"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77</a:t>
                      </a:r>
                      <a:endParaRPr lang="es-PE"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20</a:t>
                      </a:r>
                      <a:endParaRPr lang="es-PE"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050" b="1" dirty="0">
                          <a:effectLst/>
                          <a:latin typeface="Calibri" panose="020F0502020204030204" pitchFamily="34" charset="0"/>
                          <a:ea typeface="Calibri" panose="020F0502020204030204" pitchFamily="34" charset="0"/>
                          <a:cs typeface="Times New Roman" panose="02020603050405020304" pitchFamily="18" charset="0"/>
                        </a:rPr>
                        <a:t>256</a:t>
                      </a:r>
                      <a:endParaRPr lang="es-PE" sz="105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050" b="1" dirty="0">
                          <a:effectLst/>
                          <a:latin typeface="Calibri" panose="020F0502020204030204" pitchFamily="34" charset="0"/>
                          <a:ea typeface="Calibri" panose="020F0502020204030204" pitchFamily="34" charset="0"/>
                          <a:cs typeface="Times New Roman" panose="02020603050405020304" pitchFamily="18" charset="0"/>
                        </a:rPr>
                        <a:t>89</a:t>
                      </a:r>
                      <a:endParaRPr lang="es-PE" sz="105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050" b="1" dirty="0">
                          <a:effectLst/>
                          <a:latin typeface="Calibri" panose="020F0502020204030204" pitchFamily="34" charset="0"/>
                          <a:ea typeface="Calibri" panose="020F0502020204030204" pitchFamily="34" charset="0"/>
                          <a:cs typeface="Times New Roman" panose="02020603050405020304" pitchFamily="18" charset="0"/>
                        </a:rPr>
                        <a:t>18</a:t>
                      </a:r>
                      <a:endParaRPr lang="es-PE" sz="105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ES" sz="1200" b="1" dirty="0">
                          <a:effectLst/>
                          <a:latin typeface="Calibri" panose="020F0502020204030204" pitchFamily="34" charset="0"/>
                          <a:ea typeface="Calibri" panose="020F0502020204030204" pitchFamily="34" charset="0"/>
                          <a:cs typeface="Times New Roman" panose="02020603050405020304" pitchFamily="18" charset="0"/>
                        </a:rPr>
                        <a:t>1443</a:t>
                      </a:r>
                      <a:endParaRPr lang="es-PE"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964130000"/>
                  </a:ext>
                </a:extLst>
              </a:tr>
            </a:tbl>
          </a:graphicData>
        </a:graphic>
      </p:graphicFrame>
      <p:graphicFrame>
        <p:nvGraphicFramePr>
          <p:cNvPr id="2" name="Gráfico 1">
            <a:extLst>
              <a:ext uri="{FF2B5EF4-FFF2-40B4-BE49-F238E27FC236}">
                <a16:creationId xmlns:a16="http://schemas.microsoft.com/office/drawing/2014/main" id="{63324CF6-22F2-DDF0-1806-8EAD87496C1B}"/>
              </a:ext>
            </a:extLst>
          </p:cNvPr>
          <p:cNvGraphicFramePr>
            <a:graphicFrameLocks/>
          </p:cNvGraphicFramePr>
          <p:nvPr>
            <p:extLst>
              <p:ext uri="{D42A27DB-BD31-4B8C-83A1-F6EECF244321}">
                <p14:modId xmlns:p14="http://schemas.microsoft.com/office/powerpoint/2010/main" val="1158205708"/>
              </p:ext>
            </p:extLst>
          </p:nvPr>
        </p:nvGraphicFramePr>
        <p:xfrm>
          <a:off x="423193" y="1110872"/>
          <a:ext cx="10626840" cy="296859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596909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772892"/>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DESAFIOS/PROPUESTAS </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024E81CA-E15C-F5EE-DC7A-2237FDCAEE51}"/>
              </a:ext>
            </a:extLst>
          </p:cNvPr>
          <p:cNvGraphicFramePr>
            <a:graphicFrameLocks noGrp="1"/>
          </p:cNvGraphicFramePr>
          <p:nvPr>
            <p:extLst>
              <p:ext uri="{D42A27DB-BD31-4B8C-83A1-F6EECF244321}">
                <p14:modId xmlns:p14="http://schemas.microsoft.com/office/powerpoint/2010/main" val="231332822"/>
              </p:ext>
            </p:extLst>
          </p:nvPr>
        </p:nvGraphicFramePr>
        <p:xfrm>
          <a:off x="338927" y="788611"/>
          <a:ext cx="11514146" cy="6341469"/>
        </p:xfrm>
        <a:graphic>
          <a:graphicData uri="http://schemas.openxmlformats.org/drawingml/2006/table">
            <a:tbl>
              <a:tblPr firstRow="1" firstCol="1" bandRow="1"/>
              <a:tblGrid>
                <a:gridCol w="3028182">
                  <a:extLst>
                    <a:ext uri="{9D8B030D-6E8A-4147-A177-3AD203B41FA5}">
                      <a16:colId xmlns:a16="http://schemas.microsoft.com/office/drawing/2014/main" val="4249395483"/>
                    </a:ext>
                  </a:extLst>
                </a:gridCol>
                <a:gridCol w="4460839">
                  <a:extLst>
                    <a:ext uri="{9D8B030D-6E8A-4147-A177-3AD203B41FA5}">
                      <a16:colId xmlns:a16="http://schemas.microsoft.com/office/drawing/2014/main" val="972088636"/>
                    </a:ext>
                  </a:extLst>
                </a:gridCol>
                <a:gridCol w="4025125">
                  <a:extLst>
                    <a:ext uri="{9D8B030D-6E8A-4147-A177-3AD203B41FA5}">
                      <a16:colId xmlns:a16="http://schemas.microsoft.com/office/drawing/2014/main" val="2022867340"/>
                    </a:ext>
                  </a:extLst>
                </a:gridCol>
              </a:tblGrid>
              <a:tr h="327125">
                <a:tc>
                  <a:txBody>
                    <a:bodyPr/>
                    <a:lstStyle/>
                    <a:p>
                      <a:pPr algn="ctr"/>
                      <a:r>
                        <a:rPr lang="es-PE" sz="1400" b="1" dirty="0">
                          <a:solidFill>
                            <a:srgbClr val="000000"/>
                          </a:solidFill>
                          <a:effectLst/>
                          <a:latin typeface="Calibri" panose="020F0502020204030204" pitchFamily="34" charset="0"/>
                          <a:ea typeface="Calibri" panose="020F0502020204030204" pitchFamily="34" charset="0"/>
                        </a:rPr>
                        <a:t>PROBLEMAS/DESAFIO.</a:t>
                      </a:r>
                      <a:endParaRPr lang="es-PE" sz="14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ctr"/>
                      <a:r>
                        <a:rPr lang="es-PE" sz="1400" b="1" dirty="0">
                          <a:solidFill>
                            <a:srgbClr val="000000"/>
                          </a:solidFill>
                          <a:effectLst/>
                          <a:latin typeface="Calibri" panose="020F0502020204030204" pitchFamily="34" charset="0"/>
                          <a:ea typeface="Calibri" panose="020F0502020204030204" pitchFamily="34" charset="0"/>
                        </a:rPr>
                        <a:t>SOLUCIONES</a:t>
                      </a:r>
                      <a:endParaRPr lang="es-PE" sz="1400" dirty="0">
                        <a:effectLst/>
                        <a:latin typeface="Calibri" panose="020F0502020204030204" pitchFamily="34" charset="0"/>
                        <a:ea typeface="Calibri" panose="020F0502020204030204" pitchFamily="34" charset="0"/>
                      </a:endParaRPr>
                    </a:p>
                  </a:txBody>
                  <a:tcPr marL="31325" marR="31325" marT="4351"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ctr"/>
                      <a:r>
                        <a:rPr lang="es-PE" sz="1400" b="1" dirty="0">
                          <a:solidFill>
                            <a:srgbClr val="000000"/>
                          </a:solidFill>
                          <a:effectLst/>
                          <a:latin typeface="Calibri" panose="020F0502020204030204" pitchFamily="34" charset="0"/>
                          <a:ea typeface="Calibri" panose="020F0502020204030204" pitchFamily="34" charset="0"/>
                        </a:rPr>
                        <a:t>PROPUESTA</a:t>
                      </a:r>
                      <a:endParaRPr lang="es-PE" sz="1400" dirty="0">
                        <a:effectLst/>
                        <a:latin typeface="Calibri" panose="020F0502020204030204" pitchFamily="34" charset="0"/>
                        <a:ea typeface="Calibri" panose="020F0502020204030204" pitchFamily="34" charset="0"/>
                      </a:endParaRPr>
                    </a:p>
                  </a:txBody>
                  <a:tcPr marL="31325" marR="31325" marT="4351"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2399955915"/>
                  </a:ext>
                </a:extLst>
              </a:tr>
              <a:tr h="1006344">
                <a:tc>
                  <a:txBody>
                    <a:bodyPr/>
                    <a:lstStyle/>
                    <a:p>
                      <a:r>
                        <a:rPr lang="es-PE" sz="1200" b="1" dirty="0">
                          <a:solidFill>
                            <a:schemeClr val="bg1"/>
                          </a:solidFill>
                          <a:effectLst/>
                          <a:latin typeface="Calibri" panose="020F0502020204030204" pitchFamily="34" charset="0"/>
                          <a:ea typeface="Calibri" panose="020F0502020204030204" pitchFamily="34" charset="0"/>
                        </a:rPr>
                        <a:t>INDICADOR PNC - TLT 6 MESES – META 98%. Revisión de ficha 2024 e Indicadores internos complementarios.</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Reunión semanal de coordinación y control de gestión GAFA-DAP-GENGI </a:t>
                      </a:r>
                      <a:r>
                        <a:rPr lang="es-ES" sz="1200" dirty="0" err="1">
                          <a:solidFill>
                            <a:srgbClr val="000000"/>
                          </a:solidFill>
                          <a:effectLst/>
                          <a:latin typeface="Calibri" panose="020F0502020204030204" pitchFamily="34" charset="0"/>
                          <a:ea typeface="Calibri" panose="020F0502020204030204" pitchFamily="34" charset="0"/>
                        </a:rPr>
                        <a:t>ica</a:t>
                      </a:r>
                      <a:r>
                        <a:rPr lang="es-ES" sz="1200" dirty="0">
                          <a:solidFill>
                            <a:srgbClr val="000000"/>
                          </a:solidFill>
                          <a:effectLst/>
                          <a:latin typeface="Calibri" panose="020F0502020204030204" pitchFamily="34" charset="0"/>
                          <a:ea typeface="Calibri" panose="020F0502020204030204" pitchFamily="34" charset="0"/>
                        </a:rPr>
                        <a:t>).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Tiempo de atención: TLT 125 días y TLT 58 </a:t>
                      </a:r>
                      <a:r>
                        <a:rPr lang="es-ES" sz="1200" b="1" dirty="0" err="1">
                          <a:solidFill>
                            <a:srgbClr val="000000"/>
                          </a:solidFill>
                          <a:effectLst/>
                          <a:latin typeface="Calibri" panose="020F0502020204030204" pitchFamily="34" charset="0"/>
                          <a:ea typeface="Calibri" panose="020F0502020204030204" pitchFamily="34" charset="0"/>
                        </a:rPr>
                        <a:t>OEAs</a:t>
                      </a:r>
                      <a:r>
                        <a:rPr lang="es-ES" sz="1200" b="1" dirty="0">
                          <a:solidFill>
                            <a:srgbClr val="000000"/>
                          </a:solidFill>
                          <a:effectLst/>
                          <a:latin typeface="Calibri" panose="020F0502020204030204" pitchFamily="34" charset="0"/>
                          <a:ea typeface="Calibri" panose="020F0502020204030204" pitchFamily="34" charset="0"/>
                        </a:rPr>
                        <a:t>. </a:t>
                      </a:r>
                    </a:p>
                    <a:p>
                      <a:r>
                        <a:rPr lang="es-ES" sz="1200" b="1" dirty="0">
                          <a:solidFill>
                            <a:srgbClr val="000000"/>
                          </a:solidFill>
                          <a:effectLst/>
                          <a:latin typeface="Calibri" panose="020F0502020204030204" pitchFamily="34" charset="0"/>
                          <a:ea typeface="Calibri" panose="020F0502020204030204" pitchFamily="34" charset="0"/>
                        </a:rPr>
                        <a:t>Vencimiento </a:t>
                      </a:r>
                      <a:r>
                        <a:rPr lang="es-ES" sz="1200" b="1" dirty="0" err="1">
                          <a:solidFill>
                            <a:srgbClr val="000000"/>
                          </a:solidFill>
                          <a:effectLst/>
                          <a:latin typeface="Calibri" panose="020F0502020204030204" pitchFamily="34" charset="0"/>
                          <a:ea typeface="Calibri" panose="020F0502020204030204" pitchFamily="34" charset="0"/>
                        </a:rPr>
                        <a:t>OEAs</a:t>
                      </a:r>
                      <a:r>
                        <a:rPr lang="es-ES" sz="1200" b="1" dirty="0">
                          <a:solidFill>
                            <a:srgbClr val="000000"/>
                          </a:solidFill>
                          <a:effectLst/>
                          <a:latin typeface="Calibri" panose="020F0502020204030204" pitchFamily="34" charset="0"/>
                          <a:ea typeface="Calibri" panose="020F0502020204030204" pitchFamily="34" charset="0"/>
                        </a:rPr>
                        <a:t> </a:t>
                      </a:r>
                      <a:r>
                        <a:rPr lang="es-ES" sz="1200" dirty="0">
                          <a:solidFill>
                            <a:srgbClr val="000000"/>
                          </a:solidFill>
                          <a:effectLst/>
                          <a:latin typeface="Calibri" panose="020F0502020204030204" pitchFamily="34" charset="0"/>
                          <a:ea typeface="Calibri" panose="020F0502020204030204" pitchFamily="34" charset="0"/>
                        </a:rPr>
                        <a:t>de reclamo (30 días hábiles), bandejas CERO y apelaciones (15 días calendarios para pedir actuados). Excluir el OEA de la ficha si lo monitorea PNGCA.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241051180"/>
                  </a:ext>
                </a:extLst>
              </a:tr>
              <a:tr h="1006344">
                <a:tc>
                  <a:txBody>
                    <a:bodyPr/>
                    <a:lstStyle/>
                    <a:p>
                      <a:r>
                        <a:rPr lang="es-PE" sz="1200" b="1" dirty="0">
                          <a:solidFill>
                            <a:schemeClr val="bg1"/>
                          </a:solidFill>
                          <a:effectLst/>
                          <a:latin typeface="Calibri" panose="020F0502020204030204" pitchFamily="34" charset="0"/>
                          <a:ea typeface="Calibri" panose="020F0502020204030204" pitchFamily="34" charset="0"/>
                        </a:rPr>
                        <a:t>Propuesta de mejora DCCI RD y RTF. Registro, Criterios, Instructivos y otros. DCCII Registro manual de data de reclamos, LC actualización y remisión de actuados. DCP retroalimentación INCA.  PASIVO TF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Marzo </a:t>
                      </a:r>
                    </a:p>
                    <a:p>
                      <a:r>
                        <a:rPr lang="es-ES" sz="1200" dirty="0">
                          <a:solidFill>
                            <a:srgbClr val="000000"/>
                          </a:solidFill>
                          <a:effectLst/>
                          <a:latin typeface="Calibri" panose="020F0502020204030204" pitchFamily="34" charset="0"/>
                          <a:ea typeface="Calibri" panose="020F0502020204030204" pitchFamily="34" charset="0"/>
                        </a:rPr>
                        <a:t>DCCI-DCCII-DCP: retroalimentación </a:t>
                      </a:r>
                      <a:r>
                        <a:rPr lang="es-ES" sz="1200" dirty="0" err="1">
                          <a:solidFill>
                            <a:srgbClr val="000000"/>
                          </a:solidFill>
                          <a:effectLst/>
                          <a:latin typeface="Calibri" panose="020F0502020204030204" pitchFamily="34" charset="0"/>
                          <a:ea typeface="Calibri" panose="020F0502020204030204" pitchFamily="34" charset="0"/>
                        </a:rPr>
                        <a:t>one</a:t>
                      </a:r>
                      <a:r>
                        <a:rPr lang="es-ES" sz="1200" dirty="0">
                          <a:solidFill>
                            <a:srgbClr val="000000"/>
                          </a:solidFill>
                          <a:effectLst/>
                          <a:latin typeface="Calibri" panose="020F0502020204030204" pitchFamily="34" charset="0"/>
                          <a:ea typeface="Calibri" panose="020F0502020204030204" pitchFamily="34" charset="0"/>
                        </a:rPr>
                        <a:t> </a:t>
                      </a:r>
                      <a:r>
                        <a:rPr lang="es-ES" sz="1200" dirty="0" err="1">
                          <a:solidFill>
                            <a:srgbClr val="000000"/>
                          </a:solidFill>
                          <a:effectLst/>
                          <a:latin typeface="Calibri" panose="020F0502020204030204" pitchFamily="34" charset="0"/>
                          <a:ea typeface="Calibri" panose="020F0502020204030204" pitchFamily="34" charset="0"/>
                        </a:rPr>
                        <a:t>to</a:t>
                      </a:r>
                      <a:r>
                        <a:rPr lang="es-ES" sz="1200" dirty="0">
                          <a:solidFill>
                            <a:srgbClr val="000000"/>
                          </a:solidFill>
                          <a:effectLst/>
                          <a:latin typeface="Calibri" panose="020F0502020204030204" pitchFamily="34" charset="0"/>
                          <a:ea typeface="Calibri" panose="020F0502020204030204" pitchFamily="34" charset="0"/>
                        </a:rPr>
                        <a:t> </a:t>
                      </a:r>
                      <a:r>
                        <a:rPr lang="es-ES" sz="1200" dirty="0" err="1">
                          <a:solidFill>
                            <a:srgbClr val="000000"/>
                          </a:solidFill>
                          <a:effectLst/>
                          <a:latin typeface="Calibri" panose="020F0502020204030204" pitchFamily="34" charset="0"/>
                          <a:ea typeface="Calibri" panose="020F0502020204030204" pitchFamily="34" charset="0"/>
                        </a:rPr>
                        <a:t>one</a:t>
                      </a:r>
                      <a:r>
                        <a:rPr lang="es-ES" sz="1200" dirty="0">
                          <a:solidFill>
                            <a:srgbClr val="000000"/>
                          </a:solidFill>
                          <a:effectLst/>
                          <a:latin typeface="Calibri" panose="020F0502020204030204" pitchFamily="34" charset="0"/>
                          <a:ea typeface="Calibri" panose="020F0502020204030204" pitchFamily="34" charset="0"/>
                        </a:rPr>
                        <a:t>. (F/N)</a:t>
                      </a:r>
                    </a:p>
                    <a:p>
                      <a:r>
                        <a:rPr lang="es-ES" sz="1200" dirty="0">
                          <a:solidFill>
                            <a:srgbClr val="000000"/>
                          </a:solidFill>
                          <a:effectLst/>
                          <a:latin typeface="Calibri" panose="020F0502020204030204" pitchFamily="34" charset="0"/>
                          <a:ea typeface="Calibri" panose="020F0502020204030204" pitchFamily="34" charset="0"/>
                        </a:rPr>
                        <a:t>Abril</a:t>
                      </a:r>
                    </a:p>
                    <a:p>
                      <a:r>
                        <a:rPr lang="es-ES" sz="1200" dirty="0">
                          <a:solidFill>
                            <a:srgbClr val="000000"/>
                          </a:solidFill>
                          <a:effectLst/>
                          <a:latin typeface="Calibri" panose="020F0502020204030204" pitchFamily="34" charset="0"/>
                          <a:ea typeface="Calibri" panose="020F0502020204030204" pitchFamily="34" charset="0"/>
                        </a:rPr>
                        <a:t>DCCI – oportunidad de mejora 11 personas.</a:t>
                      </a:r>
                    </a:p>
                    <a:p>
                      <a:endParaRPr lang="es-ES" sz="1200" dirty="0">
                        <a:solidFill>
                          <a:srgbClr val="000000"/>
                        </a:solidFill>
                        <a:effectLst/>
                        <a:latin typeface="Calibri" panose="020F0502020204030204" pitchFamily="34" charset="0"/>
                        <a:ea typeface="Calibri" panose="020F0502020204030204" pitchFamily="34" charset="0"/>
                      </a:endParaRPr>
                    </a:p>
                    <a:p>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Mejorar resultados y retroalimentación interna en fondo y en  Admisibilidad, a la IAMC, a las IAAP y Aduanas de provincia, y la INCA.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3879781516"/>
                  </a:ext>
                </a:extLst>
              </a:tr>
              <a:tr h="1006344">
                <a:tc>
                  <a:txBody>
                    <a:bodyPr/>
                    <a:lstStyle/>
                    <a:p>
                      <a:r>
                        <a:rPr lang="es-PE" sz="1200" b="1" dirty="0">
                          <a:solidFill>
                            <a:schemeClr val="bg1"/>
                          </a:solidFill>
                          <a:effectLst/>
                          <a:latin typeface="Calibri" panose="020F0502020204030204" pitchFamily="34" charset="0"/>
                          <a:ea typeface="Calibri" panose="020F0502020204030204" pitchFamily="34" charset="0"/>
                        </a:rPr>
                        <a:t>Control de Gestión para mejora del proceso de recursos impugnatorios: </a:t>
                      </a:r>
                    </a:p>
                    <a:p>
                      <a:r>
                        <a:rPr lang="es-PE" sz="1200" b="1" dirty="0">
                          <a:solidFill>
                            <a:schemeClr val="bg1"/>
                          </a:solidFill>
                          <a:effectLst/>
                          <a:latin typeface="Calibri" panose="020F0502020204030204" pitchFamily="34" charset="0"/>
                          <a:ea typeface="Calibri" panose="020F0502020204030204" pitchFamily="34" charset="0"/>
                        </a:rPr>
                        <a:t>Reunión con supervisores – Trimestral </a:t>
                      </a:r>
                    </a:p>
                    <a:p>
                      <a:r>
                        <a:rPr lang="es-PE" sz="1200" b="1" dirty="0">
                          <a:solidFill>
                            <a:schemeClr val="bg1"/>
                          </a:solidFill>
                          <a:effectLst/>
                          <a:latin typeface="Calibri" panose="020F0502020204030204" pitchFamily="34" charset="0"/>
                          <a:ea typeface="Calibri" panose="020F0502020204030204" pitchFamily="34" charset="0"/>
                        </a:rPr>
                        <a:t>Reunión con jefaturas – mensual </a:t>
                      </a:r>
                    </a:p>
                    <a:p>
                      <a:r>
                        <a:rPr lang="es-PE" sz="1200" b="1" dirty="0">
                          <a:solidFill>
                            <a:schemeClr val="bg1"/>
                          </a:solidFill>
                          <a:effectLst/>
                          <a:latin typeface="Calibri" panose="020F0502020204030204" pitchFamily="34" charset="0"/>
                          <a:ea typeface="Calibri" panose="020F0502020204030204" pitchFamily="34" charset="0"/>
                        </a:rPr>
                        <a:t>Reunión con S5 – semanal</a:t>
                      </a:r>
                    </a:p>
                    <a:p>
                      <a:r>
                        <a:rPr lang="es-PE" sz="1200" b="1" dirty="0">
                          <a:solidFill>
                            <a:schemeClr val="bg1"/>
                          </a:solidFill>
                          <a:effectLst/>
                          <a:latin typeface="Calibri" panose="020F0502020204030204" pitchFamily="34" charset="0"/>
                          <a:ea typeface="Calibri" panose="020F0502020204030204" pitchFamily="34" charset="0"/>
                        </a:rPr>
                        <a:t>MAPEO DE PROCESO Y CAPACITACIÓN.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2024 </a:t>
                      </a: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Tiempo de atención:</a:t>
                      </a:r>
                      <a:r>
                        <a:rPr lang="es-ES" sz="1200" dirty="0">
                          <a:solidFill>
                            <a:srgbClr val="000000"/>
                          </a:solidFill>
                          <a:effectLst/>
                          <a:latin typeface="Calibri" panose="020F0502020204030204" pitchFamily="34" charset="0"/>
                          <a:ea typeface="Calibri" panose="020F0502020204030204" pitchFamily="34" charset="0"/>
                        </a:rPr>
                        <a:t> en todas las actividades del flujo de los recursos impugnatorios (reclamos y apelaciones). </a:t>
                      </a:r>
                    </a:p>
                    <a:p>
                      <a:r>
                        <a:rPr lang="es-ES" sz="1200" b="1" dirty="0">
                          <a:solidFill>
                            <a:srgbClr val="FF0000"/>
                          </a:solidFill>
                          <a:effectLst/>
                          <a:latin typeface="Calibri" panose="020F0502020204030204" pitchFamily="34" charset="0"/>
                          <a:ea typeface="Calibri" panose="020F0502020204030204" pitchFamily="34" charset="0"/>
                        </a:rPr>
                        <a:t>PROPUESTA: </a:t>
                      </a:r>
                      <a:r>
                        <a:rPr lang="es-ES" sz="1200" dirty="0">
                          <a:solidFill>
                            <a:srgbClr val="000000"/>
                          </a:solidFill>
                          <a:effectLst/>
                          <a:latin typeface="Calibri" panose="020F0502020204030204" pitchFamily="34" charset="0"/>
                          <a:ea typeface="Calibri" panose="020F0502020204030204" pitchFamily="34" charset="0"/>
                        </a:rPr>
                        <a:t>Diseño del flujo de información. Control de gestión de la información del proceso.</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3376611657"/>
                  </a:ext>
                </a:extLst>
              </a:tr>
              <a:tr h="605712">
                <a:tc>
                  <a:txBody>
                    <a:bodyPr/>
                    <a:lstStyle/>
                    <a:p>
                      <a:r>
                        <a:rPr lang="es-PE" sz="1200" b="1" dirty="0">
                          <a:solidFill>
                            <a:schemeClr val="bg1"/>
                          </a:solidFill>
                          <a:effectLst/>
                          <a:latin typeface="Calibri" panose="020F0502020204030204" pitchFamily="34" charset="0"/>
                          <a:ea typeface="Calibri" panose="020F0502020204030204" pitchFamily="34" charset="0"/>
                        </a:rPr>
                        <a:t>BANDEJA CERO: </a:t>
                      </a:r>
                    </a:p>
                    <a:p>
                      <a:r>
                        <a:rPr lang="es-PE" sz="1200" b="1" dirty="0">
                          <a:solidFill>
                            <a:schemeClr val="bg1"/>
                          </a:solidFill>
                          <a:effectLst/>
                          <a:latin typeface="Calibri" panose="020F0502020204030204" pitchFamily="34" charset="0"/>
                          <a:ea typeface="Calibri" panose="020F0502020204030204" pitchFamily="34" charset="0"/>
                        </a:rPr>
                        <a:t>Pasivo admisibilidad  13 casos del 2023 (77). DCCI 25 y DCCII 8. </a:t>
                      </a:r>
                    </a:p>
                    <a:p>
                      <a:r>
                        <a:rPr lang="es-PE" sz="1200" b="1" dirty="0">
                          <a:solidFill>
                            <a:schemeClr val="bg1"/>
                          </a:solidFill>
                          <a:effectLst/>
                          <a:latin typeface="Calibri" panose="020F0502020204030204" pitchFamily="34" charset="0"/>
                          <a:ea typeface="Calibri" panose="020F0502020204030204" pitchFamily="34" charset="0"/>
                        </a:rPr>
                        <a:t>BANDEJA DE INGRESADOS 5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Revisión diaria a cargo de las asistentes y maratones.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BANDEJA CERO</a:t>
                      </a:r>
                      <a:r>
                        <a:rPr lang="es-ES" sz="1200" dirty="0">
                          <a:solidFill>
                            <a:srgbClr val="000000"/>
                          </a:solidFill>
                          <a:effectLst/>
                          <a:latin typeface="Calibri" panose="020F0502020204030204" pitchFamily="34" charset="0"/>
                          <a:ea typeface="Calibri" panose="020F0502020204030204" pitchFamily="34" charset="0"/>
                        </a:rPr>
                        <a:t> de admisibilidad (E-</a:t>
                      </a:r>
                      <a:r>
                        <a:rPr lang="es-ES" sz="1200" dirty="0" err="1">
                          <a:solidFill>
                            <a:srgbClr val="000000"/>
                          </a:solidFill>
                          <a:effectLst/>
                          <a:latin typeface="Calibri" panose="020F0502020204030204" pitchFamily="34" charset="0"/>
                          <a:ea typeface="Calibri" panose="020F0502020204030204" pitchFamily="34" charset="0"/>
                        </a:rPr>
                        <a:t>chaski</a:t>
                      </a:r>
                      <a:r>
                        <a:rPr lang="es-ES" sz="1200" dirty="0">
                          <a:solidFill>
                            <a:srgbClr val="000000"/>
                          </a:solidFill>
                          <a:effectLst/>
                          <a:latin typeface="Calibri" panose="020F0502020204030204" pitchFamily="34" charset="0"/>
                          <a:ea typeface="Calibri" panose="020F0502020204030204" pitchFamily="34" charset="0"/>
                        </a:rPr>
                        <a:t>, SIGERI ingresado y no asignado y físico, SIGED y Memo interno. </a:t>
                      </a:r>
                      <a:endParaRPr lang="es-PE" sz="1200" b="1"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2303611654"/>
                  </a:ext>
                </a:extLst>
              </a:tr>
              <a:tr h="1150116">
                <a:tc>
                  <a:txBody>
                    <a:bodyPr/>
                    <a:lstStyle/>
                    <a:p>
                      <a:r>
                        <a:rPr lang="es-PE" sz="1200" b="1" dirty="0">
                          <a:solidFill>
                            <a:schemeClr val="bg1"/>
                          </a:solidFill>
                          <a:effectLst/>
                          <a:latin typeface="Calibri" panose="020F0502020204030204" pitchFamily="34" charset="0"/>
                          <a:ea typeface="Calibri" panose="020F0502020204030204" pitchFamily="34" charset="0"/>
                        </a:rPr>
                        <a:t>Admisibilidad: devolución por evaluación incorrecta y remisión de </a:t>
                      </a:r>
                      <a:r>
                        <a:rPr lang="es-PE" sz="1200" b="1" dirty="0" err="1">
                          <a:solidFill>
                            <a:schemeClr val="bg1"/>
                          </a:solidFill>
                          <a:effectLst/>
                          <a:latin typeface="Calibri" panose="020F0502020204030204" pitchFamily="34" charset="0"/>
                          <a:ea typeface="Calibri" panose="020F0502020204030204" pitchFamily="34" charset="0"/>
                        </a:rPr>
                        <a:t>exp</a:t>
                      </a:r>
                      <a:r>
                        <a:rPr lang="es-PE" sz="1200" b="1" dirty="0">
                          <a:solidFill>
                            <a:schemeClr val="bg1"/>
                          </a:solidFill>
                          <a:effectLst/>
                          <a:latin typeface="Calibri" panose="020F0502020204030204" pitchFamily="34" charset="0"/>
                          <a:ea typeface="Calibri" panose="020F0502020204030204" pitchFamily="34" charset="0"/>
                        </a:rPr>
                        <a:t>.  (RD </a:t>
                      </a:r>
                      <a:r>
                        <a:rPr lang="es-PE" sz="1200" b="1" dirty="0" err="1">
                          <a:solidFill>
                            <a:schemeClr val="bg1"/>
                          </a:solidFill>
                          <a:effectLst/>
                          <a:latin typeface="Calibri" panose="020F0502020204030204" pitchFamily="34" charset="0"/>
                          <a:ea typeface="Calibri" panose="020F0502020204030204" pitchFamily="34" charset="0"/>
                        </a:rPr>
                        <a:t>complem</a:t>
                      </a:r>
                      <a:r>
                        <a:rPr lang="es-PE" sz="1200" b="1" dirty="0">
                          <a:solidFill>
                            <a:schemeClr val="bg1"/>
                          </a:solidFill>
                          <a:effectLst/>
                          <a:latin typeface="Calibri" panose="020F0502020204030204" pitchFamily="34" charset="0"/>
                          <a:ea typeface="Calibri" panose="020F0502020204030204" pitchFamily="34" charset="0"/>
                        </a:rPr>
                        <a:t>)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PE" sz="1200" b="1" dirty="0">
                          <a:solidFill>
                            <a:srgbClr val="000000"/>
                          </a:solidFill>
                          <a:effectLst/>
                          <a:latin typeface="Calibri" panose="020F0502020204030204" pitchFamily="34" charset="0"/>
                          <a:ea typeface="Calibri" panose="020F0502020204030204" pitchFamily="34" charset="0"/>
                        </a:rPr>
                        <a:t>Primera etapa </a:t>
                      </a:r>
                      <a:r>
                        <a:rPr lang="es-PE" sz="1200" dirty="0">
                          <a:solidFill>
                            <a:srgbClr val="000000"/>
                          </a:solidFill>
                          <a:effectLst/>
                          <a:latin typeface="Calibri" panose="020F0502020204030204" pitchFamily="34" charset="0"/>
                          <a:ea typeface="Calibri" panose="020F0502020204030204" pitchFamily="34" charset="0"/>
                        </a:rPr>
                        <a:t>Coordinación previa con la DAP para reconfirmar la devolución del SIGERI, y remisión de correo electrónico para seguimiento y atención inmediata (límite del vencimiento). </a:t>
                      </a:r>
                    </a:p>
                    <a:p>
                      <a:r>
                        <a:rPr lang="es-PE" sz="1200" dirty="0">
                          <a:solidFill>
                            <a:srgbClr val="000000"/>
                          </a:solidFill>
                          <a:effectLst/>
                          <a:latin typeface="Calibri" panose="020F0502020204030204" pitchFamily="34" charset="0"/>
                          <a:ea typeface="Calibri" panose="020F0502020204030204" pitchFamily="34" charset="0"/>
                        </a:rPr>
                        <a:t>Validación con GENGI ( </a:t>
                      </a:r>
                      <a:r>
                        <a:rPr lang="es-PE" sz="1200" dirty="0" err="1">
                          <a:solidFill>
                            <a:srgbClr val="000000"/>
                          </a:solidFill>
                          <a:effectLst/>
                          <a:latin typeface="Calibri" panose="020F0502020204030204" pitchFamily="34" charset="0"/>
                          <a:ea typeface="Calibri" panose="020F0502020204030204" pitchFamily="34" charset="0"/>
                        </a:rPr>
                        <a:t>CPf</a:t>
                      </a:r>
                      <a:r>
                        <a:rPr lang="es-PE" sz="1200" dirty="0">
                          <a:solidFill>
                            <a:srgbClr val="000000"/>
                          </a:solidFill>
                          <a:effectLst/>
                          <a:latin typeface="Calibri" panose="020F0502020204030204" pitchFamily="34" charset="0"/>
                          <a:ea typeface="Calibri" panose="020F0502020204030204" pitchFamily="34" charset="0"/>
                        </a:rPr>
                        <a:t>)</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PE" sz="1200" b="1" dirty="0">
                          <a:solidFill>
                            <a:srgbClr val="000000"/>
                          </a:solidFill>
                          <a:effectLst/>
                          <a:latin typeface="Calibri" panose="020F0502020204030204" pitchFamily="34" charset="0"/>
                          <a:ea typeface="Calibri" panose="020F0502020204030204" pitchFamily="34" charset="0"/>
                        </a:rPr>
                        <a:t>Segunda etapa: revisión de GENGI. Unificar criterio.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842478686"/>
                  </a:ext>
                </a:extLst>
              </a:tr>
              <a:tr h="806028">
                <a:tc>
                  <a:txBody>
                    <a:bodyPr/>
                    <a:lstStyle/>
                    <a:p>
                      <a:r>
                        <a:rPr lang="es-PE" sz="1200" b="1" dirty="0">
                          <a:solidFill>
                            <a:schemeClr val="bg1"/>
                          </a:solidFill>
                          <a:effectLst/>
                          <a:latin typeface="Calibri" panose="020F0502020204030204" pitchFamily="34" charset="0"/>
                          <a:ea typeface="Calibri" panose="020F0502020204030204" pitchFamily="34" charset="0"/>
                        </a:rPr>
                        <a:t>Actuados físicos reclamos: falta flujo, falta de remisión oportuna y derivación tardía de expedientes.  </a:t>
                      </a:r>
                    </a:p>
                    <a:p>
                      <a:r>
                        <a:rPr lang="es-PE" sz="1200" b="1" dirty="0">
                          <a:solidFill>
                            <a:schemeClr val="bg1"/>
                          </a:solidFill>
                          <a:effectLst/>
                          <a:latin typeface="Calibri" panose="020F0502020204030204" pitchFamily="34" charset="0"/>
                          <a:ea typeface="Calibri" panose="020F0502020204030204" pitchFamily="34" charset="0"/>
                        </a:rPr>
                        <a:t>Actuados físicos apelaciones: pasivo por coordinar FONDO-ADM. Conformación</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PE" sz="1200" dirty="0">
                          <a:solidFill>
                            <a:srgbClr val="000000"/>
                          </a:solidFill>
                          <a:effectLst/>
                          <a:latin typeface="Calibri" panose="020F0502020204030204" pitchFamily="34" charset="0"/>
                          <a:ea typeface="Calibri" panose="020F0502020204030204" pitchFamily="34" charset="0"/>
                        </a:rPr>
                        <a:t>Apoyo de Sara búsqueda de actuados y generar </a:t>
                      </a:r>
                      <a:r>
                        <a:rPr lang="es-PE" sz="1200" dirty="0" err="1">
                          <a:solidFill>
                            <a:srgbClr val="000000"/>
                          </a:solidFill>
                          <a:effectLst/>
                          <a:latin typeface="Calibri" panose="020F0502020204030204" pitchFamily="34" charset="0"/>
                          <a:ea typeface="Calibri" panose="020F0502020204030204" pitchFamily="34" charset="0"/>
                        </a:rPr>
                        <a:t>Chasky</a:t>
                      </a:r>
                      <a:r>
                        <a:rPr lang="es-PE" sz="1200" dirty="0">
                          <a:solidFill>
                            <a:srgbClr val="000000"/>
                          </a:solidFill>
                          <a:effectLst/>
                          <a:latin typeface="Calibri" panose="020F0502020204030204" pitchFamily="34" charset="0"/>
                          <a:ea typeface="Calibri" panose="020F0502020204030204" pitchFamily="34" charset="0"/>
                        </a:rPr>
                        <a:t> (indicador).</a:t>
                      </a:r>
                      <a:endParaRPr lang="es-PE" sz="1200" dirty="0">
                        <a:effectLst/>
                        <a:latin typeface="Calibri" panose="020F0502020204030204" pitchFamily="34" charset="0"/>
                        <a:ea typeface="Calibri" panose="020F0502020204030204" pitchFamily="34" charset="0"/>
                      </a:endParaRPr>
                    </a:p>
                    <a:p>
                      <a:r>
                        <a:rPr lang="es-PE" sz="1200" dirty="0">
                          <a:solidFill>
                            <a:srgbClr val="000000"/>
                          </a:solidFill>
                          <a:effectLst/>
                          <a:latin typeface="Calibri" panose="020F0502020204030204" pitchFamily="34" charset="0"/>
                          <a:ea typeface="Calibri" panose="020F0502020204030204" pitchFamily="34" charset="0"/>
                        </a:rPr>
                        <a:t>- Divisiones de Fondo apoyan a la DAP en revisión de admisibilidad de reclamo y apelaciones. </a:t>
                      </a:r>
                      <a:endParaRPr lang="es-PE" sz="1200" dirty="0">
                        <a:effectLst/>
                        <a:latin typeface="Calibri" panose="020F0502020204030204" pitchFamily="34" charset="0"/>
                        <a:ea typeface="Calibri" panose="020F0502020204030204" pitchFamily="34" charset="0"/>
                      </a:endParaRPr>
                    </a:p>
                    <a:p>
                      <a:r>
                        <a:rPr lang="es-419" sz="1200" dirty="0">
                          <a:solidFill>
                            <a:srgbClr val="000000"/>
                          </a:solidFill>
                          <a:effectLst/>
                          <a:latin typeface="Calibri" panose="020F0502020204030204" pitchFamily="34" charset="0"/>
                          <a:ea typeface="Calibri" panose="020F0502020204030204" pitchFamily="34" charset="0"/>
                        </a:rPr>
                        <a:t>- Se solicitó la implementación de alertas TLT 6 m. a fondo y DAP.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PE" sz="1200" b="1" dirty="0">
                          <a:solidFill>
                            <a:srgbClr val="000000"/>
                          </a:solidFill>
                          <a:effectLst/>
                          <a:latin typeface="Calibri" panose="020F0502020204030204" pitchFamily="34" charset="0"/>
                          <a:ea typeface="Calibri" panose="020F0502020204030204" pitchFamily="34" charset="0"/>
                        </a:rPr>
                        <a:t>Coordinación con IAMC. </a:t>
                      </a:r>
                      <a:r>
                        <a:rPr lang="es-PE" sz="1200" dirty="0">
                          <a:solidFill>
                            <a:srgbClr val="000000"/>
                          </a:solidFill>
                          <a:effectLst/>
                          <a:latin typeface="Calibri" panose="020F0502020204030204" pitchFamily="34" charset="0"/>
                          <a:ea typeface="Calibri" panose="020F0502020204030204" pitchFamily="34" charset="0"/>
                        </a:rPr>
                        <a:t>Conformar equipo y atender oportunamente. Permitirá mejorar el control de las áreas de origen y las áreas de reclamo fondo.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321348042"/>
                  </a:ext>
                </a:extLst>
              </a:tr>
            </a:tbl>
          </a:graphicData>
        </a:graphic>
      </p:graphicFrame>
    </p:spTree>
    <p:extLst>
      <p:ext uri="{BB962C8B-B14F-4D97-AF65-F5344CB8AC3E}">
        <p14:creationId xmlns:p14="http://schemas.microsoft.com/office/powerpoint/2010/main" val="3084003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REQUERIMIENTO</a:t>
            </a:r>
            <a:r>
              <a:rPr lang="es-ES" sz="3600" b="1" dirty="0"/>
              <a:t>: </a:t>
            </a:r>
            <a:r>
              <a:rPr lang="es-ES" sz="2800" b="1" dirty="0">
                <a:latin typeface="Arial" panose="020B0604020202020204" pitchFamily="34" charset="0"/>
                <a:cs typeface="Arial" panose="020B0604020202020204" pitchFamily="34" charset="0"/>
              </a:rPr>
              <a:t>REPORTES DE GESTIÓN</a:t>
            </a:r>
            <a:endParaRPr lang="es-PE" sz="2800" b="1" dirty="0">
              <a:latin typeface="Arial" panose="020B0604020202020204" pitchFamily="34" charset="0"/>
              <a:cs typeface="Arial" panose="020B0604020202020204" pitchFamily="34" charset="0"/>
            </a:endParaRPr>
          </a:p>
        </p:txBody>
      </p:sp>
      <p:sp>
        <p:nvSpPr>
          <p:cNvPr id="8" name="CuadroTexto 7">
            <a:extLst>
              <a:ext uri="{FF2B5EF4-FFF2-40B4-BE49-F238E27FC236}">
                <a16:creationId xmlns:a16="http://schemas.microsoft.com/office/drawing/2014/main" id="{CC6DFF1E-FD88-4ACA-93F2-AF985B10E39F}"/>
              </a:ext>
            </a:extLst>
          </p:cNvPr>
          <p:cNvSpPr txBox="1"/>
          <p:nvPr/>
        </p:nvSpPr>
        <p:spPr>
          <a:xfrm>
            <a:off x="56284" y="1001498"/>
            <a:ext cx="12040466" cy="5706883"/>
          </a:xfrm>
          <a:prstGeom prst="rect">
            <a:avLst/>
          </a:prstGeom>
          <a:noFill/>
        </p:spPr>
        <p:txBody>
          <a:bodyPr wrap="square">
            <a:spAutoFit/>
          </a:bodyPr>
          <a:lstStyle/>
          <a:p>
            <a:pPr marL="342900" lvl="0" indent="-342900">
              <a:lnSpc>
                <a:spcPct val="115000"/>
              </a:lnSpc>
              <a:buFont typeface="+mj-lt"/>
              <a:buAutoNum type="arabicPeriod"/>
            </a:pPr>
            <a:r>
              <a:rPr lang="es-PE" sz="2000" dirty="0">
                <a:effectLst/>
                <a:latin typeface="Arial" panose="020B0604020202020204" pitchFamily="34" charset="0"/>
                <a:ea typeface="Calibri" panose="020F0502020204030204" pitchFamily="34" charset="0"/>
                <a:cs typeface="Arial" panose="020B0604020202020204" pitchFamily="34" charset="0"/>
              </a:rPr>
              <a:t>Reporte de gestión – NETO TLT (125) OEA (3 meses) y fictas (2 meses). BRUTO – reportado o contrastado por fondo). Reporte NETO: </a:t>
            </a:r>
            <a:r>
              <a:rPr lang="es-PE" sz="2000" dirty="0">
                <a:latin typeface="Arial" panose="020B0604020202020204" pitchFamily="34" charset="0"/>
                <a:ea typeface="Calibri" panose="020F0502020204030204" pitchFamily="34" charset="0"/>
                <a:cs typeface="Arial" panose="020B0604020202020204" pitchFamily="34" charset="0"/>
              </a:rPr>
              <a:t>F</a:t>
            </a:r>
            <a:r>
              <a:rPr lang="es-PE" sz="2000" dirty="0">
                <a:effectLst/>
                <a:latin typeface="Arial" panose="020B0604020202020204" pitchFamily="34" charset="0"/>
                <a:ea typeface="Calibri" panose="020F0502020204030204" pitchFamily="34" charset="0"/>
                <a:cs typeface="Arial" panose="020B0604020202020204" pitchFamily="34" charset="0"/>
              </a:rPr>
              <a:t>ondo y Admisibilidad. </a:t>
            </a:r>
          </a:p>
          <a:p>
            <a:pPr marL="342900" lvl="0" indent="-342900">
              <a:lnSpc>
                <a:spcPct val="115000"/>
              </a:lnSpc>
              <a:buFont typeface="+mj-lt"/>
              <a:buAutoNum type="arabicPeriod"/>
            </a:pPr>
            <a:r>
              <a:rPr lang="es-ES" sz="2000" dirty="0">
                <a:effectLst/>
                <a:latin typeface="Arial" panose="020B0604020202020204" pitchFamily="34" charset="0"/>
                <a:ea typeface="Calibri" panose="020F0502020204030204" pitchFamily="34" charset="0"/>
                <a:cs typeface="Arial" panose="020B0604020202020204" pitchFamily="34" charset="0"/>
              </a:rPr>
              <a:t>Registro de montos de los reclamos y resultado de los reclamos (infundado, fundado, nulos </a:t>
            </a:r>
            <a:r>
              <a:rPr lang="es-ES" sz="2000" dirty="0" err="1">
                <a:effectLst/>
                <a:latin typeface="Arial" panose="020B0604020202020204" pitchFamily="34" charset="0"/>
                <a:ea typeface="Calibri" panose="020F0502020204030204" pitchFamily="34" charset="0"/>
                <a:cs typeface="Arial" panose="020B0604020202020204" pitchFamily="34" charset="0"/>
              </a:rPr>
              <a:t>etc</a:t>
            </a:r>
            <a:r>
              <a:rPr lang="es-ES" sz="2000" dirty="0">
                <a:effectLst/>
                <a:latin typeface="Arial" panose="020B0604020202020204" pitchFamily="34" charset="0"/>
                <a:ea typeface="Calibri" panose="020F0502020204030204" pitchFamily="34" charset="0"/>
                <a:cs typeface="Arial" panose="020B0604020202020204" pitchFamily="34" charset="0"/>
              </a:rPr>
              <a:t>) y montos. Pendiente vinculación modulo LC. </a:t>
            </a:r>
            <a:endParaRPr lang="es-PE" sz="20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rabicPeriod"/>
            </a:pPr>
            <a:r>
              <a:rPr lang="es-ES" sz="2000" dirty="0">
                <a:effectLst/>
                <a:latin typeface="Arial" panose="020B0604020202020204" pitchFamily="34" charset="0"/>
                <a:ea typeface="Calibri" panose="020F0502020204030204" pitchFamily="34" charset="0"/>
                <a:cs typeface="Arial" panose="020B0604020202020204" pitchFamily="34" charset="0"/>
              </a:rPr>
              <a:t>Resultados de apelaciones – RTF(</a:t>
            </a:r>
            <a:r>
              <a:rPr lang="es-PE" sz="2000" dirty="0">
                <a:effectLst/>
                <a:latin typeface="Arial" panose="020B0604020202020204" pitchFamily="34" charset="0"/>
                <a:ea typeface="Calibri" panose="020F0502020204030204" pitchFamily="34" charset="0"/>
                <a:cs typeface="Arial" panose="020B0604020202020204" pitchFamily="34" charset="0"/>
              </a:rPr>
              <a:t>Dependencia /</a:t>
            </a:r>
            <a:r>
              <a:rPr lang="es-PE" sz="2000" dirty="0" err="1">
                <a:effectLst/>
                <a:latin typeface="Arial" panose="020B0604020202020204" pitchFamily="34" charset="0"/>
                <a:ea typeface="Calibri" panose="020F0502020204030204" pitchFamily="34" charset="0"/>
                <a:cs typeface="Arial" panose="020B0604020202020204" pitchFamily="34" charset="0"/>
              </a:rPr>
              <a:t>exp</a:t>
            </a:r>
            <a:r>
              <a:rPr lang="es-PE" sz="2000" dirty="0">
                <a:effectLst/>
                <a:latin typeface="Arial" panose="020B0604020202020204" pitchFamily="34" charset="0"/>
                <a:ea typeface="Calibri" panose="020F0502020204030204" pitchFamily="34" charset="0"/>
                <a:cs typeface="Arial" panose="020B0604020202020204" pitchFamily="34" charset="0"/>
              </a:rPr>
              <a:t>. /fecha de ingreso/ usuario/resolución vinculada/ </a:t>
            </a:r>
            <a:r>
              <a:rPr lang="es-ES" sz="2000" dirty="0">
                <a:effectLst/>
                <a:latin typeface="Arial" panose="020B0604020202020204" pitchFamily="34" charset="0"/>
                <a:ea typeface="Calibri" panose="020F0502020204030204" pitchFamily="34" charset="0"/>
                <a:cs typeface="Arial" panose="020B0604020202020204" pitchFamily="34" charset="0"/>
              </a:rPr>
              <a:t>materia /DAM vinculada/Liquidación de Cobranza - montos). </a:t>
            </a:r>
            <a:r>
              <a:rPr lang="es-ES" sz="2000" dirty="0">
                <a:latin typeface="Arial" panose="020B0604020202020204" pitchFamily="34" charset="0"/>
                <a:ea typeface="Calibri" panose="020F0502020204030204" pitchFamily="34" charset="0"/>
                <a:cs typeface="Arial" panose="020B0604020202020204" pitchFamily="34" charset="0"/>
              </a:rPr>
              <a:t>Pendiente </a:t>
            </a:r>
            <a:r>
              <a:rPr lang="es-ES" sz="2000" dirty="0">
                <a:effectLst/>
                <a:latin typeface="Arial" panose="020B0604020202020204" pitchFamily="34" charset="0"/>
                <a:ea typeface="Calibri" panose="020F0502020204030204" pitchFamily="34" charset="0"/>
                <a:cs typeface="Arial" panose="020B0604020202020204" pitchFamily="34" charset="0"/>
              </a:rPr>
              <a:t>informe (periodicidad).</a:t>
            </a:r>
            <a:endParaRPr lang="es-PE" sz="20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rabicPeriod"/>
            </a:pPr>
            <a:r>
              <a:rPr lang="es-PE" sz="2000" dirty="0">
                <a:effectLst/>
                <a:latin typeface="Arial" panose="020B0604020202020204" pitchFamily="34" charset="0"/>
                <a:ea typeface="Calibri" panose="020F0502020204030204" pitchFamily="34" charset="0"/>
                <a:cs typeface="Arial" panose="020B0604020202020204" pitchFamily="34" charset="0"/>
              </a:rPr>
              <a:t>SIGERI</a:t>
            </a:r>
          </a:p>
          <a:p>
            <a:pPr marL="342900" lvl="0" indent="-342900">
              <a:lnSpc>
                <a:spcPct val="115000"/>
              </a:lnSpc>
              <a:buFont typeface="Arial" panose="020B0604020202020204" pitchFamily="34" charset="0"/>
              <a:buChar char="•"/>
            </a:pPr>
            <a:r>
              <a:rPr lang="es-PE" sz="2000" b="1" dirty="0">
                <a:effectLst/>
                <a:latin typeface="Arial" panose="020B0604020202020204" pitchFamily="34" charset="0"/>
                <a:ea typeface="Calibri" panose="020F0502020204030204" pitchFamily="34" charset="0"/>
                <a:cs typeface="Arial" panose="020B0604020202020204" pitchFamily="34" charset="0"/>
              </a:rPr>
              <a:t>Vinculaciones</a:t>
            </a:r>
            <a:r>
              <a:rPr lang="es-PE" sz="2000" dirty="0">
                <a:effectLst/>
                <a:latin typeface="Arial" panose="020B0604020202020204" pitchFamily="34" charset="0"/>
                <a:ea typeface="Calibri" panose="020F0502020204030204" pitchFamily="34" charset="0"/>
                <a:cs typeface="Arial" panose="020B0604020202020204" pitchFamily="34" charset="0"/>
              </a:rPr>
              <a:t>: </a:t>
            </a:r>
            <a:r>
              <a:rPr lang="es-PE" sz="2000" dirty="0">
                <a:latin typeface="Arial" panose="020B0604020202020204" pitchFamily="34" charset="0"/>
                <a:ea typeface="Calibri" panose="020F0502020204030204" pitchFamily="34" charset="0"/>
                <a:cs typeface="Arial" panose="020B0604020202020204" pitchFamily="34" charset="0"/>
              </a:rPr>
              <a:t>no actualiza el resultado de reclamo en el módulo de LC – DCCII.</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Distribución</a:t>
            </a:r>
            <a:r>
              <a:rPr lang="es-PE" sz="2000" dirty="0">
                <a:latin typeface="Arial" panose="020B0604020202020204" pitchFamily="34" charset="0"/>
                <a:ea typeface="Calibri" panose="020F0502020204030204" pitchFamily="34" charset="0"/>
                <a:cs typeface="Arial" panose="020B0604020202020204" pitchFamily="34" charset="0"/>
              </a:rPr>
              <a:t>. Copia a las </a:t>
            </a:r>
            <a:r>
              <a:rPr lang="es-PE" sz="2000" dirty="0">
                <a:latin typeface="Arial" panose="020B0604020202020204" pitchFamily="34" charset="0"/>
                <a:cs typeface="Arial" panose="020B0604020202020204" pitchFamily="34" charset="0"/>
              </a:rPr>
              <a:t>partes involucradas cuando ha sido revertido, admisibilidad errada, baja de expedientes y no permite derivar a las áreas generadoras (control manual). </a:t>
            </a:r>
          </a:p>
          <a:p>
            <a:pPr marL="342900" lvl="0" indent="-342900">
              <a:lnSpc>
                <a:spcPct val="115000"/>
              </a:lnSpc>
              <a:buFont typeface="Arial" panose="020B0604020202020204" pitchFamily="34" charset="0"/>
              <a:buChar char="•"/>
            </a:pPr>
            <a:r>
              <a:rPr lang="es-PE" sz="2000" b="1" dirty="0">
                <a:effectLst/>
                <a:latin typeface="Arial" panose="020B0604020202020204" pitchFamily="34" charset="0"/>
                <a:ea typeface="Calibri" panose="020F0502020204030204" pitchFamily="34" charset="0"/>
                <a:cs typeface="Arial" panose="020B0604020202020204" pitchFamily="34" charset="0"/>
              </a:rPr>
              <a:t>Reportes</a:t>
            </a:r>
            <a:r>
              <a:rPr lang="es-PE" sz="2000" dirty="0">
                <a:effectLst/>
                <a:latin typeface="Arial" panose="020B0604020202020204" pitchFamily="34" charset="0"/>
                <a:ea typeface="Calibri" panose="020F0502020204030204" pitchFamily="34" charset="0"/>
                <a:cs typeface="Arial" panose="020B0604020202020204" pitchFamily="34" charset="0"/>
              </a:rPr>
              <a:t>: inconsistencia entre reporte de consulta y el reporte manual.</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Acumulación</a:t>
            </a:r>
            <a:r>
              <a:rPr lang="es-PE" sz="2000" dirty="0">
                <a:latin typeface="Arial" panose="020B0604020202020204" pitchFamily="34" charset="0"/>
                <a:ea typeface="Calibri" panose="020F0502020204030204" pitchFamily="34" charset="0"/>
                <a:cs typeface="Arial" panose="020B0604020202020204" pitchFamily="34" charset="0"/>
              </a:rPr>
              <a:t>: no te permite acumular expedientes de reclamo. IMPLEMENTADO.</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Alertas</a:t>
            </a:r>
            <a:r>
              <a:rPr lang="es-PE" sz="2000" dirty="0">
                <a:latin typeface="Arial" panose="020B0604020202020204" pitchFamily="34" charset="0"/>
                <a:ea typeface="Calibri" panose="020F0502020204030204" pitchFamily="34" charset="0"/>
                <a:cs typeface="Arial" panose="020B0604020202020204" pitchFamily="34" charset="0"/>
              </a:rPr>
              <a:t>: requerimientos pendiente cuando ya están atendidos y se solicita alerta de reporte de vencimiento de expedientes a cada resolutor. IMPLEMENTADO CON ERROR (resolvió y sigue)</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Estandarización</a:t>
            </a:r>
            <a:r>
              <a:rPr lang="es-PE" sz="2000" dirty="0">
                <a:latin typeface="Arial" panose="020B0604020202020204" pitchFamily="34" charset="0"/>
                <a:ea typeface="Calibri" panose="020F0502020204030204" pitchFamily="34" charset="0"/>
                <a:cs typeface="Arial" panose="020B0604020202020204" pitchFamily="34" charset="0"/>
              </a:rPr>
              <a:t> de carga de </a:t>
            </a:r>
            <a:r>
              <a:rPr lang="es-PE" sz="2000" dirty="0">
                <a:effectLst/>
                <a:latin typeface="Arial" panose="020B0604020202020204" pitchFamily="34" charset="0"/>
                <a:ea typeface="Calibri" panose="020F0502020204030204" pitchFamily="34" charset="0"/>
                <a:cs typeface="Arial" panose="020B0604020202020204" pitchFamily="34" charset="0"/>
              </a:rPr>
              <a:t>documentos digitalizados.</a:t>
            </a:r>
          </a:p>
          <a:p>
            <a:pPr lvl="0">
              <a:lnSpc>
                <a:spcPct val="107000"/>
              </a:lnSpc>
              <a:spcAft>
                <a:spcPts val="800"/>
              </a:spcAft>
            </a:pPr>
            <a:endParaRPr lang="es-PE"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4284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1106401" y="3287432"/>
            <a:ext cx="10515600" cy="636373"/>
          </a:xfrm>
        </p:spPr>
        <p:txBody>
          <a:bodyPr>
            <a:noAutofit/>
          </a:bodyPr>
          <a:lstStyle/>
          <a:p>
            <a:pPr algn="ctr"/>
            <a:r>
              <a:rPr lang="es-ES" sz="3800" b="1" dirty="0">
                <a:latin typeface="Arial" panose="020B0604020202020204" pitchFamily="34" charset="0"/>
                <a:cs typeface="Arial" panose="020B0604020202020204" pitchFamily="34" charset="0"/>
              </a:rPr>
              <a:t>GRACIAS </a:t>
            </a:r>
            <a:endParaRPr lang="es-PE" sz="3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11775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863A6AE8B7E4A2449C903AFD2456BD74" ma:contentTypeVersion="4" ma:contentTypeDescription="Crear nuevo documento." ma:contentTypeScope="" ma:versionID="ddec260070336827ee8c328f02272273">
  <xsd:schema xmlns:xsd="http://www.w3.org/2001/XMLSchema" xmlns:xs="http://www.w3.org/2001/XMLSchema" xmlns:p="http://schemas.microsoft.com/office/2006/metadata/properties" xmlns:ns2="c4795172-acc8-41fc-abdb-af5ed44f61af" targetNamespace="http://schemas.microsoft.com/office/2006/metadata/properties" ma:root="true" ma:fieldsID="590a657cbc5fcb450edb0ba38c295f5b" ns2:_="">
    <xsd:import namespace="c4795172-acc8-41fc-abdb-af5ed44f61a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795172-acc8-41fc-abdb-af5ed44f61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D4B9B20-CFD9-49A7-8CE1-B8CE3866419A}"/>
</file>

<file path=customXml/itemProps2.xml><?xml version="1.0" encoding="utf-8"?>
<ds:datastoreItem xmlns:ds="http://schemas.openxmlformats.org/officeDocument/2006/customXml" ds:itemID="{B022D5F9-3D72-4A08-8886-34BCF51BBA7F}"/>
</file>

<file path=customXml/itemProps3.xml><?xml version="1.0" encoding="utf-8"?>
<ds:datastoreItem xmlns:ds="http://schemas.openxmlformats.org/officeDocument/2006/customXml" ds:itemID="{8F8338DE-D776-4FBA-BC1E-5BDAFB0F229A}"/>
</file>

<file path=docProps/app.xml><?xml version="1.0" encoding="utf-8"?>
<Properties xmlns="http://schemas.openxmlformats.org/officeDocument/2006/extended-properties" xmlns:vt="http://schemas.openxmlformats.org/officeDocument/2006/docPropsVTypes">
  <TotalTime>24508</TotalTime>
  <Words>4313</Words>
  <Application>Microsoft Office PowerPoint</Application>
  <PresentationFormat>Panorámica</PresentationFormat>
  <Paragraphs>1628</Paragraphs>
  <Slides>24</Slides>
  <Notes>24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24</vt:i4>
      </vt:variant>
    </vt:vector>
  </HeadingPairs>
  <TitlesOfParts>
    <vt:vector size="29" baseType="lpstr">
      <vt:lpstr>Arial</vt:lpstr>
      <vt:lpstr>Calibri</vt:lpstr>
      <vt:lpstr>Calibri Light</vt:lpstr>
      <vt:lpstr>Times New Roman</vt:lpstr>
      <vt:lpstr>Tema de Office</vt:lpstr>
      <vt:lpstr>Presentación de PowerPoint</vt:lpstr>
      <vt:lpstr>INGRESOS Y SALIDAS DE RECLAMACIONES 2019-2024*</vt:lpstr>
      <vt:lpstr>STOCK DE DOCUMENTOS– 2024</vt:lpstr>
      <vt:lpstr>PRODUCTIVIDAD RECLAMOS – 2022 - 2024</vt:lpstr>
      <vt:lpstr>PRODUCTIVIDAD MARZO 2024</vt:lpstr>
      <vt:lpstr>PROGRAMACIÓN Y PRODUCCIÓN–2023-2024</vt:lpstr>
      <vt:lpstr>PRODUCTIVIDAD POR SUPERVISIÓN</vt:lpstr>
      <vt:lpstr>PROYECTADO Y NO APLICADO </vt:lpstr>
      <vt:lpstr>PRODUCCIÓN POR RESOLUTOR-DCCI</vt:lpstr>
      <vt:lpstr>PRODUCCIÓN POR RESOLUTOR-DCCII</vt:lpstr>
      <vt:lpstr>PRODUCCIÓN POR RESOLUTOR-DCP</vt:lpstr>
      <vt:lpstr>STOCK VENCIDOS</vt:lpstr>
      <vt:lpstr>NO GESTIONABLE Y REINGRESADOS </vt:lpstr>
      <vt:lpstr>ITOP REPORTADOS–2023</vt:lpstr>
      <vt:lpstr>RESULTADOS DE RECLAMO - 2024 </vt:lpstr>
      <vt:lpstr>SUMILLAS DE NULIDADES DECLARADAS POR LA GAFA-DCCI</vt:lpstr>
      <vt:lpstr>SUMILLAS DE NULIDADES DECLARADAS POR LA GAFA-DCCI</vt:lpstr>
      <vt:lpstr>SUMILLAS DE NULIDADES DECLARADAS POR LA GAFA-DCCII</vt:lpstr>
      <vt:lpstr>SUMILLAS DE NULIDADES DECLARADAS POR LA GAFA-DCP</vt:lpstr>
      <vt:lpstr>OPORTUNIDAD DE MEJORA </vt:lpstr>
      <vt:lpstr>OPORTUNIDAD DE MEJORA </vt:lpstr>
      <vt:lpstr>DESAFIOS/PROPUESTAS </vt:lpstr>
      <vt:lpstr>REQUERIMIENTO: REPORTES DE GESTIÓN</vt:lpstr>
      <vt:lpstr>GRACIAS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Rondon Malaga Johanna Karelle</dc:creator>
  <cp:lastModifiedBy>Gonzales Estrada Sara Stephany</cp:lastModifiedBy>
  <cp:revision>600</cp:revision>
  <cp:lastPrinted>2023-01-10T23:55:26Z</cp:lastPrinted>
  <dcterms:created xsi:type="dcterms:W3CDTF">2022-11-02T14:55:38Z</dcterms:created>
  <dcterms:modified xsi:type="dcterms:W3CDTF">2024-05-22T15:18:16Z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0x010100863A6AE8B7E4A2449C903AFD2456BD74</vt:lpwstr>
  </property>
</Properties>
</file>