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diagrams/data1.xml" ContentType="application/vnd.openxmlformats-officedocument.drawingml.diagramData+xml"/>
  <Override PartName="/ppt/presentation.xml" ContentType="application/vnd.openxmlformats-officedocument.presentationml.presentation.main+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charts/chart3.xml" ContentType="application/vnd.openxmlformats-officedocument.drawingml.chart+xml"/>
  <Override PartName="/ppt/theme/themeOverride2.xml" ContentType="application/vnd.openxmlformats-officedocument.themeOverrid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theme/themeOverride1.xml" ContentType="application/vnd.openxmlformats-officedocument.themeOverride+xml"/>
  <Override PartName="/ppt/charts/colors1.xml" ContentType="application/vnd.ms-office.chartcolorstyle+xml"/>
  <Override PartName="/ppt/charts/style1.xml" ContentType="application/vnd.ms-office.chartstyle+xml"/>
  <Override PartName="/ppt/charts/chart1.xml" ContentType="application/vnd.openxmlformats-officedocument.drawingml.chart+xml"/>
  <Override PartName="/ppt/theme/theme2.xml" ContentType="application/vnd.openxmlformats-officedocument.theme+xml"/>
  <Override PartName="/ppt/theme/themeOverride3.xml" ContentType="application/vnd.openxmlformats-officedocument.themeOverride+xml"/>
  <Override PartName="/ppt/theme/theme1.xml" ContentType="application/vnd.openxmlformats-officedocument.theme+xml"/>
  <Override PartName="/ppt/notesMasters/notesMaster1.xml" ContentType="application/vnd.openxmlformats-officedocument.presentationml.notesMaster+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olors3.xml" ContentType="application/vnd.ms-office.chartcolorstyle+xml"/>
  <Override PartName="/ppt/charts/style3.xml" ContentType="application/vnd.ms-office.chartstyl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744" r:id="rId2"/>
    <p:sldId id="5395" r:id="rId3"/>
    <p:sldId id="5762" r:id="rId4"/>
    <p:sldId id="5746" r:id="rId5"/>
    <p:sldId id="5782" r:id="rId6"/>
    <p:sldId id="5761" r:id="rId7"/>
    <p:sldId id="5777" r:id="rId8"/>
    <p:sldId id="5778" r:id="rId9"/>
    <p:sldId id="5787" r:id="rId10"/>
    <p:sldId id="5785" r:id="rId11"/>
    <p:sldId id="5786" r:id="rId12"/>
    <p:sldId id="5764" r:id="rId13"/>
    <p:sldId id="5774" r:id="rId14"/>
    <p:sldId id="5780" r:id="rId15"/>
    <p:sldId id="5788" r:id="rId16"/>
    <p:sldId id="5790" r:id="rId17"/>
    <p:sldId id="5789" r:id="rId18"/>
    <p:sldId id="5784" r:id="rId19"/>
    <p:sldId id="5792" r:id="rId20"/>
    <p:sldId id="5767" r:id="rId21"/>
    <p:sldId id="5752" r:id="rId22"/>
    <p:sldId id="5757" r:id="rId23"/>
    <p:sldId id="5793" r:id="rId24"/>
  </p:sldIdLst>
  <p:sldSz cx="12192000" cy="6858000"/>
  <p:notesSz cx="6797675" cy="9926638"/>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66FF"/>
    <a:srgbClr val="CCFF99"/>
    <a:srgbClr val="CCFFCC"/>
    <a:srgbClr val="99CC00"/>
    <a:srgbClr val="2FBF85"/>
    <a:srgbClr val="FFCCFF"/>
    <a:srgbClr val="FFCCCC"/>
    <a:srgbClr val="99FFCC"/>
    <a:srgbClr val="586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67" d="100"/>
          <a:sy n="67" d="100"/>
        </p:scale>
        <p:origin x="6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r>
              <a:rPr lang="es-ES" b="1"/>
              <a:t>EVOLUCION DE INGRESOS Y SALIDAS EXPEDIENTES DE RECLAMO 2019-2024*</a:t>
            </a:r>
            <a:endParaRPr lang="es-PE" b="1"/>
          </a:p>
        </c:rich>
      </c:tx>
      <c:overlay val="0"/>
      <c:spPr>
        <a:noFill/>
        <a:ln>
          <a:noFill/>
        </a:ln>
        <a:effectLst/>
      </c:spPr>
      <c:txPr>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tx>
            <c:v>INGRESOS</c:v>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SALIDAS'!$B$4:$G$4</c:f>
              <c:numCache>
                <c:formatCode>#,##0</c:formatCode>
                <c:ptCount val="6"/>
                <c:pt idx="0">
                  <c:v>4409</c:v>
                </c:pt>
                <c:pt idx="1">
                  <c:v>3249</c:v>
                </c:pt>
                <c:pt idx="2">
                  <c:v>5860</c:v>
                </c:pt>
                <c:pt idx="3">
                  <c:v>5970</c:v>
                </c:pt>
                <c:pt idx="4">
                  <c:v>4678</c:v>
                </c:pt>
                <c:pt idx="5">
                  <c:v>1206</c:v>
                </c:pt>
              </c:numCache>
            </c:numRef>
          </c:val>
          <c:extLst>
            <c:ext xmlns:c16="http://schemas.microsoft.com/office/drawing/2014/chart" uri="{C3380CC4-5D6E-409C-BE32-E72D297353CC}">
              <c16:uniqueId val="{00000000-C8F4-4155-9220-8B88C1197F0D}"/>
            </c:ext>
          </c:extLst>
        </c:ser>
        <c:ser>
          <c:idx val="1"/>
          <c:order val="1"/>
          <c:tx>
            <c:v>SALIDAS</c:v>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SALIDAS'!$B$5:$G$5</c:f>
              <c:numCache>
                <c:formatCode>#,##0</c:formatCode>
                <c:ptCount val="6"/>
                <c:pt idx="0">
                  <c:v>3435</c:v>
                </c:pt>
                <c:pt idx="1">
                  <c:v>2981</c:v>
                </c:pt>
                <c:pt idx="2">
                  <c:v>3455</c:v>
                </c:pt>
                <c:pt idx="3">
                  <c:v>5581</c:v>
                </c:pt>
                <c:pt idx="4">
                  <c:v>6248</c:v>
                </c:pt>
                <c:pt idx="5">
                  <c:v>1318</c:v>
                </c:pt>
              </c:numCache>
            </c:numRef>
          </c:val>
          <c:extLst>
            <c:ext xmlns:c16="http://schemas.microsoft.com/office/drawing/2014/chart" uri="{C3380CC4-5D6E-409C-BE32-E72D297353CC}">
              <c16:uniqueId val="{00000001-C8F4-4155-9220-8B88C1197F0D}"/>
            </c:ext>
          </c:extLst>
        </c:ser>
        <c:dLbls>
          <c:dLblPos val="outEnd"/>
          <c:showLegendKey val="0"/>
          <c:showVal val="1"/>
          <c:showCatName val="0"/>
          <c:showSerName val="0"/>
          <c:showPercent val="0"/>
          <c:showBubbleSize val="0"/>
        </c:dLbls>
        <c:gapWidth val="219"/>
        <c:overlap val="-27"/>
        <c:axId val="2117999904"/>
        <c:axId val="2117996576"/>
      </c:barChart>
      <c:catAx>
        <c:axId val="211799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2117996576"/>
        <c:crosses val="autoZero"/>
        <c:auto val="1"/>
        <c:lblAlgn val="ctr"/>
        <c:lblOffset val="100"/>
        <c:noMultiLvlLbl val="0"/>
      </c:catAx>
      <c:valAx>
        <c:axId val="2117996576"/>
        <c:scaling>
          <c:orientation val="minMax"/>
        </c:scaling>
        <c:delete val="0"/>
        <c:axPos val="l"/>
        <c:majorGridlines>
          <c:spPr>
            <a:ln w="6350" cap="flat" cmpd="sng" algn="ctr">
              <a:solidFill>
                <a:srgbClr val="ED7D31"/>
              </a:solidFill>
              <a:prstDash val="solid"/>
              <a:miter lim="800000"/>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2117999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legend>
    <c:plotVisOnly val="1"/>
    <c:dispBlanksAs val="gap"/>
    <c:showDLblsOverMax val="0"/>
  </c:chart>
  <c:spPr>
    <a:solidFill>
      <a:sysClr val="window" lastClr="FFFFFF"/>
    </a:solidFill>
    <a:ln w="12700" cap="flat" cmpd="sng" algn="ctr">
      <a:solidFill>
        <a:srgbClr val="ED7D31"/>
      </a:solidFill>
      <a:prstDash val="solid"/>
      <a:miter lim="800000"/>
    </a:ln>
    <a:effectLst/>
  </c:spPr>
  <c:txPr>
    <a:bodyPr/>
    <a:lstStyle/>
    <a:p>
      <a:pPr>
        <a:defRPr sz="1200">
          <a:solidFill>
            <a:sysClr val="windowText" lastClr="000000"/>
          </a:solidFill>
          <a:latin typeface="+mn-lt"/>
          <a:ea typeface="+mn-ea"/>
          <a:cs typeface="+mn-cs"/>
        </a:defRPr>
      </a:pPr>
      <a:endParaRPr lang="es-P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r>
              <a:rPr lang="es-PE" b="1"/>
              <a:t>Resultados de Reclamos de Aduanas</a:t>
            </a:r>
          </a:p>
          <a:p>
            <a:pPr>
              <a:defRPr b="1"/>
            </a:pPr>
            <a:r>
              <a:rPr lang="es-PE" b="1"/>
              <a:t>Ene-Dic 2023</a:t>
            </a:r>
          </a:p>
        </c:rich>
      </c:tx>
      <c:layout>
        <c:manualLayout>
          <c:xMode val="edge"/>
          <c:yMode val="edge"/>
          <c:x val="0.35653306494582915"/>
          <c:y val="3.7888351669385606E-3"/>
        </c:manualLayout>
      </c:layout>
      <c:overlay val="0"/>
      <c:spPr>
        <a:noFill/>
        <a:ln>
          <a:noFill/>
        </a:ln>
        <a:effectLst/>
      </c:spPr>
      <c:txPr>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2">
                <a:lumMod val="60000"/>
                <a:lumOff val="40000"/>
              </a:schemeClr>
            </a:solidFill>
            <a:ln>
              <a:noFill/>
            </a:ln>
            <a:effectLst/>
          </c:spPr>
          <c:invertIfNegative val="0"/>
          <c:dPt>
            <c:idx val="6"/>
            <c:invertIfNegative val="0"/>
            <c:bubble3D val="0"/>
            <c:spPr>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a:ln w="6350" cap="flat" cmpd="sng" algn="ctr">
                <a:solidFill>
                  <a:schemeClr val="accent6"/>
                </a:solidFill>
                <a:prstDash val="solid"/>
                <a:miter lim="800000"/>
              </a:ln>
              <a:effectLst/>
            </c:spPr>
            <c:extLst>
              <c:ext xmlns:c16="http://schemas.microsoft.com/office/drawing/2014/chart" uri="{C3380CC4-5D6E-409C-BE32-E72D297353CC}">
                <c16:uniqueId val="{00000001-3CCD-453E-ABA9-FF0DB7543258}"/>
              </c:ext>
            </c:extLst>
          </c:dPt>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'RECLAMOS-RTF'!$B$5:$B$11</c:f>
              <c:numCache>
                <c:formatCode>General</c:formatCode>
                <c:ptCount val="7"/>
                <c:pt idx="0">
                  <c:v>4740</c:v>
                </c:pt>
                <c:pt idx="1">
                  <c:v>211</c:v>
                </c:pt>
                <c:pt idx="2">
                  <c:v>404</c:v>
                </c:pt>
                <c:pt idx="3">
                  <c:v>8</c:v>
                </c:pt>
                <c:pt idx="4">
                  <c:v>4</c:v>
                </c:pt>
                <c:pt idx="5">
                  <c:v>66</c:v>
                </c:pt>
                <c:pt idx="6">
                  <c:v>5433</c:v>
                </c:pt>
              </c:numCache>
            </c:numRef>
          </c:val>
          <c:extLst>
            <c:ext xmlns:c16="http://schemas.microsoft.com/office/drawing/2014/chart" uri="{C3380CC4-5D6E-409C-BE32-E72D297353CC}">
              <c16:uniqueId val="{00000002-3CCD-453E-ABA9-FF0DB7543258}"/>
            </c:ext>
          </c:extLst>
        </c:ser>
        <c:ser>
          <c:idx val="1"/>
          <c:order val="1"/>
          <c:spPr>
            <a:solidFill>
              <a:schemeClr val="accent2"/>
            </a:solidFill>
            <a:ln>
              <a:noFill/>
            </a:ln>
            <a:effectLst/>
          </c:spPr>
          <c:invertIfNegative val="0"/>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'RECLAMOS-RTF'!$C$5:$C$11</c:f>
              <c:numCache>
                <c:formatCode>0.00%</c:formatCode>
                <c:ptCount val="7"/>
                <c:pt idx="0">
                  <c:v>0.87244616234124794</c:v>
                </c:pt>
                <c:pt idx="1">
                  <c:v>3.8836738450211669E-2</c:v>
                </c:pt>
                <c:pt idx="2">
                  <c:v>7.4360390207988222E-2</c:v>
                </c:pt>
                <c:pt idx="3">
                  <c:v>1.4724829744156083E-3</c:v>
                </c:pt>
                <c:pt idx="4">
                  <c:v>7.3624148720780416E-4</c:v>
                </c:pt>
                <c:pt idx="5">
                  <c:v>1.2147984538928768E-2</c:v>
                </c:pt>
                <c:pt idx="6">
                  <c:v>1</c:v>
                </c:pt>
              </c:numCache>
            </c:numRef>
          </c:val>
          <c:extLst>
            <c:ext xmlns:c16="http://schemas.microsoft.com/office/drawing/2014/chart" uri="{C3380CC4-5D6E-409C-BE32-E72D297353CC}">
              <c16:uniqueId val="{00000003-3CCD-453E-ABA9-FF0DB7543258}"/>
            </c:ext>
          </c:extLst>
        </c:ser>
        <c:dLbls>
          <c:showLegendKey val="0"/>
          <c:showVal val="0"/>
          <c:showCatName val="0"/>
          <c:showSerName val="0"/>
          <c:showPercent val="0"/>
          <c:showBubbleSize val="0"/>
        </c:dLbls>
        <c:gapWidth val="150"/>
        <c:axId val="1422598640"/>
        <c:axId val="1422580752"/>
      </c:barChart>
      <c:catAx>
        <c:axId val="142259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80752"/>
        <c:crosses val="autoZero"/>
        <c:auto val="1"/>
        <c:lblAlgn val="ctr"/>
        <c:lblOffset val="100"/>
        <c:noMultiLvlLbl val="0"/>
      </c:catAx>
      <c:valAx>
        <c:axId val="1422580752"/>
        <c:scaling>
          <c:orientation val="minMax"/>
        </c:scaling>
        <c:delete val="0"/>
        <c:axPos val="l"/>
        <c:majorGridlines>
          <c:spPr>
            <a:ln w="6350" cap="flat" cmpd="sng" algn="ctr">
              <a:solidFill>
                <a:schemeClr val="accent2"/>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98640"/>
        <c:crosses val="autoZero"/>
        <c:crossBetween val="between"/>
      </c:valAx>
      <c:dTable>
        <c:showHorzBorder val="1"/>
        <c:showVertBorder val="1"/>
        <c:showOutline val="1"/>
        <c:showKeys val="1"/>
        <c:spPr>
          <a:noFill/>
          <a:ln w="6350" cap="flat" cmpd="sng" algn="ctr">
            <a:solidFill>
              <a:srgbClr val="ED7D31"/>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sz="1400">
          <a:solidFill>
            <a:schemeClr val="dk1"/>
          </a:solidFill>
          <a:latin typeface="+mn-lt"/>
          <a:ea typeface="+mn-ea"/>
          <a:cs typeface="+mn-cs"/>
        </a:defRPr>
      </a:pPr>
      <a:endParaRPr lang="es-PE"/>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1" i="0" u="none" strike="noStrike" kern="1200" spc="0" baseline="0">
                <a:solidFill>
                  <a:sysClr val="windowText" lastClr="000000"/>
                </a:solidFill>
                <a:latin typeface="+mn-lt"/>
                <a:ea typeface="+mn-ea"/>
                <a:cs typeface="+mn-cs"/>
              </a:defRPr>
            </a:pPr>
            <a:r>
              <a:rPr lang="es-PE"/>
              <a:t>Resultados de Reclamos de Aduanas</a:t>
            </a:r>
          </a:p>
          <a:p>
            <a:pPr>
              <a:defRPr/>
            </a:pPr>
            <a:r>
              <a:rPr lang="es-PE"/>
              <a:t>Ene-May 2024</a:t>
            </a:r>
          </a:p>
        </c:rich>
      </c:tx>
      <c:overlay val="0"/>
      <c:spPr>
        <a:noFill/>
        <a:ln>
          <a:noFill/>
        </a:ln>
        <a:effectLst/>
      </c:spPr>
      <c:txPr>
        <a:bodyPr rot="0" spcFirstLastPara="1" vertOverflow="ellipsis" vert="horz" wrap="square" anchor="ctr" anchorCtr="1"/>
        <a:lstStyle/>
        <a:p>
          <a:pPr>
            <a:defRPr sz="132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6"/>
            </a:solidFill>
            <a:ln w="19050" cap="flat" cmpd="sng" algn="ctr">
              <a:solidFill>
                <a:schemeClr val="lt1"/>
              </a:solidFill>
              <a:prstDash val="solid"/>
              <a:miter lim="800000"/>
            </a:ln>
            <a:effectLst/>
            <a:scene3d>
              <a:camera prst="orthographicFront"/>
              <a:lightRig rig="threePt" dir="t"/>
            </a:scene3d>
            <a:sp3d prstMaterial="matte"/>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RESULTADOS!$D$23:$D$29</c:f>
              <c:numCache>
                <c:formatCode>General</c:formatCode>
                <c:ptCount val="7"/>
                <c:pt idx="0">
                  <c:v>1606</c:v>
                </c:pt>
                <c:pt idx="1">
                  <c:v>56</c:v>
                </c:pt>
                <c:pt idx="2">
                  <c:v>133</c:v>
                </c:pt>
                <c:pt idx="3">
                  <c:v>2</c:v>
                </c:pt>
                <c:pt idx="4">
                  <c:v>1</c:v>
                </c:pt>
                <c:pt idx="5">
                  <c:v>22</c:v>
                </c:pt>
                <c:pt idx="6">
                  <c:v>1820</c:v>
                </c:pt>
              </c:numCache>
            </c:numRef>
          </c:val>
          <c:extLst>
            <c:ext xmlns:c16="http://schemas.microsoft.com/office/drawing/2014/chart" uri="{C3380CC4-5D6E-409C-BE32-E72D297353CC}">
              <c16:uniqueId val="{00000000-8A4C-429C-96F8-9989B62E9A9A}"/>
            </c:ext>
          </c:extLst>
        </c:ser>
        <c:ser>
          <c:idx val="1"/>
          <c:order val="1"/>
          <c:spPr>
            <a:solidFill>
              <a:schemeClr val="accent5"/>
            </a:solidFill>
            <a:ln>
              <a:noFill/>
            </a:ln>
            <a:effectLst/>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RESULTADOS!$E$23:$E$29</c:f>
              <c:numCache>
                <c:formatCode>0.00%</c:formatCode>
                <c:ptCount val="7"/>
                <c:pt idx="0">
                  <c:v>0.88241758241758239</c:v>
                </c:pt>
                <c:pt idx="1">
                  <c:v>3.0769230769230771E-2</c:v>
                </c:pt>
                <c:pt idx="2">
                  <c:v>7.3076923076923081E-2</c:v>
                </c:pt>
                <c:pt idx="3">
                  <c:v>1.0989010989010989E-3</c:v>
                </c:pt>
                <c:pt idx="4">
                  <c:v>5.4945054945054945E-4</c:v>
                </c:pt>
                <c:pt idx="5">
                  <c:v>1.2087912087912088E-2</c:v>
                </c:pt>
                <c:pt idx="6">
                  <c:v>1</c:v>
                </c:pt>
              </c:numCache>
            </c:numRef>
          </c:val>
          <c:extLst>
            <c:ext xmlns:c16="http://schemas.microsoft.com/office/drawing/2014/chart" uri="{C3380CC4-5D6E-409C-BE32-E72D297353CC}">
              <c16:uniqueId val="{00000001-8A4C-429C-96F8-9989B62E9A9A}"/>
            </c:ext>
          </c:extLst>
        </c:ser>
        <c:dLbls>
          <c:showLegendKey val="0"/>
          <c:showVal val="0"/>
          <c:showCatName val="0"/>
          <c:showSerName val="0"/>
          <c:showPercent val="0"/>
          <c:showBubbleSize val="0"/>
        </c:dLbls>
        <c:gapWidth val="150"/>
        <c:axId val="592604288"/>
        <c:axId val="592581824"/>
      </c:barChart>
      <c:catAx>
        <c:axId val="5926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s-PE"/>
          </a:p>
        </c:txPr>
        <c:crossAx val="592581824"/>
        <c:crosses val="autoZero"/>
        <c:auto val="1"/>
        <c:lblAlgn val="ctr"/>
        <c:lblOffset val="100"/>
        <c:noMultiLvlLbl val="0"/>
      </c:catAx>
      <c:valAx>
        <c:axId val="592581824"/>
        <c:scaling>
          <c:orientation val="minMax"/>
        </c:scaling>
        <c:delete val="0"/>
        <c:axPos val="l"/>
        <c:majorGridlines>
          <c:spPr>
            <a:ln w="6350" cap="flat" cmpd="sng" algn="ctr">
              <a:solidFill>
                <a:schemeClr val="accent6"/>
              </a:solidFill>
              <a:prstDash val="solid"/>
              <a:miter lim="800000"/>
            </a:ln>
            <a:effectLst/>
          </c:spPr>
        </c:majorGridlines>
        <c:title>
          <c:tx>
            <c:rich>
              <a:bodyPr rot="-54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s-PE"/>
          </a:p>
        </c:txPr>
        <c:crossAx val="592604288"/>
        <c:crosses val="autoZero"/>
        <c:crossBetween val="between"/>
      </c:valAx>
      <c:dTable>
        <c:showHorzBorder val="1"/>
        <c:showVertBorder val="1"/>
        <c:showOutline val="1"/>
        <c:showKeys val="1"/>
        <c:spPr>
          <a:noFill/>
          <a:ln w="6350" cap="flat" cmpd="sng" algn="ctr">
            <a:solidFill>
              <a:schemeClr val="accent6"/>
            </a:solidFill>
            <a:prstDash val="solid"/>
            <a:miter lim="800000"/>
          </a:ln>
          <a:effectLst/>
        </c:spPr>
        <c:txPr>
          <a:bodyPr rot="0" spcFirstLastPara="1" vertOverflow="ellipsis" vert="horz" wrap="square" anchor="ctr" anchorCtr="1"/>
          <a:lstStyle/>
          <a:p>
            <a:pPr rtl="0">
              <a:defRPr sz="11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6"/>
      </a:solidFill>
      <a:prstDash val="solid"/>
      <a:miter lim="800000"/>
    </a:ln>
    <a:effectLst/>
  </c:spPr>
  <c:txPr>
    <a:bodyPr/>
    <a:lstStyle/>
    <a:p>
      <a:pPr>
        <a:defRPr sz="1100" b="1">
          <a:solidFill>
            <a:sysClr val="windowText" lastClr="000000"/>
          </a:solidFill>
          <a:latin typeface="+mn-lt"/>
          <a:ea typeface="+mn-ea"/>
          <a:cs typeface="+mn-cs"/>
        </a:defRPr>
      </a:pPr>
      <a:endParaRPr lang="es-P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EB7BAD-7262-4579-BA5F-9B26F7D97A19}" type="doc">
      <dgm:prSet loTypeId="urn:microsoft.com/office/officeart/2009/3/layout/StepUpProcess" loCatId="process" qsTypeId="urn:microsoft.com/office/officeart/2005/8/quickstyle/3d1" qsCatId="3D" csTypeId="urn:microsoft.com/office/officeart/2005/8/colors/accent2_5" csCatId="accent2" phldr="1"/>
      <dgm:spPr/>
      <dgm:t>
        <a:bodyPr/>
        <a:lstStyle/>
        <a:p>
          <a:endParaRPr lang="es-PE"/>
        </a:p>
      </dgm:t>
    </dgm:pt>
    <dgm:pt modelId="{154FAB97-0C9D-4F29-B664-05A5B27C5897}">
      <dgm:prSet phldrT="[Texto]" custT="1"/>
      <dgm:spPr/>
      <dgm:t>
        <a:bodyPr/>
        <a:lstStyle/>
        <a:p>
          <a:r>
            <a:rPr lang="es-ES" sz="2000" dirty="0"/>
            <a:t>Corriente al día</a:t>
          </a:r>
          <a:endParaRPr lang="es-PE" sz="2000" dirty="0"/>
        </a:p>
      </dgm:t>
    </dgm:pt>
    <dgm:pt modelId="{ECF2CE92-9983-41FC-80A5-AFF7ED38C301}" type="parTrans" cxnId="{3C13F342-8B82-4333-B03E-B64A87401828}">
      <dgm:prSet/>
      <dgm:spPr/>
      <dgm:t>
        <a:bodyPr/>
        <a:lstStyle/>
        <a:p>
          <a:endParaRPr lang="es-PE"/>
        </a:p>
      </dgm:t>
    </dgm:pt>
    <dgm:pt modelId="{F291E320-F296-4DC0-A955-F2039F137129}" type="sibTrans" cxnId="{3C13F342-8B82-4333-B03E-B64A87401828}">
      <dgm:prSet/>
      <dgm:spPr/>
      <dgm:t>
        <a:bodyPr/>
        <a:lstStyle/>
        <a:p>
          <a:endParaRPr lang="es-PE"/>
        </a:p>
      </dgm:t>
    </dgm:pt>
    <dgm:pt modelId="{D33B13BB-3273-49D9-B6F2-B9CC08E14568}">
      <dgm:prSet phldrT="[Texto]" custT="1"/>
      <dgm:spPr/>
      <dgm:t>
        <a:bodyPr/>
        <a:lstStyle/>
        <a:p>
          <a:r>
            <a:rPr lang="es-ES" sz="2400" dirty="0"/>
            <a:t>Registro</a:t>
          </a:r>
          <a:endParaRPr lang="es-PE" sz="2400" dirty="0"/>
        </a:p>
      </dgm:t>
    </dgm:pt>
    <dgm:pt modelId="{283599CC-0C5F-4607-B730-B72116223CDE}" type="parTrans" cxnId="{1AB9D601-A8C1-47D0-88EF-B9586F988334}">
      <dgm:prSet/>
      <dgm:spPr/>
      <dgm:t>
        <a:bodyPr/>
        <a:lstStyle/>
        <a:p>
          <a:endParaRPr lang="es-PE"/>
        </a:p>
      </dgm:t>
    </dgm:pt>
    <dgm:pt modelId="{BABEB013-2756-4850-9B40-F487266E23B9}" type="sibTrans" cxnId="{1AB9D601-A8C1-47D0-88EF-B9586F988334}">
      <dgm:prSet/>
      <dgm:spPr/>
      <dgm:t>
        <a:bodyPr/>
        <a:lstStyle/>
        <a:p>
          <a:endParaRPr lang="es-PE"/>
        </a:p>
      </dgm:t>
    </dgm:pt>
    <dgm:pt modelId="{DE8A3062-5F3B-43FB-909C-BF0605F960FF}">
      <dgm:prSet phldrT="[Texto]"/>
      <dgm:spPr/>
      <dgm:t>
        <a:bodyPr/>
        <a:lstStyle/>
        <a:p>
          <a:r>
            <a:rPr lang="es-ES" dirty="0"/>
            <a:t>Retroalimentación</a:t>
          </a:r>
          <a:endParaRPr lang="es-PE" dirty="0"/>
        </a:p>
      </dgm:t>
    </dgm:pt>
    <dgm:pt modelId="{2AF473E6-4CB0-4963-9056-362E29F97E87}" type="parTrans" cxnId="{119FD068-8D8C-4678-9208-9A87E90EE54F}">
      <dgm:prSet/>
      <dgm:spPr/>
      <dgm:t>
        <a:bodyPr/>
        <a:lstStyle/>
        <a:p>
          <a:endParaRPr lang="es-PE"/>
        </a:p>
      </dgm:t>
    </dgm:pt>
    <dgm:pt modelId="{8B7E3C0D-ED52-4383-9077-0401663B6917}" type="sibTrans" cxnId="{119FD068-8D8C-4678-9208-9A87E90EE54F}">
      <dgm:prSet/>
      <dgm:spPr/>
      <dgm:t>
        <a:bodyPr/>
        <a:lstStyle/>
        <a:p>
          <a:endParaRPr lang="es-PE"/>
        </a:p>
      </dgm:t>
    </dgm:pt>
    <dgm:pt modelId="{5B852636-E42B-4C9E-A854-93228003C07A}">
      <dgm:prSet/>
      <dgm:spPr/>
      <dgm:t>
        <a:bodyPr/>
        <a:lstStyle/>
        <a:p>
          <a:endParaRPr lang="es-PE"/>
        </a:p>
      </dgm:t>
    </dgm:pt>
    <dgm:pt modelId="{F20817A3-7E7B-441C-8714-7BC0E3675A31}" type="parTrans" cxnId="{C07D92F2-B89F-4DE1-92B5-9C7264390B88}">
      <dgm:prSet/>
      <dgm:spPr/>
      <dgm:t>
        <a:bodyPr/>
        <a:lstStyle/>
        <a:p>
          <a:endParaRPr lang="es-PE"/>
        </a:p>
      </dgm:t>
    </dgm:pt>
    <dgm:pt modelId="{9B2B1FF2-4B8C-4A5C-81BB-3BAE8C1E8CC6}" type="sibTrans" cxnId="{C07D92F2-B89F-4DE1-92B5-9C7264390B88}">
      <dgm:prSet/>
      <dgm:spPr/>
      <dgm:t>
        <a:bodyPr/>
        <a:lstStyle/>
        <a:p>
          <a:endParaRPr lang="es-PE"/>
        </a:p>
      </dgm:t>
    </dgm:pt>
    <dgm:pt modelId="{5680E209-D5E6-4E9E-A93C-1996263CAD4B}" type="pres">
      <dgm:prSet presAssocID="{68EB7BAD-7262-4579-BA5F-9B26F7D97A19}" presName="rootnode" presStyleCnt="0">
        <dgm:presLayoutVars>
          <dgm:chMax/>
          <dgm:chPref/>
          <dgm:dir/>
          <dgm:animLvl val="lvl"/>
        </dgm:presLayoutVars>
      </dgm:prSet>
      <dgm:spPr/>
    </dgm:pt>
    <dgm:pt modelId="{6B21E8ED-5C57-4633-A4F3-86A924A14BE3}" type="pres">
      <dgm:prSet presAssocID="{154FAB97-0C9D-4F29-B664-05A5B27C5897}" presName="composite" presStyleCnt="0"/>
      <dgm:spPr/>
    </dgm:pt>
    <dgm:pt modelId="{2FEBAC80-0C3F-4E33-A172-CCC671D5C72A}" type="pres">
      <dgm:prSet presAssocID="{154FAB97-0C9D-4F29-B664-05A5B27C5897}" presName="LShape" presStyleLbl="alignNode1" presStyleIdx="0" presStyleCnt="7"/>
      <dgm:spPr/>
    </dgm:pt>
    <dgm:pt modelId="{54E5BECA-C8D6-4F5C-B522-3787AC310605}" type="pres">
      <dgm:prSet presAssocID="{154FAB97-0C9D-4F29-B664-05A5B27C5897}" presName="ParentText" presStyleLbl="revTx" presStyleIdx="0" presStyleCnt="4">
        <dgm:presLayoutVars>
          <dgm:chMax val="0"/>
          <dgm:chPref val="0"/>
          <dgm:bulletEnabled val="1"/>
        </dgm:presLayoutVars>
      </dgm:prSet>
      <dgm:spPr/>
    </dgm:pt>
    <dgm:pt modelId="{F861F661-CBA4-4436-915C-17CF0EDCF8CE}" type="pres">
      <dgm:prSet presAssocID="{154FAB97-0C9D-4F29-B664-05A5B27C5897}" presName="Triangle" presStyleLbl="alignNode1" presStyleIdx="1" presStyleCnt="7"/>
      <dgm:spPr/>
    </dgm:pt>
    <dgm:pt modelId="{7331FFCD-0B39-41C7-BB78-A8673998DF29}" type="pres">
      <dgm:prSet presAssocID="{F291E320-F296-4DC0-A955-F2039F137129}" presName="sibTrans" presStyleCnt="0"/>
      <dgm:spPr/>
    </dgm:pt>
    <dgm:pt modelId="{63ACB530-B0BD-499E-9AD3-EBFB1E65905B}" type="pres">
      <dgm:prSet presAssocID="{F291E320-F296-4DC0-A955-F2039F137129}" presName="space" presStyleCnt="0"/>
      <dgm:spPr/>
    </dgm:pt>
    <dgm:pt modelId="{E877AE0A-CEB7-4616-A526-284CF5AC7CB3}" type="pres">
      <dgm:prSet presAssocID="{D33B13BB-3273-49D9-B6F2-B9CC08E14568}" presName="composite" presStyleCnt="0"/>
      <dgm:spPr/>
    </dgm:pt>
    <dgm:pt modelId="{F1D2D4CE-BDA8-40FB-BB5D-61799FE811E8}" type="pres">
      <dgm:prSet presAssocID="{D33B13BB-3273-49D9-B6F2-B9CC08E14568}" presName="LShape" presStyleLbl="alignNode1" presStyleIdx="2" presStyleCnt="7"/>
      <dgm:spPr/>
    </dgm:pt>
    <dgm:pt modelId="{1DE6C5DC-47F3-4027-9E9E-8313AB945E92}" type="pres">
      <dgm:prSet presAssocID="{D33B13BB-3273-49D9-B6F2-B9CC08E14568}" presName="ParentText" presStyleLbl="revTx" presStyleIdx="1" presStyleCnt="4">
        <dgm:presLayoutVars>
          <dgm:chMax val="0"/>
          <dgm:chPref val="0"/>
          <dgm:bulletEnabled val="1"/>
        </dgm:presLayoutVars>
      </dgm:prSet>
      <dgm:spPr/>
    </dgm:pt>
    <dgm:pt modelId="{127857D2-64CE-47C9-95FE-A868AFB6B98F}" type="pres">
      <dgm:prSet presAssocID="{D33B13BB-3273-49D9-B6F2-B9CC08E14568}" presName="Triangle" presStyleLbl="alignNode1" presStyleIdx="3" presStyleCnt="7"/>
      <dgm:spPr/>
    </dgm:pt>
    <dgm:pt modelId="{84B69BEA-D3BC-4558-9848-70A9CA565E9F}" type="pres">
      <dgm:prSet presAssocID="{BABEB013-2756-4850-9B40-F487266E23B9}" presName="sibTrans" presStyleCnt="0"/>
      <dgm:spPr/>
    </dgm:pt>
    <dgm:pt modelId="{85838C4D-B2E6-4E77-AFF2-559BF8984517}" type="pres">
      <dgm:prSet presAssocID="{BABEB013-2756-4850-9B40-F487266E23B9}" presName="space" presStyleCnt="0"/>
      <dgm:spPr/>
    </dgm:pt>
    <dgm:pt modelId="{F39D0D1D-18DF-45C1-8DC6-3D2B8F283666}" type="pres">
      <dgm:prSet presAssocID="{5B852636-E42B-4C9E-A854-93228003C07A}" presName="composite" presStyleCnt="0"/>
      <dgm:spPr/>
    </dgm:pt>
    <dgm:pt modelId="{F7B0FB70-3501-4387-8C70-D2769B91A531}" type="pres">
      <dgm:prSet presAssocID="{5B852636-E42B-4C9E-A854-93228003C07A}" presName="LShape" presStyleLbl="alignNode1" presStyleIdx="4" presStyleCnt="7"/>
      <dgm:spPr/>
    </dgm:pt>
    <dgm:pt modelId="{E29D7AEC-F120-4F6D-BAEC-0C33FCEBB837}" type="pres">
      <dgm:prSet presAssocID="{5B852636-E42B-4C9E-A854-93228003C07A}" presName="ParentText" presStyleLbl="revTx" presStyleIdx="2" presStyleCnt="4">
        <dgm:presLayoutVars>
          <dgm:chMax val="0"/>
          <dgm:chPref val="0"/>
          <dgm:bulletEnabled val="1"/>
        </dgm:presLayoutVars>
      </dgm:prSet>
      <dgm:spPr/>
    </dgm:pt>
    <dgm:pt modelId="{D75D3710-108E-47A6-A559-C87B12C167C1}" type="pres">
      <dgm:prSet presAssocID="{5B852636-E42B-4C9E-A854-93228003C07A}" presName="Triangle" presStyleLbl="alignNode1" presStyleIdx="5" presStyleCnt="7"/>
      <dgm:spPr/>
    </dgm:pt>
    <dgm:pt modelId="{D848F170-3288-4142-8FB9-03268192B305}" type="pres">
      <dgm:prSet presAssocID="{9B2B1FF2-4B8C-4A5C-81BB-3BAE8C1E8CC6}" presName="sibTrans" presStyleCnt="0"/>
      <dgm:spPr/>
    </dgm:pt>
    <dgm:pt modelId="{7849FF01-7157-448C-BBE7-25803172924B}" type="pres">
      <dgm:prSet presAssocID="{9B2B1FF2-4B8C-4A5C-81BB-3BAE8C1E8CC6}" presName="space" presStyleCnt="0"/>
      <dgm:spPr/>
    </dgm:pt>
    <dgm:pt modelId="{B1F1F556-04C3-4AA3-B326-8A96CCAAED5C}" type="pres">
      <dgm:prSet presAssocID="{DE8A3062-5F3B-43FB-909C-BF0605F960FF}" presName="composite" presStyleCnt="0"/>
      <dgm:spPr/>
    </dgm:pt>
    <dgm:pt modelId="{53DFE477-9BCE-42C4-B5D0-6D6F7BAB07E5}" type="pres">
      <dgm:prSet presAssocID="{DE8A3062-5F3B-43FB-909C-BF0605F960FF}" presName="LShape" presStyleLbl="alignNode1" presStyleIdx="6" presStyleCnt="7"/>
      <dgm:spPr/>
    </dgm:pt>
    <dgm:pt modelId="{D48A9759-67FA-4BC1-BF89-2E763F1820EF}" type="pres">
      <dgm:prSet presAssocID="{DE8A3062-5F3B-43FB-909C-BF0605F960FF}" presName="ParentText" presStyleLbl="revTx" presStyleIdx="3" presStyleCnt="4">
        <dgm:presLayoutVars>
          <dgm:chMax val="0"/>
          <dgm:chPref val="0"/>
          <dgm:bulletEnabled val="1"/>
        </dgm:presLayoutVars>
      </dgm:prSet>
      <dgm:spPr/>
    </dgm:pt>
  </dgm:ptLst>
  <dgm:cxnLst>
    <dgm:cxn modelId="{1AB9D601-A8C1-47D0-88EF-B9586F988334}" srcId="{68EB7BAD-7262-4579-BA5F-9B26F7D97A19}" destId="{D33B13BB-3273-49D9-B6F2-B9CC08E14568}" srcOrd="1" destOrd="0" parTransId="{283599CC-0C5F-4607-B730-B72116223CDE}" sibTransId="{BABEB013-2756-4850-9B40-F487266E23B9}"/>
    <dgm:cxn modelId="{3C13F342-8B82-4333-B03E-B64A87401828}" srcId="{68EB7BAD-7262-4579-BA5F-9B26F7D97A19}" destId="{154FAB97-0C9D-4F29-B664-05A5B27C5897}" srcOrd="0" destOrd="0" parTransId="{ECF2CE92-9983-41FC-80A5-AFF7ED38C301}" sibTransId="{F291E320-F296-4DC0-A955-F2039F137129}"/>
    <dgm:cxn modelId="{D14E9447-6B4A-4CDA-859B-2C413AFA73D8}" type="presOf" srcId="{5B852636-E42B-4C9E-A854-93228003C07A}" destId="{E29D7AEC-F120-4F6D-BAEC-0C33FCEBB837}" srcOrd="0" destOrd="0" presId="urn:microsoft.com/office/officeart/2009/3/layout/StepUpProcess"/>
    <dgm:cxn modelId="{119FD068-8D8C-4678-9208-9A87E90EE54F}" srcId="{68EB7BAD-7262-4579-BA5F-9B26F7D97A19}" destId="{DE8A3062-5F3B-43FB-909C-BF0605F960FF}" srcOrd="3" destOrd="0" parTransId="{2AF473E6-4CB0-4963-9056-362E29F97E87}" sibTransId="{8B7E3C0D-ED52-4383-9077-0401663B6917}"/>
    <dgm:cxn modelId="{5D6EEE90-58B3-4294-97A8-D964B9126386}" type="presOf" srcId="{154FAB97-0C9D-4F29-B664-05A5B27C5897}" destId="{54E5BECA-C8D6-4F5C-B522-3787AC310605}" srcOrd="0" destOrd="0" presId="urn:microsoft.com/office/officeart/2009/3/layout/StepUpProcess"/>
    <dgm:cxn modelId="{73570AD2-2E0D-4479-9192-CA553D8E3962}" type="presOf" srcId="{68EB7BAD-7262-4579-BA5F-9B26F7D97A19}" destId="{5680E209-D5E6-4E9E-A93C-1996263CAD4B}" srcOrd="0" destOrd="0" presId="urn:microsoft.com/office/officeart/2009/3/layout/StepUpProcess"/>
    <dgm:cxn modelId="{36E63BE7-5643-4A30-8CC1-3EF68314C639}" type="presOf" srcId="{DE8A3062-5F3B-43FB-909C-BF0605F960FF}" destId="{D48A9759-67FA-4BC1-BF89-2E763F1820EF}" srcOrd="0" destOrd="0" presId="urn:microsoft.com/office/officeart/2009/3/layout/StepUpProcess"/>
    <dgm:cxn modelId="{4B5EE8F0-FC49-4C81-AAEE-F754FC56C26E}" type="presOf" srcId="{D33B13BB-3273-49D9-B6F2-B9CC08E14568}" destId="{1DE6C5DC-47F3-4027-9E9E-8313AB945E92}" srcOrd="0" destOrd="0" presId="urn:microsoft.com/office/officeart/2009/3/layout/StepUpProcess"/>
    <dgm:cxn modelId="{C07D92F2-B89F-4DE1-92B5-9C7264390B88}" srcId="{68EB7BAD-7262-4579-BA5F-9B26F7D97A19}" destId="{5B852636-E42B-4C9E-A854-93228003C07A}" srcOrd="2" destOrd="0" parTransId="{F20817A3-7E7B-441C-8714-7BC0E3675A31}" sibTransId="{9B2B1FF2-4B8C-4A5C-81BB-3BAE8C1E8CC6}"/>
    <dgm:cxn modelId="{C2355F22-C181-4ACF-90D7-10C2AF8987F2}" type="presParOf" srcId="{5680E209-D5E6-4E9E-A93C-1996263CAD4B}" destId="{6B21E8ED-5C57-4633-A4F3-86A924A14BE3}" srcOrd="0" destOrd="0" presId="urn:microsoft.com/office/officeart/2009/3/layout/StepUpProcess"/>
    <dgm:cxn modelId="{1D472012-D34B-405D-A270-409206040D32}" type="presParOf" srcId="{6B21E8ED-5C57-4633-A4F3-86A924A14BE3}" destId="{2FEBAC80-0C3F-4E33-A172-CCC671D5C72A}" srcOrd="0" destOrd="0" presId="urn:microsoft.com/office/officeart/2009/3/layout/StepUpProcess"/>
    <dgm:cxn modelId="{CA3A8E92-ADAD-415B-BF51-A0817725AC33}" type="presParOf" srcId="{6B21E8ED-5C57-4633-A4F3-86A924A14BE3}" destId="{54E5BECA-C8D6-4F5C-B522-3787AC310605}" srcOrd="1" destOrd="0" presId="urn:microsoft.com/office/officeart/2009/3/layout/StepUpProcess"/>
    <dgm:cxn modelId="{22FA3AF6-66AB-4ED7-8E14-A582FA4D4462}" type="presParOf" srcId="{6B21E8ED-5C57-4633-A4F3-86A924A14BE3}" destId="{F861F661-CBA4-4436-915C-17CF0EDCF8CE}" srcOrd="2" destOrd="0" presId="urn:microsoft.com/office/officeart/2009/3/layout/StepUpProcess"/>
    <dgm:cxn modelId="{5BE8A866-8176-4B5D-BA88-A206DAF40722}" type="presParOf" srcId="{5680E209-D5E6-4E9E-A93C-1996263CAD4B}" destId="{7331FFCD-0B39-41C7-BB78-A8673998DF29}" srcOrd="1" destOrd="0" presId="urn:microsoft.com/office/officeart/2009/3/layout/StepUpProcess"/>
    <dgm:cxn modelId="{F2CFCE1A-A15B-47C5-8670-A1F8D1328F3A}" type="presParOf" srcId="{7331FFCD-0B39-41C7-BB78-A8673998DF29}" destId="{63ACB530-B0BD-499E-9AD3-EBFB1E65905B}" srcOrd="0" destOrd="0" presId="urn:microsoft.com/office/officeart/2009/3/layout/StepUpProcess"/>
    <dgm:cxn modelId="{28677875-E631-41A8-B684-658E1FD72817}" type="presParOf" srcId="{5680E209-D5E6-4E9E-A93C-1996263CAD4B}" destId="{E877AE0A-CEB7-4616-A526-284CF5AC7CB3}" srcOrd="2" destOrd="0" presId="urn:microsoft.com/office/officeart/2009/3/layout/StepUpProcess"/>
    <dgm:cxn modelId="{20E60081-CB55-444A-91FA-57A0B8C3185D}" type="presParOf" srcId="{E877AE0A-CEB7-4616-A526-284CF5AC7CB3}" destId="{F1D2D4CE-BDA8-40FB-BB5D-61799FE811E8}" srcOrd="0" destOrd="0" presId="urn:microsoft.com/office/officeart/2009/3/layout/StepUpProcess"/>
    <dgm:cxn modelId="{AE16520E-6837-400A-B5A7-CC69A3FB3358}" type="presParOf" srcId="{E877AE0A-CEB7-4616-A526-284CF5AC7CB3}" destId="{1DE6C5DC-47F3-4027-9E9E-8313AB945E92}" srcOrd="1" destOrd="0" presId="urn:microsoft.com/office/officeart/2009/3/layout/StepUpProcess"/>
    <dgm:cxn modelId="{86F6F755-77A6-48E0-A416-E20C1A53ED46}" type="presParOf" srcId="{E877AE0A-CEB7-4616-A526-284CF5AC7CB3}" destId="{127857D2-64CE-47C9-95FE-A868AFB6B98F}" srcOrd="2" destOrd="0" presId="urn:microsoft.com/office/officeart/2009/3/layout/StepUpProcess"/>
    <dgm:cxn modelId="{A606FD37-08BE-4C69-8149-6C8665823498}" type="presParOf" srcId="{5680E209-D5E6-4E9E-A93C-1996263CAD4B}" destId="{84B69BEA-D3BC-4558-9848-70A9CA565E9F}" srcOrd="3" destOrd="0" presId="urn:microsoft.com/office/officeart/2009/3/layout/StepUpProcess"/>
    <dgm:cxn modelId="{974C4E68-99AC-4D86-BA43-0BF5D2DD0CB2}" type="presParOf" srcId="{84B69BEA-D3BC-4558-9848-70A9CA565E9F}" destId="{85838C4D-B2E6-4E77-AFF2-559BF8984517}" srcOrd="0" destOrd="0" presId="urn:microsoft.com/office/officeart/2009/3/layout/StepUpProcess"/>
    <dgm:cxn modelId="{4A436C04-3566-4A5B-B2F4-83FA060942B2}" type="presParOf" srcId="{5680E209-D5E6-4E9E-A93C-1996263CAD4B}" destId="{F39D0D1D-18DF-45C1-8DC6-3D2B8F283666}" srcOrd="4" destOrd="0" presId="urn:microsoft.com/office/officeart/2009/3/layout/StepUpProcess"/>
    <dgm:cxn modelId="{AA6AEED7-F023-4434-86AE-8F3DAC1812A9}" type="presParOf" srcId="{F39D0D1D-18DF-45C1-8DC6-3D2B8F283666}" destId="{F7B0FB70-3501-4387-8C70-D2769B91A531}" srcOrd="0" destOrd="0" presId="urn:microsoft.com/office/officeart/2009/3/layout/StepUpProcess"/>
    <dgm:cxn modelId="{9E6859FB-3D2C-4A17-BE24-AFF260D08BE8}" type="presParOf" srcId="{F39D0D1D-18DF-45C1-8DC6-3D2B8F283666}" destId="{E29D7AEC-F120-4F6D-BAEC-0C33FCEBB837}" srcOrd="1" destOrd="0" presId="urn:microsoft.com/office/officeart/2009/3/layout/StepUpProcess"/>
    <dgm:cxn modelId="{90CFD2D7-2476-4950-A2C8-85D26FE8BB31}" type="presParOf" srcId="{F39D0D1D-18DF-45C1-8DC6-3D2B8F283666}" destId="{D75D3710-108E-47A6-A559-C87B12C167C1}" srcOrd="2" destOrd="0" presId="urn:microsoft.com/office/officeart/2009/3/layout/StepUpProcess"/>
    <dgm:cxn modelId="{DA11EA34-4761-4660-9A5F-D3F20C9BB1CF}" type="presParOf" srcId="{5680E209-D5E6-4E9E-A93C-1996263CAD4B}" destId="{D848F170-3288-4142-8FB9-03268192B305}" srcOrd="5" destOrd="0" presId="urn:microsoft.com/office/officeart/2009/3/layout/StepUpProcess"/>
    <dgm:cxn modelId="{90E72F94-FCFB-4593-8B5C-4E1F19DD5E49}" type="presParOf" srcId="{D848F170-3288-4142-8FB9-03268192B305}" destId="{7849FF01-7157-448C-BBE7-25803172924B}" srcOrd="0" destOrd="0" presId="urn:microsoft.com/office/officeart/2009/3/layout/StepUpProcess"/>
    <dgm:cxn modelId="{889A404E-D85D-4B6C-9DB9-302525855127}" type="presParOf" srcId="{5680E209-D5E6-4E9E-A93C-1996263CAD4B}" destId="{B1F1F556-04C3-4AA3-B326-8A96CCAAED5C}" srcOrd="6" destOrd="0" presId="urn:microsoft.com/office/officeart/2009/3/layout/StepUpProcess"/>
    <dgm:cxn modelId="{E94AC9E4-E169-4ECA-850B-25353E10D1E6}" type="presParOf" srcId="{B1F1F556-04C3-4AA3-B326-8A96CCAAED5C}" destId="{53DFE477-9BCE-42C4-B5D0-6D6F7BAB07E5}" srcOrd="0" destOrd="0" presId="urn:microsoft.com/office/officeart/2009/3/layout/StepUpProcess"/>
    <dgm:cxn modelId="{4FDC6352-E88D-43C4-8C19-AC6646B2EB04}" type="presParOf" srcId="{B1F1F556-04C3-4AA3-B326-8A96CCAAED5C}" destId="{D48A9759-67FA-4BC1-BF89-2E763F1820EF}"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BAC80-0C3F-4E33-A172-CCC671D5C72A}">
      <dsp:nvSpPr>
        <dsp:cNvPr id="0" name=""/>
        <dsp:cNvSpPr/>
      </dsp:nvSpPr>
      <dsp:spPr>
        <a:xfrm rot="5400000">
          <a:off x="518727" y="1268866"/>
          <a:ext cx="1226946" cy="2041611"/>
        </a:xfrm>
        <a:prstGeom prst="corner">
          <a:avLst>
            <a:gd name="adj1" fmla="val 16120"/>
            <a:gd name="adj2" fmla="val 16110"/>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w="6350" cap="flat" cmpd="sng" algn="ctr">
          <a:solidFill>
            <a:schemeClr val="accent2">
              <a:alpha val="90000"/>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54E5BECA-C8D6-4F5C-B522-3787AC310605}">
      <dsp:nvSpPr>
        <dsp:cNvPr id="0" name=""/>
        <dsp:cNvSpPr/>
      </dsp:nvSpPr>
      <dsp:spPr>
        <a:xfrm>
          <a:off x="313919" y="1878868"/>
          <a:ext cx="1843178" cy="1615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a:t>Corriente al día</a:t>
          </a:r>
          <a:endParaRPr lang="es-PE" sz="2000" kern="1200" dirty="0"/>
        </a:p>
      </dsp:txBody>
      <dsp:txXfrm>
        <a:off x="313919" y="1878868"/>
        <a:ext cx="1843178" cy="1615654"/>
      </dsp:txXfrm>
    </dsp:sp>
    <dsp:sp modelId="{F861F661-CBA4-4436-915C-17CF0EDCF8CE}">
      <dsp:nvSpPr>
        <dsp:cNvPr id="0" name=""/>
        <dsp:cNvSpPr/>
      </dsp:nvSpPr>
      <dsp:spPr>
        <a:xfrm>
          <a:off x="1809328" y="1118560"/>
          <a:ext cx="347769" cy="347769"/>
        </a:xfrm>
        <a:prstGeom prst="triangle">
          <a:avLst>
            <a:gd name="adj" fmla="val 100000"/>
          </a:avLst>
        </a:prstGeom>
        <a:gradFill rotWithShape="0">
          <a:gsLst>
            <a:gs pos="0">
              <a:schemeClr val="accent2">
                <a:alpha val="90000"/>
                <a:hueOff val="0"/>
                <a:satOff val="0"/>
                <a:lumOff val="0"/>
                <a:alphaOff val="-6667"/>
                <a:satMod val="103000"/>
                <a:lumMod val="102000"/>
                <a:tint val="94000"/>
              </a:schemeClr>
            </a:gs>
            <a:gs pos="50000">
              <a:schemeClr val="accent2">
                <a:alpha val="90000"/>
                <a:hueOff val="0"/>
                <a:satOff val="0"/>
                <a:lumOff val="0"/>
                <a:alphaOff val="-6667"/>
                <a:satMod val="110000"/>
                <a:lumMod val="100000"/>
                <a:shade val="100000"/>
              </a:schemeClr>
            </a:gs>
            <a:gs pos="100000">
              <a:schemeClr val="accent2">
                <a:alpha val="90000"/>
                <a:hueOff val="0"/>
                <a:satOff val="0"/>
                <a:lumOff val="0"/>
                <a:alphaOff val="-6667"/>
                <a:lumMod val="99000"/>
                <a:satMod val="120000"/>
                <a:shade val="78000"/>
              </a:schemeClr>
            </a:gs>
          </a:gsLst>
          <a:lin ang="5400000" scaled="0"/>
        </a:gradFill>
        <a:ln w="6350" cap="flat" cmpd="sng" algn="ctr">
          <a:solidFill>
            <a:schemeClr val="accent2">
              <a:alpha val="90000"/>
              <a:hueOff val="0"/>
              <a:satOff val="0"/>
              <a:lumOff val="0"/>
              <a:alphaOff val="-6667"/>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1D2D4CE-BDA8-40FB-BB5D-61799FE811E8}">
      <dsp:nvSpPr>
        <dsp:cNvPr id="0" name=""/>
        <dsp:cNvSpPr/>
      </dsp:nvSpPr>
      <dsp:spPr>
        <a:xfrm rot="5400000">
          <a:off x="2775137" y="710515"/>
          <a:ext cx="1226946" cy="2041611"/>
        </a:xfrm>
        <a:prstGeom prst="corner">
          <a:avLst>
            <a:gd name="adj1" fmla="val 16120"/>
            <a:gd name="adj2" fmla="val 16110"/>
          </a:avLst>
        </a:prstGeom>
        <a:gradFill rotWithShape="0">
          <a:gsLst>
            <a:gs pos="0">
              <a:schemeClr val="accent2">
                <a:alpha val="90000"/>
                <a:hueOff val="0"/>
                <a:satOff val="0"/>
                <a:lumOff val="0"/>
                <a:alphaOff val="-13333"/>
                <a:satMod val="103000"/>
                <a:lumMod val="102000"/>
                <a:tint val="94000"/>
              </a:schemeClr>
            </a:gs>
            <a:gs pos="50000">
              <a:schemeClr val="accent2">
                <a:alpha val="90000"/>
                <a:hueOff val="0"/>
                <a:satOff val="0"/>
                <a:lumOff val="0"/>
                <a:alphaOff val="-13333"/>
                <a:satMod val="110000"/>
                <a:lumMod val="100000"/>
                <a:shade val="100000"/>
              </a:schemeClr>
            </a:gs>
            <a:gs pos="100000">
              <a:schemeClr val="accent2">
                <a:alpha val="90000"/>
                <a:hueOff val="0"/>
                <a:satOff val="0"/>
                <a:lumOff val="0"/>
                <a:alphaOff val="-13333"/>
                <a:lumMod val="99000"/>
                <a:satMod val="120000"/>
                <a:shade val="78000"/>
              </a:schemeClr>
            </a:gs>
          </a:gsLst>
          <a:lin ang="5400000" scaled="0"/>
        </a:gradFill>
        <a:ln w="6350" cap="flat" cmpd="sng" algn="ctr">
          <a:solidFill>
            <a:schemeClr val="accent2">
              <a:alpha val="90000"/>
              <a:hueOff val="0"/>
              <a:satOff val="0"/>
              <a:lumOff val="0"/>
              <a:alphaOff val="-13333"/>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1DE6C5DC-47F3-4027-9E9E-8313AB945E92}">
      <dsp:nvSpPr>
        <dsp:cNvPr id="0" name=""/>
        <dsp:cNvSpPr/>
      </dsp:nvSpPr>
      <dsp:spPr>
        <a:xfrm>
          <a:off x="2570329" y="1320517"/>
          <a:ext cx="1843178" cy="1615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kern="1200" dirty="0"/>
            <a:t>Registro</a:t>
          </a:r>
          <a:endParaRPr lang="es-PE" sz="2400" kern="1200" dirty="0"/>
        </a:p>
      </dsp:txBody>
      <dsp:txXfrm>
        <a:off x="2570329" y="1320517"/>
        <a:ext cx="1843178" cy="1615654"/>
      </dsp:txXfrm>
    </dsp:sp>
    <dsp:sp modelId="{127857D2-64CE-47C9-95FE-A868AFB6B98F}">
      <dsp:nvSpPr>
        <dsp:cNvPr id="0" name=""/>
        <dsp:cNvSpPr/>
      </dsp:nvSpPr>
      <dsp:spPr>
        <a:xfrm>
          <a:off x="4065738" y="560209"/>
          <a:ext cx="347769" cy="347769"/>
        </a:xfrm>
        <a:prstGeom prst="triangle">
          <a:avLst>
            <a:gd name="adj" fmla="val 100000"/>
          </a:avLst>
        </a:prstGeom>
        <a:gradFill rotWithShape="0">
          <a:gsLst>
            <a:gs pos="0">
              <a:schemeClr val="accent2">
                <a:alpha val="90000"/>
                <a:hueOff val="0"/>
                <a:satOff val="0"/>
                <a:lumOff val="0"/>
                <a:alphaOff val="-20000"/>
                <a:satMod val="103000"/>
                <a:lumMod val="102000"/>
                <a:tint val="94000"/>
              </a:schemeClr>
            </a:gs>
            <a:gs pos="50000">
              <a:schemeClr val="accent2">
                <a:alpha val="90000"/>
                <a:hueOff val="0"/>
                <a:satOff val="0"/>
                <a:lumOff val="0"/>
                <a:alphaOff val="-20000"/>
                <a:satMod val="110000"/>
                <a:lumMod val="100000"/>
                <a:shade val="100000"/>
              </a:schemeClr>
            </a:gs>
            <a:gs pos="100000">
              <a:schemeClr val="accent2">
                <a:alpha val="90000"/>
                <a:hueOff val="0"/>
                <a:satOff val="0"/>
                <a:lumOff val="0"/>
                <a:alphaOff val="-20000"/>
                <a:lumMod val="99000"/>
                <a:satMod val="120000"/>
                <a:shade val="78000"/>
              </a:schemeClr>
            </a:gs>
          </a:gsLst>
          <a:lin ang="5400000" scaled="0"/>
        </a:gradFill>
        <a:ln w="6350" cap="flat" cmpd="sng" algn="ctr">
          <a:solidFill>
            <a:schemeClr val="accent2">
              <a:alpha val="90000"/>
              <a:hueOff val="0"/>
              <a:satOff val="0"/>
              <a:lumOff val="0"/>
              <a:alphaOff val="-2000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7B0FB70-3501-4387-8C70-D2769B91A531}">
      <dsp:nvSpPr>
        <dsp:cNvPr id="0" name=""/>
        <dsp:cNvSpPr/>
      </dsp:nvSpPr>
      <dsp:spPr>
        <a:xfrm rot="5400000">
          <a:off x="5031548" y="152164"/>
          <a:ext cx="1226946" cy="2041611"/>
        </a:xfrm>
        <a:prstGeom prst="corner">
          <a:avLst>
            <a:gd name="adj1" fmla="val 16120"/>
            <a:gd name="adj2" fmla="val 16110"/>
          </a:avLst>
        </a:prstGeom>
        <a:gradFill rotWithShape="0">
          <a:gsLst>
            <a:gs pos="0">
              <a:schemeClr val="accent2">
                <a:alpha val="90000"/>
                <a:hueOff val="0"/>
                <a:satOff val="0"/>
                <a:lumOff val="0"/>
                <a:alphaOff val="-26667"/>
                <a:satMod val="103000"/>
                <a:lumMod val="102000"/>
                <a:tint val="94000"/>
              </a:schemeClr>
            </a:gs>
            <a:gs pos="50000">
              <a:schemeClr val="accent2">
                <a:alpha val="90000"/>
                <a:hueOff val="0"/>
                <a:satOff val="0"/>
                <a:lumOff val="0"/>
                <a:alphaOff val="-26667"/>
                <a:satMod val="110000"/>
                <a:lumMod val="100000"/>
                <a:shade val="100000"/>
              </a:schemeClr>
            </a:gs>
            <a:gs pos="100000">
              <a:schemeClr val="accent2">
                <a:alpha val="90000"/>
                <a:hueOff val="0"/>
                <a:satOff val="0"/>
                <a:lumOff val="0"/>
                <a:alphaOff val="-26667"/>
                <a:lumMod val="99000"/>
                <a:satMod val="120000"/>
                <a:shade val="78000"/>
              </a:schemeClr>
            </a:gs>
          </a:gsLst>
          <a:lin ang="5400000" scaled="0"/>
        </a:gradFill>
        <a:ln w="6350" cap="flat" cmpd="sng" algn="ctr">
          <a:solidFill>
            <a:schemeClr val="accent2">
              <a:alpha val="90000"/>
              <a:hueOff val="0"/>
              <a:satOff val="0"/>
              <a:lumOff val="0"/>
              <a:alphaOff val="-26667"/>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E29D7AEC-F120-4F6D-BAEC-0C33FCEBB837}">
      <dsp:nvSpPr>
        <dsp:cNvPr id="0" name=""/>
        <dsp:cNvSpPr/>
      </dsp:nvSpPr>
      <dsp:spPr>
        <a:xfrm>
          <a:off x="4826740" y="762166"/>
          <a:ext cx="1843178" cy="1615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s-PE" sz="1700" kern="1200"/>
        </a:p>
      </dsp:txBody>
      <dsp:txXfrm>
        <a:off x="4826740" y="762166"/>
        <a:ext cx="1843178" cy="1615654"/>
      </dsp:txXfrm>
    </dsp:sp>
    <dsp:sp modelId="{D75D3710-108E-47A6-A559-C87B12C167C1}">
      <dsp:nvSpPr>
        <dsp:cNvPr id="0" name=""/>
        <dsp:cNvSpPr/>
      </dsp:nvSpPr>
      <dsp:spPr>
        <a:xfrm>
          <a:off x="6322149" y="1858"/>
          <a:ext cx="347769" cy="347769"/>
        </a:xfrm>
        <a:prstGeom prst="triangle">
          <a:avLst>
            <a:gd name="adj" fmla="val 100000"/>
          </a:avLst>
        </a:prstGeom>
        <a:gradFill rotWithShape="0">
          <a:gsLst>
            <a:gs pos="0">
              <a:schemeClr val="accent2">
                <a:alpha val="90000"/>
                <a:hueOff val="0"/>
                <a:satOff val="0"/>
                <a:lumOff val="0"/>
                <a:alphaOff val="-33333"/>
                <a:satMod val="103000"/>
                <a:lumMod val="102000"/>
                <a:tint val="94000"/>
              </a:schemeClr>
            </a:gs>
            <a:gs pos="50000">
              <a:schemeClr val="accent2">
                <a:alpha val="90000"/>
                <a:hueOff val="0"/>
                <a:satOff val="0"/>
                <a:lumOff val="0"/>
                <a:alphaOff val="-33333"/>
                <a:satMod val="110000"/>
                <a:lumMod val="100000"/>
                <a:shade val="100000"/>
              </a:schemeClr>
            </a:gs>
            <a:gs pos="100000">
              <a:schemeClr val="accent2">
                <a:alpha val="90000"/>
                <a:hueOff val="0"/>
                <a:satOff val="0"/>
                <a:lumOff val="0"/>
                <a:alphaOff val="-33333"/>
                <a:lumMod val="99000"/>
                <a:satMod val="120000"/>
                <a:shade val="78000"/>
              </a:schemeClr>
            </a:gs>
          </a:gsLst>
          <a:lin ang="5400000" scaled="0"/>
        </a:gradFill>
        <a:ln w="6350" cap="flat" cmpd="sng" algn="ctr">
          <a:solidFill>
            <a:schemeClr val="accent2">
              <a:alpha val="90000"/>
              <a:hueOff val="0"/>
              <a:satOff val="0"/>
              <a:lumOff val="0"/>
              <a:alphaOff val="-33333"/>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53DFE477-9BCE-42C4-B5D0-6D6F7BAB07E5}">
      <dsp:nvSpPr>
        <dsp:cNvPr id="0" name=""/>
        <dsp:cNvSpPr/>
      </dsp:nvSpPr>
      <dsp:spPr>
        <a:xfrm rot="5400000">
          <a:off x="7287958" y="-406186"/>
          <a:ext cx="1226946" cy="2041611"/>
        </a:xfrm>
        <a:prstGeom prst="corner">
          <a:avLst>
            <a:gd name="adj1" fmla="val 16120"/>
            <a:gd name="adj2" fmla="val 16110"/>
          </a:avLst>
        </a:prstGeom>
        <a:gradFill rotWithShape="0">
          <a:gsLst>
            <a:gs pos="0">
              <a:schemeClr val="accent2">
                <a:alpha val="90000"/>
                <a:hueOff val="0"/>
                <a:satOff val="0"/>
                <a:lumOff val="0"/>
                <a:alphaOff val="-40000"/>
                <a:satMod val="103000"/>
                <a:lumMod val="102000"/>
                <a:tint val="94000"/>
              </a:schemeClr>
            </a:gs>
            <a:gs pos="50000">
              <a:schemeClr val="accent2">
                <a:alpha val="90000"/>
                <a:hueOff val="0"/>
                <a:satOff val="0"/>
                <a:lumOff val="0"/>
                <a:alphaOff val="-40000"/>
                <a:satMod val="110000"/>
                <a:lumMod val="100000"/>
                <a:shade val="100000"/>
              </a:schemeClr>
            </a:gs>
            <a:gs pos="100000">
              <a:schemeClr val="accent2">
                <a:alpha val="90000"/>
                <a:hueOff val="0"/>
                <a:satOff val="0"/>
                <a:lumOff val="0"/>
                <a:alphaOff val="-40000"/>
                <a:lumMod val="99000"/>
                <a:satMod val="120000"/>
                <a:shade val="78000"/>
              </a:schemeClr>
            </a:gs>
          </a:gsLst>
          <a:lin ang="5400000" scaled="0"/>
        </a:gradFill>
        <a:ln w="6350" cap="flat" cmpd="sng" algn="ctr">
          <a:solidFill>
            <a:schemeClr val="accent2">
              <a:alpha val="90000"/>
              <a:hueOff val="0"/>
              <a:satOff val="0"/>
              <a:lumOff val="0"/>
              <a:alphaOff val="-4000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D48A9759-67FA-4BC1-BF89-2E763F1820EF}">
      <dsp:nvSpPr>
        <dsp:cNvPr id="0" name=""/>
        <dsp:cNvSpPr/>
      </dsp:nvSpPr>
      <dsp:spPr>
        <a:xfrm>
          <a:off x="7083150" y="203815"/>
          <a:ext cx="1843178" cy="1615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ES" sz="1700" kern="1200" dirty="0"/>
            <a:t>Retroalimentación</a:t>
          </a:r>
          <a:endParaRPr lang="es-PE" sz="1700" kern="1200" dirty="0"/>
        </a:p>
      </dsp:txBody>
      <dsp:txXfrm>
        <a:off x="7083150" y="203815"/>
        <a:ext cx="1843178" cy="1615654"/>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04CA8B4-C47F-4E03-8EAA-AEC2E933409F}" type="datetimeFigureOut">
              <a:rPr lang="es-419" smtClean="0"/>
              <a:t>6/6/2024</a:t>
            </a:fld>
            <a:endParaRPr lang="es-419"/>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16A85C-24F3-4956-8CAF-0400FEF1FA9B}" type="slidenum">
              <a:rPr lang="es-419" smtClean="0"/>
              <a:t>‹Nº›</a:t>
            </a:fld>
            <a:endParaRPr lang="es-419"/>
          </a:p>
        </p:txBody>
      </p:sp>
    </p:spTree>
    <p:extLst>
      <p:ext uri="{BB962C8B-B14F-4D97-AF65-F5344CB8AC3E}">
        <p14:creationId xmlns:p14="http://schemas.microsoft.com/office/powerpoint/2010/main" val="3198014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Tree>
    <p:extLst>
      <p:ext uri="{BB962C8B-B14F-4D97-AF65-F5344CB8AC3E}">
        <p14:creationId xmlns:p14="http://schemas.microsoft.com/office/powerpoint/2010/main" val="53801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41225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46374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572045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860884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84599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99817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67411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932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796963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517108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100235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439261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816063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783641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28859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6390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17524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137821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353672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974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7177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46872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7F3-3903-4E1D-8084-0DC05C8375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209DFAA0-BBEA-496B-B217-FE1EC3FC6F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54098F06-736E-46C7-AC7E-A0DD35FB243F}"/>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5" name="Marcador de pie de página 4">
            <a:extLst>
              <a:ext uri="{FF2B5EF4-FFF2-40B4-BE49-F238E27FC236}">
                <a16:creationId xmlns:a16="http://schemas.microsoft.com/office/drawing/2014/main" id="{481D53AD-021E-420D-A45A-5DE972D76032}"/>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7DC73AE-0F49-420F-9711-F965FF344AE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29678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D202-F60F-418F-B356-03CA7D8770D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177AA28-DEE3-4FC1-BAE1-E6AFA62A67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CE078544-1F2E-444D-B8E8-0B5B534EB17A}"/>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5" name="Marcador de pie de página 4">
            <a:extLst>
              <a:ext uri="{FF2B5EF4-FFF2-40B4-BE49-F238E27FC236}">
                <a16:creationId xmlns:a16="http://schemas.microsoft.com/office/drawing/2014/main" id="{9D1F83FC-A60B-49E6-9E1C-9B1D745BCAC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4E286A2-7561-4B7D-870F-6CB2A62559D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1493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48F86-2D3F-45D5-85FF-32D590E8B4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4BDD57E-75F5-4414-AE43-24ACDFE27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F39EB2-DC1A-4B76-A607-540E2AFB0DA1}"/>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5" name="Marcador de pie de página 4">
            <a:extLst>
              <a:ext uri="{FF2B5EF4-FFF2-40B4-BE49-F238E27FC236}">
                <a16:creationId xmlns:a16="http://schemas.microsoft.com/office/drawing/2014/main" id="{5C659A66-CE9C-4AE2-A43D-391CFF4BB35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8C4C05F-D418-4BB8-A63F-FADB2BE6219A}"/>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14609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5F591-1D41-441E-AA95-DA0B740C62D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084C426-4ABF-47B5-96A8-7DD4863F6E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9D581556-4EC1-4E5D-AD7B-E4330322EA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D8E6A027-3C79-48A2-86B5-F99135D1CB3B}"/>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6" name="Marcador de pie de página 5">
            <a:extLst>
              <a:ext uri="{FF2B5EF4-FFF2-40B4-BE49-F238E27FC236}">
                <a16:creationId xmlns:a16="http://schemas.microsoft.com/office/drawing/2014/main" id="{3A8F9C01-F48E-4887-981C-40097F8B77FF}"/>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CE930058-3E70-4688-9D37-132281FE19F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7853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40B37-FCF7-4B55-85DF-F62FF1FE84A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AC1896B5-9EE8-47E4-91A2-0128335D2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63FB78-B243-4B5C-A4B0-899B095F2C1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4E062D-1FBD-4740-9591-FF15F6C44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08BE8A-A2D5-4B6E-9DAB-EB6E6AC7A1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F20B8163-EA4D-4292-B02E-3B806C4D0FC6}"/>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8" name="Marcador de pie de página 7">
            <a:extLst>
              <a:ext uri="{FF2B5EF4-FFF2-40B4-BE49-F238E27FC236}">
                <a16:creationId xmlns:a16="http://schemas.microsoft.com/office/drawing/2014/main" id="{AC7E4B2C-AF8F-4065-8F2C-A533637C5C2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487D1464-F0F0-4D16-876F-A49A009F2D8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9230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1B32-8CD9-4E07-A705-16F56C6A82A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BB89AFFA-5546-4BDE-9DCC-0D9185A3EA3A}"/>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4" name="Marcador de pie de página 3">
            <a:extLst>
              <a:ext uri="{FF2B5EF4-FFF2-40B4-BE49-F238E27FC236}">
                <a16:creationId xmlns:a16="http://schemas.microsoft.com/office/drawing/2014/main" id="{D1868871-4F2B-468C-A281-03B39AC18DB5}"/>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11548AD-0797-49CF-8A32-489DE78F23B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9822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BBACE8-1FF9-4DCE-BDFF-781E4EDB7229}"/>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3" name="Marcador de pie de página 2">
            <a:extLst>
              <a:ext uri="{FF2B5EF4-FFF2-40B4-BE49-F238E27FC236}">
                <a16:creationId xmlns:a16="http://schemas.microsoft.com/office/drawing/2014/main" id="{3F8F2886-0965-4D8B-9448-88DEC9E044D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D57B9FB8-5854-4739-9885-76391E5F274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8690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4540F-ABF6-474A-AB91-401BF04179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750BA34A-F3A7-41F0-8235-DB969C0BD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141FD3ED-E203-44F4-A13E-24C419080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4A6CC1-F911-4CB8-B9F6-56532672E168}"/>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6" name="Marcador de pie de página 5">
            <a:extLst>
              <a:ext uri="{FF2B5EF4-FFF2-40B4-BE49-F238E27FC236}">
                <a16:creationId xmlns:a16="http://schemas.microsoft.com/office/drawing/2014/main" id="{A36D7865-4AAB-4623-8FBD-249FC3217532}"/>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12940CCF-0F75-4D77-A0C3-8971815EEB2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941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51275-DE27-4158-AA5F-44F5EE1C37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7FB01499-763F-47B5-BFD1-63E77D563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D9CFD260-36E3-4D33-9F42-DC51279B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2EBD3E-F528-4CA4-A32B-F0A72B359747}"/>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6" name="Marcador de pie de página 5">
            <a:extLst>
              <a:ext uri="{FF2B5EF4-FFF2-40B4-BE49-F238E27FC236}">
                <a16:creationId xmlns:a16="http://schemas.microsoft.com/office/drawing/2014/main" id="{C627CDEF-92F2-40A0-BAE5-D2BD80227C1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58DBC24D-381D-41F8-9D66-8C221CD7855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73146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D31BD0-76AA-4609-B77F-1A62E9CA2C7F}"/>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95FDD779-50D6-40E5-BA33-7FF26DCF0D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FC0CB4A4-EFE8-421F-935D-F071B90D42D2}"/>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5" name="Marcador de pie de página 4">
            <a:extLst>
              <a:ext uri="{FF2B5EF4-FFF2-40B4-BE49-F238E27FC236}">
                <a16:creationId xmlns:a16="http://schemas.microsoft.com/office/drawing/2014/main" id="{3E4501A0-A46C-4082-8991-E174E9FBA5E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D5DF1E6-391E-412D-BC62-BE28257C204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42913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A5389C-24F0-40B8-B3A4-5B618437AC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265058-8B96-46CE-A8EE-7F30DCB57C7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04C2B80-5F54-469C-B95C-236E218AE644}"/>
              </a:ext>
            </a:extLst>
          </p:cNvPr>
          <p:cNvSpPr>
            <a:spLocks noGrp="1"/>
          </p:cNvSpPr>
          <p:nvPr>
            <p:ph type="dt" sz="half" idx="10"/>
          </p:nvPr>
        </p:nvSpPr>
        <p:spPr/>
        <p:txBody>
          <a:bodyPr/>
          <a:lstStyle/>
          <a:p>
            <a:fld id="{8F29FD26-0981-4205-871D-895179B88314}" type="datetimeFigureOut">
              <a:rPr lang="es-419" smtClean="0"/>
              <a:t>6/6/2024</a:t>
            </a:fld>
            <a:endParaRPr lang="es-419"/>
          </a:p>
        </p:txBody>
      </p:sp>
      <p:sp>
        <p:nvSpPr>
          <p:cNvPr id="5" name="Marcador de pie de página 4">
            <a:extLst>
              <a:ext uri="{FF2B5EF4-FFF2-40B4-BE49-F238E27FC236}">
                <a16:creationId xmlns:a16="http://schemas.microsoft.com/office/drawing/2014/main" id="{04E4A53C-1617-402F-AEA5-31668F35D65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42DE16E-D827-4A85-B9BC-4058637C5C98}"/>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76715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8D7D316-AA24-4AA3-98FC-FDF5882A2030}"/>
              </a:ext>
            </a:extLst>
          </p:cNvPr>
          <p:cNvSpPr>
            <a:spLocks noGrp="1"/>
          </p:cNvSpPr>
          <p:nvPr>
            <p:ph type="title"/>
          </p:nvPr>
        </p:nvSpPr>
        <p:spPr>
          <a:xfrm>
            <a:off x="838204" y="133841"/>
            <a:ext cx="10224477" cy="1323807"/>
          </a:xfrm>
          <a:prstGeom prst="rect">
            <a:avLst/>
          </a:prstGeom>
        </p:spPr>
        <p:txBody>
          <a:bodyPr/>
          <a:lstStyle>
            <a:lvl1pPr>
              <a:defRPr sz="4263" b="1">
                <a:solidFill>
                  <a:schemeClr val="accent5">
                    <a:lumMod val="75000"/>
                  </a:schemeClr>
                </a:solidFill>
              </a:defRPr>
            </a:lvl1pPr>
          </a:lstStyle>
          <a:p>
            <a:r>
              <a:rPr lang="es-ES"/>
              <a:t>Haga clic para modificar el estilo de título del patrón</a:t>
            </a:r>
            <a:endParaRPr lang="es-PE"/>
          </a:p>
        </p:txBody>
      </p:sp>
    </p:spTree>
    <p:extLst>
      <p:ext uri="{BB962C8B-B14F-4D97-AF65-F5344CB8AC3E}">
        <p14:creationId xmlns:p14="http://schemas.microsoft.com/office/powerpoint/2010/main" val="226631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291EF-15E9-414F-95EC-8F59D36B1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4A4EA333-6386-4D76-AC88-517C11CF8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17108574-E514-4EEB-B046-9A3DB5F39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9FD26-0981-4205-871D-895179B88314}" type="datetimeFigureOut">
              <a:rPr lang="es-419" smtClean="0"/>
              <a:t>6/6/2024</a:t>
            </a:fld>
            <a:endParaRPr lang="es-419"/>
          </a:p>
        </p:txBody>
      </p:sp>
      <p:sp>
        <p:nvSpPr>
          <p:cNvPr id="5" name="Marcador de pie de página 4">
            <a:extLst>
              <a:ext uri="{FF2B5EF4-FFF2-40B4-BE49-F238E27FC236}">
                <a16:creationId xmlns:a16="http://schemas.microsoft.com/office/drawing/2014/main" id="{0F92D44A-6FF1-4AA9-8628-83F79F65C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90E3C7ED-7510-4B32-96A0-A10D7CC1A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87B5-27E6-4680-BFC4-A185ECDA7C5B}" type="slidenum">
              <a:rPr lang="es-419" smtClean="0"/>
              <a:t>‹Nº›</a:t>
            </a:fld>
            <a:endParaRPr lang="es-419"/>
          </a:p>
        </p:txBody>
      </p:sp>
    </p:spTree>
    <p:extLst>
      <p:ext uri="{BB962C8B-B14F-4D97-AF65-F5344CB8AC3E}">
        <p14:creationId xmlns:p14="http://schemas.microsoft.com/office/powerpoint/2010/main" val="37005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2D66F62-5EF4-E640-8F00-37B5AB567BFE}"/>
              </a:ext>
            </a:extLst>
          </p:cNvPr>
          <p:cNvSpPr txBox="1">
            <a:spLocks noChangeArrowheads="1"/>
          </p:cNvSpPr>
          <p:nvPr/>
        </p:nvSpPr>
        <p:spPr>
          <a:xfrm>
            <a:off x="861147" y="3517621"/>
            <a:ext cx="10191750" cy="938981"/>
          </a:xfrm>
          <a:prstGeom prst="rect">
            <a:avLst/>
          </a:prstGeom>
        </p:spPr>
        <p:txBody>
          <a:bodyPr/>
          <a:lstStyle/>
          <a:p>
            <a:pPr algn="ctr" defTabSz="1217947">
              <a:defRPr/>
            </a:pPr>
            <a:r>
              <a:rPr lang="es-PE" sz="3600" b="1" dirty="0">
                <a:latin typeface="Arial"/>
                <a:ea typeface="+mj-ea"/>
                <a:cs typeface="Arial"/>
              </a:rPr>
              <a:t>GERENCIA DE ANÁLISIS DE FONDO ADUANAS</a:t>
            </a:r>
          </a:p>
          <a:p>
            <a:pPr algn="ctr" defTabSz="1217947">
              <a:defRPr/>
            </a:pPr>
            <a:endParaRPr lang="es-PE" sz="2400" b="1" dirty="0">
              <a:latin typeface="Arial"/>
              <a:ea typeface="+mj-ea"/>
              <a:cs typeface="Arial"/>
            </a:endParaRPr>
          </a:p>
        </p:txBody>
      </p:sp>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6326" y="267539"/>
            <a:ext cx="2060746" cy="572573"/>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6" name="Rectangle 2">
            <a:extLst>
              <a:ext uri="{FF2B5EF4-FFF2-40B4-BE49-F238E27FC236}">
                <a16:creationId xmlns:a16="http://schemas.microsoft.com/office/drawing/2014/main" id="{919B8A05-1ED3-443D-A7BD-4492F8B9CE89}"/>
              </a:ext>
            </a:extLst>
          </p:cNvPr>
          <p:cNvSpPr txBox="1">
            <a:spLocks noChangeArrowheads="1"/>
          </p:cNvSpPr>
          <p:nvPr/>
        </p:nvSpPr>
        <p:spPr>
          <a:xfrm>
            <a:off x="714375" y="2178278"/>
            <a:ext cx="10763250" cy="938981"/>
          </a:xfrm>
          <a:prstGeom prst="rect">
            <a:avLst/>
          </a:prstGeom>
        </p:spPr>
        <p:txBody>
          <a:bodyPr/>
          <a:lstStyle/>
          <a:p>
            <a:pPr algn="ctr" defTabSz="1217947">
              <a:defRPr/>
            </a:pPr>
            <a:r>
              <a:rPr lang="es-PE" sz="3500" b="1" dirty="0">
                <a:latin typeface="Arial"/>
                <a:ea typeface="+mj-ea"/>
                <a:cs typeface="Arial"/>
              </a:rPr>
              <a:t>INTENDENCIA NACIONAL DE IMPUGNACIONES</a:t>
            </a:r>
          </a:p>
          <a:p>
            <a:pPr algn="ctr" defTabSz="1217947">
              <a:defRPr/>
            </a:pPr>
            <a:endParaRPr lang="es-PE" sz="2400" b="1" dirty="0">
              <a:latin typeface="Arial"/>
              <a:ea typeface="+mj-ea"/>
              <a:cs typeface="Arial"/>
            </a:endParaRPr>
          </a:p>
        </p:txBody>
      </p:sp>
    </p:spTree>
    <p:extLst>
      <p:ext uri="{BB962C8B-B14F-4D97-AF65-F5344CB8AC3E}">
        <p14:creationId xmlns:p14="http://schemas.microsoft.com/office/powerpoint/2010/main" val="4069534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INGRESOS Y SALIDAS DE RECLAMACIONES 2019-2024*</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DA8136A2-0473-ED01-6C0D-CE6FCF440D43}"/>
              </a:ext>
            </a:extLst>
          </p:cNvPr>
          <p:cNvSpPr txBox="1"/>
          <p:nvPr/>
        </p:nvSpPr>
        <p:spPr>
          <a:xfrm>
            <a:off x="1677271" y="1307978"/>
            <a:ext cx="7562850" cy="707886"/>
          </a:xfrm>
          <a:prstGeom prst="rect">
            <a:avLst/>
          </a:prstGeom>
          <a:noFill/>
        </p:spPr>
        <p:txBody>
          <a:bodyPr wrap="square" rtlCol="0">
            <a:spAutoFit/>
          </a:bodyPr>
          <a:lstStyle/>
          <a:p>
            <a:pPr algn="ctr"/>
            <a:r>
              <a:rPr lang="es-ES" sz="2000" b="1" dirty="0"/>
              <a:t>EVOLUCIÓN DE INGRESOS Y SALIDAS EXPEDIENTES DE RECLAMO 2019-2024*</a:t>
            </a:r>
            <a:endParaRPr lang="es-PE" sz="2000" b="1" dirty="0"/>
          </a:p>
        </p:txBody>
      </p:sp>
      <p:graphicFrame>
        <p:nvGraphicFramePr>
          <p:cNvPr id="3" name="Tabla 2">
            <a:extLst>
              <a:ext uri="{FF2B5EF4-FFF2-40B4-BE49-F238E27FC236}">
                <a16:creationId xmlns:a16="http://schemas.microsoft.com/office/drawing/2014/main" id="{92D20683-F364-E956-9C4F-D440AA5ED83A}"/>
              </a:ext>
            </a:extLst>
          </p:cNvPr>
          <p:cNvGraphicFramePr>
            <a:graphicFrameLocks noGrp="1"/>
          </p:cNvGraphicFramePr>
          <p:nvPr>
            <p:extLst>
              <p:ext uri="{D42A27DB-BD31-4B8C-83A1-F6EECF244321}">
                <p14:modId xmlns:p14="http://schemas.microsoft.com/office/powerpoint/2010/main" val="4043599928"/>
              </p:ext>
            </p:extLst>
          </p:nvPr>
        </p:nvGraphicFramePr>
        <p:xfrm>
          <a:off x="1104899" y="2180484"/>
          <a:ext cx="8707594" cy="963978"/>
        </p:xfrm>
        <a:graphic>
          <a:graphicData uri="http://schemas.openxmlformats.org/drawingml/2006/table">
            <a:tbl>
              <a:tblPr firstRow="1" firstCol="1" bandRow="1"/>
              <a:tblGrid>
                <a:gridCol w="1243942">
                  <a:extLst>
                    <a:ext uri="{9D8B030D-6E8A-4147-A177-3AD203B41FA5}">
                      <a16:colId xmlns:a16="http://schemas.microsoft.com/office/drawing/2014/main" val="4093851502"/>
                    </a:ext>
                  </a:extLst>
                </a:gridCol>
                <a:gridCol w="1243942">
                  <a:extLst>
                    <a:ext uri="{9D8B030D-6E8A-4147-A177-3AD203B41FA5}">
                      <a16:colId xmlns:a16="http://schemas.microsoft.com/office/drawing/2014/main" val="3969460617"/>
                    </a:ext>
                  </a:extLst>
                </a:gridCol>
                <a:gridCol w="1243942">
                  <a:extLst>
                    <a:ext uri="{9D8B030D-6E8A-4147-A177-3AD203B41FA5}">
                      <a16:colId xmlns:a16="http://schemas.microsoft.com/office/drawing/2014/main" val="198342931"/>
                    </a:ext>
                  </a:extLst>
                </a:gridCol>
                <a:gridCol w="1243942">
                  <a:extLst>
                    <a:ext uri="{9D8B030D-6E8A-4147-A177-3AD203B41FA5}">
                      <a16:colId xmlns:a16="http://schemas.microsoft.com/office/drawing/2014/main" val="2370426896"/>
                    </a:ext>
                  </a:extLst>
                </a:gridCol>
                <a:gridCol w="1243942">
                  <a:extLst>
                    <a:ext uri="{9D8B030D-6E8A-4147-A177-3AD203B41FA5}">
                      <a16:colId xmlns:a16="http://schemas.microsoft.com/office/drawing/2014/main" val="1469780919"/>
                    </a:ext>
                  </a:extLst>
                </a:gridCol>
                <a:gridCol w="1243942">
                  <a:extLst>
                    <a:ext uri="{9D8B030D-6E8A-4147-A177-3AD203B41FA5}">
                      <a16:colId xmlns:a16="http://schemas.microsoft.com/office/drawing/2014/main" val="2591977041"/>
                    </a:ext>
                  </a:extLst>
                </a:gridCol>
                <a:gridCol w="1243942">
                  <a:extLst>
                    <a:ext uri="{9D8B030D-6E8A-4147-A177-3AD203B41FA5}">
                      <a16:colId xmlns:a16="http://schemas.microsoft.com/office/drawing/2014/main" val="3152186309"/>
                    </a:ext>
                  </a:extLst>
                </a:gridCol>
              </a:tblGrid>
              <a:tr h="321326">
                <a:tc>
                  <a:txBody>
                    <a:bodyPr/>
                    <a:lstStyle/>
                    <a:p>
                      <a:pPr algn="l" rtl="0" fontAlgn="ctr"/>
                      <a:r>
                        <a:rPr lang="es-PE" sz="2000" b="1" i="0" u="none" strike="noStrike">
                          <a:solidFill>
                            <a:srgbClr val="000000"/>
                          </a:solidFill>
                          <a:effectLst/>
                          <a:latin typeface="Calibri" panose="020F0502020204030204" pitchFamily="34" charset="0"/>
                        </a:rPr>
                        <a:t>DETALLE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dirty="0">
                          <a:solidFill>
                            <a:srgbClr val="000000"/>
                          </a:solidFill>
                          <a:effectLst/>
                          <a:latin typeface="Calibri" panose="020F0502020204030204" pitchFamily="34" charset="0"/>
                        </a:rPr>
                        <a:t>2019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125101519"/>
                  </a:ext>
                </a:extLst>
              </a:tr>
              <a:tr h="321326">
                <a:tc>
                  <a:txBody>
                    <a:bodyPr/>
                    <a:lstStyle/>
                    <a:p>
                      <a:pPr algn="l" rtl="0" fontAlgn="ctr"/>
                      <a:r>
                        <a:rPr lang="es-PE" sz="2000" b="1" i="0" u="none" strike="noStrike">
                          <a:solidFill>
                            <a:srgbClr val="000000"/>
                          </a:solidFill>
                          <a:effectLst/>
                          <a:latin typeface="Calibri" panose="020F0502020204030204" pitchFamily="34" charset="0"/>
                        </a:rPr>
                        <a:t>INGRESOS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4,409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3,249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5,860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5,970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4,678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1,206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908671636"/>
                  </a:ext>
                </a:extLst>
              </a:tr>
              <a:tr h="321326">
                <a:tc>
                  <a:txBody>
                    <a:bodyPr/>
                    <a:lstStyle/>
                    <a:p>
                      <a:pPr algn="l" rtl="0" fontAlgn="ctr"/>
                      <a:r>
                        <a:rPr lang="es-PE" sz="2000" b="1" i="0" u="none" strike="noStrike">
                          <a:solidFill>
                            <a:srgbClr val="000000"/>
                          </a:solidFill>
                          <a:effectLst/>
                          <a:latin typeface="Calibri" panose="020F0502020204030204" pitchFamily="34" charset="0"/>
                        </a:rPr>
                        <a:t>SALIDAS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3,435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2,981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3,455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5,581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6,248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1,318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58584415"/>
                  </a:ext>
                </a:extLst>
              </a:tr>
            </a:tbl>
          </a:graphicData>
        </a:graphic>
      </p:graphicFrame>
      <p:graphicFrame>
        <p:nvGraphicFramePr>
          <p:cNvPr id="4" name="Gráfico 3">
            <a:extLst>
              <a:ext uri="{FF2B5EF4-FFF2-40B4-BE49-F238E27FC236}">
                <a16:creationId xmlns:a16="http://schemas.microsoft.com/office/drawing/2014/main" id="{4FE17D7D-2799-58B1-C4FA-F339EFEFFD46}"/>
              </a:ext>
            </a:extLst>
          </p:cNvPr>
          <p:cNvGraphicFramePr>
            <a:graphicFrameLocks/>
          </p:cNvGraphicFramePr>
          <p:nvPr>
            <p:extLst>
              <p:ext uri="{D42A27DB-BD31-4B8C-83A1-F6EECF244321}">
                <p14:modId xmlns:p14="http://schemas.microsoft.com/office/powerpoint/2010/main" val="3790308350"/>
              </p:ext>
            </p:extLst>
          </p:nvPr>
        </p:nvGraphicFramePr>
        <p:xfrm>
          <a:off x="1104899" y="3496989"/>
          <a:ext cx="8707595" cy="2962250"/>
        </p:xfrm>
        <a:graphic>
          <a:graphicData uri="http://schemas.openxmlformats.org/drawingml/2006/chart">
            <c:chart xmlns:c="http://schemas.openxmlformats.org/drawingml/2006/chart" xmlns:r="http://schemas.openxmlformats.org/officeDocument/2006/relationships" r:id="rId4"/>
          </a:graphicData>
        </a:graphic>
      </p:graphicFrame>
      <p:sp>
        <p:nvSpPr>
          <p:cNvPr id="7" name="CuadroTexto 6">
            <a:extLst>
              <a:ext uri="{FF2B5EF4-FFF2-40B4-BE49-F238E27FC236}">
                <a16:creationId xmlns:a16="http://schemas.microsoft.com/office/drawing/2014/main" id="{B61CC4B4-FE39-48D4-90AB-3AA1280F5B02}"/>
              </a:ext>
            </a:extLst>
          </p:cNvPr>
          <p:cNvSpPr txBox="1"/>
          <p:nvPr/>
        </p:nvSpPr>
        <p:spPr>
          <a:xfrm>
            <a:off x="1104900" y="6459239"/>
            <a:ext cx="2611595" cy="261610"/>
          </a:xfrm>
          <a:prstGeom prst="rect">
            <a:avLst/>
          </a:prstGeom>
          <a:noFill/>
        </p:spPr>
        <p:txBody>
          <a:bodyPr wrap="square" rtlCol="0">
            <a:spAutoFit/>
          </a:bodyPr>
          <a:lstStyle/>
          <a:p>
            <a:r>
              <a:rPr lang="es-ES" sz="1100" b="1" dirty="0"/>
              <a:t>*Primer trimestre 2024</a:t>
            </a:r>
            <a:endParaRPr lang="es-PE" sz="1100" b="1" dirty="0"/>
          </a:p>
        </p:txBody>
      </p:sp>
    </p:spTree>
    <p:extLst>
      <p:ext uri="{BB962C8B-B14F-4D97-AF65-F5344CB8AC3E}">
        <p14:creationId xmlns:p14="http://schemas.microsoft.com/office/powerpoint/2010/main" val="3333353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DE DOCUMENTOS– 2024</a:t>
            </a:r>
            <a:endParaRPr lang="es-PE" sz="2800" b="1" dirty="0">
              <a:latin typeface="Arial" panose="020B0604020202020204" pitchFamily="34" charset="0"/>
              <a:cs typeface="Arial" panose="020B0604020202020204" pitchFamily="34" charset="0"/>
            </a:endParaRPr>
          </a:p>
        </p:txBody>
      </p:sp>
      <p:sp>
        <p:nvSpPr>
          <p:cNvPr id="10" name="Flecha: a la derecha 9">
            <a:extLst>
              <a:ext uri="{FF2B5EF4-FFF2-40B4-BE49-F238E27FC236}">
                <a16:creationId xmlns:a16="http://schemas.microsoft.com/office/drawing/2014/main" id="{56F964CE-6A15-CC82-91F5-317A16FEDABD}"/>
              </a:ext>
            </a:extLst>
          </p:cNvPr>
          <p:cNvSpPr/>
          <p:nvPr/>
        </p:nvSpPr>
        <p:spPr>
          <a:xfrm>
            <a:off x="4582029" y="3101390"/>
            <a:ext cx="927907" cy="88032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b="1" dirty="0"/>
              <a:t>TOTAL</a:t>
            </a:r>
            <a:endParaRPr lang="es-PE" sz="1600" b="1" dirty="0"/>
          </a:p>
        </p:txBody>
      </p:sp>
      <p:sp>
        <p:nvSpPr>
          <p:cNvPr id="14" name="CuadroTexto 13">
            <a:extLst>
              <a:ext uri="{FF2B5EF4-FFF2-40B4-BE49-F238E27FC236}">
                <a16:creationId xmlns:a16="http://schemas.microsoft.com/office/drawing/2014/main" id="{21B5B194-953F-4A69-9AA8-4D95C62A4561}"/>
              </a:ext>
            </a:extLst>
          </p:cNvPr>
          <p:cNvSpPr txBox="1"/>
          <p:nvPr/>
        </p:nvSpPr>
        <p:spPr>
          <a:xfrm>
            <a:off x="644681" y="6203621"/>
            <a:ext cx="3187700" cy="24622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000" b="1" dirty="0">
                <a:solidFill>
                  <a:schemeClr val="tx1"/>
                </a:solidFill>
              </a:rPr>
              <a:t>Fuente SIGERI al 31.05.2024</a:t>
            </a:r>
            <a:endParaRPr lang="es-ES" sz="1200" dirty="0">
              <a:highlight>
                <a:srgbClr val="FFFF00"/>
              </a:highlight>
            </a:endParaRPr>
          </a:p>
        </p:txBody>
      </p:sp>
      <p:graphicFrame>
        <p:nvGraphicFramePr>
          <p:cNvPr id="8" name="Tabla 7">
            <a:extLst>
              <a:ext uri="{FF2B5EF4-FFF2-40B4-BE49-F238E27FC236}">
                <a16:creationId xmlns:a16="http://schemas.microsoft.com/office/drawing/2014/main" id="{42F9C33F-9E22-4CEF-FF21-529EBFB9BABA}"/>
              </a:ext>
            </a:extLst>
          </p:cNvPr>
          <p:cNvGraphicFramePr>
            <a:graphicFrameLocks noGrp="1"/>
          </p:cNvGraphicFramePr>
          <p:nvPr>
            <p:extLst>
              <p:ext uri="{D42A27DB-BD31-4B8C-83A1-F6EECF244321}">
                <p14:modId xmlns:p14="http://schemas.microsoft.com/office/powerpoint/2010/main" val="598575884"/>
              </p:ext>
            </p:extLst>
          </p:nvPr>
        </p:nvGraphicFramePr>
        <p:xfrm>
          <a:off x="538331" y="1398061"/>
          <a:ext cx="3400400" cy="1376279"/>
        </p:xfrm>
        <a:graphic>
          <a:graphicData uri="http://schemas.openxmlformats.org/drawingml/2006/table">
            <a:tbl>
              <a:tblPr/>
              <a:tblGrid>
                <a:gridCol w="1385719">
                  <a:extLst>
                    <a:ext uri="{9D8B030D-6E8A-4147-A177-3AD203B41FA5}">
                      <a16:colId xmlns:a16="http://schemas.microsoft.com/office/drawing/2014/main" val="303441847"/>
                    </a:ext>
                  </a:extLst>
                </a:gridCol>
                <a:gridCol w="314481">
                  <a:extLst>
                    <a:ext uri="{9D8B030D-6E8A-4147-A177-3AD203B41FA5}">
                      <a16:colId xmlns:a16="http://schemas.microsoft.com/office/drawing/2014/main" val="1716151770"/>
                    </a:ext>
                  </a:extLst>
                </a:gridCol>
                <a:gridCol w="581416">
                  <a:extLst>
                    <a:ext uri="{9D8B030D-6E8A-4147-A177-3AD203B41FA5}">
                      <a16:colId xmlns:a16="http://schemas.microsoft.com/office/drawing/2014/main" val="757411442"/>
                    </a:ext>
                  </a:extLst>
                </a:gridCol>
                <a:gridCol w="1118784">
                  <a:extLst>
                    <a:ext uri="{9D8B030D-6E8A-4147-A177-3AD203B41FA5}">
                      <a16:colId xmlns:a16="http://schemas.microsoft.com/office/drawing/2014/main" val="3639645170"/>
                    </a:ext>
                  </a:extLst>
                </a:gridCol>
              </a:tblGrid>
              <a:tr h="339555">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ES" sz="1400" b="1" i="0" u="none" strike="noStrike" dirty="0">
                          <a:solidFill>
                            <a:srgbClr val="000000"/>
                          </a:solidFill>
                          <a:effectLst/>
                          <a:latin typeface="+mn-lt"/>
                        </a:rPr>
                        <a:t>            SIGERI</a:t>
                      </a: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pPr algn="ctr" fontAlgn="ct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528009855"/>
                  </a:ext>
                </a:extLst>
              </a:tr>
              <a:tr h="305002">
                <a:tc>
                  <a:txBody>
                    <a:bodyPr/>
                    <a:lstStyle/>
                    <a:p>
                      <a:pPr algn="l" fontAlgn="ctr"/>
                      <a:r>
                        <a:rPr lang="es-PE" sz="1400" b="1" i="0" u="none" strike="noStrike" dirty="0">
                          <a:solidFill>
                            <a:srgbClr val="000000"/>
                          </a:solidFill>
                          <a:effectLst/>
                          <a:latin typeface="+mn-lt"/>
                        </a:rPr>
                        <a:t>FONDO</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491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460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426720">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gridSpan="2">
                  <a:txBody>
                    <a:bodyPr/>
                    <a:lstStyle/>
                    <a:p>
                      <a:pPr algn="ctr" fontAlgn="ctr"/>
                      <a:r>
                        <a:rPr lang="es-ES" sz="1400" b="1" i="0" u="none" strike="noStrike" dirty="0">
                          <a:solidFill>
                            <a:schemeClr val="tx1"/>
                          </a:solidFill>
                          <a:effectLst/>
                          <a:latin typeface="+mn-lt"/>
                        </a:rPr>
                        <a:t>101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101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05002">
                <a:tc>
                  <a:txBody>
                    <a:bodyPr/>
                    <a:lstStyle/>
                    <a:p>
                      <a:pPr algn="l" fontAlgn="ctr"/>
                      <a:r>
                        <a:rPr lang="es-PE" sz="1400" b="1" i="0" u="none" strike="noStrike" dirty="0">
                          <a:solidFill>
                            <a:srgbClr val="000000"/>
                          </a:solidFill>
                          <a:effectLst/>
                          <a:latin typeface="+mn-lt"/>
                        </a:rPr>
                        <a:t>TOTAL</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592</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561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11" name="Tabla 10">
            <a:extLst>
              <a:ext uri="{FF2B5EF4-FFF2-40B4-BE49-F238E27FC236}">
                <a16:creationId xmlns:a16="http://schemas.microsoft.com/office/drawing/2014/main" id="{E5EFB618-4604-09BB-AFE3-37F61C5C02EF}"/>
              </a:ext>
            </a:extLst>
          </p:cNvPr>
          <p:cNvGraphicFramePr>
            <a:graphicFrameLocks noGrp="1"/>
          </p:cNvGraphicFramePr>
          <p:nvPr>
            <p:extLst>
              <p:ext uri="{D42A27DB-BD31-4B8C-83A1-F6EECF244321}">
                <p14:modId xmlns:p14="http://schemas.microsoft.com/office/powerpoint/2010/main" val="262642945"/>
              </p:ext>
            </p:extLst>
          </p:nvPr>
        </p:nvGraphicFramePr>
        <p:xfrm>
          <a:off x="538331" y="2890995"/>
          <a:ext cx="3385972" cy="1301115"/>
        </p:xfrm>
        <a:graphic>
          <a:graphicData uri="http://schemas.openxmlformats.org/drawingml/2006/table">
            <a:tbl>
              <a:tblPr/>
              <a:tblGrid>
                <a:gridCol w="1395244">
                  <a:extLst>
                    <a:ext uri="{9D8B030D-6E8A-4147-A177-3AD203B41FA5}">
                      <a16:colId xmlns:a16="http://schemas.microsoft.com/office/drawing/2014/main" val="2925254002"/>
                    </a:ext>
                  </a:extLst>
                </a:gridCol>
                <a:gridCol w="904876">
                  <a:extLst>
                    <a:ext uri="{9D8B030D-6E8A-4147-A177-3AD203B41FA5}">
                      <a16:colId xmlns:a16="http://schemas.microsoft.com/office/drawing/2014/main" val="867454367"/>
                    </a:ext>
                  </a:extLst>
                </a:gridCol>
                <a:gridCol w="1085852">
                  <a:extLst>
                    <a:ext uri="{9D8B030D-6E8A-4147-A177-3AD203B41FA5}">
                      <a16:colId xmlns:a16="http://schemas.microsoft.com/office/drawing/2014/main" val="2116818572"/>
                    </a:ext>
                  </a:extLst>
                </a:gridCol>
              </a:tblGrid>
              <a:tr h="28728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gridSpan="2">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dirty="0"/>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extLst>
                  <a:ext uri="{0D108BD9-81ED-4DB2-BD59-A6C34878D82A}">
                    <a16:rowId xmlns:a16="http://schemas.microsoft.com/office/drawing/2014/main" val="2471929919"/>
                  </a:ext>
                </a:extLst>
              </a:tr>
              <a:tr h="301312">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265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253</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3243334386"/>
                  </a:ext>
                </a:extLst>
              </a:tr>
              <a:tr h="425233">
                <a:tc>
                  <a:txBody>
                    <a:bodyPr/>
                    <a:lstStyle/>
                    <a:p>
                      <a:r>
                        <a:rPr lang="es-PE" sz="1400" b="1" i="0" u="none" strike="noStrike" dirty="0">
                          <a:solidFill>
                            <a:srgbClr val="000000"/>
                          </a:solidFill>
                          <a:effectLst/>
                          <a:latin typeface="+mn-lt"/>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11438467"/>
                  </a:ext>
                </a:extLst>
              </a:tr>
              <a:tr h="28728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329</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330</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2508674559"/>
                  </a:ext>
                </a:extLst>
              </a:tr>
            </a:tbl>
          </a:graphicData>
        </a:graphic>
      </p:graphicFrame>
      <p:graphicFrame>
        <p:nvGraphicFramePr>
          <p:cNvPr id="12" name="Tabla 11">
            <a:extLst>
              <a:ext uri="{FF2B5EF4-FFF2-40B4-BE49-F238E27FC236}">
                <a16:creationId xmlns:a16="http://schemas.microsoft.com/office/drawing/2014/main" id="{11E47780-28B5-BC8F-2D32-D418E13A98E3}"/>
              </a:ext>
            </a:extLst>
          </p:cNvPr>
          <p:cNvGraphicFramePr>
            <a:graphicFrameLocks noGrp="1"/>
          </p:cNvGraphicFramePr>
          <p:nvPr>
            <p:extLst>
              <p:ext uri="{D42A27DB-BD31-4B8C-83A1-F6EECF244321}">
                <p14:modId xmlns:p14="http://schemas.microsoft.com/office/powerpoint/2010/main" val="2869299310"/>
              </p:ext>
            </p:extLst>
          </p:nvPr>
        </p:nvGraphicFramePr>
        <p:xfrm>
          <a:off x="538330" y="4359468"/>
          <a:ext cx="3385972" cy="1302601"/>
        </p:xfrm>
        <a:graphic>
          <a:graphicData uri="http://schemas.openxmlformats.org/drawingml/2006/table">
            <a:tbl>
              <a:tblPr/>
              <a:tblGrid>
                <a:gridCol w="1338094">
                  <a:extLst>
                    <a:ext uri="{9D8B030D-6E8A-4147-A177-3AD203B41FA5}">
                      <a16:colId xmlns:a16="http://schemas.microsoft.com/office/drawing/2014/main" val="33698083"/>
                    </a:ext>
                  </a:extLst>
                </a:gridCol>
                <a:gridCol w="934310">
                  <a:extLst>
                    <a:ext uri="{9D8B030D-6E8A-4147-A177-3AD203B41FA5}">
                      <a16:colId xmlns:a16="http://schemas.microsoft.com/office/drawing/2014/main" val="1249015919"/>
                    </a:ext>
                  </a:extLst>
                </a:gridCol>
                <a:gridCol w="1113568">
                  <a:extLst>
                    <a:ext uri="{9D8B030D-6E8A-4147-A177-3AD203B41FA5}">
                      <a16:colId xmlns:a16="http://schemas.microsoft.com/office/drawing/2014/main" val="2207642921"/>
                    </a:ext>
                  </a:extLst>
                </a:gridCol>
              </a:tblGrid>
              <a:tr h="288619">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gridSpan="2">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dirty="0"/>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extLst>
                  <a:ext uri="{0D108BD9-81ED-4DB2-BD59-A6C34878D82A}">
                    <a16:rowId xmlns:a16="http://schemas.microsoft.com/office/drawing/2014/main" val="168360316"/>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1942616474"/>
                  </a:ext>
                </a:extLst>
              </a:tr>
              <a:tr h="436744">
                <a:tc>
                  <a:txBody>
                    <a:bodyPr/>
                    <a:lstStyle/>
                    <a:p>
                      <a:r>
                        <a:rPr lang="es-PE" sz="1400" b="1" dirty="0">
                          <a:effectLst/>
                          <a:latin typeface="Calibri" panose="020F0502020204030204" pitchFamily="34" charset="0"/>
                          <a:ea typeface="Calibri" panose="020F0502020204030204" pitchFamily="34" charset="0"/>
                          <a:cs typeface="Times New Roman" panose="02020603050405020304" pitchFamily="18" charset="0"/>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F4B083"/>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1274527589"/>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3466549735"/>
                  </a:ext>
                </a:extLst>
              </a:tr>
            </a:tbl>
          </a:graphicData>
        </a:graphic>
      </p:graphicFrame>
      <p:graphicFrame>
        <p:nvGraphicFramePr>
          <p:cNvPr id="17" name="Tabla 16">
            <a:extLst>
              <a:ext uri="{FF2B5EF4-FFF2-40B4-BE49-F238E27FC236}">
                <a16:creationId xmlns:a16="http://schemas.microsoft.com/office/drawing/2014/main" id="{C33A2A62-036F-C383-8520-446B907B93C7}"/>
              </a:ext>
            </a:extLst>
          </p:cNvPr>
          <p:cNvGraphicFramePr>
            <a:graphicFrameLocks noGrp="1"/>
          </p:cNvGraphicFramePr>
          <p:nvPr>
            <p:extLst>
              <p:ext uri="{D42A27DB-BD31-4B8C-83A1-F6EECF244321}">
                <p14:modId xmlns:p14="http://schemas.microsoft.com/office/powerpoint/2010/main" val="2726881105"/>
              </p:ext>
            </p:extLst>
          </p:nvPr>
        </p:nvGraphicFramePr>
        <p:xfrm>
          <a:off x="7058025" y="5177372"/>
          <a:ext cx="2419350" cy="765606"/>
        </p:xfrm>
        <a:graphic>
          <a:graphicData uri="http://schemas.openxmlformats.org/drawingml/2006/table">
            <a:tbl>
              <a:tblPr>
                <a:tableStyleId>{D7AC3CCA-C797-4891-BE02-D94E43425B78}</a:tableStyleId>
              </a:tblPr>
              <a:tblGrid>
                <a:gridCol w="806450">
                  <a:extLst>
                    <a:ext uri="{9D8B030D-6E8A-4147-A177-3AD203B41FA5}">
                      <a16:colId xmlns:a16="http://schemas.microsoft.com/office/drawing/2014/main" val="4025633932"/>
                    </a:ext>
                  </a:extLst>
                </a:gridCol>
                <a:gridCol w="806450">
                  <a:extLst>
                    <a:ext uri="{9D8B030D-6E8A-4147-A177-3AD203B41FA5}">
                      <a16:colId xmlns:a16="http://schemas.microsoft.com/office/drawing/2014/main" val="3397563117"/>
                    </a:ext>
                  </a:extLst>
                </a:gridCol>
                <a:gridCol w="806450">
                  <a:extLst>
                    <a:ext uri="{9D8B030D-6E8A-4147-A177-3AD203B41FA5}">
                      <a16:colId xmlns:a16="http://schemas.microsoft.com/office/drawing/2014/main" val="1535915550"/>
                    </a:ext>
                  </a:extLst>
                </a:gridCol>
              </a:tblGrid>
              <a:tr h="255202">
                <a:tc gridSpan="3">
                  <a:txBody>
                    <a:bodyPr/>
                    <a:lstStyle/>
                    <a:p>
                      <a:pPr algn="ctr" fontAlgn="ctr"/>
                      <a:r>
                        <a:rPr lang="es-PE" sz="1400" b="1" u="none" strike="noStrike" dirty="0">
                          <a:solidFill>
                            <a:srgbClr val="000000"/>
                          </a:solidFill>
                          <a:effectLst/>
                        </a:rPr>
                        <a:t>INGRESADOS</a:t>
                      </a:r>
                      <a:endParaRPr lang="es-PE" sz="14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959304820"/>
                  </a:ext>
                </a:extLst>
              </a:tr>
              <a:tr h="255202">
                <a:tc>
                  <a:txBody>
                    <a:bodyPr/>
                    <a:lstStyle/>
                    <a:p>
                      <a:pPr algn="ctr" fontAlgn="ctr"/>
                      <a:r>
                        <a:rPr lang="es-PE" sz="1400" b="1" u="none" strike="noStrike" dirty="0">
                          <a:solidFill>
                            <a:srgbClr val="000000"/>
                          </a:solidFill>
                          <a:effectLst/>
                        </a:rPr>
                        <a:t>DCCI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DCCII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DCP</a:t>
                      </a:r>
                      <a:endParaRPr lang="es-PE" sz="14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4528736"/>
                  </a:ext>
                </a:extLst>
              </a:tr>
              <a:tr h="255202">
                <a:tc>
                  <a:txBody>
                    <a:bodyPr/>
                    <a:lstStyle/>
                    <a:p>
                      <a:pPr algn="ctr" fontAlgn="b"/>
                      <a:r>
                        <a:rPr lang="es-ES" sz="1400" b="0" i="0" u="none" strike="noStrike" dirty="0">
                          <a:solidFill>
                            <a:schemeClr val="tx1"/>
                          </a:solidFill>
                          <a:effectLst/>
                          <a:latin typeface="Calibri" panose="020F0502020204030204" pitchFamily="34" charset="0"/>
                        </a:rPr>
                        <a:t>11</a:t>
                      </a:r>
                      <a:endParaRPr lang="es-PE" sz="1400" b="0" i="0" u="none" strike="noStrike" dirty="0">
                        <a:solidFill>
                          <a:schemeClr val="tx1"/>
                        </a:solidFill>
                        <a:effectLst/>
                        <a:latin typeface="Calibri" panose="020F0502020204030204" pitchFamily="34" charset="0"/>
                      </a:endParaRPr>
                    </a:p>
                  </a:txBody>
                  <a:tcPr marL="0" marR="0" marT="0" marB="0" anchor="b"/>
                </a:tc>
                <a:tc>
                  <a:txBody>
                    <a:bodyPr/>
                    <a:lstStyle/>
                    <a:p>
                      <a:pPr algn="ctr" fontAlgn="b"/>
                      <a:r>
                        <a:rPr lang="es-ES" sz="1400" b="0" i="0" u="none" strike="noStrike" dirty="0">
                          <a:solidFill>
                            <a:schemeClr val="tx1"/>
                          </a:solidFill>
                          <a:effectLst/>
                          <a:latin typeface="Calibri" panose="020F0502020204030204" pitchFamily="34" charset="0"/>
                        </a:rPr>
                        <a:t>11</a:t>
                      </a:r>
                    </a:p>
                  </a:txBody>
                  <a:tcPr marL="0" marR="0" marT="0" marB="0" anchor="b"/>
                </a:tc>
                <a:tc>
                  <a:txBody>
                    <a:bodyPr/>
                    <a:lstStyle/>
                    <a:p>
                      <a:pPr algn="ctr" fontAlgn="ctr"/>
                      <a:r>
                        <a:rPr lang="es-ES" sz="1400" b="0" i="0" u="none" strike="noStrike" dirty="0">
                          <a:solidFill>
                            <a:schemeClr val="tx1"/>
                          </a:solidFill>
                          <a:effectLst/>
                          <a:latin typeface="Calibri" panose="020F0502020204030204" pitchFamily="34" charset="0"/>
                        </a:rPr>
                        <a:t>0</a:t>
                      </a:r>
                      <a:endParaRPr lang="es-PE" sz="1400" b="0" i="0" u="none" strike="noStrike" dirty="0">
                        <a:solidFill>
                          <a:schemeClr val="tx1"/>
                        </a:solidFill>
                        <a:effectLst/>
                        <a:latin typeface="Calibri" panose="020F0502020204030204" pitchFamily="34" charset="0"/>
                      </a:endParaRPr>
                    </a:p>
                  </a:txBody>
                  <a:tcPr marL="0" marR="0" marT="0" marB="0" anchor="ctr"/>
                </a:tc>
                <a:extLst>
                  <a:ext uri="{0D108BD9-81ED-4DB2-BD59-A6C34878D82A}">
                    <a16:rowId xmlns:a16="http://schemas.microsoft.com/office/drawing/2014/main" val="293386828"/>
                  </a:ext>
                </a:extLst>
              </a:tr>
            </a:tbl>
          </a:graphicData>
        </a:graphic>
      </p:graphicFrame>
      <p:sp>
        <p:nvSpPr>
          <p:cNvPr id="6" name="CuadroTexto 5">
            <a:extLst>
              <a:ext uri="{FF2B5EF4-FFF2-40B4-BE49-F238E27FC236}">
                <a16:creationId xmlns:a16="http://schemas.microsoft.com/office/drawing/2014/main" id="{85348961-3E42-D777-9E0B-39E48E615938}"/>
              </a:ext>
            </a:extLst>
          </p:cNvPr>
          <p:cNvSpPr txBox="1"/>
          <p:nvPr/>
        </p:nvSpPr>
        <p:spPr>
          <a:xfrm>
            <a:off x="7268874" y="1046149"/>
            <a:ext cx="1457325" cy="369327"/>
          </a:xfrm>
          <a:prstGeom prst="rect">
            <a:avLst/>
          </a:prstGeom>
          <a:noFill/>
        </p:spPr>
        <p:txBody>
          <a:bodyPr wrap="square" rtlCol="0">
            <a:spAutoFit/>
          </a:bodyPr>
          <a:lstStyle/>
          <a:p>
            <a:pPr algn="ctr"/>
            <a:r>
              <a:rPr lang="es-ES" b="1" dirty="0"/>
              <a:t>2023</a:t>
            </a:r>
            <a:endParaRPr lang="es-PE" b="1" dirty="0"/>
          </a:p>
        </p:txBody>
      </p:sp>
      <p:sp>
        <p:nvSpPr>
          <p:cNvPr id="7" name="CuadroTexto 6">
            <a:extLst>
              <a:ext uri="{FF2B5EF4-FFF2-40B4-BE49-F238E27FC236}">
                <a16:creationId xmlns:a16="http://schemas.microsoft.com/office/drawing/2014/main" id="{18BA90EE-AAFF-1CB0-5F16-DB7D138D89F2}"/>
              </a:ext>
            </a:extLst>
          </p:cNvPr>
          <p:cNvSpPr txBox="1"/>
          <p:nvPr/>
        </p:nvSpPr>
        <p:spPr>
          <a:xfrm>
            <a:off x="7539037" y="3067096"/>
            <a:ext cx="1457325" cy="369327"/>
          </a:xfrm>
          <a:prstGeom prst="rect">
            <a:avLst/>
          </a:prstGeom>
          <a:noFill/>
        </p:spPr>
        <p:txBody>
          <a:bodyPr wrap="square" rtlCol="0">
            <a:spAutoFit/>
          </a:bodyPr>
          <a:lstStyle/>
          <a:p>
            <a:pPr algn="ctr"/>
            <a:r>
              <a:rPr lang="es-ES" b="1" dirty="0"/>
              <a:t>2024</a:t>
            </a:r>
            <a:endParaRPr lang="es-PE" b="1" dirty="0"/>
          </a:p>
        </p:txBody>
      </p:sp>
      <p:sp>
        <p:nvSpPr>
          <p:cNvPr id="19" name="Cerrar llave 18">
            <a:extLst>
              <a:ext uri="{FF2B5EF4-FFF2-40B4-BE49-F238E27FC236}">
                <a16:creationId xmlns:a16="http://schemas.microsoft.com/office/drawing/2014/main" id="{C92AC8BE-E273-CB5B-F901-4896BFC3E34F}"/>
              </a:ext>
            </a:extLst>
          </p:cNvPr>
          <p:cNvSpPr/>
          <p:nvPr/>
        </p:nvSpPr>
        <p:spPr>
          <a:xfrm>
            <a:off x="4014930" y="1460125"/>
            <a:ext cx="514350" cy="4093467"/>
          </a:xfrm>
          <a:prstGeom prst="rightBrace">
            <a:avLst>
              <a:gd name="adj1" fmla="val 8333"/>
              <a:gd name="adj2" fmla="val 5046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PE" b="1" dirty="0"/>
          </a:p>
        </p:txBody>
      </p:sp>
      <p:graphicFrame>
        <p:nvGraphicFramePr>
          <p:cNvPr id="2" name="Tabla 1">
            <a:extLst>
              <a:ext uri="{FF2B5EF4-FFF2-40B4-BE49-F238E27FC236}">
                <a16:creationId xmlns:a16="http://schemas.microsoft.com/office/drawing/2014/main" id="{3629695C-2A70-2448-59F5-EF50943DF9DC}"/>
              </a:ext>
            </a:extLst>
          </p:cNvPr>
          <p:cNvGraphicFramePr>
            <a:graphicFrameLocks noGrp="1"/>
          </p:cNvGraphicFramePr>
          <p:nvPr>
            <p:extLst>
              <p:ext uri="{D42A27DB-BD31-4B8C-83A1-F6EECF244321}">
                <p14:modId xmlns:p14="http://schemas.microsoft.com/office/powerpoint/2010/main" val="2769929117"/>
              </p:ext>
            </p:extLst>
          </p:nvPr>
        </p:nvGraphicFramePr>
        <p:xfrm>
          <a:off x="4481272" y="1406283"/>
          <a:ext cx="7209221" cy="664142"/>
        </p:xfrm>
        <a:graphic>
          <a:graphicData uri="http://schemas.openxmlformats.org/drawingml/2006/table">
            <a:tbl>
              <a:tblPr/>
              <a:tblGrid>
                <a:gridCol w="510998">
                  <a:extLst>
                    <a:ext uri="{9D8B030D-6E8A-4147-A177-3AD203B41FA5}">
                      <a16:colId xmlns:a16="http://schemas.microsoft.com/office/drawing/2014/main" val="1074764036"/>
                    </a:ext>
                  </a:extLst>
                </a:gridCol>
                <a:gridCol w="704349">
                  <a:extLst>
                    <a:ext uri="{9D8B030D-6E8A-4147-A177-3AD203B41FA5}">
                      <a16:colId xmlns:a16="http://schemas.microsoft.com/office/drawing/2014/main" val="3258104317"/>
                    </a:ext>
                  </a:extLst>
                </a:gridCol>
                <a:gridCol w="593863">
                  <a:extLst>
                    <a:ext uri="{9D8B030D-6E8A-4147-A177-3AD203B41FA5}">
                      <a16:colId xmlns:a16="http://schemas.microsoft.com/office/drawing/2014/main" val="3572637511"/>
                    </a:ext>
                  </a:extLst>
                </a:gridCol>
                <a:gridCol w="510998">
                  <a:extLst>
                    <a:ext uri="{9D8B030D-6E8A-4147-A177-3AD203B41FA5}">
                      <a16:colId xmlns:a16="http://schemas.microsoft.com/office/drawing/2014/main" val="3857808528"/>
                    </a:ext>
                  </a:extLst>
                </a:gridCol>
                <a:gridCol w="524809">
                  <a:extLst>
                    <a:ext uri="{9D8B030D-6E8A-4147-A177-3AD203B41FA5}">
                      <a16:colId xmlns:a16="http://schemas.microsoft.com/office/drawing/2014/main" val="1503528122"/>
                    </a:ext>
                  </a:extLst>
                </a:gridCol>
                <a:gridCol w="455755">
                  <a:extLst>
                    <a:ext uri="{9D8B030D-6E8A-4147-A177-3AD203B41FA5}">
                      <a16:colId xmlns:a16="http://schemas.microsoft.com/office/drawing/2014/main" val="534461439"/>
                    </a:ext>
                  </a:extLst>
                </a:gridCol>
                <a:gridCol w="441945">
                  <a:extLst>
                    <a:ext uri="{9D8B030D-6E8A-4147-A177-3AD203B41FA5}">
                      <a16:colId xmlns:a16="http://schemas.microsoft.com/office/drawing/2014/main" val="1464611740"/>
                    </a:ext>
                  </a:extLst>
                </a:gridCol>
                <a:gridCol w="607674">
                  <a:extLst>
                    <a:ext uri="{9D8B030D-6E8A-4147-A177-3AD203B41FA5}">
                      <a16:colId xmlns:a16="http://schemas.microsoft.com/office/drawing/2014/main" val="983088506"/>
                    </a:ext>
                  </a:extLst>
                </a:gridCol>
                <a:gridCol w="718160">
                  <a:extLst>
                    <a:ext uri="{9D8B030D-6E8A-4147-A177-3AD203B41FA5}">
                      <a16:colId xmlns:a16="http://schemas.microsoft.com/office/drawing/2014/main" val="1149158738"/>
                    </a:ext>
                  </a:extLst>
                </a:gridCol>
                <a:gridCol w="621485">
                  <a:extLst>
                    <a:ext uri="{9D8B030D-6E8A-4147-A177-3AD203B41FA5}">
                      <a16:colId xmlns:a16="http://schemas.microsoft.com/office/drawing/2014/main" val="3128830786"/>
                    </a:ext>
                  </a:extLst>
                </a:gridCol>
                <a:gridCol w="828646">
                  <a:extLst>
                    <a:ext uri="{9D8B030D-6E8A-4147-A177-3AD203B41FA5}">
                      <a16:colId xmlns:a16="http://schemas.microsoft.com/office/drawing/2014/main" val="3835212946"/>
                    </a:ext>
                  </a:extLst>
                </a:gridCol>
                <a:gridCol w="690539">
                  <a:extLst>
                    <a:ext uri="{9D8B030D-6E8A-4147-A177-3AD203B41FA5}">
                      <a16:colId xmlns:a16="http://schemas.microsoft.com/office/drawing/2014/main" val="1709949566"/>
                    </a:ext>
                  </a:extLst>
                </a:gridCol>
              </a:tblGrid>
              <a:tr h="176321">
                <a:tc gridSpan="12">
                  <a:txBody>
                    <a:bodyPr/>
                    <a:lstStyle/>
                    <a:p>
                      <a:pPr algn="ctr" rtl="0" fontAlgn="ctr"/>
                      <a:r>
                        <a:rPr lang="es-PE" sz="105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159146899"/>
                  </a:ext>
                </a:extLst>
              </a:tr>
              <a:tr h="311500">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AGOSTO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SETIEMBRE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844435292"/>
                  </a:ext>
                </a:extLst>
              </a:tr>
              <a:tr h="176321">
                <a:tc>
                  <a:txBody>
                    <a:bodyPr/>
                    <a:lstStyle/>
                    <a:p>
                      <a:pPr algn="ctr" rtl="0" fontAlgn="ctr"/>
                      <a:r>
                        <a:rPr lang="es-PE" sz="1050" b="0" i="0" u="none" strike="noStrike">
                          <a:solidFill>
                            <a:srgbClr val="000000"/>
                          </a:solidFill>
                          <a:effectLst/>
                          <a:latin typeface="Calibri" panose="020F0502020204030204" pitchFamily="34" charset="0"/>
                        </a:rPr>
                        <a:t>1072</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1849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1199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1187</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878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878</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 640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801</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dirty="0">
                          <a:solidFill>
                            <a:srgbClr val="000000"/>
                          </a:solidFill>
                          <a:effectLst/>
                          <a:latin typeface="Calibri" panose="020F0502020204030204" pitchFamily="34" charset="0"/>
                        </a:rPr>
                        <a:t>633</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092472469"/>
                  </a:ext>
                </a:extLst>
              </a:tr>
            </a:tbl>
          </a:graphicData>
        </a:graphic>
      </p:graphicFrame>
      <p:graphicFrame>
        <p:nvGraphicFramePr>
          <p:cNvPr id="3" name="Tabla 2">
            <a:extLst>
              <a:ext uri="{FF2B5EF4-FFF2-40B4-BE49-F238E27FC236}">
                <a16:creationId xmlns:a16="http://schemas.microsoft.com/office/drawing/2014/main" id="{5806AB0E-3F85-9087-9ED5-45EE0E593B7F}"/>
              </a:ext>
            </a:extLst>
          </p:cNvPr>
          <p:cNvGraphicFramePr>
            <a:graphicFrameLocks noGrp="1"/>
          </p:cNvGraphicFramePr>
          <p:nvPr>
            <p:extLst>
              <p:ext uri="{D42A27DB-BD31-4B8C-83A1-F6EECF244321}">
                <p14:modId xmlns:p14="http://schemas.microsoft.com/office/powerpoint/2010/main" val="2543455476"/>
              </p:ext>
            </p:extLst>
          </p:nvPr>
        </p:nvGraphicFramePr>
        <p:xfrm>
          <a:off x="4481271" y="2241377"/>
          <a:ext cx="7209220" cy="717199"/>
        </p:xfrm>
        <a:graphic>
          <a:graphicData uri="http://schemas.openxmlformats.org/drawingml/2006/table">
            <a:tbl>
              <a:tblPr/>
              <a:tblGrid>
                <a:gridCol w="510998">
                  <a:extLst>
                    <a:ext uri="{9D8B030D-6E8A-4147-A177-3AD203B41FA5}">
                      <a16:colId xmlns:a16="http://schemas.microsoft.com/office/drawing/2014/main" val="2311963422"/>
                    </a:ext>
                  </a:extLst>
                </a:gridCol>
                <a:gridCol w="704349">
                  <a:extLst>
                    <a:ext uri="{9D8B030D-6E8A-4147-A177-3AD203B41FA5}">
                      <a16:colId xmlns:a16="http://schemas.microsoft.com/office/drawing/2014/main" val="1516187338"/>
                    </a:ext>
                  </a:extLst>
                </a:gridCol>
                <a:gridCol w="593863">
                  <a:extLst>
                    <a:ext uri="{9D8B030D-6E8A-4147-A177-3AD203B41FA5}">
                      <a16:colId xmlns:a16="http://schemas.microsoft.com/office/drawing/2014/main" val="3647570914"/>
                    </a:ext>
                  </a:extLst>
                </a:gridCol>
                <a:gridCol w="510998">
                  <a:extLst>
                    <a:ext uri="{9D8B030D-6E8A-4147-A177-3AD203B41FA5}">
                      <a16:colId xmlns:a16="http://schemas.microsoft.com/office/drawing/2014/main" val="1400445797"/>
                    </a:ext>
                  </a:extLst>
                </a:gridCol>
                <a:gridCol w="524809">
                  <a:extLst>
                    <a:ext uri="{9D8B030D-6E8A-4147-A177-3AD203B41FA5}">
                      <a16:colId xmlns:a16="http://schemas.microsoft.com/office/drawing/2014/main" val="3198969946"/>
                    </a:ext>
                  </a:extLst>
                </a:gridCol>
                <a:gridCol w="455755">
                  <a:extLst>
                    <a:ext uri="{9D8B030D-6E8A-4147-A177-3AD203B41FA5}">
                      <a16:colId xmlns:a16="http://schemas.microsoft.com/office/drawing/2014/main" val="2228440488"/>
                    </a:ext>
                  </a:extLst>
                </a:gridCol>
                <a:gridCol w="441945">
                  <a:extLst>
                    <a:ext uri="{9D8B030D-6E8A-4147-A177-3AD203B41FA5}">
                      <a16:colId xmlns:a16="http://schemas.microsoft.com/office/drawing/2014/main" val="795327759"/>
                    </a:ext>
                  </a:extLst>
                </a:gridCol>
                <a:gridCol w="607674">
                  <a:extLst>
                    <a:ext uri="{9D8B030D-6E8A-4147-A177-3AD203B41FA5}">
                      <a16:colId xmlns:a16="http://schemas.microsoft.com/office/drawing/2014/main" val="2178664864"/>
                    </a:ext>
                  </a:extLst>
                </a:gridCol>
                <a:gridCol w="718160">
                  <a:extLst>
                    <a:ext uri="{9D8B030D-6E8A-4147-A177-3AD203B41FA5}">
                      <a16:colId xmlns:a16="http://schemas.microsoft.com/office/drawing/2014/main" val="3907391050"/>
                    </a:ext>
                  </a:extLst>
                </a:gridCol>
                <a:gridCol w="621485">
                  <a:extLst>
                    <a:ext uri="{9D8B030D-6E8A-4147-A177-3AD203B41FA5}">
                      <a16:colId xmlns:a16="http://schemas.microsoft.com/office/drawing/2014/main" val="2424771591"/>
                    </a:ext>
                  </a:extLst>
                </a:gridCol>
                <a:gridCol w="828646">
                  <a:extLst>
                    <a:ext uri="{9D8B030D-6E8A-4147-A177-3AD203B41FA5}">
                      <a16:colId xmlns:a16="http://schemas.microsoft.com/office/drawing/2014/main" val="3910783422"/>
                    </a:ext>
                  </a:extLst>
                </a:gridCol>
                <a:gridCol w="690538">
                  <a:extLst>
                    <a:ext uri="{9D8B030D-6E8A-4147-A177-3AD203B41FA5}">
                      <a16:colId xmlns:a16="http://schemas.microsoft.com/office/drawing/2014/main" val="4013679102"/>
                    </a:ext>
                  </a:extLst>
                </a:gridCol>
              </a:tblGrid>
              <a:tr h="190407">
                <a:tc gridSpan="12">
                  <a:txBody>
                    <a:bodyPr/>
                    <a:lstStyle/>
                    <a:p>
                      <a:pPr algn="ctr" rtl="0" fontAlgn="ctr"/>
                      <a:r>
                        <a:rPr lang="es-PE" sz="105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093217592"/>
                  </a:ext>
                </a:extLst>
              </a:tr>
              <a:tr h="336385">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AGOSTO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SETIEMBRE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1865571487"/>
                  </a:ext>
                </a:extLst>
              </a:tr>
              <a:tr h="190407">
                <a:tc>
                  <a:txBody>
                    <a:bodyPr/>
                    <a:lstStyle/>
                    <a:p>
                      <a:pPr algn="ctr" rtl="0" fontAlgn="ctr"/>
                      <a:r>
                        <a:rPr lang="es-PE" sz="1050" b="0" i="0" u="none" strike="noStrike">
                          <a:solidFill>
                            <a:srgbClr val="000000"/>
                          </a:solidFill>
                          <a:effectLst/>
                          <a:latin typeface="Calibri" panose="020F0502020204030204" pitchFamily="34" charset="0"/>
                        </a:rPr>
                        <a:t>1900</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1853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1334</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808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448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271</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327</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 368</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435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493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dirty="0">
                          <a:solidFill>
                            <a:srgbClr val="000000"/>
                          </a:solidFill>
                          <a:effectLst/>
                          <a:latin typeface="Calibri" panose="020F0502020204030204" pitchFamily="34" charset="0"/>
                        </a:rPr>
                        <a:t>511</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2937835668"/>
                  </a:ext>
                </a:extLst>
              </a:tr>
            </a:tbl>
          </a:graphicData>
        </a:graphic>
      </p:graphicFrame>
      <p:graphicFrame>
        <p:nvGraphicFramePr>
          <p:cNvPr id="16" name="Tabla 15">
            <a:extLst>
              <a:ext uri="{FF2B5EF4-FFF2-40B4-BE49-F238E27FC236}">
                <a16:creationId xmlns:a16="http://schemas.microsoft.com/office/drawing/2014/main" id="{55C31B5B-B9FD-7A3C-712D-BFA36F022CF0}"/>
              </a:ext>
            </a:extLst>
          </p:cNvPr>
          <p:cNvGraphicFramePr>
            <a:graphicFrameLocks noGrp="1"/>
          </p:cNvGraphicFramePr>
          <p:nvPr>
            <p:extLst>
              <p:ext uri="{D42A27DB-BD31-4B8C-83A1-F6EECF244321}">
                <p14:modId xmlns:p14="http://schemas.microsoft.com/office/powerpoint/2010/main" val="2761061336"/>
              </p:ext>
            </p:extLst>
          </p:nvPr>
        </p:nvGraphicFramePr>
        <p:xfrm>
          <a:off x="6914861" y="3479413"/>
          <a:ext cx="2714914" cy="622367"/>
        </p:xfrm>
        <a:graphic>
          <a:graphicData uri="http://schemas.openxmlformats.org/drawingml/2006/table">
            <a:tbl>
              <a:tblPr/>
              <a:tblGrid>
                <a:gridCol w="668891">
                  <a:extLst>
                    <a:ext uri="{9D8B030D-6E8A-4147-A177-3AD203B41FA5}">
                      <a16:colId xmlns:a16="http://schemas.microsoft.com/office/drawing/2014/main" val="2608954436"/>
                    </a:ext>
                  </a:extLst>
                </a:gridCol>
                <a:gridCol w="563967">
                  <a:extLst>
                    <a:ext uri="{9D8B030D-6E8A-4147-A177-3AD203B41FA5}">
                      <a16:colId xmlns:a16="http://schemas.microsoft.com/office/drawing/2014/main" val="3702516282"/>
                    </a:ext>
                  </a:extLst>
                </a:gridCol>
                <a:gridCol w="485274">
                  <a:extLst>
                    <a:ext uri="{9D8B030D-6E8A-4147-A177-3AD203B41FA5}">
                      <a16:colId xmlns:a16="http://schemas.microsoft.com/office/drawing/2014/main" val="3202347375"/>
                    </a:ext>
                  </a:extLst>
                </a:gridCol>
                <a:gridCol w="498391">
                  <a:extLst>
                    <a:ext uri="{9D8B030D-6E8A-4147-A177-3AD203B41FA5}">
                      <a16:colId xmlns:a16="http://schemas.microsoft.com/office/drawing/2014/main" val="66548466"/>
                    </a:ext>
                  </a:extLst>
                </a:gridCol>
                <a:gridCol w="498391">
                  <a:extLst>
                    <a:ext uri="{9D8B030D-6E8A-4147-A177-3AD203B41FA5}">
                      <a16:colId xmlns:a16="http://schemas.microsoft.com/office/drawing/2014/main" val="520983657"/>
                    </a:ext>
                  </a:extLst>
                </a:gridCol>
              </a:tblGrid>
              <a:tr h="164626">
                <a:tc gridSpan="5">
                  <a:txBody>
                    <a:bodyPr/>
                    <a:lstStyle/>
                    <a:p>
                      <a:pPr algn="ctr" rtl="0" fontAlgn="ctr"/>
                      <a:r>
                        <a:rPr lang="es-PE" sz="110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84967146"/>
                  </a:ext>
                </a:extLst>
              </a:tr>
              <a:tr h="287087">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MAYO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3902174"/>
                  </a:ext>
                </a:extLst>
              </a:tr>
              <a:tr h="164626">
                <a:tc>
                  <a:txBody>
                    <a:bodyPr/>
                    <a:lstStyle/>
                    <a:p>
                      <a:pPr algn="ctr" rtl="0" fontAlgn="b"/>
                      <a:r>
                        <a:rPr lang="es-PE" sz="1100" b="0" i="0" u="none" strike="noStrike">
                          <a:solidFill>
                            <a:srgbClr val="000000"/>
                          </a:solidFill>
                          <a:effectLst/>
                          <a:latin typeface="Calibri" panose="020F0502020204030204" pitchFamily="34" charset="0"/>
                        </a:rPr>
                        <a:t>799</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a:solidFill>
                            <a:srgbClr val="000000"/>
                          </a:solidFill>
                          <a:effectLst/>
                          <a:latin typeface="Calibri" panose="020F0502020204030204" pitchFamily="34" charset="0"/>
                        </a:rPr>
                        <a:t>607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767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824 </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773</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986586754"/>
                  </a:ext>
                </a:extLst>
              </a:tr>
            </a:tbl>
          </a:graphicData>
        </a:graphic>
      </p:graphicFrame>
      <p:graphicFrame>
        <p:nvGraphicFramePr>
          <p:cNvPr id="18" name="Tabla 17">
            <a:extLst>
              <a:ext uri="{FF2B5EF4-FFF2-40B4-BE49-F238E27FC236}">
                <a16:creationId xmlns:a16="http://schemas.microsoft.com/office/drawing/2014/main" id="{B46C2B3E-E31E-3FFD-A4B2-083C609EF423}"/>
              </a:ext>
            </a:extLst>
          </p:cNvPr>
          <p:cNvGraphicFramePr>
            <a:graphicFrameLocks noGrp="1"/>
          </p:cNvGraphicFramePr>
          <p:nvPr>
            <p:extLst>
              <p:ext uri="{D42A27DB-BD31-4B8C-83A1-F6EECF244321}">
                <p14:modId xmlns:p14="http://schemas.microsoft.com/office/powerpoint/2010/main" val="2048446831"/>
              </p:ext>
            </p:extLst>
          </p:nvPr>
        </p:nvGraphicFramePr>
        <p:xfrm>
          <a:off x="6914861" y="4283598"/>
          <a:ext cx="2714915" cy="639885"/>
        </p:xfrm>
        <a:graphic>
          <a:graphicData uri="http://schemas.openxmlformats.org/drawingml/2006/table">
            <a:tbl>
              <a:tblPr/>
              <a:tblGrid>
                <a:gridCol w="668891">
                  <a:extLst>
                    <a:ext uri="{9D8B030D-6E8A-4147-A177-3AD203B41FA5}">
                      <a16:colId xmlns:a16="http://schemas.microsoft.com/office/drawing/2014/main" val="4160914120"/>
                    </a:ext>
                  </a:extLst>
                </a:gridCol>
                <a:gridCol w="563967">
                  <a:extLst>
                    <a:ext uri="{9D8B030D-6E8A-4147-A177-3AD203B41FA5}">
                      <a16:colId xmlns:a16="http://schemas.microsoft.com/office/drawing/2014/main" val="394916733"/>
                    </a:ext>
                  </a:extLst>
                </a:gridCol>
                <a:gridCol w="485275">
                  <a:extLst>
                    <a:ext uri="{9D8B030D-6E8A-4147-A177-3AD203B41FA5}">
                      <a16:colId xmlns:a16="http://schemas.microsoft.com/office/drawing/2014/main" val="2531847754"/>
                    </a:ext>
                  </a:extLst>
                </a:gridCol>
                <a:gridCol w="498391">
                  <a:extLst>
                    <a:ext uri="{9D8B030D-6E8A-4147-A177-3AD203B41FA5}">
                      <a16:colId xmlns:a16="http://schemas.microsoft.com/office/drawing/2014/main" val="4039369803"/>
                    </a:ext>
                  </a:extLst>
                </a:gridCol>
                <a:gridCol w="498391">
                  <a:extLst>
                    <a:ext uri="{9D8B030D-6E8A-4147-A177-3AD203B41FA5}">
                      <a16:colId xmlns:a16="http://schemas.microsoft.com/office/drawing/2014/main" val="4279191836"/>
                    </a:ext>
                  </a:extLst>
                </a:gridCol>
              </a:tblGrid>
              <a:tr h="158881">
                <a:tc gridSpan="5">
                  <a:txBody>
                    <a:bodyPr/>
                    <a:lstStyle/>
                    <a:p>
                      <a:pPr algn="ctr" rtl="0" fontAlgn="ctr"/>
                      <a:r>
                        <a:rPr lang="es-PE" sz="110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287884749"/>
                  </a:ext>
                </a:extLst>
              </a:tr>
              <a:tr h="304605">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MAYO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177795587"/>
                  </a:ext>
                </a:extLst>
              </a:tr>
              <a:tr h="158881">
                <a:tc>
                  <a:txBody>
                    <a:bodyPr/>
                    <a:lstStyle/>
                    <a:p>
                      <a:pPr algn="ctr" rtl="0" fontAlgn="b"/>
                      <a:r>
                        <a:rPr lang="es-PE" sz="1100" b="0" i="0" u="none" strike="noStrike">
                          <a:solidFill>
                            <a:srgbClr val="000000"/>
                          </a:solidFill>
                          <a:effectLst/>
                          <a:latin typeface="Calibri" panose="020F0502020204030204" pitchFamily="34" charset="0"/>
                        </a:rPr>
                        <a:t>573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550</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285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165 </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180</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586056141"/>
                  </a:ext>
                </a:extLst>
              </a:tr>
            </a:tbl>
          </a:graphicData>
        </a:graphic>
      </p:graphicFrame>
      <p:sp>
        <p:nvSpPr>
          <p:cNvPr id="4" name="CuadroTexto 3">
            <a:extLst>
              <a:ext uri="{FF2B5EF4-FFF2-40B4-BE49-F238E27FC236}">
                <a16:creationId xmlns:a16="http://schemas.microsoft.com/office/drawing/2014/main" id="{B115BAB0-E112-BDE6-5B54-695C903D5E52}"/>
              </a:ext>
            </a:extLst>
          </p:cNvPr>
          <p:cNvSpPr txBox="1"/>
          <p:nvPr/>
        </p:nvSpPr>
        <p:spPr>
          <a:xfrm>
            <a:off x="539906" y="5803248"/>
            <a:ext cx="5556094" cy="461665"/>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200" dirty="0"/>
              <a:t>(*) Existe 12 reclamos adicionales en estado "Ingresado" pendiente en admisibilidad</a:t>
            </a:r>
          </a:p>
          <a:p>
            <a:r>
              <a:rPr lang="es-ES" sz="1200" dirty="0"/>
              <a:t>(**) Fondo INCA 12 y IMAC 5</a:t>
            </a:r>
          </a:p>
        </p:txBody>
      </p:sp>
    </p:spTree>
    <p:extLst>
      <p:ext uri="{BB962C8B-B14F-4D97-AF65-F5344CB8AC3E}">
        <p14:creationId xmlns:p14="http://schemas.microsoft.com/office/powerpoint/2010/main" val="3776238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RECLAMOS – 2022 - 2024</a:t>
            </a:r>
            <a:endParaRPr lang="es-PE" sz="2800" b="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FC8A378-12BC-4544-B033-50EA62648EBF}"/>
              </a:ext>
            </a:extLst>
          </p:cNvPr>
          <p:cNvSpPr txBox="1"/>
          <p:nvPr/>
        </p:nvSpPr>
        <p:spPr>
          <a:xfrm>
            <a:off x="533400" y="6007727"/>
            <a:ext cx="6676697" cy="461665"/>
          </a:xfrm>
          <a:prstGeom prst="rect">
            <a:avLst/>
          </a:prstGeom>
          <a:noFill/>
        </p:spPr>
        <p:txBody>
          <a:bodyPr wrap="square">
            <a:spAutoFit/>
          </a:bodyPr>
          <a:lstStyle/>
          <a:p>
            <a:r>
              <a:rPr lang="es-PE" sz="1200" dirty="0">
                <a:effectLst/>
                <a:latin typeface="+mj-lt"/>
                <a:ea typeface="Calibri" panose="020F0502020204030204" pitchFamily="34" charset="0"/>
              </a:rPr>
              <a:t> </a:t>
            </a:r>
          </a:p>
          <a:p>
            <a:r>
              <a:rPr lang="es-PE" sz="1200" dirty="0">
                <a:effectLst/>
                <a:latin typeface="+mj-lt"/>
                <a:ea typeface="Calibri" panose="020F0502020204030204" pitchFamily="34" charset="0"/>
              </a:rPr>
              <a:t>	</a:t>
            </a:r>
          </a:p>
        </p:txBody>
      </p:sp>
      <p:graphicFrame>
        <p:nvGraphicFramePr>
          <p:cNvPr id="4" name="Tabla 3">
            <a:extLst>
              <a:ext uri="{FF2B5EF4-FFF2-40B4-BE49-F238E27FC236}">
                <a16:creationId xmlns:a16="http://schemas.microsoft.com/office/drawing/2014/main" id="{64F8C81C-2666-B65E-9EEE-9E42E376ADEE}"/>
              </a:ext>
            </a:extLst>
          </p:cNvPr>
          <p:cNvGraphicFramePr>
            <a:graphicFrameLocks noGrp="1"/>
          </p:cNvGraphicFramePr>
          <p:nvPr>
            <p:extLst>
              <p:ext uri="{D42A27DB-BD31-4B8C-83A1-F6EECF244321}">
                <p14:modId xmlns:p14="http://schemas.microsoft.com/office/powerpoint/2010/main" val="238196921"/>
              </p:ext>
            </p:extLst>
          </p:nvPr>
        </p:nvGraphicFramePr>
        <p:xfrm>
          <a:off x="292044" y="1075146"/>
          <a:ext cx="11509430" cy="5086447"/>
        </p:xfrm>
        <a:graphic>
          <a:graphicData uri="http://schemas.openxmlformats.org/drawingml/2006/table">
            <a:tbl>
              <a:tblPr/>
              <a:tblGrid>
                <a:gridCol w="1640298">
                  <a:extLst>
                    <a:ext uri="{9D8B030D-6E8A-4147-A177-3AD203B41FA5}">
                      <a16:colId xmlns:a16="http://schemas.microsoft.com/office/drawing/2014/main" val="3492535676"/>
                    </a:ext>
                  </a:extLst>
                </a:gridCol>
                <a:gridCol w="355398">
                  <a:extLst>
                    <a:ext uri="{9D8B030D-6E8A-4147-A177-3AD203B41FA5}">
                      <a16:colId xmlns:a16="http://schemas.microsoft.com/office/drawing/2014/main" val="76689572"/>
                    </a:ext>
                  </a:extLst>
                </a:gridCol>
                <a:gridCol w="355398">
                  <a:extLst>
                    <a:ext uri="{9D8B030D-6E8A-4147-A177-3AD203B41FA5}">
                      <a16:colId xmlns:a16="http://schemas.microsoft.com/office/drawing/2014/main" val="2153248672"/>
                    </a:ext>
                  </a:extLst>
                </a:gridCol>
                <a:gridCol w="355398">
                  <a:extLst>
                    <a:ext uri="{9D8B030D-6E8A-4147-A177-3AD203B41FA5}">
                      <a16:colId xmlns:a16="http://schemas.microsoft.com/office/drawing/2014/main" val="1796686116"/>
                    </a:ext>
                  </a:extLst>
                </a:gridCol>
                <a:gridCol w="355398">
                  <a:extLst>
                    <a:ext uri="{9D8B030D-6E8A-4147-A177-3AD203B41FA5}">
                      <a16:colId xmlns:a16="http://schemas.microsoft.com/office/drawing/2014/main" val="815055748"/>
                    </a:ext>
                  </a:extLst>
                </a:gridCol>
                <a:gridCol w="355398">
                  <a:extLst>
                    <a:ext uri="{9D8B030D-6E8A-4147-A177-3AD203B41FA5}">
                      <a16:colId xmlns:a16="http://schemas.microsoft.com/office/drawing/2014/main" val="4121344099"/>
                    </a:ext>
                  </a:extLst>
                </a:gridCol>
                <a:gridCol w="437413">
                  <a:extLst>
                    <a:ext uri="{9D8B030D-6E8A-4147-A177-3AD203B41FA5}">
                      <a16:colId xmlns:a16="http://schemas.microsoft.com/office/drawing/2014/main" val="3943723764"/>
                    </a:ext>
                  </a:extLst>
                </a:gridCol>
                <a:gridCol w="396406">
                  <a:extLst>
                    <a:ext uri="{9D8B030D-6E8A-4147-A177-3AD203B41FA5}">
                      <a16:colId xmlns:a16="http://schemas.microsoft.com/office/drawing/2014/main" val="3143106854"/>
                    </a:ext>
                  </a:extLst>
                </a:gridCol>
                <a:gridCol w="423743">
                  <a:extLst>
                    <a:ext uri="{9D8B030D-6E8A-4147-A177-3AD203B41FA5}">
                      <a16:colId xmlns:a16="http://schemas.microsoft.com/office/drawing/2014/main" val="840413810"/>
                    </a:ext>
                  </a:extLst>
                </a:gridCol>
                <a:gridCol w="478421">
                  <a:extLst>
                    <a:ext uri="{9D8B030D-6E8A-4147-A177-3AD203B41FA5}">
                      <a16:colId xmlns:a16="http://schemas.microsoft.com/office/drawing/2014/main" val="1588019462"/>
                    </a:ext>
                  </a:extLst>
                </a:gridCol>
                <a:gridCol w="437413">
                  <a:extLst>
                    <a:ext uri="{9D8B030D-6E8A-4147-A177-3AD203B41FA5}">
                      <a16:colId xmlns:a16="http://schemas.microsoft.com/office/drawing/2014/main" val="3380776616"/>
                    </a:ext>
                  </a:extLst>
                </a:gridCol>
                <a:gridCol w="396406">
                  <a:extLst>
                    <a:ext uri="{9D8B030D-6E8A-4147-A177-3AD203B41FA5}">
                      <a16:colId xmlns:a16="http://schemas.microsoft.com/office/drawing/2014/main" val="3065826786"/>
                    </a:ext>
                  </a:extLst>
                </a:gridCol>
                <a:gridCol w="382736">
                  <a:extLst>
                    <a:ext uri="{9D8B030D-6E8A-4147-A177-3AD203B41FA5}">
                      <a16:colId xmlns:a16="http://schemas.microsoft.com/office/drawing/2014/main" val="1086211501"/>
                    </a:ext>
                  </a:extLst>
                </a:gridCol>
                <a:gridCol w="437413">
                  <a:extLst>
                    <a:ext uri="{9D8B030D-6E8A-4147-A177-3AD203B41FA5}">
                      <a16:colId xmlns:a16="http://schemas.microsoft.com/office/drawing/2014/main" val="2199999393"/>
                    </a:ext>
                  </a:extLst>
                </a:gridCol>
                <a:gridCol w="464751">
                  <a:extLst>
                    <a:ext uri="{9D8B030D-6E8A-4147-A177-3AD203B41FA5}">
                      <a16:colId xmlns:a16="http://schemas.microsoft.com/office/drawing/2014/main" val="426754131"/>
                    </a:ext>
                  </a:extLst>
                </a:gridCol>
                <a:gridCol w="478421">
                  <a:extLst>
                    <a:ext uri="{9D8B030D-6E8A-4147-A177-3AD203B41FA5}">
                      <a16:colId xmlns:a16="http://schemas.microsoft.com/office/drawing/2014/main" val="1012459040"/>
                    </a:ext>
                  </a:extLst>
                </a:gridCol>
                <a:gridCol w="437413">
                  <a:extLst>
                    <a:ext uri="{9D8B030D-6E8A-4147-A177-3AD203B41FA5}">
                      <a16:colId xmlns:a16="http://schemas.microsoft.com/office/drawing/2014/main" val="1781910412"/>
                    </a:ext>
                  </a:extLst>
                </a:gridCol>
                <a:gridCol w="505758">
                  <a:extLst>
                    <a:ext uri="{9D8B030D-6E8A-4147-A177-3AD203B41FA5}">
                      <a16:colId xmlns:a16="http://schemas.microsoft.com/office/drawing/2014/main" val="2994845384"/>
                    </a:ext>
                  </a:extLst>
                </a:gridCol>
                <a:gridCol w="533097">
                  <a:extLst>
                    <a:ext uri="{9D8B030D-6E8A-4147-A177-3AD203B41FA5}">
                      <a16:colId xmlns:a16="http://schemas.microsoft.com/office/drawing/2014/main" val="4256857358"/>
                    </a:ext>
                  </a:extLst>
                </a:gridCol>
                <a:gridCol w="601443">
                  <a:extLst>
                    <a:ext uri="{9D8B030D-6E8A-4147-A177-3AD203B41FA5}">
                      <a16:colId xmlns:a16="http://schemas.microsoft.com/office/drawing/2014/main" val="99379560"/>
                    </a:ext>
                  </a:extLst>
                </a:gridCol>
                <a:gridCol w="560436">
                  <a:extLst>
                    <a:ext uri="{9D8B030D-6E8A-4147-A177-3AD203B41FA5}">
                      <a16:colId xmlns:a16="http://schemas.microsoft.com/office/drawing/2014/main" val="2462006788"/>
                    </a:ext>
                  </a:extLst>
                </a:gridCol>
                <a:gridCol w="560436">
                  <a:extLst>
                    <a:ext uri="{9D8B030D-6E8A-4147-A177-3AD203B41FA5}">
                      <a16:colId xmlns:a16="http://schemas.microsoft.com/office/drawing/2014/main" val="1875944976"/>
                    </a:ext>
                  </a:extLst>
                </a:gridCol>
                <a:gridCol w="560436">
                  <a:extLst>
                    <a:ext uri="{9D8B030D-6E8A-4147-A177-3AD203B41FA5}">
                      <a16:colId xmlns:a16="http://schemas.microsoft.com/office/drawing/2014/main" val="3053228018"/>
                    </a:ext>
                  </a:extLst>
                </a:gridCol>
              </a:tblGrid>
              <a:tr h="282580">
                <a:tc gridSpan="6">
                  <a:txBody>
                    <a:bodyPr/>
                    <a:lstStyle/>
                    <a:p>
                      <a:pPr algn="ctr" fontAlgn="b"/>
                      <a:r>
                        <a:rPr lang="es-PE" sz="1200" b="1" i="0" u="none" strike="noStrike">
                          <a:solidFill>
                            <a:srgbClr val="000000"/>
                          </a:solidFill>
                          <a:effectLst/>
                          <a:latin typeface="Calibri" panose="020F0502020204030204" pitchFamily="34" charset="0"/>
                        </a:rPr>
                        <a:t>2022</a:t>
                      </a:r>
                    </a:p>
                  </a:txBody>
                  <a:tcPr marL="0" marR="0" marT="0" marB="0" anchor="b">
                    <a:lnL w="12700" cap="flat" cmpd="sng" algn="ctr">
                      <a:solidFill>
                        <a:srgbClr val="99CCFF"/>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12">
                  <a:txBody>
                    <a:bodyPr/>
                    <a:lstStyle/>
                    <a:p>
                      <a:pPr algn="ctr" fontAlgn="b"/>
                      <a:r>
                        <a:rPr lang="es-PE" sz="1200" b="1" i="0" u="none" strike="noStrike">
                          <a:solidFill>
                            <a:srgbClr val="000000"/>
                          </a:solidFill>
                          <a:effectLst/>
                          <a:latin typeface="Calibri" panose="020F0502020204030204" pitchFamily="34" charset="0"/>
                        </a:rPr>
                        <a:t>2023</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5">
                  <a:txBody>
                    <a:bodyPr/>
                    <a:lstStyle/>
                    <a:p>
                      <a:pPr algn="ctr" rtl="0" fontAlgn="b"/>
                      <a:r>
                        <a:rPr lang="es-PE" sz="1200" b="1" i="0" u="none" strike="noStrike" dirty="0">
                          <a:solidFill>
                            <a:srgbClr val="000000"/>
                          </a:solidFill>
                          <a:effectLst/>
                          <a:latin typeface="Calibri" panose="020F0502020204030204" pitchFamily="34" charset="0"/>
                        </a:rPr>
                        <a:t>2024</a:t>
                      </a: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extLst>
                  <a:ext uri="{0D108BD9-81ED-4DB2-BD59-A6C34878D82A}">
                    <a16:rowId xmlns:a16="http://schemas.microsoft.com/office/drawing/2014/main" val="2356040257"/>
                  </a:ext>
                </a:extLst>
              </a:tr>
              <a:tr h="847743">
                <a:tc>
                  <a:txBody>
                    <a:bodyPr/>
                    <a:lstStyle/>
                    <a:p>
                      <a:pPr algn="l" fontAlgn="ctr"/>
                      <a:r>
                        <a:rPr lang="es-PE" sz="1200" b="1" i="0" u="none" strike="noStrike">
                          <a:solidFill>
                            <a:srgbClr val="FFFFFF"/>
                          </a:solidFill>
                          <a:effectLst/>
                          <a:latin typeface="Calibri Light" panose="020F0302020204030204" pitchFamily="34" charset="0"/>
                        </a:rPr>
                        <a:t>DIVISIÓN DE CONTROL CONCURRENTE-I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2822500624"/>
                  </a:ext>
                </a:extLst>
              </a:tr>
              <a:tr h="282580">
                <a:tc>
                  <a:txBody>
                    <a:bodyPr/>
                    <a:lstStyle/>
                    <a:p>
                      <a:pPr algn="l" fontAlgn="ctr"/>
                      <a:r>
                        <a:rPr lang="es-PE" sz="12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401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363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383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371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324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401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419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415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309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297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188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242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285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264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236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256</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268(*)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826670124"/>
                  </a:ext>
                </a:extLst>
              </a:tr>
              <a:tr h="28258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18.9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16.7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19.2</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17.8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1360260857"/>
                  </a:ext>
                </a:extLst>
              </a:tr>
              <a:tr h="28258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18.96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20.69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18.80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14.24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17.07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a:solidFill>
                            <a:srgbClr val="000000"/>
                          </a:solidFill>
                          <a:effectLst/>
                          <a:latin typeface="Calibri Light" panose="020F0302020204030204" pitchFamily="34" charset="0"/>
                        </a:rPr>
                        <a:t>12.29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14.38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14.11</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312465785"/>
                  </a:ext>
                </a:extLst>
              </a:tr>
              <a:tr h="847743">
                <a:tc>
                  <a:txBody>
                    <a:bodyPr/>
                    <a:lstStyle/>
                    <a:p>
                      <a:pPr algn="l" fontAlgn="ctr"/>
                      <a:r>
                        <a:rPr lang="es-PE" sz="1200" b="1" i="0" u="none" strike="noStrike">
                          <a:solidFill>
                            <a:srgbClr val="FFFFFF"/>
                          </a:solidFill>
                          <a:effectLst/>
                          <a:latin typeface="Calibri Light" panose="020F0302020204030204" pitchFamily="34" charset="0"/>
                        </a:rPr>
                        <a:t>DIVISIÓN DE CONTROL CONCURRENTE-II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1734159817"/>
                  </a:ext>
                </a:extLst>
              </a:tr>
              <a:tr h="282580">
                <a:tc>
                  <a:txBody>
                    <a:bodyPr/>
                    <a:lstStyle/>
                    <a:p>
                      <a:pPr algn="l" fontAlgn="ctr"/>
                      <a:r>
                        <a:rPr lang="es-PE" sz="1200" b="1" i="0" u="none" strike="noStrike" dirty="0">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139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121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104 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76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81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  77*</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89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104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2444434921"/>
                  </a:ext>
                </a:extLst>
              </a:tr>
              <a:tr h="28258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13.5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12.5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7.8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8.8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10.7</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855644288"/>
                  </a:ext>
                </a:extLst>
              </a:tr>
              <a:tr h="28258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4.5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7.2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8.69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8.22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9.72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9.30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8.23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10.00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10.50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9.74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9.65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10.5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10.13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10.11</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9.72</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886371244"/>
                  </a:ext>
                </a:extLst>
              </a:tr>
              <a:tr h="565161">
                <a:tc>
                  <a:txBody>
                    <a:bodyPr/>
                    <a:lstStyle/>
                    <a:p>
                      <a:pPr algn="l" fontAlgn="ctr"/>
                      <a:r>
                        <a:rPr lang="es-PE" sz="1200" b="1" i="0" u="none" strike="noStrike">
                          <a:solidFill>
                            <a:srgbClr val="FFFFFF"/>
                          </a:solidFill>
                          <a:effectLst/>
                          <a:latin typeface="Calibri Light" panose="020F0302020204030204" pitchFamily="34" charset="0"/>
                        </a:rPr>
                        <a:t>DIVISIÓN DE CONTROL POSTERIOR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450108723"/>
                  </a:ext>
                </a:extLst>
              </a:tr>
              <a:tr h="282580">
                <a:tc>
                  <a:txBody>
                    <a:bodyPr/>
                    <a:lstStyle/>
                    <a:p>
                      <a:pPr algn="l" fontAlgn="ctr"/>
                      <a:r>
                        <a:rPr lang="es-PE" sz="12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48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66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29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21</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13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4007070957"/>
                  </a:ext>
                </a:extLst>
              </a:tr>
              <a:tr h="28258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5.36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3.4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5.11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6.36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4.95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4.89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5.32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6.23</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130602570"/>
                  </a:ext>
                </a:extLst>
              </a:tr>
              <a:tr h="28258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3.63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4.75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4.75 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3.57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6.90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7.24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5.00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3.72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2.99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3.84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4.29*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3.38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2.09</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573925206"/>
                  </a:ext>
                </a:extLst>
              </a:tr>
            </a:tbl>
          </a:graphicData>
        </a:graphic>
      </p:graphicFrame>
      <p:sp>
        <p:nvSpPr>
          <p:cNvPr id="2" name="CuadroTexto 1">
            <a:extLst>
              <a:ext uri="{FF2B5EF4-FFF2-40B4-BE49-F238E27FC236}">
                <a16:creationId xmlns:a16="http://schemas.microsoft.com/office/drawing/2014/main" id="{5C98C621-FB60-80E3-F26C-984F799C1862}"/>
              </a:ext>
            </a:extLst>
          </p:cNvPr>
          <p:cNvSpPr txBox="1"/>
          <p:nvPr/>
        </p:nvSpPr>
        <p:spPr>
          <a:xfrm>
            <a:off x="172401" y="6207782"/>
            <a:ext cx="6609399" cy="646331"/>
          </a:xfrm>
          <a:prstGeom prst="rect">
            <a:avLst/>
          </a:prstGeom>
          <a:noFill/>
        </p:spPr>
        <p:txBody>
          <a:bodyPr wrap="square" rtlCol="0">
            <a:spAutoFit/>
          </a:bodyPr>
          <a:lstStyle/>
          <a:p>
            <a:r>
              <a:rPr lang="es-ES" sz="1200" dirty="0"/>
              <a:t>(*) </a:t>
            </a:r>
            <a:r>
              <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Investigación propuesta normativa</a:t>
            </a:r>
            <a:endParaRPr lang="es-ES" sz="1200" dirty="0"/>
          </a:p>
          <a:p>
            <a:r>
              <a:rPr lang="es-ES" sz="1200" dirty="0"/>
              <a:t>(**) 07 RD aprobadas que no pudieron generarse en SIGERI por falla del sistema.</a:t>
            </a:r>
          </a:p>
          <a:p>
            <a:r>
              <a:rPr lang="es-PE" sz="1200" dirty="0"/>
              <a:t>(***) Se resolvió reclamos por el monto de S/. 5.5 millones y </a:t>
            </a:r>
          </a:p>
        </p:txBody>
      </p:sp>
    </p:spTree>
    <p:extLst>
      <p:ext uri="{BB962C8B-B14F-4D97-AF65-F5344CB8AC3E}">
        <p14:creationId xmlns:p14="http://schemas.microsoft.com/office/powerpoint/2010/main" val="375052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MARZO 2024</a:t>
            </a:r>
            <a:endParaRPr lang="es-PE" sz="2800" b="1" dirty="0">
              <a:latin typeface="Arial" panose="020B0604020202020204" pitchFamily="34" charset="0"/>
              <a:cs typeface="Arial" panose="020B0604020202020204" pitchFamily="34" charset="0"/>
            </a:endParaRPr>
          </a:p>
        </p:txBody>
      </p:sp>
      <p:graphicFrame>
        <p:nvGraphicFramePr>
          <p:cNvPr id="8" name="Tabla 7">
            <a:extLst>
              <a:ext uri="{FF2B5EF4-FFF2-40B4-BE49-F238E27FC236}">
                <a16:creationId xmlns:a16="http://schemas.microsoft.com/office/drawing/2014/main" id="{5DCBF7E6-D327-F7EC-950D-E13591629145}"/>
              </a:ext>
            </a:extLst>
          </p:cNvPr>
          <p:cNvGraphicFramePr>
            <a:graphicFrameLocks noGrp="1"/>
          </p:cNvGraphicFramePr>
          <p:nvPr>
            <p:extLst>
              <p:ext uri="{D42A27DB-BD31-4B8C-83A1-F6EECF244321}">
                <p14:modId xmlns:p14="http://schemas.microsoft.com/office/powerpoint/2010/main" val="3539108586"/>
              </p:ext>
            </p:extLst>
          </p:nvPr>
        </p:nvGraphicFramePr>
        <p:xfrm>
          <a:off x="292043" y="1040573"/>
          <a:ext cx="11688829" cy="5087946"/>
        </p:xfrm>
        <a:graphic>
          <a:graphicData uri="http://schemas.openxmlformats.org/drawingml/2006/table">
            <a:tbl>
              <a:tblPr firstRow="1" firstCol="1" bandRow="1"/>
              <a:tblGrid>
                <a:gridCol w="1547558">
                  <a:extLst>
                    <a:ext uri="{9D8B030D-6E8A-4147-A177-3AD203B41FA5}">
                      <a16:colId xmlns:a16="http://schemas.microsoft.com/office/drawing/2014/main" val="925094151"/>
                    </a:ext>
                  </a:extLst>
                </a:gridCol>
                <a:gridCol w="845457">
                  <a:extLst>
                    <a:ext uri="{9D8B030D-6E8A-4147-A177-3AD203B41FA5}">
                      <a16:colId xmlns:a16="http://schemas.microsoft.com/office/drawing/2014/main" val="477222435"/>
                    </a:ext>
                  </a:extLst>
                </a:gridCol>
                <a:gridCol w="1308047">
                  <a:extLst>
                    <a:ext uri="{9D8B030D-6E8A-4147-A177-3AD203B41FA5}">
                      <a16:colId xmlns:a16="http://schemas.microsoft.com/office/drawing/2014/main" val="2282184332"/>
                    </a:ext>
                  </a:extLst>
                </a:gridCol>
                <a:gridCol w="1328326">
                  <a:extLst>
                    <a:ext uri="{9D8B030D-6E8A-4147-A177-3AD203B41FA5}">
                      <a16:colId xmlns:a16="http://schemas.microsoft.com/office/drawing/2014/main" val="889253127"/>
                    </a:ext>
                  </a:extLst>
                </a:gridCol>
                <a:gridCol w="932871">
                  <a:extLst>
                    <a:ext uri="{9D8B030D-6E8A-4147-A177-3AD203B41FA5}">
                      <a16:colId xmlns:a16="http://schemas.microsoft.com/office/drawing/2014/main" val="3618495769"/>
                    </a:ext>
                  </a:extLst>
                </a:gridCol>
                <a:gridCol w="1176230">
                  <a:extLst>
                    <a:ext uri="{9D8B030D-6E8A-4147-A177-3AD203B41FA5}">
                      <a16:colId xmlns:a16="http://schemas.microsoft.com/office/drawing/2014/main" val="3676107308"/>
                    </a:ext>
                  </a:extLst>
                </a:gridCol>
                <a:gridCol w="1308047">
                  <a:extLst>
                    <a:ext uri="{9D8B030D-6E8A-4147-A177-3AD203B41FA5}">
                      <a16:colId xmlns:a16="http://schemas.microsoft.com/office/drawing/2014/main" val="343955240"/>
                    </a:ext>
                  </a:extLst>
                </a:gridCol>
                <a:gridCol w="1107182">
                  <a:extLst>
                    <a:ext uri="{9D8B030D-6E8A-4147-A177-3AD203B41FA5}">
                      <a16:colId xmlns:a16="http://schemas.microsoft.com/office/drawing/2014/main" val="1609030641"/>
                    </a:ext>
                  </a:extLst>
                </a:gridCol>
                <a:gridCol w="1163323">
                  <a:extLst>
                    <a:ext uri="{9D8B030D-6E8A-4147-A177-3AD203B41FA5}">
                      <a16:colId xmlns:a16="http://schemas.microsoft.com/office/drawing/2014/main" val="1343854734"/>
                    </a:ext>
                  </a:extLst>
                </a:gridCol>
                <a:gridCol w="971788">
                  <a:extLst>
                    <a:ext uri="{9D8B030D-6E8A-4147-A177-3AD203B41FA5}">
                      <a16:colId xmlns:a16="http://schemas.microsoft.com/office/drawing/2014/main" val="2417700680"/>
                    </a:ext>
                  </a:extLst>
                </a:gridCol>
              </a:tblGrid>
              <a:tr h="191386">
                <a:tc gridSpan="10">
                  <a:txBody>
                    <a:bodyPr/>
                    <a:lstStyle/>
                    <a:p>
                      <a:pPr algn="ctr"/>
                      <a:r>
                        <a:rPr lang="es-PE" sz="1300" b="1" dirty="0">
                          <a:solidFill>
                            <a:srgbClr val="000000"/>
                          </a:solidFill>
                          <a:effectLst/>
                          <a:latin typeface="Calibri" panose="020F0502020204030204" pitchFamily="34" charset="0"/>
                          <a:cs typeface="Calibri" panose="020F0502020204030204" pitchFamily="34" charset="0"/>
                        </a:rPr>
                        <a:t>PRODUCCIÓN</a:t>
                      </a:r>
                      <a:endParaRPr lang="es-PE" sz="1300" dirty="0">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hMerge="1">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958888204"/>
                  </a:ext>
                </a:extLst>
              </a:tr>
              <a:tr h="191386">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UUOO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DCP</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24672310"/>
                  </a:ext>
                </a:extLst>
              </a:tr>
              <a:tr h="68550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MATERIA</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RD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LC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 APELACIÓN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2160857"/>
                  </a:ext>
                </a:extLst>
              </a:tr>
              <a:tr h="2944389">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PRODUCTO RESUELTO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268</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Investigación propuesta normativa</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104</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Atención de correo de consulta de Técnica Aduanera- Tumbes sobre LC reclamadas.</a:t>
                      </a:r>
                    </a:p>
                    <a:p>
                      <a:pPr algn="ctr"/>
                      <a:r>
                        <a:rPr lang="es-ES"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Proyecto de informe respuesta a Procuraduría</a:t>
                      </a:r>
                      <a:endParaRPr lang="es-PE"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endPar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300" b="0" dirty="0">
                          <a:effectLst/>
                          <a:latin typeface="Calibri" panose="020F0502020204030204" pitchFamily="34" charset="0"/>
                          <a:ea typeface="Calibri" panose="020F0502020204030204" pitchFamily="34" charset="0"/>
                          <a:cs typeface="Times New Roman" panose="02020603050405020304" pitchFamily="18" charset="0"/>
                        </a:rPr>
                        <a:t>11 Retroalimentación 2024, a la División de Fiscalización Posterior INCA realizada el 24.05.2024</a:t>
                      </a:r>
                      <a:endParaRPr lang="es-PE" sz="1300" b="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300" b="0" dirty="0">
                          <a:effectLst/>
                          <a:latin typeface="Calibri" panose="020F0502020204030204" pitchFamily="34" charset="0"/>
                          <a:ea typeface="Calibri" panose="020F0502020204030204" pitchFamily="34" charset="0"/>
                          <a:cs typeface="Times New Roman" panose="02020603050405020304" pitchFamily="18" charset="0"/>
                        </a:rPr>
                        <a:t>Gestión Documental: Archivo Electrónico de resoluciones emitidas por la DCP años 2017 a 2024. (*)</a:t>
                      </a:r>
                      <a:endParaRPr lang="es-PE" sz="13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6122694"/>
                  </a:ext>
                </a:extLst>
              </a:tr>
              <a:tr h="411301">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RESOLUTOR</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10.7</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6962428"/>
                  </a:ext>
                </a:extLst>
              </a:tr>
              <a:tr h="65051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 PROMEDIO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14.11</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9.72</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2.09</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1006160"/>
                  </a:ext>
                </a:extLst>
              </a:tr>
            </a:tbl>
          </a:graphicData>
        </a:graphic>
      </p:graphicFrame>
      <p:sp>
        <p:nvSpPr>
          <p:cNvPr id="2" name="CuadroTexto 1">
            <a:extLst>
              <a:ext uri="{FF2B5EF4-FFF2-40B4-BE49-F238E27FC236}">
                <a16:creationId xmlns:a16="http://schemas.microsoft.com/office/drawing/2014/main" id="{490C583C-5C46-B0DE-CA3A-31563B0F6249}"/>
              </a:ext>
            </a:extLst>
          </p:cNvPr>
          <p:cNvSpPr txBox="1"/>
          <p:nvPr/>
        </p:nvSpPr>
        <p:spPr>
          <a:xfrm>
            <a:off x="242306" y="6371104"/>
            <a:ext cx="11738565" cy="307777"/>
          </a:xfrm>
          <a:prstGeom prst="rect">
            <a:avLst/>
          </a:prstGeom>
          <a:noFill/>
        </p:spPr>
        <p:txBody>
          <a:bodyPr wrap="square" rtlCol="0">
            <a:spAutoFit/>
          </a:bodyPr>
          <a:lstStyle/>
          <a:p>
            <a:r>
              <a:rPr lang="es-ES" sz="1400" dirty="0"/>
              <a:t>(*) Además de incluirse archivo PDF de resolución, se incluye nombre de reclamante, número de expediente de relamo, materia de reclamo, monto y resultado.</a:t>
            </a:r>
            <a:endParaRPr lang="es-PE" sz="1400" dirty="0"/>
          </a:p>
        </p:txBody>
      </p:sp>
    </p:spTree>
    <p:extLst>
      <p:ext uri="{BB962C8B-B14F-4D97-AF65-F5344CB8AC3E}">
        <p14:creationId xmlns:p14="http://schemas.microsoft.com/office/powerpoint/2010/main" val="2244531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PROGRAMACIÓN Y PRODUCCIÓN–2023-2024</a:t>
            </a:r>
            <a:endParaRPr lang="es-PE" sz="2800" b="1"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CFC2ABA1-B454-A51E-4921-26238E396334}"/>
              </a:ext>
            </a:extLst>
          </p:cNvPr>
          <p:cNvGraphicFramePr>
            <a:graphicFrameLocks noGrp="1"/>
          </p:cNvGraphicFramePr>
          <p:nvPr>
            <p:extLst>
              <p:ext uri="{D42A27DB-BD31-4B8C-83A1-F6EECF244321}">
                <p14:modId xmlns:p14="http://schemas.microsoft.com/office/powerpoint/2010/main" val="1938013139"/>
              </p:ext>
            </p:extLst>
          </p:nvPr>
        </p:nvGraphicFramePr>
        <p:xfrm>
          <a:off x="292044" y="1293177"/>
          <a:ext cx="11329960" cy="3288345"/>
        </p:xfrm>
        <a:graphic>
          <a:graphicData uri="http://schemas.openxmlformats.org/drawingml/2006/table">
            <a:tbl>
              <a:tblPr/>
              <a:tblGrid>
                <a:gridCol w="594669">
                  <a:extLst>
                    <a:ext uri="{9D8B030D-6E8A-4147-A177-3AD203B41FA5}">
                      <a16:colId xmlns:a16="http://schemas.microsoft.com/office/drawing/2014/main" val="1618482016"/>
                    </a:ext>
                  </a:extLst>
                </a:gridCol>
                <a:gridCol w="561636">
                  <a:extLst>
                    <a:ext uri="{9D8B030D-6E8A-4147-A177-3AD203B41FA5}">
                      <a16:colId xmlns:a16="http://schemas.microsoft.com/office/drawing/2014/main" val="1856879478"/>
                    </a:ext>
                  </a:extLst>
                </a:gridCol>
                <a:gridCol w="473532">
                  <a:extLst>
                    <a:ext uri="{9D8B030D-6E8A-4147-A177-3AD203B41FA5}">
                      <a16:colId xmlns:a16="http://schemas.microsoft.com/office/drawing/2014/main" val="3149995394"/>
                    </a:ext>
                  </a:extLst>
                </a:gridCol>
                <a:gridCol w="583663">
                  <a:extLst>
                    <a:ext uri="{9D8B030D-6E8A-4147-A177-3AD203B41FA5}">
                      <a16:colId xmlns:a16="http://schemas.microsoft.com/office/drawing/2014/main" val="814693575"/>
                    </a:ext>
                  </a:extLst>
                </a:gridCol>
                <a:gridCol w="451510">
                  <a:extLst>
                    <a:ext uri="{9D8B030D-6E8A-4147-A177-3AD203B41FA5}">
                      <a16:colId xmlns:a16="http://schemas.microsoft.com/office/drawing/2014/main" val="1074761190"/>
                    </a:ext>
                  </a:extLst>
                </a:gridCol>
                <a:gridCol w="572644">
                  <a:extLst>
                    <a:ext uri="{9D8B030D-6E8A-4147-A177-3AD203B41FA5}">
                      <a16:colId xmlns:a16="http://schemas.microsoft.com/office/drawing/2014/main" val="3692527559"/>
                    </a:ext>
                  </a:extLst>
                </a:gridCol>
                <a:gridCol w="473532">
                  <a:extLst>
                    <a:ext uri="{9D8B030D-6E8A-4147-A177-3AD203B41FA5}">
                      <a16:colId xmlns:a16="http://schemas.microsoft.com/office/drawing/2014/main" val="4061206135"/>
                    </a:ext>
                  </a:extLst>
                </a:gridCol>
                <a:gridCol w="572644">
                  <a:extLst>
                    <a:ext uri="{9D8B030D-6E8A-4147-A177-3AD203B41FA5}">
                      <a16:colId xmlns:a16="http://schemas.microsoft.com/office/drawing/2014/main" val="693005033"/>
                    </a:ext>
                  </a:extLst>
                </a:gridCol>
                <a:gridCol w="704613">
                  <a:extLst>
                    <a:ext uri="{9D8B030D-6E8A-4147-A177-3AD203B41FA5}">
                      <a16:colId xmlns:a16="http://schemas.microsoft.com/office/drawing/2014/main" val="2232056816"/>
                    </a:ext>
                  </a:extLst>
                </a:gridCol>
                <a:gridCol w="704613">
                  <a:extLst>
                    <a:ext uri="{9D8B030D-6E8A-4147-A177-3AD203B41FA5}">
                      <a16:colId xmlns:a16="http://schemas.microsoft.com/office/drawing/2014/main" val="2387940828"/>
                    </a:ext>
                  </a:extLst>
                </a:gridCol>
                <a:gridCol w="704613">
                  <a:extLst>
                    <a:ext uri="{9D8B030D-6E8A-4147-A177-3AD203B41FA5}">
                      <a16:colId xmlns:a16="http://schemas.microsoft.com/office/drawing/2014/main" val="2569707495"/>
                    </a:ext>
                  </a:extLst>
                </a:gridCol>
                <a:gridCol w="704613">
                  <a:extLst>
                    <a:ext uri="{9D8B030D-6E8A-4147-A177-3AD203B41FA5}">
                      <a16:colId xmlns:a16="http://schemas.microsoft.com/office/drawing/2014/main" val="3784964087"/>
                    </a:ext>
                  </a:extLst>
                </a:gridCol>
                <a:gridCol w="704613">
                  <a:extLst>
                    <a:ext uri="{9D8B030D-6E8A-4147-A177-3AD203B41FA5}">
                      <a16:colId xmlns:a16="http://schemas.microsoft.com/office/drawing/2014/main" val="1713751460"/>
                    </a:ext>
                  </a:extLst>
                </a:gridCol>
                <a:gridCol w="704613">
                  <a:extLst>
                    <a:ext uri="{9D8B030D-6E8A-4147-A177-3AD203B41FA5}">
                      <a16:colId xmlns:a16="http://schemas.microsoft.com/office/drawing/2014/main" val="2001209396"/>
                    </a:ext>
                  </a:extLst>
                </a:gridCol>
                <a:gridCol w="704613">
                  <a:extLst>
                    <a:ext uri="{9D8B030D-6E8A-4147-A177-3AD203B41FA5}">
                      <a16:colId xmlns:a16="http://schemas.microsoft.com/office/drawing/2014/main" val="2545075867"/>
                    </a:ext>
                  </a:extLst>
                </a:gridCol>
                <a:gridCol w="704613">
                  <a:extLst>
                    <a:ext uri="{9D8B030D-6E8A-4147-A177-3AD203B41FA5}">
                      <a16:colId xmlns:a16="http://schemas.microsoft.com/office/drawing/2014/main" val="3560294591"/>
                    </a:ext>
                  </a:extLst>
                </a:gridCol>
                <a:gridCol w="704613">
                  <a:extLst>
                    <a:ext uri="{9D8B030D-6E8A-4147-A177-3AD203B41FA5}">
                      <a16:colId xmlns:a16="http://schemas.microsoft.com/office/drawing/2014/main" val="853417601"/>
                    </a:ext>
                  </a:extLst>
                </a:gridCol>
                <a:gridCol w="704613">
                  <a:extLst>
                    <a:ext uri="{9D8B030D-6E8A-4147-A177-3AD203B41FA5}">
                      <a16:colId xmlns:a16="http://schemas.microsoft.com/office/drawing/2014/main" val="2028932761"/>
                    </a:ext>
                  </a:extLst>
                </a:gridCol>
              </a:tblGrid>
              <a:tr h="328328">
                <a:tc rowSpan="2">
                  <a:txBody>
                    <a:bodyPr/>
                    <a:lstStyle/>
                    <a:p>
                      <a:pPr algn="ctr" fontAlgn="b"/>
                      <a:endParaRPr lang="es-PE" sz="1450" b="0" i="0" u="none" strike="noStrike">
                        <a:solidFill>
                          <a:srgbClr val="000000"/>
                        </a:solidFill>
                        <a:effectLst/>
                        <a:latin typeface="Calibri Light" panose="020F0302020204030204" pitchFamily="34" charset="0"/>
                      </a:endParaRPr>
                    </a:p>
                  </a:txBody>
                  <a:tcPr marL="0" marR="0" marT="0" marB="0" anchor="b">
                    <a:lnL>
                      <a:noFill/>
                    </a:lnL>
                    <a:lnR w="12700" cap="flat" cmpd="sng" algn="ctr">
                      <a:solidFill>
                        <a:srgbClr val="305496"/>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6">
                  <a:txBody>
                    <a:bodyPr/>
                    <a:lstStyle/>
                    <a:p>
                      <a:pPr algn="ctr" fontAlgn="b"/>
                      <a:r>
                        <a:rPr lang="es-ES" sz="1450" b="1" i="0" u="none" strike="noStrike" dirty="0">
                          <a:solidFill>
                            <a:srgbClr val="FFFFFF"/>
                          </a:solidFill>
                          <a:effectLst/>
                          <a:latin typeface="Calibri Light" panose="020F0302020204030204" pitchFamily="34" charset="0"/>
                        </a:rPr>
                        <a:t>2023</a:t>
                      </a:r>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gridSpan="11">
                  <a:txBody>
                    <a:bodyPr/>
                    <a:lstStyle/>
                    <a:p>
                      <a:pPr algn="ctr" fontAlgn="b"/>
                      <a:r>
                        <a:rPr lang="es-PE" sz="1450" b="1" i="0" u="none" strike="noStrike" dirty="0">
                          <a:solidFill>
                            <a:srgbClr val="FFFFFF"/>
                          </a:solidFill>
                          <a:effectLst/>
                          <a:latin typeface="Calibri Light" panose="020F0302020204030204" pitchFamily="34" charset="0"/>
                        </a:rPr>
                        <a:t>2024</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extLst>
                  <a:ext uri="{0D108BD9-81ED-4DB2-BD59-A6C34878D82A}">
                    <a16:rowId xmlns:a16="http://schemas.microsoft.com/office/drawing/2014/main" val="628447104"/>
                  </a:ext>
                </a:extLst>
              </a:tr>
              <a:tr h="531253">
                <a:tc v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OCTUBRE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NOVIEMBRE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dirty="0">
                          <a:solidFill>
                            <a:srgbClr val="FFFFFF"/>
                          </a:solidFill>
                          <a:effectLst/>
                          <a:latin typeface="Calibri Light" panose="020F0302020204030204" pitchFamily="34" charset="0"/>
                        </a:rPr>
                        <a:t>DICIEMBRE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dirty="0">
                          <a:solidFill>
                            <a:srgbClr val="FFFFFF"/>
                          </a:solidFill>
                          <a:effectLst/>
                          <a:latin typeface="Calibri Light" panose="020F0302020204030204" pitchFamily="34" charset="0"/>
                        </a:rPr>
                        <a:t>ENERO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FEBRERO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ABRIL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ABRIL</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MAYO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JUNIO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51194752"/>
                  </a:ext>
                </a:extLst>
              </a:tr>
              <a:tr h="1037930">
                <a:tc>
                  <a:txBody>
                    <a:bodyPr/>
                    <a:lstStyle/>
                    <a:p>
                      <a:pPr algn="ctr" fontAlgn="ctr"/>
                      <a:r>
                        <a:rPr lang="es-PE" sz="1450" b="1" i="0" u="none" strike="noStrike">
                          <a:solidFill>
                            <a:srgbClr val="FFFFFF"/>
                          </a:solidFill>
                          <a:effectLst/>
                          <a:latin typeface="Calibri Light" panose="020F0302020204030204" pitchFamily="34" charset="0"/>
                        </a:rPr>
                        <a:t>UUOO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240945064"/>
                  </a:ext>
                </a:extLst>
              </a:tr>
              <a:tr h="531253">
                <a:tc>
                  <a:txBody>
                    <a:bodyPr/>
                    <a:lstStyle/>
                    <a:p>
                      <a:pPr algn="ctr" fontAlgn="ctr"/>
                      <a:r>
                        <a:rPr lang="es-PE" sz="1450" b="1" i="0" u="none" strike="noStrike">
                          <a:solidFill>
                            <a:srgbClr val="FFFFFF"/>
                          </a:solidFill>
                          <a:effectLst/>
                          <a:latin typeface="Calibri Light" panose="020F0302020204030204" pitchFamily="34" charset="0"/>
                        </a:rPr>
                        <a:t>DCCI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209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150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188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314</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242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300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285</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300</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264</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236</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256</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280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268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240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3368564924"/>
                  </a:ext>
                </a:extLst>
              </a:tr>
              <a:tr h="328328">
                <a:tc>
                  <a:txBody>
                    <a:bodyPr/>
                    <a:lstStyle/>
                    <a:p>
                      <a:pPr algn="ctr" fontAlgn="ctr"/>
                      <a:r>
                        <a:rPr lang="es-PE" sz="1450" b="1" i="0" u="none" strike="noStrike">
                          <a:solidFill>
                            <a:srgbClr val="FFFFFF"/>
                          </a:solidFill>
                          <a:effectLst/>
                          <a:latin typeface="Calibri Light" panose="020F0302020204030204" pitchFamily="34" charset="0"/>
                        </a:rPr>
                        <a:t>DCCII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a:solidFill>
                            <a:srgbClr val="833C0C"/>
                          </a:solidFill>
                          <a:effectLst/>
                          <a:latin typeface="Calibri Light" panose="020F0302020204030204" pitchFamily="34" charset="0"/>
                        </a:rPr>
                        <a:t>104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80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96</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92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79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rgbClr val="833C0C"/>
                          </a:solidFill>
                          <a:effectLst/>
                          <a:latin typeface="Calibri Light" panose="020F0302020204030204" pitchFamily="34" charset="0"/>
                        </a:rPr>
                        <a:t>8</a:t>
                      </a:r>
                      <a:r>
                        <a:rPr lang="es-PE" sz="1450" b="1" i="0" u="none" strike="noStrike" dirty="0">
                          <a:solidFill>
                            <a:srgbClr val="833C0C"/>
                          </a:solidFill>
                          <a:effectLst/>
                          <a:latin typeface="Calibri Light" panose="020F0302020204030204" pitchFamily="34" charset="0"/>
                        </a:rPr>
                        <a:t>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83</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81</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77</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90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89</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112</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104</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102</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extLst>
                  <a:ext uri="{0D108BD9-81ED-4DB2-BD59-A6C34878D82A}">
                    <a16:rowId xmlns:a16="http://schemas.microsoft.com/office/drawing/2014/main" val="3056038957"/>
                  </a:ext>
                </a:extLst>
              </a:tr>
              <a:tr h="531253">
                <a:tc>
                  <a:txBody>
                    <a:bodyPr/>
                    <a:lstStyle/>
                    <a:p>
                      <a:pPr algn="ctr" fontAlgn="ctr"/>
                      <a:r>
                        <a:rPr lang="es-PE" sz="1450" b="1" i="0" u="none" strike="noStrike">
                          <a:solidFill>
                            <a:srgbClr val="FFFFFF"/>
                          </a:solidFill>
                          <a:effectLst/>
                          <a:latin typeface="Calibri Light" panose="020F0302020204030204" pitchFamily="34" charset="0"/>
                        </a:rPr>
                        <a:t>DCP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14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20*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20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17</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21</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18</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15</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13</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19</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576731200"/>
                  </a:ext>
                </a:extLst>
              </a:tr>
            </a:tbl>
          </a:graphicData>
        </a:graphic>
      </p:graphicFrame>
      <p:graphicFrame>
        <p:nvGraphicFramePr>
          <p:cNvPr id="4" name="Tabla 3">
            <a:extLst>
              <a:ext uri="{FF2B5EF4-FFF2-40B4-BE49-F238E27FC236}">
                <a16:creationId xmlns:a16="http://schemas.microsoft.com/office/drawing/2014/main" id="{D87AF17A-BFED-46AC-919E-84361237190B}"/>
              </a:ext>
            </a:extLst>
          </p:cNvPr>
          <p:cNvGraphicFramePr>
            <a:graphicFrameLocks noGrp="1"/>
          </p:cNvGraphicFramePr>
          <p:nvPr>
            <p:extLst>
              <p:ext uri="{D42A27DB-BD31-4B8C-83A1-F6EECF244321}">
                <p14:modId xmlns:p14="http://schemas.microsoft.com/office/powerpoint/2010/main" val="3176615438"/>
              </p:ext>
            </p:extLst>
          </p:nvPr>
        </p:nvGraphicFramePr>
        <p:xfrm>
          <a:off x="1049103" y="5500375"/>
          <a:ext cx="1916285" cy="960250"/>
        </p:xfrm>
        <a:graphic>
          <a:graphicData uri="http://schemas.openxmlformats.org/drawingml/2006/table">
            <a:tbl>
              <a:tblPr firstRow="1" firstCol="1" bandRow="1">
                <a:tableStyleId>{5C22544A-7EE6-4342-B048-85BDC9FD1C3A}</a:tableStyleId>
              </a:tblPr>
              <a:tblGrid>
                <a:gridCol w="573455">
                  <a:extLst>
                    <a:ext uri="{9D8B030D-6E8A-4147-A177-3AD203B41FA5}">
                      <a16:colId xmlns:a16="http://schemas.microsoft.com/office/drawing/2014/main" val="400669114"/>
                    </a:ext>
                  </a:extLst>
                </a:gridCol>
                <a:gridCol w="621363">
                  <a:extLst>
                    <a:ext uri="{9D8B030D-6E8A-4147-A177-3AD203B41FA5}">
                      <a16:colId xmlns:a16="http://schemas.microsoft.com/office/drawing/2014/main" val="47251755"/>
                    </a:ext>
                  </a:extLst>
                </a:gridCol>
                <a:gridCol w="721467">
                  <a:extLst>
                    <a:ext uri="{9D8B030D-6E8A-4147-A177-3AD203B41FA5}">
                      <a16:colId xmlns:a16="http://schemas.microsoft.com/office/drawing/2014/main" val="53380357"/>
                    </a:ext>
                  </a:extLst>
                </a:gridCol>
              </a:tblGrid>
              <a:tr h="245664">
                <a:tc>
                  <a:txBody>
                    <a:bodyPr/>
                    <a:lstStyle/>
                    <a:p>
                      <a:r>
                        <a:rPr lang="es-PE" sz="1100" dirty="0">
                          <a:effectLst/>
                        </a:rPr>
                        <a:t>UUOO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2022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2024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8351491"/>
                  </a:ext>
                </a:extLst>
              </a:tr>
              <a:tr h="234461">
                <a:tc>
                  <a:txBody>
                    <a:bodyPr/>
                    <a:lstStyle/>
                    <a:p>
                      <a:r>
                        <a:rPr lang="es-PE" sz="1100">
                          <a:effectLst/>
                        </a:rPr>
                        <a:t>DCCI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22</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503170"/>
                  </a:ext>
                </a:extLst>
              </a:tr>
              <a:tr h="245664">
                <a:tc>
                  <a:txBody>
                    <a:bodyPr/>
                    <a:lstStyle/>
                    <a:p>
                      <a:r>
                        <a:rPr lang="es-PE" sz="1100">
                          <a:effectLst/>
                        </a:rPr>
                        <a:t>DCCII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4.5</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10</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6236002"/>
                  </a:ext>
                </a:extLst>
              </a:tr>
              <a:tr h="234461">
                <a:tc>
                  <a:txBody>
                    <a:bodyPr/>
                    <a:lstStyle/>
                    <a:p>
                      <a:r>
                        <a:rPr lang="es-PE" sz="1100" dirty="0">
                          <a:effectLst/>
                        </a:rPr>
                        <a:t>DCP</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2.2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4.29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7154280"/>
                  </a:ext>
                </a:extLst>
              </a:tr>
            </a:tbl>
          </a:graphicData>
        </a:graphic>
      </p:graphicFrame>
      <p:sp>
        <p:nvSpPr>
          <p:cNvPr id="10" name="Título 94">
            <a:extLst>
              <a:ext uri="{FF2B5EF4-FFF2-40B4-BE49-F238E27FC236}">
                <a16:creationId xmlns:a16="http://schemas.microsoft.com/office/drawing/2014/main" id="{5E639BFF-C474-4303-B9F1-6A675CBE0E77}"/>
              </a:ext>
            </a:extLst>
          </p:cNvPr>
          <p:cNvSpPr txBox="1">
            <a:spLocks/>
          </p:cNvSpPr>
          <p:nvPr/>
        </p:nvSpPr>
        <p:spPr>
          <a:xfrm>
            <a:off x="394707" y="4820616"/>
            <a:ext cx="3040702" cy="5943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Antecedente </a:t>
            </a:r>
            <a:endParaRPr lang="es-PE" sz="1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96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POR SUPERVISIÓN</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657226" y="3439416"/>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647701" y="5486646"/>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3" name="Tabla 2">
            <a:extLst>
              <a:ext uri="{FF2B5EF4-FFF2-40B4-BE49-F238E27FC236}">
                <a16:creationId xmlns:a16="http://schemas.microsoft.com/office/drawing/2014/main" id="{F0ADA2C1-AAD1-1A2B-5E48-C4B607DCDAF6}"/>
              </a:ext>
            </a:extLst>
          </p:cNvPr>
          <p:cNvGraphicFramePr>
            <a:graphicFrameLocks noGrp="1"/>
          </p:cNvGraphicFramePr>
          <p:nvPr>
            <p:extLst>
              <p:ext uri="{D42A27DB-BD31-4B8C-83A1-F6EECF244321}">
                <p14:modId xmlns:p14="http://schemas.microsoft.com/office/powerpoint/2010/main" val="3459560292"/>
              </p:ext>
            </p:extLst>
          </p:nvPr>
        </p:nvGraphicFramePr>
        <p:xfrm>
          <a:off x="2393298" y="3270180"/>
          <a:ext cx="8693802" cy="1400897"/>
        </p:xfrm>
        <a:graphic>
          <a:graphicData uri="http://schemas.openxmlformats.org/drawingml/2006/table">
            <a:tbl>
              <a:tblPr firstRow="1" firstCol="1" bandRow="1">
                <a:tableStyleId>{00A15C55-8517-42AA-B614-E9B94910E393}</a:tableStyleId>
              </a:tblPr>
              <a:tblGrid>
                <a:gridCol w="1455080">
                  <a:extLst>
                    <a:ext uri="{9D8B030D-6E8A-4147-A177-3AD203B41FA5}">
                      <a16:colId xmlns:a16="http://schemas.microsoft.com/office/drawing/2014/main" val="3257801786"/>
                    </a:ext>
                  </a:extLst>
                </a:gridCol>
                <a:gridCol w="2136188">
                  <a:extLst>
                    <a:ext uri="{9D8B030D-6E8A-4147-A177-3AD203B41FA5}">
                      <a16:colId xmlns:a16="http://schemas.microsoft.com/office/drawing/2014/main" val="1776142972"/>
                    </a:ext>
                  </a:extLst>
                </a:gridCol>
                <a:gridCol w="1096282">
                  <a:extLst>
                    <a:ext uri="{9D8B030D-6E8A-4147-A177-3AD203B41FA5}">
                      <a16:colId xmlns:a16="http://schemas.microsoft.com/office/drawing/2014/main" val="153233266"/>
                    </a:ext>
                  </a:extLst>
                </a:gridCol>
                <a:gridCol w="1192082">
                  <a:extLst>
                    <a:ext uri="{9D8B030D-6E8A-4147-A177-3AD203B41FA5}">
                      <a16:colId xmlns:a16="http://schemas.microsoft.com/office/drawing/2014/main" val="1566383420"/>
                    </a:ext>
                  </a:extLst>
                </a:gridCol>
                <a:gridCol w="1378511">
                  <a:extLst>
                    <a:ext uri="{9D8B030D-6E8A-4147-A177-3AD203B41FA5}">
                      <a16:colId xmlns:a16="http://schemas.microsoft.com/office/drawing/2014/main" val="2882639219"/>
                    </a:ext>
                  </a:extLst>
                </a:gridCol>
                <a:gridCol w="1435659">
                  <a:extLst>
                    <a:ext uri="{9D8B030D-6E8A-4147-A177-3AD203B41FA5}">
                      <a16:colId xmlns:a16="http://schemas.microsoft.com/office/drawing/2014/main" val="2536285859"/>
                    </a:ext>
                  </a:extLst>
                </a:gridCol>
              </a:tblGrid>
              <a:tr h="424874">
                <a:tc>
                  <a:txBody>
                    <a:bodyPr/>
                    <a:lstStyle/>
                    <a:p>
                      <a:pPr algn="ctr"/>
                      <a:r>
                        <a:rPr lang="es-PE" sz="1600" b="1" dirty="0">
                          <a:solidFill>
                            <a:srgbClr val="FFFFFF"/>
                          </a:solidFill>
                          <a:effectLst/>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a:solidFill>
                            <a:srgbClr val="FFFFFF"/>
                          </a:solidFill>
                          <a:effectLst/>
                        </a:rPr>
                        <a:t>Resolución aplicada</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extLst>
                  <a:ext uri="{0D108BD9-81ED-4DB2-BD59-A6C34878D82A}">
                    <a16:rowId xmlns:a16="http://schemas.microsoft.com/office/drawing/2014/main" val="1468347544"/>
                  </a:ext>
                </a:extLst>
              </a:tr>
              <a:tr h="410828">
                <a:tc>
                  <a:txBody>
                    <a:bodyPr/>
                    <a:lstStyle/>
                    <a:p>
                      <a:pPr algn="ctr"/>
                      <a:r>
                        <a:rPr lang="es-PE" sz="1600" b="1" dirty="0">
                          <a:solidFill>
                            <a:srgbClr val="FFFFFF"/>
                          </a:solidFill>
                          <a:effectLst/>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dirty="0">
                          <a:solidFill>
                            <a:srgbClr val="000000"/>
                          </a:solidFill>
                          <a:effectLst/>
                        </a:rPr>
                        <a:t>Yessenia Salcedo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52</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5.3</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MEDIO/ALTA</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9.81</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160037749"/>
                  </a:ext>
                </a:extLst>
              </a:tr>
              <a:tr h="502389">
                <a:tc>
                  <a:txBody>
                    <a:bodyPr/>
                    <a:lstStyle/>
                    <a:p>
                      <a:pPr algn="ctr"/>
                      <a:r>
                        <a:rPr lang="es-ES" sz="1600" b="1" dirty="0">
                          <a:solidFill>
                            <a:srgbClr val="FFFFFF"/>
                          </a:solidFill>
                          <a:effectLst/>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kern="1200" dirty="0">
                          <a:solidFill>
                            <a:schemeClr val="tx1"/>
                          </a:solidFill>
                          <a:effectLst/>
                        </a:rPr>
                        <a:t>Allison Castro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52</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5.4</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MEDIO/ALTA</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9.62</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0D7F5025-96FD-A7EE-5367-617ABB2327E9}"/>
              </a:ext>
            </a:extLst>
          </p:cNvPr>
          <p:cNvGraphicFramePr>
            <a:graphicFrameLocks noGrp="1"/>
          </p:cNvGraphicFramePr>
          <p:nvPr>
            <p:extLst>
              <p:ext uri="{D42A27DB-BD31-4B8C-83A1-F6EECF244321}">
                <p14:modId xmlns:p14="http://schemas.microsoft.com/office/powerpoint/2010/main" val="1250244344"/>
              </p:ext>
            </p:extLst>
          </p:nvPr>
        </p:nvGraphicFramePr>
        <p:xfrm>
          <a:off x="2393298" y="5091920"/>
          <a:ext cx="8636651" cy="1427626"/>
        </p:xfrm>
        <a:graphic>
          <a:graphicData uri="http://schemas.openxmlformats.org/drawingml/2006/table">
            <a:tbl>
              <a:tblPr firstRow="1" firstCol="1" bandRow="1"/>
              <a:tblGrid>
                <a:gridCol w="1584015">
                  <a:extLst>
                    <a:ext uri="{9D8B030D-6E8A-4147-A177-3AD203B41FA5}">
                      <a16:colId xmlns:a16="http://schemas.microsoft.com/office/drawing/2014/main" val="1791917023"/>
                    </a:ext>
                  </a:extLst>
                </a:gridCol>
                <a:gridCol w="1998876">
                  <a:extLst>
                    <a:ext uri="{9D8B030D-6E8A-4147-A177-3AD203B41FA5}">
                      <a16:colId xmlns:a16="http://schemas.microsoft.com/office/drawing/2014/main" val="778085126"/>
                    </a:ext>
                  </a:extLst>
                </a:gridCol>
                <a:gridCol w="1093724">
                  <a:extLst>
                    <a:ext uri="{9D8B030D-6E8A-4147-A177-3AD203B41FA5}">
                      <a16:colId xmlns:a16="http://schemas.microsoft.com/office/drawing/2014/main" val="3808763990"/>
                    </a:ext>
                  </a:extLst>
                </a:gridCol>
                <a:gridCol w="1169154">
                  <a:extLst>
                    <a:ext uri="{9D8B030D-6E8A-4147-A177-3AD203B41FA5}">
                      <a16:colId xmlns:a16="http://schemas.microsoft.com/office/drawing/2014/main" val="2363829853"/>
                    </a:ext>
                  </a:extLst>
                </a:gridCol>
                <a:gridCol w="1395441">
                  <a:extLst>
                    <a:ext uri="{9D8B030D-6E8A-4147-A177-3AD203B41FA5}">
                      <a16:colId xmlns:a16="http://schemas.microsoft.com/office/drawing/2014/main" val="3525508578"/>
                    </a:ext>
                  </a:extLst>
                </a:gridCol>
                <a:gridCol w="1395441">
                  <a:extLst>
                    <a:ext uri="{9D8B030D-6E8A-4147-A177-3AD203B41FA5}">
                      <a16:colId xmlns:a16="http://schemas.microsoft.com/office/drawing/2014/main" val="3174711922"/>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0">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p>
                    <a:p>
                      <a:pPr algn="ct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kern="1200" dirty="0">
                          <a:solidFill>
                            <a:schemeClr val="tx1"/>
                          </a:solidFill>
                          <a:effectLst/>
                          <a:latin typeface="+mn-lt"/>
                          <a:ea typeface="+mn-ea"/>
                          <a:cs typeface="+mn-cs"/>
                        </a:rPr>
                        <a:t>13</a:t>
                      </a:r>
                      <a:endParaRPr lang="es-PE" sz="1800" kern="1200" dirty="0">
                        <a:solidFill>
                          <a:schemeClr val="tx1"/>
                        </a:solidFill>
                        <a:effectLs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dirty="0">
                          <a:effectLst/>
                          <a:latin typeface="Calibri" panose="020F0502020204030204" pitchFamily="34" charset="0"/>
                          <a:ea typeface="Calibri" panose="020F0502020204030204" pitchFamily="34" charset="0"/>
                          <a:cs typeface="Times New Roman" panose="02020603050405020304" pitchFamily="18" charset="0"/>
                        </a:rPr>
                        <a:t>6.23</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MUY ALTA 4</a:t>
                      </a:r>
                    </a:p>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ALTA 4</a:t>
                      </a:r>
                    </a:p>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MEDIA 5</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b="0" kern="1200" dirty="0">
                          <a:solidFill>
                            <a:schemeClr val="tx1"/>
                          </a:solidFill>
                          <a:effectLst/>
                          <a:latin typeface="+mn-lt"/>
                          <a:ea typeface="+mn-ea"/>
                          <a:cs typeface="+mn-cs"/>
                        </a:rPr>
                        <a:t>2.09 (*)</a:t>
                      </a:r>
                      <a:endParaRPr lang="es-PE" sz="1800" b="0" kern="1200" dirty="0">
                        <a:solidFill>
                          <a:schemeClr val="tx1"/>
                        </a:solidFill>
                        <a:effectLs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graphicFrame>
        <p:nvGraphicFramePr>
          <p:cNvPr id="5" name="Tabla 4">
            <a:extLst>
              <a:ext uri="{FF2B5EF4-FFF2-40B4-BE49-F238E27FC236}">
                <a16:creationId xmlns:a16="http://schemas.microsoft.com/office/drawing/2014/main" id="{99B5AFAD-2AB6-6CDE-A9C3-4DCFAEE25A1E}"/>
              </a:ext>
            </a:extLst>
          </p:cNvPr>
          <p:cNvGraphicFramePr>
            <a:graphicFrameLocks noGrp="1"/>
          </p:cNvGraphicFramePr>
          <p:nvPr>
            <p:extLst>
              <p:ext uri="{D42A27DB-BD31-4B8C-83A1-F6EECF244321}">
                <p14:modId xmlns:p14="http://schemas.microsoft.com/office/powerpoint/2010/main" val="3207133000"/>
              </p:ext>
            </p:extLst>
          </p:nvPr>
        </p:nvGraphicFramePr>
        <p:xfrm>
          <a:off x="2393295" y="1035366"/>
          <a:ext cx="8636653" cy="1963161"/>
        </p:xfrm>
        <a:graphic>
          <a:graphicData uri="http://schemas.openxmlformats.org/drawingml/2006/table">
            <a:tbl>
              <a:tblPr firstRow="1" firstCol="1" bandRow="1"/>
              <a:tblGrid>
                <a:gridCol w="1469809">
                  <a:extLst>
                    <a:ext uri="{9D8B030D-6E8A-4147-A177-3AD203B41FA5}">
                      <a16:colId xmlns:a16="http://schemas.microsoft.com/office/drawing/2014/main" val="2785956031"/>
                    </a:ext>
                  </a:extLst>
                </a:gridCol>
                <a:gridCol w="2101353">
                  <a:extLst>
                    <a:ext uri="{9D8B030D-6E8A-4147-A177-3AD203B41FA5}">
                      <a16:colId xmlns:a16="http://schemas.microsoft.com/office/drawing/2014/main" val="1033099074"/>
                    </a:ext>
                  </a:extLst>
                </a:gridCol>
                <a:gridCol w="1056369">
                  <a:extLst>
                    <a:ext uri="{9D8B030D-6E8A-4147-A177-3AD203B41FA5}">
                      <a16:colId xmlns:a16="http://schemas.microsoft.com/office/drawing/2014/main" val="1980848825"/>
                    </a:ext>
                  </a:extLst>
                </a:gridCol>
                <a:gridCol w="1165860">
                  <a:extLst>
                    <a:ext uri="{9D8B030D-6E8A-4147-A177-3AD203B41FA5}">
                      <a16:colId xmlns:a16="http://schemas.microsoft.com/office/drawing/2014/main" val="176937328"/>
                    </a:ext>
                  </a:extLst>
                </a:gridCol>
                <a:gridCol w="1421631">
                  <a:extLst>
                    <a:ext uri="{9D8B030D-6E8A-4147-A177-3AD203B41FA5}">
                      <a16:colId xmlns:a16="http://schemas.microsoft.com/office/drawing/2014/main" val="1472209076"/>
                    </a:ext>
                  </a:extLst>
                </a:gridCol>
                <a:gridCol w="1421631">
                  <a:extLst>
                    <a:ext uri="{9D8B030D-6E8A-4147-A177-3AD203B41FA5}">
                      <a16:colId xmlns:a16="http://schemas.microsoft.com/office/drawing/2014/main" val="1870332436"/>
                    </a:ext>
                  </a:extLst>
                </a:gridCol>
              </a:tblGrid>
              <a:tr h="85578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61856">
                <a:tc>
                  <a:txBody>
                    <a:bodyPr/>
                    <a:lstStyle/>
                    <a:p>
                      <a:pPr algn="ctr"/>
                      <a:r>
                        <a:rPr lang="es-PE"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99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6.6</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highlight>
                          <a:srgbClr val="FFFF00"/>
                        </a:highligh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15.00</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317626">
                <a:tc>
                  <a:txBody>
                    <a:bodyPr/>
                    <a:lstStyle/>
                    <a:p>
                      <a:pPr algn="ctr"/>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5.3</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highlight>
                          <a:srgbClr val="FFFF00"/>
                        </a:highligh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16.79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427893">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highlight>
                          <a:srgbClr val="FFFF00"/>
                        </a:highligh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11.29 (*)</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sp>
        <p:nvSpPr>
          <p:cNvPr id="2" name="CuadroTexto 1">
            <a:extLst>
              <a:ext uri="{FF2B5EF4-FFF2-40B4-BE49-F238E27FC236}">
                <a16:creationId xmlns:a16="http://schemas.microsoft.com/office/drawing/2014/main" id="{F696C2A2-DD36-69DE-704F-6AC1CB2E48BD}"/>
              </a:ext>
            </a:extLst>
          </p:cNvPr>
          <p:cNvSpPr txBox="1"/>
          <p:nvPr/>
        </p:nvSpPr>
        <p:spPr>
          <a:xfrm>
            <a:off x="2393297" y="4661033"/>
            <a:ext cx="8636651" cy="261610"/>
          </a:xfrm>
          <a:prstGeom prst="rect">
            <a:avLst/>
          </a:prstGeom>
          <a:noFill/>
        </p:spPr>
        <p:txBody>
          <a:bodyPr wrap="square" rtlCol="0">
            <a:spAutoFit/>
          </a:bodyPr>
          <a:lstStyle/>
          <a:p>
            <a:r>
              <a:rPr lang="es-ES" sz="1100" dirty="0"/>
              <a:t>(*) </a:t>
            </a:r>
            <a:r>
              <a:rPr lang="es-ES" sz="1050" dirty="0"/>
              <a:t>Incluye 07 </a:t>
            </a:r>
            <a:r>
              <a:rPr lang="es-ES" sz="1050" dirty="0" err="1"/>
              <a:t>RDs</a:t>
            </a:r>
            <a:r>
              <a:rPr lang="es-ES" sz="1050" dirty="0"/>
              <a:t> que no pudieron aplicarse por falla del sistema - SIGERI (aplicadas 3 de junio</a:t>
            </a:r>
            <a:r>
              <a:rPr lang="es-ES" sz="1100" dirty="0"/>
              <a:t>)</a:t>
            </a:r>
            <a:endParaRPr lang="es-PE" sz="1100" dirty="0"/>
          </a:p>
        </p:txBody>
      </p:sp>
      <p:sp>
        <p:nvSpPr>
          <p:cNvPr id="6" name="CuadroTexto 5">
            <a:extLst>
              <a:ext uri="{FF2B5EF4-FFF2-40B4-BE49-F238E27FC236}">
                <a16:creationId xmlns:a16="http://schemas.microsoft.com/office/drawing/2014/main" id="{8904C80E-FCD8-F48D-53FB-9E90B144A774}"/>
              </a:ext>
            </a:extLst>
          </p:cNvPr>
          <p:cNvSpPr txBox="1"/>
          <p:nvPr/>
        </p:nvSpPr>
        <p:spPr>
          <a:xfrm>
            <a:off x="2269472" y="6482773"/>
            <a:ext cx="8636651" cy="261610"/>
          </a:xfrm>
          <a:prstGeom prst="rect">
            <a:avLst/>
          </a:prstGeom>
          <a:noFill/>
        </p:spPr>
        <p:txBody>
          <a:bodyPr wrap="square" rtlCol="0">
            <a:spAutoFit/>
          </a:bodyPr>
          <a:lstStyle/>
          <a:p>
            <a:r>
              <a:rPr lang="es-ES" sz="1100" dirty="0"/>
              <a:t>(*) Retroalimentación y </a:t>
            </a:r>
            <a:r>
              <a:rPr lang="es-ES" sz="1100" b="0" dirty="0">
                <a:effectLst/>
                <a:latin typeface="Calibri" panose="020F0502020204030204" pitchFamily="34" charset="0"/>
                <a:ea typeface="Calibri" panose="020F0502020204030204" pitchFamily="34" charset="0"/>
                <a:cs typeface="Times New Roman" panose="02020603050405020304" pitchFamily="18" charset="0"/>
              </a:rPr>
              <a:t>Gestión Documental Archivo</a:t>
            </a:r>
            <a:r>
              <a:rPr lang="es-ES" sz="1100" dirty="0"/>
              <a:t>.</a:t>
            </a:r>
            <a:endParaRPr lang="es-PE" sz="1100" dirty="0"/>
          </a:p>
        </p:txBody>
      </p:sp>
      <p:sp>
        <p:nvSpPr>
          <p:cNvPr id="7" name="CuadroTexto 6">
            <a:extLst>
              <a:ext uri="{FF2B5EF4-FFF2-40B4-BE49-F238E27FC236}">
                <a16:creationId xmlns:a16="http://schemas.microsoft.com/office/drawing/2014/main" id="{0AA650FB-D454-02CE-DB19-F659CFA837AB}"/>
              </a:ext>
            </a:extLst>
          </p:cNvPr>
          <p:cNvSpPr txBox="1"/>
          <p:nvPr/>
        </p:nvSpPr>
        <p:spPr>
          <a:xfrm>
            <a:off x="2307572" y="2980141"/>
            <a:ext cx="8636651" cy="261610"/>
          </a:xfrm>
          <a:prstGeom prst="rect">
            <a:avLst/>
          </a:prstGeom>
          <a:noFill/>
        </p:spPr>
        <p:txBody>
          <a:bodyPr wrap="square" rtlCol="0">
            <a:spAutoFit/>
          </a:bodyPr>
          <a:lstStyle/>
          <a:p>
            <a:r>
              <a:rPr lang="es-ES" sz="1100" dirty="0"/>
              <a:t>(*) Labores adicionales.</a:t>
            </a:r>
            <a:endParaRPr lang="es-PE" sz="1100" dirty="0"/>
          </a:p>
        </p:txBody>
      </p:sp>
    </p:spTree>
    <p:extLst>
      <p:ext uri="{BB962C8B-B14F-4D97-AF65-F5344CB8AC3E}">
        <p14:creationId xmlns:p14="http://schemas.microsoft.com/office/powerpoint/2010/main" val="772513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PROYECTADO Y NO APLICADO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723902" y="3976453"/>
            <a:ext cx="1028700" cy="638174"/>
          </a:xfrm>
          <a:prstGeom prst="rightArrow">
            <a:avLst/>
          </a:prstGeom>
          <a:ln w="28575">
            <a:solidFill>
              <a:srgbClr val="FF66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723902" y="5793585"/>
            <a:ext cx="1028700" cy="638174"/>
          </a:xfrm>
          <a:prstGeom prst="rightArrow">
            <a:avLst/>
          </a:prstGeom>
          <a:ln w="28575">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7D983311-D5D2-D4A1-1B19-7BD4F56B92BF}"/>
              </a:ext>
            </a:extLst>
          </p:cNvPr>
          <p:cNvGraphicFramePr>
            <a:graphicFrameLocks noGrp="1"/>
          </p:cNvGraphicFramePr>
          <p:nvPr>
            <p:extLst>
              <p:ext uri="{D42A27DB-BD31-4B8C-83A1-F6EECF244321}">
                <p14:modId xmlns:p14="http://schemas.microsoft.com/office/powerpoint/2010/main" val="3029602712"/>
              </p:ext>
            </p:extLst>
          </p:nvPr>
        </p:nvGraphicFramePr>
        <p:xfrm>
          <a:off x="2349855" y="1022523"/>
          <a:ext cx="9012794" cy="2267814"/>
        </p:xfrm>
        <a:graphic>
          <a:graphicData uri="http://schemas.openxmlformats.org/drawingml/2006/table">
            <a:tbl>
              <a:tblPr firstRow="1" firstCol="1" bandRow="1"/>
              <a:tblGrid>
                <a:gridCol w="1363960">
                  <a:extLst>
                    <a:ext uri="{9D8B030D-6E8A-4147-A177-3AD203B41FA5}">
                      <a16:colId xmlns:a16="http://schemas.microsoft.com/office/drawing/2014/main" val="2785956031"/>
                    </a:ext>
                  </a:extLst>
                </a:gridCol>
                <a:gridCol w="1946617">
                  <a:extLst>
                    <a:ext uri="{9D8B030D-6E8A-4147-A177-3AD203B41FA5}">
                      <a16:colId xmlns:a16="http://schemas.microsoft.com/office/drawing/2014/main" val="1033099074"/>
                    </a:ext>
                  </a:extLst>
                </a:gridCol>
                <a:gridCol w="1403098">
                  <a:extLst>
                    <a:ext uri="{9D8B030D-6E8A-4147-A177-3AD203B41FA5}">
                      <a16:colId xmlns:a16="http://schemas.microsoft.com/office/drawing/2014/main" val="1980848825"/>
                    </a:ext>
                  </a:extLst>
                </a:gridCol>
                <a:gridCol w="1249960">
                  <a:extLst>
                    <a:ext uri="{9D8B030D-6E8A-4147-A177-3AD203B41FA5}">
                      <a16:colId xmlns:a16="http://schemas.microsoft.com/office/drawing/2014/main" val="176937328"/>
                    </a:ext>
                  </a:extLst>
                </a:gridCol>
                <a:gridCol w="1837189">
                  <a:extLst>
                    <a:ext uri="{9D8B030D-6E8A-4147-A177-3AD203B41FA5}">
                      <a16:colId xmlns:a16="http://schemas.microsoft.com/office/drawing/2014/main" val="1870332436"/>
                    </a:ext>
                  </a:extLst>
                </a:gridCol>
                <a:gridCol w="1211970">
                  <a:extLst>
                    <a:ext uri="{9D8B030D-6E8A-4147-A177-3AD203B41FA5}">
                      <a16:colId xmlns:a16="http://schemas.microsoft.com/office/drawing/2014/main" val="617388905"/>
                    </a:ext>
                  </a:extLst>
                </a:gridCol>
              </a:tblGrid>
              <a:tr h="447404">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91479">
                <a:tc>
                  <a:txBody>
                    <a:bodyPr/>
                    <a:lstStyle/>
                    <a:p>
                      <a:pPr algn="l"/>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103</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99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pt-BR" sz="1400" b="0" dirty="0">
                          <a:effectLst/>
                          <a:latin typeface="Calibri" panose="020F0502020204030204" pitchFamily="34" charset="0"/>
                          <a:ea typeface="Calibri" panose="020F0502020204030204" pitchFamily="34" charset="0"/>
                          <a:cs typeface="Times New Roman" panose="02020603050405020304" pitchFamily="18" charset="0"/>
                        </a:rPr>
                        <a:t>3 Dentro de 30 dias</a:t>
                      </a:r>
                    </a:p>
                    <a:p>
                      <a:pPr algn="l"/>
                      <a:r>
                        <a:rPr lang="pt-BR" sz="1400" b="0" dirty="0">
                          <a:effectLst/>
                          <a:latin typeface="Calibri" panose="020F0502020204030204" pitchFamily="34" charset="0"/>
                          <a:ea typeface="Calibri" panose="020F0502020204030204" pitchFamily="34" charset="0"/>
                          <a:cs typeface="Times New Roman" panose="02020603050405020304" pitchFamily="18" charset="0"/>
                        </a:rPr>
                        <a:t>1 </a:t>
                      </a:r>
                      <a:r>
                        <a:rPr lang="pt-BR" sz="1400" b="0" dirty="0" err="1">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400" b="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256134">
                <a:tc>
                  <a:txBody>
                    <a:bodyPr/>
                    <a:lstStyle/>
                    <a:p>
                      <a:pPr algn="l"/>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l" defTabSz="914400" rtl="0" eaLnBrk="1" latinLnBrk="0" hangingPunct="1"/>
                      <a:endParaRPr lang="es-ES" sz="1400" b="0" kern="1200" dirty="0">
                        <a:solidFill>
                          <a:schemeClr val="tx1"/>
                        </a:solidFill>
                        <a:effectLst/>
                        <a:highlight>
                          <a:srgbClr val="FFFF00"/>
                        </a:highligh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a:t>
                      </a:r>
                      <a:endParaRPr lang="es-PE" sz="1400" b="0" kern="1200" dirty="0">
                        <a:solidFill>
                          <a:schemeClr val="tx1"/>
                        </a:solidFill>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1006659">
                <a:tc>
                  <a:txBody>
                    <a:bodyPr/>
                    <a:lstStyle/>
                    <a:p>
                      <a:pPr algn="l"/>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79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ES" sz="1200" kern="1200" dirty="0">
                          <a:solidFill>
                            <a:schemeClr val="tx1"/>
                          </a:solidFill>
                          <a:effectLst/>
                          <a:latin typeface="+mn-lt"/>
                          <a:ea typeface="+mn-ea"/>
                          <a:cs typeface="+mn-cs"/>
                        </a:rPr>
                        <a:t>2 x Memo por valor en evaluación</a:t>
                      </a:r>
                    </a:p>
                    <a:p>
                      <a:pPr algn="l"/>
                      <a:r>
                        <a:rPr lang="es-ES" sz="1200" kern="1200" dirty="0">
                          <a:solidFill>
                            <a:schemeClr val="tx1"/>
                          </a:solidFill>
                          <a:effectLst/>
                          <a:latin typeface="+mn-lt"/>
                          <a:ea typeface="+mn-ea"/>
                          <a:cs typeface="+mn-cs"/>
                        </a:rPr>
                        <a:t>4 notificados el 1ero junio</a:t>
                      </a:r>
                    </a:p>
                    <a:p>
                      <a:pPr algn="l"/>
                      <a:r>
                        <a:rPr lang="es-ES" sz="1200" kern="1200" dirty="0">
                          <a:solidFill>
                            <a:schemeClr val="tx1"/>
                          </a:solidFill>
                          <a:effectLst/>
                          <a:latin typeface="+mn-lt"/>
                          <a:ea typeface="+mn-ea"/>
                          <a:cs typeface="+mn-cs"/>
                        </a:rPr>
                        <a:t>3 proyecto dentro de 30 días</a:t>
                      </a:r>
                    </a:p>
                    <a:p>
                      <a:pPr algn="l"/>
                      <a:r>
                        <a:rPr lang="es-ES" sz="1200" kern="1200" dirty="0">
                          <a:solidFill>
                            <a:schemeClr val="tx1"/>
                          </a:solidFill>
                          <a:effectLst/>
                          <a:latin typeface="+mn-lt"/>
                          <a:ea typeface="+mn-ea"/>
                          <a:cs typeface="+mn-cs"/>
                        </a:rPr>
                        <a:t>1 complejidad</a:t>
                      </a:r>
                      <a:endParaRPr lang="es-PE" sz="1200" kern="1200" dirty="0">
                        <a:solidFill>
                          <a:schemeClr val="tx1"/>
                        </a:solidFill>
                        <a:effectLst/>
                        <a:highlight>
                          <a:srgbClr val="FFFF00"/>
                        </a:highligh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graphicFrame>
        <p:nvGraphicFramePr>
          <p:cNvPr id="3" name="Tabla 2">
            <a:extLst>
              <a:ext uri="{FF2B5EF4-FFF2-40B4-BE49-F238E27FC236}">
                <a16:creationId xmlns:a16="http://schemas.microsoft.com/office/drawing/2014/main" id="{DF7A7C28-D61E-7992-8D2D-1107C72400A6}"/>
              </a:ext>
            </a:extLst>
          </p:cNvPr>
          <p:cNvGraphicFramePr>
            <a:graphicFrameLocks noGrp="1"/>
          </p:cNvGraphicFramePr>
          <p:nvPr>
            <p:extLst>
              <p:ext uri="{D42A27DB-BD31-4B8C-83A1-F6EECF244321}">
                <p14:modId xmlns:p14="http://schemas.microsoft.com/office/powerpoint/2010/main" val="3046918933"/>
              </p:ext>
            </p:extLst>
          </p:nvPr>
        </p:nvGraphicFramePr>
        <p:xfrm>
          <a:off x="2345422" y="3318913"/>
          <a:ext cx="9017226" cy="1953255"/>
        </p:xfrm>
        <a:graphic>
          <a:graphicData uri="http://schemas.openxmlformats.org/drawingml/2006/table">
            <a:tbl>
              <a:tblPr firstRow="1" firstCol="1" bandRow="1"/>
              <a:tblGrid>
                <a:gridCol w="1372640">
                  <a:extLst>
                    <a:ext uri="{9D8B030D-6E8A-4147-A177-3AD203B41FA5}">
                      <a16:colId xmlns:a16="http://schemas.microsoft.com/office/drawing/2014/main" val="3257801786"/>
                    </a:ext>
                  </a:extLst>
                </a:gridCol>
                <a:gridCol w="1978063">
                  <a:extLst>
                    <a:ext uri="{9D8B030D-6E8A-4147-A177-3AD203B41FA5}">
                      <a16:colId xmlns:a16="http://schemas.microsoft.com/office/drawing/2014/main" val="1776142972"/>
                    </a:ext>
                  </a:extLst>
                </a:gridCol>
                <a:gridCol w="1350627">
                  <a:extLst>
                    <a:ext uri="{9D8B030D-6E8A-4147-A177-3AD203B41FA5}">
                      <a16:colId xmlns:a16="http://schemas.microsoft.com/office/drawing/2014/main" val="153233266"/>
                    </a:ext>
                  </a:extLst>
                </a:gridCol>
                <a:gridCol w="1291905">
                  <a:extLst>
                    <a:ext uri="{9D8B030D-6E8A-4147-A177-3AD203B41FA5}">
                      <a16:colId xmlns:a16="http://schemas.microsoft.com/office/drawing/2014/main" val="1566383420"/>
                    </a:ext>
                  </a:extLst>
                </a:gridCol>
                <a:gridCol w="1786855">
                  <a:extLst>
                    <a:ext uri="{9D8B030D-6E8A-4147-A177-3AD203B41FA5}">
                      <a16:colId xmlns:a16="http://schemas.microsoft.com/office/drawing/2014/main" val="2536285859"/>
                    </a:ext>
                  </a:extLst>
                </a:gridCol>
                <a:gridCol w="1237136">
                  <a:extLst>
                    <a:ext uri="{9D8B030D-6E8A-4147-A177-3AD203B41FA5}">
                      <a16:colId xmlns:a16="http://schemas.microsoft.com/office/drawing/2014/main" val="2628142879"/>
                    </a:ext>
                  </a:extLst>
                </a:gridCol>
              </a:tblGrid>
              <a:tr h="509317">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extLst>
                  <a:ext uri="{0D108BD9-81ED-4DB2-BD59-A6C34878D82A}">
                    <a16:rowId xmlns:a16="http://schemas.microsoft.com/office/drawing/2014/main" val="1468347544"/>
                  </a:ext>
                </a:extLst>
              </a:tr>
              <a:tr h="954968">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55 (*)</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52</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02 Proyectos observados pendiente de corrección con resolutor / 01 Pendiente de evaluar caso complejo</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Medio alto</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160037749"/>
                  </a:ext>
                </a:extLst>
              </a:tr>
              <a:tr h="488970">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kern="1200" dirty="0">
                          <a:solidFill>
                            <a:schemeClr val="tx1"/>
                          </a:solidFill>
                          <a:effectLst/>
                          <a:latin typeface="+mn-lt"/>
                          <a:ea typeface="+mn-ea"/>
                          <a:cs typeface="+mn-cs"/>
                        </a:rPr>
                        <a:t>Allison Castro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52 (*)</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Medio alto</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CED00117-3C55-7947-AD48-A563CEB4C5F1}"/>
              </a:ext>
            </a:extLst>
          </p:cNvPr>
          <p:cNvGraphicFramePr>
            <a:graphicFrameLocks noGrp="1"/>
          </p:cNvGraphicFramePr>
          <p:nvPr>
            <p:extLst>
              <p:ext uri="{D42A27DB-BD31-4B8C-83A1-F6EECF244321}">
                <p14:modId xmlns:p14="http://schemas.microsoft.com/office/powerpoint/2010/main" val="429852660"/>
              </p:ext>
            </p:extLst>
          </p:nvPr>
        </p:nvGraphicFramePr>
        <p:xfrm>
          <a:off x="2345422" y="5538659"/>
          <a:ext cx="9017226" cy="1194372"/>
        </p:xfrm>
        <a:graphic>
          <a:graphicData uri="http://schemas.openxmlformats.org/drawingml/2006/table">
            <a:tbl>
              <a:tblPr firstRow="1" firstCol="1" bandRow="1"/>
              <a:tblGrid>
                <a:gridCol w="1383294">
                  <a:extLst>
                    <a:ext uri="{9D8B030D-6E8A-4147-A177-3AD203B41FA5}">
                      <a16:colId xmlns:a16="http://schemas.microsoft.com/office/drawing/2014/main" val="1791917023"/>
                    </a:ext>
                  </a:extLst>
                </a:gridCol>
                <a:gridCol w="2017743">
                  <a:extLst>
                    <a:ext uri="{9D8B030D-6E8A-4147-A177-3AD203B41FA5}">
                      <a16:colId xmlns:a16="http://schemas.microsoft.com/office/drawing/2014/main" val="778085126"/>
                    </a:ext>
                  </a:extLst>
                </a:gridCol>
                <a:gridCol w="1308682">
                  <a:extLst>
                    <a:ext uri="{9D8B030D-6E8A-4147-A177-3AD203B41FA5}">
                      <a16:colId xmlns:a16="http://schemas.microsoft.com/office/drawing/2014/main" val="3808763990"/>
                    </a:ext>
                  </a:extLst>
                </a:gridCol>
                <a:gridCol w="1266738">
                  <a:extLst>
                    <a:ext uri="{9D8B030D-6E8A-4147-A177-3AD203B41FA5}">
                      <a16:colId xmlns:a16="http://schemas.microsoft.com/office/drawing/2014/main" val="2363829853"/>
                    </a:ext>
                  </a:extLst>
                </a:gridCol>
                <a:gridCol w="1795244">
                  <a:extLst>
                    <a:ext uri="{9D8B030D-6E8A-4147-A177-3AD203B41FA5}">
                      <a16:colId xmlns:a16="http://schemas.microsoft.com/office/drawing/2014/main" val="3174711922"/>
                    </a:ext>
                  </a:extLst>
                </a:gridCol>
                <a:gridCol w="1245525">
                  <a:extLst>
                    <a:ext uri="{9D8B030D-6E8A-4147-A177-3AD203B41FA5}">
                      <a16:colId xmlns:a16="http://schemas.microsoft.com/office/drawing/2014/main" val="2946329490"/>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5897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kern="1200" dirty="0">
                          <a:solidFill>
                            <a:schemeClr val="tx1"/>
                          </a:solidFill>
                          <a:effectLst/>
                          <a:latin typeface="+mn-lt"/>
                          <a:ea typeface="+mn-ea"/>
                          <a:cs typeface="+mn-cs"/>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No </a:t>
                      </a:r>
                      <a:endParaRPr lang="es-PE" sz="1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spTree>
    <p:extLst>
      <p:ext uri="{BB962C8B-B14F-4D97-AF65-F5344CB8AC3E}">
        <p14:creationId xmlns:p14="http://schemas.microsoft.com/office/powerpoint/2010/main" val="69990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06BF35C-A620-14C5-709B-343B3BA7CF6A}"/>
              </a:ext>
            </a:extLst>
          </p:cNvPr>
          <p:cNvGraphicFramePr>
            <a:graphicFrameLocks noGrp="1"/>
          </p:cNvGraphicFramePr>
          <p:nvPr>
            <p:extLst>
              <p:ext uri="{D42A27DB-BD31-4B8C-83A1-F6EECF244321}">
                <p14:modId xmlns:p14="http://schemas.microsoft.com/office/powerpoint/2010/main" val="2167962906"/>
              </p:ext>
            </p:extLst>
          </p:nvPr>
        </p:nvGraphicFramePr>
        <p:xfrm>
          <a:off x="1157969" y="1181294"/>
          <a:ext cx="8226890" cy="4984905"/>
        </p:xfrm>
        <a:graphic>
          <a:graphicData uri="http://schemas.openxmlformats.org/drawingml/2006/table">
            <a:tbl>
              <a:tblPr firstRow="1" firstCol="1" bandRow="1"/>
              <a:tblGrid>
                <a:gridCol w="1401112">
                  <a:extLst>
                    <a:ext uri="{9D8B030D-6E8A-4147-A177-3AD203B41FA5}">
                      <a16:colId xmlns:a16="http://schemas.microsoft.com/office/drawing/2014/main" val="2775420412"/>
                    </a:ext>
                  </a:extLst>
                </a:gridCol>
                <a:gridCol w="1493959">
                  <a:extLst>
                    <a:ext uri="{9D8B030D-6E8A-4147-A177-3AD203B41FA5}">
                      <a16:colId xmlns:a16="http://schemas.microsoft.com/office/drawing/2014/main" val="1302868493"/>
                    </a:ext>
                  </a:extLst>
                </a:gridCol>
                <a:gridCol w="1193749">
                  <a:extLst>
                    <a:ext uri="{9D8B030D-6E8A-4147-A177-3AD203B41FA5}">
                      <a16:colId xmlns:a16="http://schemas.microsoft.com/office/drawing/2014/main" val="2619335631"/>
                    </a:ext>
                  </a:extLst>
                </a:gridCol>
                <a:gridCol w="2253856">
                  <a:extLst>
                    <a:ext uri="{9D8B030D-6E8A-4147-A177-3AD203B41FA5}">
                      <a16:colId xmlns:a16="http://schemas.microsoft.com/office/drawing/2014/main" val="3518194475"/>
                    </a:ext>
                  </a:extLst>
                </a:gridCol>
                <a:gridCol w="942107">
                  <a:extLst>
                    <a:ext uri="{9D8B030D-6E8A-4147-A177-3AD203B41FA5}">
                      <a16:colId xmlns:a16="http://schemas.microsoft.com/office/drawing/2014/main" val="2121101367"/>
                    </a:ext>
                  </a:extLst>
                </a:gridCol>
                <a:gridCol w="942107">
                  <a:extLst>
                    <a:ext uri="{9D8B030D-6E8A-4147-A177-3AD203B41FA5}">
                      <a16:colId xmlns:a16="http://schemas.microsoft.com/office/drawing/2014/main" val="2184007081"/>
                    </a:ext>
                  </a:extLst>
                </a:gridCol>
              </a:tblGrid>
              <a:tr h="667188">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UUOO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SUPERVISIONES</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REGISTRO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FUNCIONARIO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CARGO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PRODUCCIÓN PROMEDIO MENSUAL</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991739676"/>
                  </a:ext>
                </a:extLst>
              </a:tr>
              <a:tr h="208075">
                <a:tc rowSpan="25">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7U7100 DIVISION DE CONTROL CONCURRENTE I</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5877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Roberto Vera Tudela Gallesi</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99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4833311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2900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Carolina Cavero Carrion</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1582802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4469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Hurtado Custodio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3024052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5534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Celso Sanchez Garrido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70242721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3284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Ana Diaz Jurado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83988550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3085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Edgar Cosio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6239081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8351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Debra Araoz Laines</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27649333"/>
                  </a:ext>
                </a:extLst>
              </a:tr>
              <a:tr h="253922">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Victoria Santa Cruz Martinez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85652611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4644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Cesar Linares Alcantara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1587912357"/>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7580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Vanesa Chavez Silva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89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0707567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2968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Chire Tunque</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2267223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4949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Javier Oyarse Cruz</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447011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4504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Hugo Jimenez Suclla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5737977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8319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Carla </a:t>
                      </a:r>
                      <a:r>
                        <a:rPr lang="es-PE" sz="1100" dirty="0" err="1">
                          <a:solidFill>
                            <a:srgbClr val="000000"/>
                          </a:solidFill>
                          <a:effectLst/>
                          <a:latin typeface="+mn-lt"/>
                          <a:ea typeface="Times New Roman" panose="02020603050405020304" pitchFamily="18" charset="0"/>
                          <a:cs typeface="Times New Roman" panose="02020603050405020304" pitchFamily="18" charset="0"/>
                        </a:rPr>
                        <a:t>Vilcapaza</a:t>
                      </a:r>
                      <a:r>
                        <a:rPr lang="es-PE" sz="1100" dirty="0">
                          <a:solidFill>
                            <a:srgbClr val="000000"/>
                          </a:solidFill>
                          <a:effectLst/>
                          <a:latin typeface="+mn-lt"/>
                          <a:ea typeface="Times New Roman" panose="02020603050405020304" pitchFamily="18" charset="0"/>
                          <a:cs typeface="Times New Roman" panose="02020603050405020304" pitchFamily="18" charset="0"/>
                        </a:rPr>
                        <a:t> Amaro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3312140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3977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William Godoy Escalante</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40233209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7324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Zaira Carbajal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29030901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Gladys Santillan Valdivia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78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6574934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7625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676120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7330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Tania Rosales Ochoa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97364243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4770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Maritza Mollinedo Catunta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9429120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2858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Julio Castañeda Calderon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06083998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7611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Azhir</a:t>
                      </a:r>
                      <a:r>
                        <a:rPr lang="es-PE" sz="1100" dirty="0">
                          <a:solidFill>
                            <a:srgbClr val="000000"/>
                          </a:solidFill>
                          <a:effectLst/>
                          <a:latin typeface="+mn-lt"/>
                          <a:ea typeface="Times New Roman" panose="02020603050405020304" pitchFamily="18" charset="0"/>
                          <a:cs typeface="Times New Roman" panose="02020603050405020304" pitchFamily="18" charset="0"/>
                        </a:rPr>
                        <a:t> Sandoval Guevara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411588770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7661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Luis Cordova Meza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654128652"/>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7674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Andres Angulo Farfan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3306802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5556</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Jorge </a:t>
                      </a:r>
                      <a:r>
                        <a:rPr lang="es-PE" sz="1100" dirty="0" err="1">
                          <a:solidFill>
                            <a:srgbClr val="000000"/>
                          </a:solidFill>
                          <a:effectLst/>
                          <a:latin typeface="+mn-lt"/>
                          <a:ea typeface="Times New Roman" panose="02020603050405020304" pitchFamily="18" charset="0"/>
                          <a:cs typeface="Times New Roman" panose="02020603050405020304" pitchFamily="18" charset="0"/>
                        </a:rPr>
                        <a:t>Sanchez</a:t>
                      </a:r>
                      <a:r>
                        <a:rPr lang="es-PE" sz="1100" dirty="0">
                          <a:solidFill>
                            <a:srgbClr val="000000"/>
                          </a:solidFill>
                          <a:effectLst/>
                          <a:latin typeface="+mn-lt"/>
                          <a:ea typeface="Times New Roman" panose="02020603050405020304" pitchFamily="18" charset="0"/>
                          <a:cs typeface="Times New Roman" panose="02020603050405020304" pitchFamily="18" charset="0"/>
                        </a:rPr>
                        <a:t> Torres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290609114"/>
                  </a:ext>
                </a:extLst>
              </a:tr>
            </a:tbl>
          </a:graphicData>
        </a:graphic>
      </p:graphicFrame>
    </p:spTree>
    <p:extLst>
      <p:ext uri="{BB962C8B-B14F-4D97-AF65-F5344CB8AC3E}">
        <p14:creationId xmlns:p14="http://schemas.microsoft.com/office/powerpoint/2010/main" val="262991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2E864E31-624B-DBA5-F636-0330773E385F}"/>
              </a:ext>
            </a:extLst>
          </p:cNvPr>
          <p:cNvGraphicFramePr>
            <a:graphicFrameLocks noGrp="1"/>
          </p:cNvGraphicFramePr>
          <p:nvPr>
            <p:extLst>
              <p:ext uri="{D42A27DB-BD31-4B8C-83A1-F6EECF244321}">
                <p14:modId xmlns:p14="http://schemas.microsoft.com/office/powerpoint/2010/main" val="2100245758"/>
              </p:ext>
            </p:extLst>
          </p:nvPr>
        </p:nvGraphicFramePr>
        <p:xfrm>
          <a:off x="1201409" y="1383544"/>
          <a:ext cx="8597395" cy="4283456"/>
        </p:xfrm>
        <a:graphic>
          <a:graphicData uri="http://schemas.openxmlformats.org/drawingml/2006/table">
            <a:tbl>
              <a:tblPr/>
              <a:tblGrid>
                <a:gridCol w="1089162">
                  <a:extLst>
                    <a:ext uri="{9D8B030D-6E8A-4147-A177-3AD203B41FA5}">
                      <a16:colId xmlns:a16="http://schemas.microsoft.com/office/drawing/2014/main" val="2857257721"/>
                    </a:ext>
                  </a:extLst>
                </a:gridCol>
                <a:gridCol w="1089162">
                  <a:extLst>
                    <a:ext uri="{9D8B030D-6E8A-4147-A177-3AD203B41FA5}">
                      <a16:colId xmlns:a16="http://schemas.microsoft.com/office/drawing/2014/main" val="4161489616"/>
                    </a:ext>
                  </a:extLst>
                </a:gridCol>
                <a:gridCol w="1584051">
                  <a:extLst>
                    <a:ext uri="{9D8B030D-6E8A-4147-A177-3AD203B41FA5}">
                      <a16:colId xmlns:a16="http://schemas.microsoft.com/office/drawing/2014/main" val="1630339697"/>
                    </a:ext>
                  </a:extLst>
                </a:gridCol>
                <a:gridCol w="2314575">
                  <a:extLst>
                    <a:ext uri="{9D8B030D-6E8A-4147-A177-3AD203B41FA5}">
                      <a16:colId xmlns:a16="http://schemas.microsoft.com/office/drawing/2014/main" val="1004286328"/>
                    </a:ext>
                  </a:extLst>
                </a:gridCol>
                <a:gridCol w="1205995">
                  <a:extLst>
                    <a:ext uri="{9D8B030D-6E8A-4147-A177-3AD203B41FA5}">
                      <a16:colId xmlns:a16="http://schemas.microsoft.com/office/drawing/2014/main" val="3904268956"/>
                    </a:ext>
                  </a:extLst>
                </a:gridCol>
                <a:gridCol w="1314450">
                  <a:extLst>
                    <a:ext uri="{9D8B030D-6E8A-4147-A177-3AD203B41FA5}">
                      <a16:colId xmlns:a16="http://schemas.microsoft.com/office/drawing/2014/main" val="781816914"/>
                    </a:ext>
                  </a:extLst>
                </a:gridCol>
              </a:tblGrid>
              <a:tr h="683285">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UUOO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SUPERVISIONES</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REGISTRO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FUNCIONARIO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CARGO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PRODUCCIÓN PROMEDIO MENSUAL</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50195547"/>
                  </a:ext>
                </a:extLst>
              </a:tr>
              <a:tr h="188207">
                <a:tc rowSpan="15">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7U7200 DIVISION DE CONTROL CONCURRENTE II</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7U7201 </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7587</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 Diaz</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3937105208"/>
                  </a:ext>
                </a:extLst>
              </a:tr>
              <a:tr h="188207">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7342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Juan Cuya Velarde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927316586"/>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4644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Carlos Malaga Portocarrero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12078436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4569</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Jose Linarez Amacifuen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00127623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AO21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Renierd Rios Gomez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261432791"/>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7211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Roberto Rivarola Hidalgo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525078045"/>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7624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Poul Valdivia Charca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5786709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5844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Richard Vela Nuñez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386600010"/>
                  </a:ext>
                </a:extLst>
              </a:tr>
              <a:tr h="188207">
                <a:tc vMerge="1">
                  <a:txBody>
                    <a:bodyPr/>
                    <a:lstStyle/>
                    <a:p>
                      <a:endParaRPr lang="es-PE"/>
                    </a:p>
                  </a:txBody>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7575</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endParaRPr lang="es-PE" sz="1100" dirty="0">
                        <a:solidFill>
                          <a:schemeClr val="tx1"/>
                        </a:solidFill>
                        <a:effectLst/>
                        <a:latin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171624828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2423</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Cecilia Acosta Salazar</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4</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11372586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7326</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Lydia Arestegui Pereyra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61253654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AT75</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Victoria Flores Alvitez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0215262"/>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7151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Lourdes Pretel Noblecilla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613490926"/>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5749</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Wilder Ulloa Ascencio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5</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053996281"/>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AX34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Enrique Villanueva Hurtado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87998396"/>
                  </a:ext>
                </a:extLst>
              </a:tr>
            </a:tbl>
          </a:graphicData>
        </a:graphic>
      </p:graphicFrame>
    </p:spTree>
    <p:extLst>
      <p:ext uri="{BB962C8B-B14F-4D97-AF65-F5344CB8AC3E}">
        <p14:creationId xmlns:p14="http://schemas.microsoft.com/office/powerpoint/2010/main" val="103562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RESOLUTOR-DCP</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B7C2AC0-86A4-ABEE-06F2-450F63287B6F}"/>
              </a:ext>
            </a:extLst>
          </p:cNvPr>
          <p:cNvGraphicFramePr>
            <a:graphicFrameLocks noGrp="1"/>
          </p:cNvGraphicFramePr>
          <p:nvPr>
            <p:extLst>
              <p:ext uri="{D42A27DB-BD31-4B8C-83A1-F6EECF244321}">
                <p14:modId xmlns:p14="http://schemas.microsoft.com/office/powerpoint/2010/main" val="3409323167"/>
              </p:ext>
            </p:extLst>
          </p:nvPr>
        </p:nvGraphicFramePr>
        <p:xfrm>
          <a:off x="2301715" y="1751700"/>
          <a:ext cx="6911134" cy="4167863"/>
        </p:xfrm>
        <a:graphic>
          <a:graphicData uri="http://schemas.openxmlformats.org/drawingml/2006/table">
            <a:tbl>
              <a:tblPr firstRow="1" firstCol="1" bandRow="1"/>
              <a:tblGrid>
                <a:gridCol w="1185506">
                  <a:extLst>
                    <a:ext uri="{9D8B030D-6E8A-4147-A177-3AD203B41FA5}">
                      <a16:colId xmlns:a16="http://schemas.microsoft.com/office/drawing/2014/main" val="850406056"/>
                    </a:ext>
                  </a:extLst>
                </a:gridCol>
                <a:gridCol w="1075569">
                  <a:extLst>
                    <a:ext uri="{9D8B030D-6E8A-4147-A177-3AD203B41FA5}">
                      <a16:colId xmlns:a16="http://schemas.microsoft.com/office/drawing/2014/main" val="973022981"/>
                    </a:ext>
                  </a:extLst>
                </a:gridCol>
                <a:gridCol w="916110">
                  <a:extLst>
                    <a:ext uri="{9D8B030D-6E8A-4147-A177-3AD203B41FA5}">
                      <a16:colId xmlns:a16="http://schemas.microsoft.com/office/drawing/2014/main" val="2347363923"/>
                    </a:ext>
                  </a:extLst>
                </a:gridCol>
                <a:gridCol w="1802019">
                  <a:extLst>
                    <a:ext uri="{9D8B030D-6E8A-4147-A177-3AD203B41FA5}">
                      <a16:colId xmlns:a16="http://schemas.microsoft.com/office/drawing/2014/main" val="2396742907"/>
                    </a:ext>
                  </a:extLst>
                </a:gridCol>
                <a:gridCol w="1006766">
                  <a:extLst>
                    <a:ext uri="{9D8B030D-6E8A-4147-A177-3AD203B41FA5}">
                      <a16:colId xmlns:a16="http://schemas.microsoft.com/office/drawing/2014/main" val="4024969280"/>
                    </a:ext>
                  </a:extLst>
                </a:gridCol>
                <a:gridCol w="925164">
                  <a:extLst>
                    <a:ext uri="{9D8B030D-6E8A-4147-A177-3AD203B41FA5}">
                      <a16:colId xmlns:a16="http://schemas.microsoft.com/office/drawing/2014/main" val="2141008519"/>
                    </a:ext>
                  </a:extLst>
                </a:gridCol>
              </a:tblGrid>
              <a:tr h="567112">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UUOO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FUNCIONARIO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CARGO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2539397411"/>
                  </a:ext>
                </a:extLst>
              </a:tr>
              <a:tr h="347695">
                <a:tc rowSpan="8">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7U7300 DIVISION DE CONTROL POSTERIOR</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2834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l"/>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Ellsworth Carpio Charres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Supervisor 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extLst>
                  <a:ext uri="{0D108BD9-81ED-4DB2-BD59-A6C34878D82A}">
                    <a16:rowId xmlns:a16="http://schemas.microsoft.com/office/drawing/2014/main" val="124970691"/>
                  </a:ext>
                </a:extLst>
              </a:tr>
              <a:tr h="406632">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Gustavo Bernuy Nuñez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6758565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4700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Mauro Sampen</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1670296521"/>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7660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Marco Fournier Castillo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991154502"/>
                  </a:ext>
                </a:extLst>
              </a:tr>
              <a:tr h="406632">
                <a:tc vMerge="1">
                  <a:txBody>
                    <a:bodyPr/>
                    <a:lstStyle/>
                    <a:p>
                      <a:endParaRPr lang="es-PE"/>
                    </a:p>
                  </a:txBody>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5730</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marL="0" algn="l" defTabSz="914400" rtl="0" eaLnBrk="1" latinLnBrk="0" hangingPunct="1"/>
                      <a:r>
                        <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rPr>
                        <a:t>Marco Tregear Jimenez</a:t>
                      </a: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kern="120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p>
                      <a:pPr algn="ctr"/>
                      <a:endPar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819655324"/>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7148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Jesus Garcia Rodriguez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96092941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4594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Lopez Cornelio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4155215880"/>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4990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Cecilia Pantoja Urizar Garfias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559747884"/>
                  </a:ext>
                </a:extLst>
              </a:tr>
              <a:tr h="406632">
                <a:tc gridSpan="4">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l"/>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200" dirty="0">
                          <a:effectLst/>
                          <a:latin typeface="Calibri" panose="020F0502020204030204" pitchFamily="34" charset="0"/>
                          <a:ea typeface="Calibri" panose="020F0502020204030204" pitchFamily="34" charset="0"/>
                          <a:cs typeface="Times New Roman" panose="02020603050405020304" pitchFamily="18"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801576743"/>
                  </a:ext>
                </a:extLst>
              </a:tr>
            </a:tbl>
          </a:graphicData>
        </a:graphic>
      </p:graphicFrame>
    </p:spTree>
    <p:extLst>
      <p:ext uri="{BB962C8B-B14F-4D97-AF65-F5344CB8AC3E}">
        <p14:creationId xmlns:p14="http://schemas.microsoft.com/office/powerpoint/2010/main" val="563388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VENCIDOS</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sp>
        <p:nvSpPr>
          <p:cNvPr id="2" name="CuadroTexto 1">
            <a:extLst>
              <a:ext uri="{FF2B5EF4-FFF2-40B4-BE49-F238E27FC236}">
                <a16:creationId xmlns:a16="http://schemas.microsoft.com/office/drawing/2014/main" id="{39315DDD-5468-DE29-D6F6-5BBFA86E57E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a:t>
            </a:r>
            <a:r>
              <a:rPr lang="es-PE" sz="1200" dirty="0">
                <a:highlight>
                  <a:srgbClr val="FFFF00"/>
                </a:highlight>
                <a:latin typeface="Calibri Light" panose="020F0302020204030204" pitchFamily="34" charset="0"/>
                <a:ea typeface="Calibri" panose="020F0502020204030204" pitchFamily="34" charset="0"/>
              </a:rPr>
              <a:t>01.04.2024</a:t>
            </a:r>
          </a:p>
        </p:txBody>
      </p:sp>
      <p:sp>
        <p:nvSpPr>
          <p:cNvPr id="3" name="Bocadillo nube: nube 2">
            <a:extLst>
              <a:ext uri="{FF2B5EF4-FFF2-40B4-BE49-F238E27FC236}">
                <a16:creationId xmlns:a16="http://schemas.microsoft.com/office/drawing/2014/main" id="{2CDF9045-FFEB-A6E3-8A64-92964C7B93F3}"/>
              </a:ext>
            </a:extLst>
          </p:cNvPr>
          <p:cNvSpPr/>
          <p:nvPr/>
        </p:nvSpPr>
        <p:spPr>
          <a:xfrm>
            <a:off x="9321798" y="1034932"/>
            <a:ext cx="2393951" cy="1164424"/>
          </a:xfrm>
          <a:prstGeom prst="cloudCallout">
            <a:avLst>
              <a:gd name="adj1" fmla="val -63383"/>
              <a:gd name="adj2" fmla="val -19035"/>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30 total (13/0/0/13/12/11/17/15/10/12/17/07)</a:t>
            </a:r>
            <a:endParaRPr lang="es-PE" sz="1400" dirty="0">
              <a:solidFill>
                <a:schemeClr val="tx1"/>
              </a:solidFill>
            </a:endParaRPr>
          </a:p>
        </p:txBody>
      </p:sp>
      <p:sp>
        <p:nvSpPr>
          <p:cNvPr id="4" name="Bocadillo nube: nube 3">
            <a:extLst>
              <a:ext uri="{FF2B5EF4-FFF2-40B4-BE49-F238E27FC236}">
                <a16:creationId xmlns:a16="http://schemas.microsoft.com/office/drawing/2014/main" id="{30F3CF21-67BC-6869-D144-28C16A383425}"/>
              </a:ext>
            </a:extLst>
          </p:cNvPr>
          <p:cNvSpPr/>
          <p:nvPr/>
        </p:nvSpPr>
        <p:spPr>
          <a:xfrm>
            <a:off x="9321799" y="2833275"/>
            <a:ext cx="2300202" cy="1076003"/>
          </a:xfrm>
          <a:prstGeom prst="cloudCallout">
            <a:avLst>
              <a:gd name="adj1" fmla="val -63383"/>
              <a:gd name="adj2" fmla="val -19035"/>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(0/0/0/06/09/08/5/16/17/5/40/15)</a:t>
            </a:r>
            <a:endParaRPr lang="es-PE" sz="1400" dirty="0">
              <a:solidFill>
                <a:schemeClr val="tx1"/>
              </a:solidFill>
            </a:endParaRPr>
          </a:p>
        </p:txBody>
      </p:sp>
      <p:sp>
        <p:nvSpPr>
          <p:cNvPr id="5" name="Bocadillo nube: nube 4">
            <a:extLst>
              <a:ext uri="{FF2B5EF4-FFF2-40B4-BE49-F238E27FC236}">
                <a16:creationId xmlns:a16="http://schemas.microsoft.com/office/drawing/2014/main" id="{9E55A7AD-D2BB-78A2-7C74-0EE92587C86C}"/>
              </a:ext>
            </a:extLst>
          </p:cNvPr>
          <p:cNvSpPr/>
          <p:nvPr/>
        </p:nvSpPr>
        <p:spPr>
          <a:xfrm>
            <a:off x="9321799" y="4710655"/>
            <a:ext cx="2193925" cy="1076003"/>
          </a:xfrm>
          <a:prstGeom prst="cloudCallout">
            <a:avLst>
              <a:gd name="adj1" fmla="val -63383"/>
              <a:gd name="adj2" fmla="val -19035"/>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(2/0/0/0/1/1/3/3/5/0)</a:t>
            </a:r>
            <a:endParaRPr lang="es-PE" sz="1400" dirty="0">
              <a:solidFill>
                <a:schemeClr val="tx1"/>
              </a:solidFill>
            </a:endParaRPr>
          </a:p>
        </p:txBody>
      </p:sp>
      <p:graphicFrame>
        <p:nvGraphicFramePr>
          <p:cNvPr id="6" name="Tabla 5">
            <a:extLst>
              <a:ext uri="{FF2B5EF4-FFF2-40B4-BE49-F238E27FC236}">
                <a16:creationId xmlns:a16="http://schemas.microsoft.com/office/drawing/2014/main" id="{7A1E3C9B-1922-2F33-DB7C-BE5BC2DDBA90}"/>
              </a:ext>
            </a:extLst>
          </p:cNvPr>
          <p:cNvGraphicFramePr>
            <a:graphicFrameLocks noGrp="1"/>
          </p:cNvGraphicFramePr>
          <p:nvPr>
            <p:extLst>
              <p:ext uri="{D42A27DB-BD31-4B8C-83A1-F6EECF244321}">
                <p14:modId xmlns:p14="http://schemas.microsoft.com/office/powerpoint/2010/main" val="4162438676"/>
              </p:ext>
            </p:extLst>
          </p:nvPr>
        </p:nvGraphicFramePr>
        <p:xfrm>
          <a:off x="2946400" y="1116590"/>
          <a:ext cx="5988049" cy="1164424"/>
        </p:xfrm>
        <a:graphic>
          <a:graphicData uri="http://schemas.openxmlformats.org/drawingml/2006/table">
            <a:tbl>
              <a:tblPr firstRow="1" firstCol="1" bandRow="1"/>
              <a:tblGrid>
                <a:gridCol w="1003584">
                  <a:extLst>
                    <a:ext uri="{9D8B030D-6E8A-4147-A177-3AD203B41FA5}">
                      <a16:colId xmlns:a16="http://schemas.microsoft.com/office/drawing/2014/main" val="3074884351"/>
                    </a:ext>
                  </a:extLst>
                </a:gridCol>
                <a:gridCol w="1321384">
                  <a:extLst>
                    <a:ext uri="{9D8B030D-6E8A-4147-A177-3AD203B41FA5}">
                      <a16:colId xmlns:a16="http://schemas.microsoft.com/office/drawing/2014/main" val="1526047758"/>
                    </a:ext>
                  </a:extLst>
                </a:gridCol>
                <a:gridCol w="1655913">
                  <a:extLst>
                    <a:ext uri="{9D8B030D-6E8A-4147-A177-3AD203B41FA5}">
                      <a16:colId xmlns:a16="http://schemas.microsoft.com/office/drawing/2014/main" val="436782002"/>
                    </a:ext>
                  </a:extLst>
                </a:gridCol>
                <a:gridCol w="1003584">
                  <a:extLst>
                    <a:ext uri="{9D8B030D-6E8A-4147-A177-3AD203B41FA5}">
                      <a16:colId xmlns:a16="http://schemas.microsoft.com/office/drawing/2014/main" val="2134817539"/>
                    </a:ext>
                  </a:extLst>
                </a:gridCol>
                <a:gridCol w="1003584">
                  <a:extLst>
                    <a:ext uri="{9D8B030D-6E8A-4147-A177-3AD203B41FA5}">
                      <a16:colId xmlns:a16="http://schemas.microsoft.com/office/drawing/2014/main" val="3157735613"/>
                    </a:ext>
                  </a:extLst>
                </a:gridCol>
              </a:tblGrid>
              <a:tr h="547964">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UUOO</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8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7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434845465"/>
                  </a:ext>
                </a:extLst>
              </a:tr>
              <a:tr h="308230">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DCCI</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6544557"/>
                  </a:ext>
                </a:extLst>
              </a:tr>
              <a:tr h="308230">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74556671"/>
                  </a:ext>
                </a:extLst>
              </a:tr>
            </a:tbl>
          </a:graphicData>
        </a:graphic>
      </p:graphicFrame>
      <p:graphicFrame>
        <p:nvGraphicFramePr>
          <p:cNvPr id="11" name="Tabla 10">
            <a:extLst>
              <a:ext uri="{FF2B5EF4-FFF2-40B4-BE49-F238E27FC236}">
                <a16:creationId xmlns:a16="http://schemas.microsoft.com/office/drawing/2014/main" id="{21873085-0F54-8216-09FC-126BB27871B1}"/>
              </a:ext>
            </a:extLst>
          </p:cNvPr>
          <p:cNvGraphicFramePr>
            <a:graphicFrameLocks noGrp="1"/>
          </p:cNvGraphicFramePr>
          <p:nvPr>
            <p:extLst>
              <p:ext uri="{D42A27DB-BD31-4B8C-83A1-F6EECF244321}">
                <p14:modId xmlns:p14="http://schemas.microsoft.com/office/powerpoint/2010/main" val="2892623598"/>
              </p:ext>
            </p:extLst>
          </p:nvPr>
        </p:nvGraphicFramePr>
        <p:xfrm>
          <a:off x="2946402" y="2856991"/>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DCCII</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extLst>
                  <a:ext uri="{0D108BD9-81ED-4DB2-BD59-A6C34878D82A}">
                    <a16:rowId xmlns:a16="http://schemas.microsoft.com/office/drawing/2014/main" val="3621642096"/>
                  </a:ext>
                </a:extLst>
              </a:tr>
            </a:tbl>
          </a:graphicData>
        </a:graphic>
      </p:graphicFrame>
      <p:graphicFrame>
        <p:nvGraphicFramePr>
          <p:cNvPr id="12" name="Tabla 11">
            <a:extLst>
              <a:ext uri="{FF2B5EF4-FFF2-40B4-BE49-F238E27FC236}">
                <a16:creationId xmlns:a16="http://schemas.microsoft.com/office/drawing/2014/main" id="{7C375469-0EF9-D038-F02C-458E309B4E33}"/>
              </a:ext>
            </a:extLst>
          </p:cNvPr>
          <p:cNvGraphicFramePr>
            <a:graphicFrameLocks noGrp="1"/>
          </p:cNvGraphicFramePr>
          <p:nvPr>
            <p:extLst>
              <p:ext uri="{D42A27DB-BD31-4B8C-83A1-F6EECF244321}">
                <p14:modId xmlns:p14="http://schemas.microsoft.com/office/powerpoint/2010/main" val="3838192309"/>
              </p:ext>
            </p:extLst>
          </p:nvPr>
        </p:nvGraphicFramePr>
        <p:xfrm>
          <a:off x="2946400" y="4622237"/>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9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PE" sz="1800" b="1" dirty="0">
                          <a:solidFill>
                            <a:schemeClr val="tx1"/>
                          </a:solidFill>
                          <a:effectLst/>
                          <a:latin typeface="Calibri Light" panose="020F0302020204030204" pitchFamily="34" charset="0"/>
                          <a:ea typeface="Calibri" panose="020F0502020204030204" pitchFamily="34" charset="0"/>
                        </a:rPr>
                        <a:t> 0</a:t>
                      </a:r>
                      <a:endParaRPr lang="es-PE" sz="14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21642096"/>
                  </a:ext>
                </a:extLst>
              </a:tr>
            </a:tbl>
          </a:graphicData>
        </a:graphic>
      </p:graphicFrame>
      <p:sp>
        <p:nvSpPr>
          <p:cNvPr id="7" name="CuadroTexto 6">
            <a:extLst>
              <a:ext uri="{FF2B5EF4-FFF2-40B4-BE49-F238E27FC236}">
                <a16:creationId xmlns:a16="http://schemas.microsoft.com/office/drawing/2014/main" id="{EFF59043-EB5A-0DD0-D3E1-3D34EAF24267}"/>
              </a:ext>
            </a:extLst>
          </p:cNvPr>
          <p:cNvSpPr txBox="1"/>
          <p:nvPr/>
        </p:nvSpPr>
        <p:spPr>
          <a:xfrm>
            <a:off x="2946399" y="2363659"/>
            <a:ext cx="5845175" cy="261610"/>
          </a:xfrm>
          <a:prstGeom prst="rect">
            <a:avLst/>
          </a:prstGeom>
          <a:noFill/>
        </p:spPr>
        <p:txBody>
          <a:bodyPr wrap="square" rtlCol="0">
            <a:spAutoFit/>
          </a:bodyPr>
          <a:lstStyle/>
          <a:p>
            <a:r>
              <a:rPr lang="es-ES" sz="1100" dirty="0"/>
              <a:t>(*) 30 </a:t>
            </a:r>
            <a:r>
              <a:rPr lang="es-ES" sz="1100" dirty="0" err="1"/>
              <a:t>RTFs</a:t>
            </a:r>
            <a:r>
              <a:rPr lang="es-ES" sz="1100" dirty="0"/>
              <a:t> reingresados</a:t>
            </a:r>
            <a:endParaRPr lang="es-PE" sz="1100" dirty="0"/>
          </a:p>
        </p:txBody>
      </p:sp>
    </p:spTree>
    <p:extLst>
      <p:ext uri="{BB962C8B-B14F-4D97-AF65-F5344CB8AC3E}">
        <p14:creationId xmlns:p14="http://schemas.microsoft.com/office/powerpoint/2010/main" val="1854213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NO GESTIONABLE Y REINGRESADOS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graphicFrame>
        <p:nvGraphicFramePr>
          <p:cNvPr id="2" name="Tabla 1">
            <a:extLst>
              <a:ext uri="{FF2B5EF4-FFF2-40B4-BE49-F238E27FC236}">
                <a16:creationId xmlns:a16="http://schemas.microsoft.com/office/drawing/2014/main" id="{5D48A263-D39C-6FFA-07AD-924DAA71C7EB}"/>
              </a:ext>
            </a:extLst>
          </p:cNvPr>
          <p:cNvGraphicFramePr>
            <a:graphicFrameLocks noGrp="1"/>
          </p:cNvGraphicFramePr>
          <p:nvPr>
            <p:extLst>
              <p:ext uri="{D42A27DB-BD31-4B8C-83A1-F6EECF244321}">
                <p14:modId xmlns:p14="http://schemas.microsoft.com/office/powerpoint/2010/main" val="2735632139"/>
              </p:ext>
            </p:extLst>
          </p:nvPr>
        </p:nvGraphicFramePr>
        <p:xfrm>
          <a:off x="2766026" y="1152524"/>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101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algn="l" fontAlgn="ct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32</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6" name="Tabla 5">
            <a:extLst>
              <a:ext uri="{FF2B5EF4-FFF2-40B4-BE49-F238E27FC236}">
                <a16:creationId xmlns:a16="http://schemas.microsoft.com/office/drawing/2014/main" id="{7D8D1F39-161B-98DA-5982-C2CD772C41D2}"/>
              </a:ext>
            </a:extLst>
          </p:cNvPr>
          <p:cNvGraphicFramePr>
            <a:graphicFrameLocks noGrp="1"/>
          </p:cNvGraphicFramePr>
          <p:nvPr>
            <p:extLst>
              <p:ext uri="{D42A27DB-BD31-4B8C-83A1-F6EECF244321}">
                <p14:modId xmlns:p14="http://schemas.microsoft.com/office/powerpoint/2010/main" val="1774141846"/>
              </p:ext>
            </p:extLst>
          </p:nvPr>
        </p:nvGraphicFramePr>
        <p:xfrm>
          <a:off x="2766026" y="2837033"/>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99FF"/>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29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64</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6</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331887893"/>
                  </a:ext>
                </a:extLst>
              </a:tr>
            </a:tbl>
          </a:graphicData>
        </a:graphic>
      </p:graphicFrame>
      <p:graphicFrame>
        <p:nvGraphicFramePr>
          <p:cNvPr id="7" name="Tabla 6">
            <a:extLst>
              <a:ext uri="{FF2B5EF4-FFF2-40B4-BE49-F238E27FC236}">
                <a16:creationId xmlns:a16="http://schemas.microsoft.com/office/drawing/2014/main" id="{0F487CDF-AEF2-6A89-6E62-3C2229D25977}"/>
              </a:ext>
            </a:extLst>
          </p:cNvPr>
          <p:cNvGraphicFramePr>
            <a:graphicFrameLocks noGrp="1"/>
          </p:cNvGraphicFramePr>
          <p:nvPr>
            <p:extLst>
              <p:ext uri="{D42A27DB-BD31-4B8C-83A1-F6EECF244321}">
                <p14:modId xmlns:p14="http://schemas.microsoft.com/office/powerpoint/2010/main" val="3337039884"/>
              </p:ext>
            </p:extLst>
          </p:nvPr>
        </p:nvGraphicFramePr>
        <p:xfrm>
          <a:off x="2766026" y="4603086"/>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DCP</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B050"/>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rgbClr val="000000"/>
                          </a:solidFill>
                          <a:effectLst/>
                          <a:latin typeface="+mn-lt"/>
                        </a:rPr>
                        <a:t>0 </a:t>
                      </a:r>
                      <a:endParaRPr lang="es-PE" sz="1400" b="1" i="0" u="none" strike="noStrike" dirty="0">
                        <a:solidFill>
                          <a:srgbClr val="000000"/>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4</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chemeClr val="tx1"/>
                          </a:solidFill>
                          <a:effectLst/>
                          <a:latin typeface="+mn-lt"/>
                        </a:rPr>
                        <a:t>6 (*)</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331887893"/>
                  </a:ext>
                </a:extLst>
              </a:tr>
            </a:tbl>
          </a:graphicData>
        </a:graphic>
      </p:graphicFrame>
      <p:sp>
        <p:nvSpPr>
          <p:cNvPr id="3" name="Flecha: a la derecha 2">
            <a:extLst>
              <a:ext uri="{FF2B5EF4-FFF2-40B4-BE49-F238E27FC236}">
                <a16:creationId xmlns:a16="http://schemas.microsoft.com/office/drawing/2014/main" id="{A7976BD3-E52B-5499-C044-AC7EC4328524}"/>
              </a:ext>
            </a:extLst>
          </p:cNvPr>
          <p:cNvSpPr/>
          <p:nvPr/>
        </p:nvSpPr>
        <p:spPr>
          <a:xfrm>
            <a:off x="1285875" y="4929569"/>
            <a:ext cx="1028700" cy="638174"/>
          </a:xfrm>
          <a:prstGeom prst="rightArrow">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DCP</a:t>
            </a:r>
            <a:endParaRPr lang="es-PE" dirty="0"/>
          </a:p>
        </p:txBody>
      </p:sp>
      <p:sp>
        <p:nvSpPr>
          <p:cNvPr id="11" name="CuadroTexto 10">
            <a:extLst>
              <a:ext uri="{FF2B5EF4-FFF2-40B4-BE49-F238E27FC236}">
                <a16:creationId xmlns:a16="http://schemas.microsoft.com/office/drawing/2014/main" id="{DEEB20DA-1378-47AA-A835-431E4B5135F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a:t>
            </a:r>
            <a:r>
              <a:rPr lang="es-ES" sz="1200" dirty="0">
                <a:latin typeface="Calibri Light" panose="020F0302020204030204" pitchFamily="34" charset="0"/>
                <a:ea typeface="Calibri" panose="020F0502020204030204" pitchFamily="34" charset="0"/>
              </a:rPr>
              <a:t>(*) 1 de INCA y 5 de IAMC</a:t>
            </a:r>
            <a:endParaRPr lang="es-PE" sz="1200" dirty="0">
              <a:highlight>
                <a:srgbClr val="FFFF00"/>
              </a:highlight>
              <a:latin typeface="Calibri Light" panose="020F0302020204030204" pitchFamily="34" charset="0"/>
              <a:ea typeface="Calibri" panose="020F0502020204030204" pitchFamily="34" charset="0"/>
            </a:endParaRPr>
          </a:p>
        </p:txBody>
      </p:sp>
    </p:spTree>
    <p:extLst>
      <p:ext uri="{BB962C8B-B14F-4D97-AF65-F5344CB8AC3E}">
        <p14:creationId xmlns:p14="http://schemas.microsoft.com/office/powerpoint/2010/main" val="283862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ITOP REPORTADOS–2023</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55D1268-DC29-7290-F4BC-4E91D0CD92F1}"/>
              </a:ext>
            </a:extLst>
          </p:cNvPr>
          <p:cNvGraphicFramePr>
            <a:graphicFrameLocks noGrp="1"/>
          </p:cNvGraphicFramePr>
          <p:nvPr>
            <p:extLst>
              <p:ext uri="{D42A27DB-BD31-4B8C-83A1-F6EECF244321}">
                <p14:modId xmlns:p14="http://schemas.microsoft.com/office/powerpoint/2010/main" val="859099712"/>
              </p:ext>
            </p:extLst>
          </p:nvPr>
        </p:nvGraphicFramePr>
        <p:xfrm>
          <a:off x="1485901" y="1424085"/>
          <a:ext cx="9058276" cy="4557605"/>
        </p:xfrm>
        <a:graphic>
          <a:graphicData uri="http://schemas.openxmlformats.org/drawingml/2006/table">
            <a:tbl>
              <a:tblPr firstRow="1" firstCol="1" bandRow="1"/>
              <a:tblGrid>
                <a:gridCol w="1552367">
                  <a:extLst>
                    <a:ext uri="{9D8B030D-6E8A-4147-A177-3AD203B41FA5}">
                      <a16:colId xmlns:a16="http://schemas.microsoft.com/office/drawing/2014/main" val="1329933936"/>
                    </a:ext>
                  </a:extLst>
                </a:gridCol>
                <a:gridCol w="2036233">
                  <a:extLst>
                    <a:ext uri="{9D8B030D-6E8A-4147-A177-3AD203B41FA5}">
                      <a16:colId xmlns:a16="http://schemas.microsoft.com/office/drawing/2014/main" val="63170076"/>
                    </a:ext>
                  </a:extLst>
                </a:gridCol>
                <a:gridCol w="5469676">
                  <a:extLst>
                    <a:ext uri="{9D8B030D-6E8A-4147-A177-3AD203B41FA5}">
                      <a16:colId xmlns:a16="http://schemas.microsoft.com/office/drawing/2014/main" val="3005957556"/>
                    </a:ext>
                  </a:extLst>
                </a:gridCol>
              </a:tblGrid>
              <a:tr h="191254">
                <a:tc gridSpan="3">
                  <a:txBody>
                    <a:bodyPr/>
                    <a:lstStyle/>
                    <a:p>
                      <a:pPr algn="ctr"/>
                      <a:r>
                        <a:rPr lang="es-PE" sz="1050" b="1" dirty="0">
                          <a:effectLst/>
                          <a:latin typeface="Calibri" panose="020F0502020204030204" pitchFamily="34" charset="0"/>
                          <a:ea typeface="Calibri" panose="020F0502020204030204" pitchFamily="34" charset="0"/>
                          <a:cs typeface="Times New Roman" panose="02020603050405020304" pitchFamily="18" charset="0"/>
                        </a:rPr>
                        <a:t>ITOP REPORTADOS</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28575" cap="flat" cmpd="sng" algn="ctr">
                      <a:solidFill>
                        <a:srgbClr val="70AD47"/>
                      </a:solidFill>
                      <a:prstDash val="solid"/>
                      <a:round/>
                      <a:headEnd type="none" w="med" len="med"/>
                      <a:tailEnd type="none" w="med" len="med"/>
                    </a:lnB>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extLst>
                  <a:ext uri="{0D108BD9-81ED-4DB2-BD59-A6C34878D82A}">
                    <a16:rowId xmlns:a16="http://schemas.microsoft.com/office/drawing/2014/main" val="1785700418"/>
                  </a:ext>
                </a:extLst>
              </a:tr>
              <a:tr h="191254">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28575"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gridSpan="2">
                  <a:txBody>
                    <a:bodyPr/>
                    <a:lstStyle/>
                    <a:p>
                      <a:pPr algn="ctr"/>
                      <a:r>
                        <a:rPr lang="es-ES" sz="105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
                      </a:r>
                      <a:r>
                        <a:rPr lang="es-PE" sz="105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ICIEMBRE</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1129546492"/>
                  </a:ext>
                </a:extLst>
              </a:tr>
              <a:tr h="373130">
                <a:tc>
                  <a:txBody>
                    <a:bodyPr/>
                    <a:lstStyle/>
                    <a:p>
                      <a:r>
                        <a:rPr lang="es-PE" sz="1050" b="1">
                          <a:effectLst/>
                          <a:latin typeface="Calibri" panose="020F0502020204030204" pitchFamily="34" charset="0"/>
                          <a:ea typeface="Calibri" panose="020F0502020204030204" pitchFamily="34" charset="0"/>
                          <a:cs typeface="Times New Roman" panose="02020603050405020304" pitchFamily="18" charset="0"/>
                        </a:rPr>
                        <a:t>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err="1">
                          <a:effectLst/>
                          <a:latin typeface="Calibri" panose="020F0502020204030204" pitchFamily="34" charset="0"/>
                          <a:ea typeface="Calibri" panose="020F0502020204030204" pitchFamily="34" charset="0"/>
                          <a:cs typeface="Times New Roman" panose="02020603050405020304" pitchFamily="18" charset="0"/>
                        </a:rPr>
                        <a:t>N°</a:t>
                      </a:r>
                      <a:r>
                        <a:rPr lang="es-PE" sz="1050" b="1" dirty="0">
                          <a:effectLst/>
                          <a:latin typeface="Calibri" panose="020F0502020204030204" pitchFamily="34" charset="0"/>
                          <a:ea typeface="Calibri" panose="020F0502020204030204" pitchFamily="34" charset="0"/>
                          <a:cs typeface="Times New Roman" panose="02020603050405020304" pitchFamily="18" charset="0"/>
                        </a:rPr>
                        <a:t> ITOP</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a:effectLst/>
                          <a:latin typeface="Calibri" panose="020F0502020204030204" pitchFamily="34" charset="0"/>
                          <a:ea typeface="Calibri" panose="020F0502020204030204" pitchFamily="34" charset="0"/>
                          <a:cs typeface="Times New Roman" panose="02020603050405020304" pitchFamily="18" charset="0"/>
                        </a:rPr>
                        <a:t> ASUNTO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393214133"/>
                  </a:ext>
                </a:extLst>
              </a:tr>
              <a:tr h="355210">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l"/>
                      <a:endParaRPr lang="es-PE" sz="1050" u="none" kern="1200" dirty="0">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2877909416"/>
                  </a:ext>
                </a:extLst>
              </a:tr>
              <a:tr h="2012268">
                <a:tc>
                  <a:txBody>
                    <a:bodyPr/>
                    <a:lstStyle/>
                    <a:p>
                      <a:r>
                        <a:rPr lang="es-ES"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I-903817 </a:t>
                      </a: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ACTUALIZACION DE LC 181-2023-001053 EN MODULO, CON RECLAMO, CON RESOLUCION DE RECLAMO RESUELTO INDICADO Y CON SU NOTIFICACION.</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I-903817 NO PERMITE ANULAR TEMPORAL DE PROYECTO OFICIO TEMP 153993-2024</a:t>
                      </a: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707347665"/>
                  </a:ext>
                </a:extLst>
              </a:tr>
              <a:tr h="1243235">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4</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r>
                        <a:rPr lang="es-PE" sz="1050" dirty="0">
                          <a:effectLst/>
                          <a:latin typeface="Calibri" panose="020F0502020204030204" pitchFamily="34" charset="0"/>
                          <a:ea typeface="Calibri" panose="020F0502020204030204" pitchFamily="34" charset="0"/>
                          <a:cs typeface="Times New Roman" panose="02020603050405020304" pitchFamily="18" charset="0"/>
                        </a:rPr>
                        <a:t>I-902560 </a:t>
                      </a:r>
                    </a:p>
                    <a:p>
                      <a:r>
                        <a:rPr lang="es-PE" sz="1050" dirty="0">
                          <a:effectLst/>
                          <a:latin typeface="Calibri" panose="020F0502020204030204" pitchFamily="34" charset="0"/>
                          <a:ea typeface="Calibri" panose="020F0502020204030204" pitchFamily="34" charset="0"/>
                          <a:cs typeface="Times New Roman" panose="02020603050405020304" pitchFamily="18" charset="0"/>
                        </a:rPr>
                        <a:t>I-912624</a:t>
                      </a:r>
                    </a:p>
                    <a:p>
                      <a:r>
                        <a:rPr lang="es-PE" sz="1050" dirty="0">
                          <a:effectLst/>
                          <a:latin typeface="Calibri" panose="020F0502020204030204" pitchFamily="34" charset="0"/>
                          <a:ea typeface="Calibri" panose="020F0502020204030204" pitchFamily="34" charset="0"/>
                          <a:cs typeface="Times New Roman" panose="02020603050405020304" pitchFamily="18" charset="0"/>
                        </a:rPr>
                        <a:t>I-913951</a:t>
                      </a:r>
                    </a:p>
                    <a:p>
                      <a:r>
                        <a:rPr lang="es-ES" sz="1050" dirty="0">
                          <a:effectLst/>
                          <a:latin typeface="Calibri" panose="020F0502020204030204" pitchFamily="34" charset="0"/>
                          <a:ea typeface="Calibri" panose="020F0502020204030204" pitchFamily="34" charset="0"/>
                          <a:cs typeface="Times New Roman" panose="02020603050405020304" pitchFamily="18" charset="0"/>
                        </a:rPr>
                        <a:t>Se solicita verificar pago anulado en el RSIRAT</a:t>
                      </a:r>
                    </a:p>
                    <a:p>
                      <a:r>
                        <a:rPr lang="es-ES" sz="1050" dirty="0">
                          <a:effectLst/>
                          <a:latin typeface="Calibri" panose="020F0502020204030204" pitchFamily="34" charset="0"/>
                          <a:ea typeface="Calibri" panose="020F0502020204030204" pitchFamily="34" charset="0"/>
                          <a:cs typeface="Times New Roman" panose="02020603050405020304" pitchFamily="18" charset="0"/>
                        </a:rPr>
                        <a:t>Actualizar resultado de L/C.</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476787184"/>
                  </a:ext>
                </a:extLst>
              </a:tr>
              <a:tr h="191254">
                <a:tc>
                  <a:txBody>
                    <a:bodyPr/>
                    <a:lstStyle/>
                    <a:p>
                      <a:r>
                        <a:rPr lang="es-PE" sz="1050" b="1">
                          <a:effectLst/>
                          <a:latin typeface="Calibri" panose="020F0502020204030204" pitchFamily="34" charset="0"/>
                          <a:ea typeface="Calibri" panose="020F0502020204030204" pitchFamily="34" charset="0"/>
                          <a:cs typeface="Times New Roman" panose="02020603050405020304" pitchFamily="18" charset="0"/>
                        </a:rPr>
                        <a:t>TOTAL</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6</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168371186"/>
                  </a:ext>
                </a:extLst>
              </a:tr>
            </a:tbl>
          </a:graphicData>
        </a:graphic>
      </p:graphicFrame>
    </p:spTree>
    <p:extLst>
      <p:ext uri="{BB962C8B-B14F-4D97-AF65-F5344CB8AC3E}">
        <p14:creationId xmlns:p14="http://schemas.microsoft.com/office/powerpoint/2010/main" val="272867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RESULTADOS DE RECLAMO - 2024</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5C1F8767-F3D1-FC7C-4DC5-DC221001CBFC}"/>
              </a:ext>
            </a:extLst>
          </p:cNvPr>
          <p:cNvGraphicFramePr>
            <a:graphicFrameLocks noGrp="1"/>
          </p:cNvGraphicFramePr>
          <p:nvPr>
            <p:extLst>
              <p:ext uri="{D42A27DB-BD31-4B8C-83A1-F6EECF244321}">
                <p14:modId xmlns:p14="http://schemas.microsoft.com/office/powerpoint/2010/main" val="1612207384"/>
              </p:ext>
            </p:extLst>
          </p:nvPr>
        </p:nvGraphicFramePr>
        <p:xfrm>
          <a:off x="292044" y="1342636"/>
          <a:ext cx="11329963" cy="4713852"/>
        </p:xfrm>
        <a:graphic>
          <a:graphicData uri="http://schemas.openxmlformats.org/drawingml/2006/table">
            <a:tbl>
              <a:tblPr/>
              <a:tblGrid>
                <a:gridCol w="918422">
                  <a:extLst>
                    <a:ext uri="{9D8B030D-6E8A-4147-A177-3AD203B41FA5}">
                      <a16:colId xmlns:a16="http://schemas.microsoft.com/office/drawing/2014/main" val="1830478753"/>
                    </a:ext>
                  </a:extLst>
                </a:gridCol>
                <a:gridCol w="413263">
                  <a:extLst>
                    <a:ext uri="{9D8B030D-6E8A-4147-A177-3AD203B41FA5}">
                      <a16:colId xmlns:a16="http://schemas.microsoft.com/office/drawing/2014/main" val="976110479"/>
                    </a:ext>
                  </a:extLst>
                </a:gridCol>
                <a:gridCol w="481106">
                  <a:extLst>
                    <a:ext uri="{9D8B030D-6E8A-4147-A177-3AD203B41FA5}">
                      <a16:colId xmlns:a16="http://schemas.microsoft.com/office/drawing/2014/main" val="2657161292"/>
                    </a:ext>
                  </a:extLst>
                </a:gridCol>
                <a:gridCol w="679798">
                  <a:extLst>
                    <a:ext uri="{9D8B030D-6E8A-4147-A177-3AD203B41FA5}">
                      <a16:colId xmlns:a16="http://schemas.microsoft.com/office/drawing/2014/main" val="2571861186"/>
                    </a:ext>
                  </a:extLst>
                </a:gridCol>
                <a:gridCol w="679798">
                  <a:extLst>
                    <a:ext uri="{9D8B030D-6E8A-4147-A177-3AD203B41FA5}">
                      <a16:colId xmlns:a16="http://schemas.microsoft.com/office/drawing/2014/main" val="3123508407"/>
                    </a:ext>
                  </a:extLst>
                </a:gridCol>
                <a:gridCol w="679798">
                  <a:extLst>
                    <a:ext uri="{9D8B030D-6E8A-4147-A177-3AD203B41FA5}">
                      <a16:colId xmlns:a16="http://schemas.microsoft.com/office/drawing/2014/main" val="1761037411"/>
                    </a:ext>
                  </a:extLst>
                </a:gridCol>
                <a:gridCol w="679798">
                  <a:extLst>
                    <a:ext uri="{9D8B030D-6E8A-4147-A177-3AD203B41FA5}">
                      <a16:colId xmlns:a16="http://schemas.microsoft.com/office/drawing/2014/main" val="4069715718"/>
                    </a:ext>
                  </a:extLst>
                </a:gridCol>
                <a:gridCol w="679798">
                  <a:extLst>
                    <a:ext uri="{9D8B030D-6E8A-4147-A177-3AD203B41FA5}">
                      <a16:colId xmlns:a16="http://schemas.microsoft.com/office/drawing/2014/main" val="2827311752"/>
                    </a:ext>
                  </a:extLst>
                </a:gridCol>
                <a:gridCol w="679798">
                  <a:extLst>
                    <a:ext uri="{9D8B030D-6E8A-4147-A177-3AD203B41FA5}">
                      <a16:colId xmlns:a16="http://schemas.microsoft.com/office/drawing/2014/main" val="3158204159"/>
                    </a:ext>
                  </a:extLst>
                </a:gridCol>
                <a:gridCol w="679798">
                  <a:extLst>
                    <a:ext uri="{9D8B030D-6E8A-4147-A177-3AD203B41FA5}">
                      <a16:colId xmlns:a16="http://schemas.microsoft.com/office/drawing/2014/main" val="1845870146"/>
                    </a:ext>
                  </a:extLst>
                </a:gridCol>
                <a:gridCol w="679798">
                  <a:extLst>
                    <a:ext uri="{9D8B030D-6E8A-4147-A177-3AD203B41FA5}">
                      <a16:colId xmlns:a16="http://schemas.microsoft.com/office/drawing/2014/main" val="2669878163"/>
                    </a:ext>
                  </a:extLst>
                </a:gridCol>
                <a:gridCol w="679798">
                  <a:extLst>
                    <a:ext uri="{9D8B030D-6E8A-4147-A177-3AD203B41FA5}">
                      <a16:colId xmlns:a16="http://schemas.microsoft.com/office/drawing/2014/main" val="3086343668"/>
                    </a:ext>
                  </a:extLst>
                </a:gridCol>
                <a:gridCol w="679798">
                  <a:extLst>
                    <a:ext uri="{9D8B030D-6E8A-4147-A177-3AD203B41FA5}">
                      <a16:colId xmlns:a16="http://schemas.microsoft.com/office/drawing/2014/main" val="607963361"/>
                    </a:ext>
                  </a:extLst>
                </a:gridCol>
                <a:gridCol w="679798">
                  <a:extLst>
                    <a:ext uri="{9D8B030D-6E8A-4147-A177-3AD203B41FA5}">
                      <a16:colId xmlns:a16="http://schemas.microsoft.com/office/drawing/2014/main" val="1278804772"/>
                    </a:ext>
                  </a:extLst>
                </a:gridCol>
                <a:gridCol w="679798">
                  <a:extLst>
                    <a:ext uri="{9D8B030D-6E8A-4147-A177-3AD203B41FA5}">
                      <a16:colId xmlns:a16="http://schemas.microsoft.com/office/drawing/2014/main" val="1600247373"/>
                    </a:ext>
                  </a:extLst>
                </a:gridCol>
                <a:gridCol w="679798">
                  <a:extLst>
                    <a:ext uri="{9D8B030D-6E8A-4147-A177-3AD203B41FA5}">
                      <a16:colId xmlns:a16="http://schemas.microsoft.com/office/drawing/2014/main" val="3939462712"/>
                    </a:ext>
                  </a:extLst>
                </a:gridCol>
                <a:gridCol w="679798">
                  <a:extLst>
                    <a:ext uri="{9D8B030D-6E8A-4147-A177-3AD203B41FA5}">
                      <a16:colId xmlns:a16="http://schemas.microsoft.com/office/drawing/2014/main" val="345460417"/>
                    </a:ext>
                  </a:extLst>
                </a:gridCol>
              </a:tblGrid>
              <a:tr h="288544">
                <a:tc rowSpan="2">
                  <a:txBody>
                    <a:bodyPr/>
                    <a:lstStyle/>
                    <a:p>
                      <a:pPr algn="ctr" fontAlgn="b"/>
                      <a:r>
                        <a:rPr lang="es-PE" sz="1600" b="0" i="0" u="none" strike="noStrike" dirty="0">
                          <a:solidFill>
                            <a:srgbClr val="000000"/>
                          </a:solidFill>
                          <a:effectLst/>
                          <a:latin typeface="Times New Roman" panose="02020603050405020304" pitchFamily="18" charset="0"/>
                        </a:rPr>
                        <a:t>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fontAlgn="ctr"/>
                      <a:r>
                        <a:rPr lang="es-PE" sz="16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fontAlgn="ctr"/>
                      <a:r>
                        <a:rPr lang="es-ES" sz="1600" b="0" i="0" u="none" strike="noStrike" dirty="0">
                          <a:solidFill>
                            <a:srgbClr val="000000"/>
                          </a:solidFill>
                          <a:effectLst/>
                          <a:latin typeface="Calibri" panose="020F0502020204030204" pitchFamily="34" charset="0"/>
                        </a:rPr>
                        <a:t>FEBRERO</a:t>
                      </a:r>
                      <a:endParaRPr lang="es-PE" sz="16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600" b="0" i="0" u="none" strike="noStrike" dirty="0">
                          <a:solidFill>
                            <a:srgbClr val="000000"/>
                          </a:solidFill>
                          <a:effectLst/>
                          <a:latin typeface="Calibri" panose="020F0502020204030204" pitchFamily="34" charset="0"/>
                        </a:rPr>
                        <a:t>MARZO</a:t>
                      </a:r>
                      <a:endParaRPr lang="es-PE" sz="16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600" b="0" i="0" u="none" strike="noStrike" dirty="0">
                          <a:solidFill>
                            <a:srgbClr val="000000"/>
                          </a:solidFill>
                          <a:effectLst/>
                          <a:latin typeface="Calibri" panose="020F0502020204030204" pitchFamily="34" charset="0"/>
                        </a:rPr>
                        <a:t>ABRIL</a:t>
                      </a:r>
                      <a:endParaRPr lang="es-PE" sz="16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600" b="0" i="0" u="none" strike="noStrike" dirty="0">
                          <a:solidFill>
                            <a:srgbClr val="000000"/>
                          </a:solidFill>
                          <a:effectLst/>
                          <a:latin typeface="Calibri" panose="020F0502020204030204" pitchFamily="34" charset="0"/>
                        </a:rPr>
                        <a:t>MAYO</a:t>
                      </a:r>
                      <a:endParaRPr lang="es-PE" sz="16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s-PE" sz="16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5952588"/>
                  </a:ext>
                </a:extLst>
              </a:tr>
              <a:tr h="525273">
                <a:tc vMerge="1">
                  <a:txBody>
                    <a:bodyPr/>
                    <a:lstStyle/>
                    <a:p>
                      <a:endParaRPr lang="es-PE"/>
                    </a:p>
                  </a:txBody>
                  <a:tcPr/>
                </a:tc>
                <a:tc>
                  <a:txBody>
                    <a:bodyPr/>
                    <a:lstStyle/>
                    <a:p>
                      <a:pPr algn="ctr" fontAlgn="ctr"/>
                      <a:r>
                        <a:rPr lang="es-PE" sz="16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6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600" b="1" i="0" u="none" strike="noStrike" dirty="0">
                          <a:solidFill>
                            <a:srgbClr val="FFFFFF"/>
                          </a:solidFill>
                          <a:effectLst/>
                          <a:latin typeface="Calibri Light" panose="020F0302020204030204" pitchFamily="34" charset="0"/>
                        </a:rPr>
                        <a:t>TOTAL</a:t>
                      </a:r>
                      <a:endParaRPr lang="es-PE" sz="16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661435629"/>
                  </a:ext>
                </a:extLst>
              </a:tr>
              <a:tr h="559473">
                <a:tc>
                  <a:txBody>
                    <a:bodyPr/>
                    <a:lstStyle/>
                    <a:p>
                      <a:pPr algn="ctr" fontAlgn="ctr"/>
                      <a:r>
                        <a:rPr lang="es-PE" sz="16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236</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800" b="1" i="0" u="none" strike="noStrike" kern="1200" dirty="0">
                        <a:solidFill>
                          <a:schemeClr val="tx1"/>
                        </a:solidFill>
                        <a:effectLst/>
                        <a:latin typeface="Calibri Light" panose="020F0302020204030204" pitchFamily="34" charset="0"/>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78</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17</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206</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70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18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204</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83</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16</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234</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88</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12</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rgbClr val="833C0C"/>
                          </a:solidFill>
                          <a:effectLst/>
                          <a:latin typeface="Calibri Light" panose="020F0302020204030204" pitchFamily="34" charset="0"/>
                        </a:rPr>
                        <a:t>1606</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595509009"/>
                  </a:ext>
                </a:extLst>
              </a:tr>
              <a:tr h="711565">
                <a:tc>
                  <a:txBody>
                    <a:bodyPr/>
                    <a:lstStyle/>
                    <a:p>
                      <a:pPr algn="ctr" fontAlgn="ctr"/>
                      <a:r>
                        <a:rPr lang="es-PE" sz="1600" b="1" i="0" u="none" strike="noStrike" dirty="0">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16</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0</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2</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4</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11</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1</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1</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13</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1</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600" b="1" i="0" u="none" strike="noStrike" kern="1200" dirty="0">
                          <a:solidFill>
                            <a:schemeClr val="tx1"/>
                          </a:solidFill>
                          <a:effectLst/>
                          <a:latin typeface="Calibri Light" panose="020F0302020204030204" pitchFamily="34" charset="0"/>
                          <a:ea typeface="+mn-ea"/>
                          <a:cs typeface="+mn-cs"/>
                        </a:rPr>
                        <a:t>0</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s-ES" sz="1600" b="1" i="0" u="none" strike="noStrike" dirty="0">
                          <a:solidFill>
                            <a:srgbClr val="833C0C"/>
                          </a:solidFill>
                          <a:effectLst/>
                          <a:latin typeface="Calibri Light" panose="020F0302020204030204" pitchFamily="34" charset="0"/>
                        </a:rPr>
                        <a:t>56</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23245537"/>
                  </a:ext>
                </a:extLst>
              </a:tr>
              <a:tr h="360526">
                <a:tc>
                  <a:txBody>
                    <a:bodyPr/>
                    <a:lstStyle/>
                    <a:p>
                      <a:pPr algn="ctr" fontAlgn="ctr"/>
                      <a:r>
                        <a:rPr lang="es-PE" sz="16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9</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0</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25</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a:solidFill>
                            <a:srgbClr val="000000"/>
                          </a:solidFill>
                          <a:effectLst/>
                          <a:latin typeface="Calibri Light" panose="020F0302020204030204" pitchFamily="34" charset="0"/>
                        </a:rPr>
                        <a:t>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41</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5</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1</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21</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5</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rgbClr val="833C0C"/>
                          </a:solidFill>
                          <a:effectLst/>
                          <a:latin typeface="Calibri Light" panose="020F0302020204030204" pitchFamily="34" charset="0"/>
                        </a:rPr>
                        <a:t>133</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848495558"/>
                  </a:ext>
                </a:extLst>
              </a:tr>
              <a:tr h="835854">
                <a:tc>
                  <a:txBody>
                    <a:bodyPr/>
                    <a:lstStyle/>
                    <a:p>
                      <a:pPr algn="ctr" fontAlgn="ctr"/>
                      <a:r>
                        <a:rPr lang="es-PE" sz="16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0</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0</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0</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0</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2</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rgbClr val="833C0C"/>
                          </a:solidFill>
                          <a:effectLst/>
                          <a:latin typeface="Calibri Light" panose="020F0302020204030204" pitchFamily="34" charset="0"/>
                        </a:rPr>
                        <a:t>2</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611323000"/>
                  </a:ext>
                </a:extLst>
              </a:tr>
              <a:tr h="711565">
                <a:tc>
                  <a:txBody>
                    <a:bodyPr/>
                    <a:lstStyle/>
                    <a:p>
                      <a:pPr algn="ctr" fontAlgn="ctr"/>
                      <a:r>
                        <a:rPr lang="es-PE" sz="16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0</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1</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0</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0</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rgbClr val="833C0C"/>
                          </a:solidFill>
                          <a:effectLst/>
                          <a:latin typeface="Calibri Light" panose="020F0302020204030204" pitchFamily="34" charset="0"/>
                        </a:rPr>
                        <a:t>1</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32965810"/>
                  </a:ext>
                </a:extLst>
              </a:tr>
              <a:tr h="360526">
                <a:tc>
                  <a:txBody>
                    <a:bodyPr/>
                    <a:lstStyle/>
                    <a:p>
                      <a:pPr algn="ctr" fontAlgn="ctr"/>
                      <a:r>
                        <a:rPr lang="es-PE" sz="16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1</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0</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1</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6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1</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600" b="1" i="0" u="none" strike="noStrike" dirty="0">
                          <a:solidFill>
                            <a:srgbClr val="000000"/>
                          </a:solidFill>
                          <a:effectLst/>
                          <a:latin typeface="Calibri Light" panose="020F0302020204030204" pitchFamily="34" charset="0"/>
                        </a:rPr>
                        <a:t>0</a:t>
                      </a:r>
                      <a:endParaRPr lang="es-PE" sz="16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rgbClr val="833C0C"/>
                          </a:solidFill>
                          <a:effectLst/>
                          <a:latin typeface="Calibri Light" panose="020F0302020204030204" pitchFamily="34" charset="0"/>
                        </a:rPr>
                        <a:t>22</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58868893"/>
                  </a:ext>
                </a:extLst>
              </a:tr>
              <a:tr h="360526">
                <a:tc>
                  <a:txBody>
                    <a:bodyPr/>
                    <a:lstStyle/>
                    <a:p>
                      <a:pPr algn="ctr" fontAlgn="ctr"/>
                      <a:r>
                        <a:rPr lang="es-PE" sz="16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600" b="1" i="0" u="none" strike="noStrike" kern="1200" dirty="0">
                          <a:solidFill>
                            <a:schemeClr val="tx1"/>
                          </a:solidFill>
                          <a:effectLst/>
                          <a:latin typeface="Calibri Light" panose="020F0302020204030204" pitchFamily="34" charset="0"/>
                          <a:ea typeface="+mn-ea"/>
                          <a:cs typeface="+mn-cs"/>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262</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83</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600" b="1" i="0" u="none" strike="noStrike" kern="1200" dirty="0">
                          <a:solidFill>
                            <a:schemeClr val="tx1"/>
                          </a:solidFill>
                          <a:effectLst/>
                          <a:latin typeface="Calibri Light" panose="020F0302020204030204" pitchFamily="34" charset="0"/>
                          <a:ea typeface="+mn-ea"/>
                          <a:cs typeface="+mn-cs"/>
                        </a:rPr>
                        <a:t>19</a:t>
                      </a:r>
                      <a:endParaRPr lang="es-PE" sz="16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600" b="1" i="0" u="none" strike="noStrike" kern="1200" dirty="0">
                          <a:solidFill>
                            <a:srgbClr val="000000"/>
                          </a:solidFill>
                          <a:effectLst/>
                          <a:latin typeface="Calibri Light" panose="020F0302020204030204" pitchFamily="34" charset="0"/>
                          <a:ea typeface="+mn-ea"/>
                          <a:cs typeface="+mn-cs"/>
                        </a:rPr>
                        <a:t>236</a:t>
                      </a:r>
                      <a:endParaRPr lang="es-PE" sz="16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77</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20</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256</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89</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18</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268</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97</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chemeClr val="tx1"/>
                          </a:solidFill>
                          <a:effectLst/>
                          <a:latin typeface="Calibri Light" panose="020F0302020204030204" pitchFamily="34" charset="0"/>
                        </a:rPr>
                        <a:t>12</a:t>
                      </a:r>
                      <a:endParaRPr lang="es-PE" sz="16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600" b="1" i="0" u="none" strike="noStrike" dirty="0">
                          <a:solidFill>
                            <a:srgbClr val="833C0C"/>
                          </a:solidFill>
                          <a:effectLst/>
                          <a:latin typeface="Calibri Light" panose="020F0302020204030204" pitchFamily="34" charset="0"/>
                        </a:rPr>
                        <a:t>1820</a:t>
                      </a:r>
                      <a:endParaRPr lang="es-PE" sz="16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44681814"/>
                  </a:ext>
                </a:extLst>
              </a:tr>
            </a:tbl>
          </a:graphicData>
        </a:graphic>
      </p:graphicFrame>
      <p:sp>
        <p:nvSpPr>
          <p:cNvPr id="2" name="CuadroTexto 1">
            <a:extLst>
              <a:ext uri="{FF2B5EF4-FFF2-40B4-BE49-F238E27FC236}">
                <a16:creationId xmlns:a16="http://schemas.microsoft.com/office/drawing/2014/main" id="{29376897-04BA-3DE5-BE7D-AD4C19E180FF}"/>
              </a:ext>
            </a:extLst>
          </p:cNvPr>
          <p:cNvSpPr txBox="1"/>
          <p:nvPr/>
        </p:nvSpPr>
        <p:spPr>
          <a:xfrm>
            <a:off x="742949" y="6242547"/>
            <a:ext cx="8258176" cy="276999"/>
          </a:xfrm>
          <a:prstGeom prst="rect">
            <a:avLst/>
          </a:prstGeom>
          <a:noFill/>
        </p:spPr>
        <p:txBody>
          <a:bodyPr wrap="square">
            <a:spAutoFit/>
          </a:bodyPr>
          <a:lstStyle/>
          <a:p>
            <a:r>
              <a:rPr lang="es-ES" sz="1200" dirty="0">
                <a:latin typeface="Calibri Light" panose="020F0302020204030204" pitchFamily="34" charset="0"/>
                <a:ea typeface="Calibri" panose="020F0502020204030204" pitchFamily="34" charset="0"/>
              </a:rPr>
              <a:t>(*) Si bien se emitieron 13 resoluciones se están considerando para el resultado solo las emitidas en relación a la DCP.</a:t>
            </a:r>
            <a:endParaRPr lang="es-PE" sz="1200" dirty="0">
              <a:latin typeface="Calibri Light" panose="020F0302020204030204" pitchFamily="34" charset="0"/>
              <a:ea typeface="Calibri" panose="020F0502020204030204" pitchFamily="34" charset="0"/>
            </a:endParaRPr>
          </a:p>
        </p:txBody>
      </p:sp>
    </p:spTree>
    <p:extLst>
      <p:ext uri="{BB962C8B-B14F-4D97-AF65-F5344CB8AC3E}">
        <p14:creationId xmlns:p14="http://schemas.microsoft.com/office/powerpoint/2010/main" val="339408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a:t>
            </a:r>
            <a:endParaRPr lang="es-PE" sz="20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73E84ED-40D6-CFE3-C7DB-235FF060E0FE}"/>
              </a:ext>
            </a:extLst>
          </p:cNvPr>
          <p:cNvGraphicFramePr>
            <a:graphicFrameLocks noGrp="1"/>
          </p:cNvGraphicFramePr>
          <p:nvPr>
            <p:extLst>
              <p:ext uri="{D42A27DB-BD31-4B8C-83A1-F6EECF244321}">
                <p14:modId xmlns:p14="http://schemas.microsoft.com/office/powerpoint/2010/main" val="1171259491"/>
              </p:ext>
            </p:extLst>
          </p:nvPr>
        </p:nvGraphicFramePr>
        <p:xfrm>
          <a:off x="292043" y="1109758"/>
          <a:ext cx="11329957" cy="5479855"/>
        </p:xfrm>
        <a:graphic>
          <a:graphicData uri="http://schemas.openxmlformats.org/drawingml/2006/table">
            <a:tbl>
              <a:tblPr/>
              <a:tblGrid>
                <a:gridCol w="811768">
                  <a:extLst>
                    <a:ext uri="{9D8B030D-6E8A-4147-A177-3AD203B41FA5}">
                      <a16:colId xmlns:a16="http://schemas.microsoft.com/office/drawing/2014/main" val="3270203932"/>
                    </a:ext>
                  </a:extLst>
                </a:gridCol>
                <a:gridCol w="730590">
                  <a:extLst>
                    <a:ext uri="{9D8B030D-6E8A-4147-A177-3AD203B41FA5}">
                      <a16:colId xmlns:a16="http://schemas.microsoft.com/office/drawing/2014/main" val="2432692741"/>
                    </a:ext>
                  </a:extLst>
                </a:gridCol>
                <a:gridCol w="1055298">
                  <a:extLst>
                    <a:ext uri="{9D8B030D-6E8A-4147-A177-3AD203B41FA5}">
                      <a16:colId xmlns:a16="http://schemas.microsoft.com/office/drawing/2014/main" val="1045225822"/>
                    </a:ext>
                  </a:extLst>
                </a:gridCol>
                <a:gridCol w="8732301">
                  <a:extLst>
                    <a:ext uri="{9D8B030D-6E8A-4147-A177-3AD203B41FA5}">
                      <a16:colId xmlns:a16="http://schemas.microsoft.com/office/drawing/2014/main" val="1496170814"/>
                    </a:ext>
                  </a:extLst>
                </a:gridCol>
              </a:tblGrid>
              <a:tr h="154690">
                <a:tc>
                  <a:txBody>
                    <a:bodyPr/>
                    <a:lstStyle/>
                    <a:p>
                      <a:pPr algn="ctr" fontAlgn="b"/>
                      <a:r>
                        <a:rPr lang="es-PE" sz="1000" b="0" i="0" u="none" strike="noStrike">
                          <a:solidFill>
                            <a:srgbClr val="000000"/>
                          </a:solidFill>
                          <a:effectLst/>
                          <a:latin typeface="Calibri" panose="020F0502020204030204" pitchFamily="34" charset="0"/>
                        </a:rPr>
                        <a:t>DEPENDENCIA</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1000" b="0" i="0" u="none" strike="noStrike">
                          <a:solidFill>
                            <a:srgbClr val="000000"/>
                          </a:solidFill>
                          <a:effectLst/>
                          <a:latin typeface="Calibri" panose="020F0502020204030204" pitchFamily="34" charset="0"/>
                        </a:rPr>
                        <a:t>FECHA</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1000" b="0" i="0" u="none" strike="noStrike">
                          <a:solidFill>
                            <a:srgbClr val="000000"/>
                          </a:solidFill>
                          <a:effectLst/>
                          <a:latin typeface="Calibri" panose="020F0502020204030204" pitchFamily="34" charset="0"/>
                        </a:rPr>
                        <a:t>N° RD</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1000" b="0" i="0" u="none" strike="noStrike">
                          <a:solidFill>
                            <a:srgbClr val="000000"/>
                          </a:solidFill>
                          <a:effectLst/>
                          <a:latin typeface="Calibri" panose="020F0502020204030204" pitchFamily="34" charset="0"/>
                        </a:rPr>
                        <a:t>SUMILLA</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28061542"/>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4090140008304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acredita medios de pago, reca debe evaluar nueva solicitud de devolución de Req. del TLC China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3389917"/>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4090140008307</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acredita utilización medio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1576838"/>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29/05/2024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4090140008251</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acredita utilización medio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6663292"/>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09/05/2024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4090140008007</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conforme a los criterios del TF, realizada una evaluación integral de la documentación presentada, se acredita la utilización de medios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3378968"/>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13/05/2024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4090140008029</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conforme a los criterios del TF, realizada una evaluación integral de la documentación presentada, se acredita la utilización de medios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4968656"/>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4090140008388</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PE" sz="1000" b="0" i="0" u="none" strike="noStrike">
                          <a:solidFill>
                            <a:srgbClr val="000000"/>
                          </a:solidFill>
                          <a:effectLst/>
                          <a:latin typeface="Calibri" panose="020F0502020204030204" pitchFamily="34" charset="0"/>
                        </a:rPr>
                        <a:t>Fundado: derecho antidumping no tiene naturaleza tributaria aduanera no se pude aplicar crédito reconocido </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7134043"/>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4090140008399</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exportación regularizada dentro del plazo otorgado considerando suspensión de plazo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97396"/>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10/05/2024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4090140008020</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falta de fundamento para la asignación del valor de mercancía inmovilizada y determinación del monto de la multa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702182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4090140008120</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existencia de un pago en exceso por diferencia de peso en aplicación de la Circular N° INTA-CR-018-2002, acredita medios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227543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23/05/2024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4090140008147</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Fundado: evaluación conjunta de bancarios y contables acreditan uso de medios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439269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07/05/2024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4090140007977</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IDV descartó referencias por elemento tiempo sin hacer una análisis sobre la idoneidad de estas</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0983640"/>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29/05/2024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4090140008272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IDV falta motivación, sobre documentos contables </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3568757"/>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27/05/2024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4090140008183</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medio de pago se le cursó al importador un requerimiento (notificación) que era de otro importador,</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4135507"/>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4090140008299</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acredita el uso de medios de pago bancarios</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5280127"/>
                  </a:ext>
                </a:extLst>
              </a:tr>
              <a:tr h="305026">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29/05/2024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4090140008252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merituo expediente N° 118-URD999-2023-1053815, al haber sido considerado como extemporánea cuando fue presentado dentro de plazo otorgado </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878396"/>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4090140008414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falta de motivación de la resolución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381791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23/05/2024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4090140008142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IDV no evaluó expediente presentado por la recurrente.</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7447756"/>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29/05/2024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4090140008261</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evaluaron expediente presentado por recurrente.</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590169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24/05/2024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4090140008161</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merituaron expediente presentado antes de sanción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777108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4090140008408</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merituaron expediente presentado dentro de plazo y antes de sanción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427830"/>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29/05/2024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4090140008276</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merituaron expediente presentado dentro de plazo y antes de sanción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1663310"/>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24/05/2024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4090140008160</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merituaron expediente presentado dentro de plazo y antes de sanción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8244884"/>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24/05/2024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4090140008162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merituaron expediente presentado dentro de plazo y antes de sanción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663005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4090140008398</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no notificaron documento previo a la sanción impugnada.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125276"/>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4090140008298</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referencias múltiples, la administración debió requerir análisis comparativo de las referencias aportadas por el importador.</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799322"/>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4090140008409</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1000" b="0" i="0" u="none" strike="noStrike">
                          <a:solidFill>
                            <a:srgbClr val="000000"/>
                          </a:solidFill>
                          <a:effectLst/>
                          <a:latin typeface="Calibri" panose="020F0502020204030204" pitchFamily="34" charset="0"/>
                        </a:rPr>
                        <a:t>Nulidad: se notificó una notificación de otro usuario, contraviniendo el proceso administrativo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8248733"/>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31/05/2024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4090140008382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PE" sz="1000" b="0" i="0" u="none" strike="noStrike">
                          <a:solidFill>
                            <a:srgbClr val="000000"/>
                          </a:solidFill>
                          <a:effectLst/>
                          <a:latin typeface="Calibri" panose="020F0502020204030204" pitchFamily="34" charset="0"/>
                        </a:rPr>
                        <a:t>Fundado: si acredita medios de pago</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8339489"/>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4090140008312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El infractor ya se había acogido al regimen de gradualidad. </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0983153"/>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27/05/2024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4090140008203</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Acreditó el medio de pago.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1389959"/>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30/05/2024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4090140008320</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No se ha realizado el análisis de la idoneidad de referencias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5204901"/>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27/05/2024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4090140008231</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Falta de motivacion no se ha pronunciado sobre un expediente</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0391855"/>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08/05/2024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4090140007996</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Falta de motivación. No se ha analizado referencias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3046720"/>
                  </a:ext>
                </a:extLst>
              </a:tr>
              <a:tr h="154690">
                <a:tc>
                  <a:txBody>
                    <a:bodyPr/>
                    <a:lstStyle/>
                    <a:p>
                      <a:pPr algn="ctr" fontAlgn="b"/>
                      <a:r>
                        <a:rPr lang="es-PE" sz="10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06/05/2024</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s-PE" sz="1000" b="0" i="0" u="none" strike="noStrike">
                          <a:solidFill>
                            <a:srgbClr val="000000"/>
                          </a:solidFill>
                          <a:effectLst/>
                          <a:latin typeface="Calibri" panose="020F0502020204030204" pitchFamily="34" charset="0"/>
                        </a:rPr>
                        <a:t>4090140007968</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Fundado: regularizó la DAM exportación dentro del plazo, considerando la suspensión de plazo otorgada por el área que administra el régimen.</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7049409"/>
                  </a:ext>
                </a:extLst>
              </a:tr>
            </a:tbl>
          </a:graphicData>
        </a:graphic>
      </p:graphicFrame>
    </p:spTree>
    <p:extLst>
      <p:ext uri="{BB962C8B-B14F-4D97-AF65-F5344CB8AC3E}">
        <p14:creationId xmlns:p14="http://schemas.microsoft.com/office/powerpoint/2010/main" val="410174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GAFA-DCCII</a:t>
            </a:r>
            <a:endParaRPr lang="es-PE" sz="24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81F4584F-22E2-3CC1-760E-67ED7482DE0E}"/>
              </a:ext>
            </a:extLst>
          </p:cNvPr>
          <p:cNvGraphicFramePr>
            <a:graphicFrameLocks noGrp="1"/>
          </p:cNvGraphicFramePr>
          <p:nvPr>
            <p:extLst>
              <p:ext uri="{D42A27DB-BD31-4B8C-83A1-F6EECF244321}">
                <p14:modId xmlns:p14="http://schemas.microsoft.com/office/powerpoint/2010/main" val="1102459676"/>
              </p:ext>
            </p:extLst>
          </p:nvPr>
        </p:nvGraphicFramePr>
        <p:xfrm>
          <a:off x="292045" y="1092201"/>
          <a:ext cx="11329958" cy="5372201"/>
        </p:xfrm>
        <a:graphic>
          <a:graphicData uri="http://schemas.openxmlformats.org/drawingml/2006/table">
            <a:tbl>
              <a:tblPr/>
              <a:tblGrid>
                <a:gridCol w="2317044">
                  <a:extLst>
                    <a:ext uri="{9D8B030D-6E8A-4147-A177-3AD203B41FA5}">
                      <a16:colId xmlns:a16="http://schemas.microsoft.com/office/drawing/2014/main" val="1080302632"/>
                    </a:ext>
                  </a:extLst>
                </a:gridCol>
                <a:gridCol w="1708330">
                  <a:extLst>
                    <a:ext uri="{9D8B030D-6E8A-4147-A177-3AD203B41FA5}">
                      <a16:colId xmlns:a16="http://schemas.microsoft.com/office/drawing/2014/main" val="4157396686"/>
                    </a:ext>
                  </a:extLst>
                </a:gridCol>
                <a:gridCol w="1747603">
                  <a:extLst>
                    <a:ext uri="{9D8B030D-6E8A-4147-A177-3AD203B41FA5}">
                      <a16:colId xmlns:a16="http://schemas.microsoft.com/office/drawing/2014/main" val="2465918779"/>
                    </a:ext>
                  </a:extLst>
                </a:gridCol>
                <a:gridCol w="5556981">
                  <a:extLst>
                    <a:ext uri="{9D8B030D-6E8A-4147-A177-3AD203B41FA5}">
                      <a16:colId xmlns:a16="http://schemas.microsoft.com/office/drawing/2014/main" val="1442033373"/>
                    </a:ext>
                  </a:extLst>
                </a:gridCol>
              </a:tblGrid>
              <a:tr h="199071">
                <a:tc>
                  <a:txBody>
                    <a:bodyPr/>
                    <a:lstStyle/>
                    <a:p>
                      <a:pPr algn="ctr" fontAlgn="ctr"/>
                      <a:r>
                        <a:rPr lang="es-PE" sz="1300" b="1" i="0" u="none" strike="noStrike">
                          <a:solidFill>
                            <a:srgbClr val="000000"/>
                          </a:solidFill>
                          <a:effectLst/>
                          <a:latin typeface="Calibri" panose="020F0502020204030204" pitchFamily="34" charset="0"/>
                        </a:rPr>
                        <a:t>DEPENDENCIA</a:t>
                      </a:r>
                    </a:p>
                  </a:txBody>
                  <a:tcPr marL="4188" marR="4188" marT="418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ctr"/>
                      <a:r>
                        <a:rPr lang="es-PE" sz="1300" b="1" i="0" u="none" strike="noStrike">
                          <a:solidFill>
                            <a:srgbClr val="000000"/>
                          </a:solidFill>
                          <a:effectLst/>
                          <a:latin typeface="Calibri" panose="020F0502020204030204" pitchFamily="34" charset="0"/>
                        </a:rPr>
                        <a:t>MES</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ctr"/>
                      <a:r>
                        <a:rPr lang="es-PE" sz="1300" b="1" i="0" u="none" strike="noStrike">
                          <a:solidFill>
                            <a:srgbClr val="000000"/>
                          </a:solidFill>
                          <a:effectLst/>
                          <a:latin typeface="Calibri" panose="020F0502020204030204" pitchFamily="34" charset="0"/>
                        </a:rPr>
                        <a:t>N° RD</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ctr"/>
                      <a:r>
                        <a:rPr lang="es-PE" sz="1300" b="1" i="0" u="none" strike="noStrike">
                          <a:solidFill>
                            <a:srgbClr val="000000"/>
                          </a:solidFill>
                          <a:effectLst/>
                          <a:latin typeface="Calibri" panose="020F0502020204030204" pitchFamily="34" charset="0"/>
                        </a:rPr>
                        <a:t>SUMILLA MOTIVO REVOCA/NULA</a:t>
                      </a:r>
                    </a:p>
                  </a:txBody>
                  <a:tcPr marL="4188" marR="4188" marT="418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690097077"/>
                  </a:ext>
                </a:extLst>
              </a:tr>
              <a:tr h="772160">
                <a:tc>
                  <a:txBody>
                    <a:bodyPr/>
                    <a:lstStyle/>
                    <a:p>
                      <a:pPr algn="l" fontAlgn="ctr"/>
                      <a:r>
                        <a:rPr lang="es-PE" sz="1300" b="0" i="0" u="none" strike="noStrike">
                          <a:solidFill>
                            <a:srgbClr val="000000"/>
                          </a:solidFill>
                          <a:effectLst/>
                          <a:latin typeface="Calibri" panose="020F0502020204030204" pitchFamily="34" charset="0"/>
                        </a:rPr>
                        <a:t>I.A. Puno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Mayo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a:solidFill>
                            <a:srgbClr val="000000"/>
                          </a:solidFill>
                          <a:effectLst/>
                          <a:latin typeface="Calibri" panose="020F0502020204030204" pitchFamily="34" charset="0"/>
                        </a:rPr>
                        <a:t>409014008012</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300" b="0" i="0" u="none" strike="noStrike">
                          <a:solidFill>
                            <a:srgbClr val="000000"/>
                          </a:solidFill>
                          <a:effectLst/>
                          <a:latin typeface="Calibri" panose="020F0502020204030204" pitchFamily="34" charset="0"/>
                        </a:rPr>
                        <a:t>FUNDADO Se declaró el comiso de un vehículo para turismo (CIT) por no haber efectuado su salida del país dentro del plazo, no obstante, el vehículo ya habia sido nacionalizado dentro del plazo del regimen especial</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5889113"/>
                  </a:ext>
                </a:extLst>
              </a:tr>
              <a:tr h="1156479">
                <a:tc>
                  <a:txBody>
                    <a:bodyPr/>
                    <a:lstStyle/>
                    <a:p>
                      <a:pPr algn="l" fontAlgn="ctr"/>
                      <a:r>
                        <a:rPr lang="es-PE" sz="1300" b="0" i="0" u="none" strike="noStrike">
                          <a:solidFill>
                            <a:srgbClr val="000000"/>
                          </a:solidFill>
                          <a:effectLst/>
                          <a:latin typeface="Calibri" panose="020F0502020204030204" pitchFamily="34" charset="0"/>
                        </a:rPr>
                        <a:t>I.A. Tacna</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Mayo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a:solidFill>
                            <a:srgbClr val="000000"/>
                          </a:solidFill>
                          <a:effectLst/>
                          <a:latin typeface="Calibri" panose="020F0502020204030204" pitchFamily="34" charset="0"/>
                        </a:rPr>
                        <a:t>409014008131</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300" b="0" i="0" u="none" strike="noStrike">
                          <a:solidFill>
                            <a:srgbClr val="000000"/>
                          </a:solidFill>
                          <a:effectLst/>
                          <a:latin typeface="Calibri" panose="020F0502020204030204" pitchFamily="34" charset="0"/>
                        </a:rPr>
                        <a:t>Nulidad: se dispuso el legajamiento de una de las series  de la DAM y el reembarque de la mercancia por considerar que se trataba de mercancía restringida sin documento de control, no obstante, se verifica que el recurrente en etapa de despacho presentó documentación del Sector Competente, la misma que no fue evaluda al momento de resolver</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5517900"/>
                  </a:ext>
                </a:extLst>
              </a:tr>
              <a:tr h="1028372">
                <a:tc>
                  <a:txBody>
                    <a:bodyPr/>
                    <a:lstStyle/>
                    <a:p>
                      <a:pPr algn="l" fontAlgn="ctr"/>
                      <a:r>
                        <a:rPr lang="es-PE" sz="1300" b="0" i="0" u="none" strike="noStrike">
                          <a:solidFill>
                            <a:srgbClr val="000000"/>
                          </a:solidFill>
                          <a:effectLst/>
                          <a:latin typeface="Calibri" panose="020F0502020204030204" pitchFamily="34" charset="0"/>
                        </a:rPr>
                        <a:t>I.A. Cusco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Mayo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a:solidFill>
                            <a:srgbClr val="000000"/>
                          </a:solidFill>
                          <a:effectLst/>
                          <a:latin typeface="Calibri" panose="020F0502020204030204" pitchFamily="34" charset="0"/>
                        </a:rPr>
                        <a:t>409014008131</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300" b="0" i="0" u="none" strike="noStrike">
                          <a:solidFill>
                            <a:srgbClr val="000000"/>
                          </a:solidFill>
                          <a:effectLst/>
                          <a:latin typeface="Calibri" panose="020F0502020204030204" pitchFamily="34" charset="0"/>
                        </a:rPr>
                        <a:t>Nulidad: se sancióno con multa e internamiento de vehículo en virtud a la ley de delitos aduaneros, no obstante, a la fecha de intervención, el reclamante aún no era propietario del vehículo que se utiliza para cometer la infracción, dado que la intervención se realizó en el 2021 y la recurrente adquirió el bien en el 2022.</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4945082"/>
                  </a:ext>
                </a:extLst>
              </a:tr>
              <a:tr h="772160">
                <a:tc>
                  <a:txBody>
                    <a:bodyPr/>
                    <a:lstStyle/>
                    <a:p>
                      <a:pPr algn="l" fontAlgn="ctr"/>
                      <a:r>
                        <a:rPr lang="es-ES" sz="1300" b="0" i="0" u="none" strike="noStrike">
                          <a:solidFill>
                            <a:srgbClr val="000000"/>
                          </a:solidFill>
                          <a:effectLst/>
                          <a:latin typeface="Calibri" panose="020F0502020204030204" pitchFamily="34" charset="0"/>
                        </a:rPr>
                        <a:t>I.A. Aérea y Postal</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Mayo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409014008179</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300" b="0" i="0" u="none" strike="noStrike" dirty="0">
                          <a:solidFill>
                            <a:srgbClr val="000000"/>
                          </a:solidFill>
                          <a:effectLst/>
                          <a:latin typeface="Calibri" panose="020F0502020204030204" pitchFamily="34" charset="0"/>
                        </a:rPr>
                        <a:t>Nulidad: Se decretó el comiso de la mercancía en el mes de Enero de 2024, sin considerar un Expediente ingresado por la  Mesa de Partes Virtual en diciembre de 2023, el mismo que no fue tomado en cuenta al momento de resolver.</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2541949"/>
                  </a:ext>
                </a:extLst>
              </a:tr>
              <a:tr h="783922">
                <a:tc>
                  <a:txBody>
                    <a:bodyPr/>
                    <a:lstStyle/>
                    <a:p>
                      <a:pPr algn="l" fontAlgn="ctr"/>
                      <a:r>
                        <a:rPr lang="es-PE" sz="1300" b="0" i="0" u="none" strike="noStrike">
                          <a:solidFill>
                            <a:srgbClr val="000000"/>
                          </a:solidFill>
                          <a:effectLst/>
                          <a:latin typeface="Calibri" panose="020F0502020204030204" pitchFamily="34" charset="0"/>
                        </a:rPr>
                        <a:t>I.A. Puno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Mayo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a:solidFill>
                            <a:srgbClr val="000000"/>
                          </a:solidFill>
                          <a:effectLst/>
                          <a:latin typeface="Calibri" panose="020F0502020204030204" pitchFamily="34" charset="0"/>
                        </a:rPr>
                        <a:t>409014008179</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300" b="0" i="0" u="none" strike="noStrike" dirty="0">
                          <a:solidFill>
                            <a:srgbClr val="000000"/>
                          </a:solidFill>
                          <a:effectLst/>
                          <a:latin typeface="Calibri" panose="020F0502020204030204" pitchFamily="34" charset="0"/>
                        </a:rPr>
                        <a:t>Nulidad: Se sanciona al recurrente con multa en virtud a la  ley de Delitos, no obstante, a la fecha de </a:t>
                      </a:r>
                      <a:r>
                        <a:rPr lang="es-ES" sz="1300" b="0" i="0" u="none" strike="noStrike" dirty="0" err="1">
                          <a:solidFill>
                            <a:srgbClr val="000000"/>
                          </a:solidFill>
                          <a:effectLst/>
                          <a:latin typeface="Calibri" panose="020F0502020204030204" pitchFamily="34" charset="0"/>
                        </a:rPr>
                        <a:t>comision</a:t>
                      </a:r>
                      <a:r>
                        <a:rPr lang="es-ES" sz="1300" b="0" i="0" u="none" strike="noStrike" dirty="0">
                          <a:solidFill>
                            <a:srgbClr val="000000"/>
                          </a:solidFill>
                          <a:effectLst/>
                          <a:latin typeface="Calibri" panose="020F0502020204030204" pitchFamily="34" charset="0"/>
                        </a:rPr>
                        <a:t> de la </a:t>
                      </a:r>
                      <a:r>
                        <a:rPr lang="es-ES" sz="1300" b="0" i="0" u="none" strike="noStrike" dirty="0" err="1">
                          <a:solidFill>
                            <a:srgbClr val="000000"/>
                          </a:solidFill>
                          <a:effectLst/>
                          <a:latin typeface="Calibri" panose="020F0502020204030204" pitchFamily="34" charset="0"/>
                        </a:rPr>
                        <a:t>infraccion</a:t>
                      </a:r>
                      <a:r>
                        <a:rPr lang="es-ES" sz="1300" b="0" i="0" u="none" strike="noStrike" dirty="0">
                          <a:solidFill>
                            <a:srgbClr val="000000"/>
                          </a:solidFill>
                          <a:effectLst/>
                          <a:latin typeface="Calibri" panose="020F0502020204030204" pitchFamily="34" charset="0"/>
                        </a:rPr>
                        <a:t>, el recurrente ya no era propietario del vehículo a través del cual se hizo circular la mercancía sin que se haya sometido a control aduanero.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8754920"/>
                  </a:ext>
                </a:extLst>
              </a:tr>
              <a:tr h="644054">
                <a:tc>
                  <a:txBody>
                    <a:bodyPr/>
                    <a:lstStyle/>
                    <a:p>
                      <a:pPr algn="l" fontAlgn="ctr"/>
                      <a:r>
                        <a:rPr lang="es-PE" sz="1300" b="0" i="0" u="none" strike="noStrike">
                          <a:solidFill>
                            <a:srgbClr val="000000"/>
                          </a:solidFill>
                          <a:effectLst/>
                          <a:latin typeface="Calibri" panose="020F0502020204030204" pitchFamily="34" charset="0"/>
                        </a:rPr>
                        <a:t>I.A Pucallpa</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dirty="0">
                          <a:solidFill>
                            <a:srgbClr val="000000"/>
                          </a:solidFill>
                          <a:effectLst/>
                          <a:latin typeface="Calibri" panose="020F0502020204030204" pitchFamily="34" charset="0"/>
                        </a:rPr>
                        <a:t>Mayo</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300" b="0" i="0" u="none" strike="noStrike">
                          <a:solidFill>
                            <a:srgbClr val="000000"/>
                          </a:solidFill>
                          <a:effectLst/>
                          <a:latin typeface="Calibri" panose="020F0502020204030204" pitchFamily="34" charset="0"/>
                        </a:rPr>
                        <a:t>409014008179</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300" b="0" i="0" u="none" strike="noStrike" dirty="0">
                          <a:solidFill>
                            <a:srgbClr val="000000"/>
                          </a:solidFill>
                          <a:effectLst/>
                          <a:latin typeface="Calibri" panose="020F0502020204030204" pitchFamily="34" charset="0"/>
                        </a:rPr>
                        <a:t>Nulidad: Se sanciona con multa por no entregar la mercancía objeto de comiso, no obstante, el comiso aún no se encontraba firme, ya que el mismo había sido objeto de apelación.</a:t>
                      </a:r>
                    </a:p>
                  </a:txBody>
                  <a:tcPr marL="4188" marR="4188" marT="41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3017699"/>
                  </a:ext>
                </a:extLst>
              </a:tr>
            </a:tbl>
          </a:graphicData>
        </a:graphic>
      </p:graphicFrame>
    </p:spTree>
    <p:extLst>
      <p:ext uri="{BB962C8B-B14F-4D97-AF65-F5344CB8AC3E}">
        <p14:creationId xmlns:p14="http://schemas.microsoft.com/office/powerpoint/2010/main" val="99160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B31EA813-B8F6-C57D-8F96-0686A481EB8B}"/>
              </a:ext>
            </a:extLst>
          </p:cNvPr>
          <p:cNvGraphicFramePr>
            <a:graphicFrameLocks/>
          </p:cNvGraphicFramePr>
          <p:nvPr>
            <p:extLst>
              <p:ext uri="{D42A27DB-BD31-4B8C-83A1-F6EECF244321}">
                <p14:modId xmlns:p14="http://schemas.microsoft.com/office/powerpoint/2010/main" val="3977856105"/>
              </p:ext>
            </p:extLst>
          </p:nvPr>
        </p:nvGraphicFramePr>
        <p:xfrm>
          <a:off x="567336" y="1187962"/>
          <a:ext cx="10239375" cy="32434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645F0F7F-91F6-E1DE-93C2-205FAFF61B12}"/>
              </a:ext>
            </a:extLst>
          </p:cNvPr>
          <p:cNvGraphicFramePr>
            <a:graphicFrameLocks noGrp="1"/>
          </p:cNvGraphicFramePr>
          <p:nvPr>
            <p:extLst>
              <p:ext uri="{D42A27DB-BD31-4B8C-83A1-F6EECF244321}">
                <p14:modId xmlns:p14="http://schemas.microsoft.com/office/powerpoint/2010/main" val="1473467996"/>
              </p:ext>
            </p:extLst>
          </p:nvPr>
        </p:nvGraphicFramePr>
        <p:xfrm>
          <a:off x="4163023" y="4618231"/>
          <a:ext cx="3048000" cy="1927758"/>
        </p:xfrm>
        <a:graphic>
          <a:graphicData uri="http://schemas.openxmlformats.org/drawingml/2006/table">
            <a:tbl>
              <a:tblPr>
                <a:tableStyleId>{5DA37D80-6434-44D0-A028-1B22A696006F}</a:tableStyleId>
              </a:tblPr>
              <a:tblGrid>
                <a:gridCol w="1294356">
                  <a:extLst>
                    <a:ext uri="{9D8B030D-6E8A-4147-A177-3AD203B41FA5}">
                      <a16:colId xmlns:a16="http://schemas.microsoft.com/office/drawing/2014/main" val="4122274139"/>
                    </a:ext>
                  </a:extLst>
                </a:gridCol>
                <a:gridCol w="876822">
                  <a:extLst>
                    <a:ext uri="{9D8B030D-6E8A-4147-A177-3AD203B41FA5}">
                      <a16:colId xmlns:a16="http://schemas.microsoft.com/office/drawing/2014/main" val="1382003201"/>
                    </a:ext>
                  </a:extLst>
                </a:gridCol>
                <a:gridCol w="876822">
                  <a:extLst>
                    <a:ext uri="{9D8B030D-6E8A-4147-A177-3AD203B41FA5}">
                      <a16:colId xmlns:a16="http://schemas.microsoft.com/office/drawing/2014/main" val="587845490"/>
                    </a:ext>
                  </a:extLst>
                </a:gridCol>
              </a:tblGrid>
              <a:tr h="189605">
                <a:tc>
                  <a:txBody>
                    <a:bodyPr/>
                    <a:lstStyle/>
                    <a:p>
                      <a:pPr algn="ctr" fontAlgn="ctr"/>
                      <a:r>
                        <a:rPr lang="es-PE" sz="1400" b="1" u="none" strike="noStrike" dirty="0">
                          <a:solidFill>
                            <a:sysClr val="windowText" lastClr="000000"/>
                          </a:solidFill>
                          <a:effectLst/>
                        </a:rPr>
                        <a:t>ESTADO</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Total</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Porcentaje</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309498888"/>
                  </a:ext>
                </a:extLst>
              </a:tr>
              <a:tr h="250173">
                <a:tc>
                  <a:txBody>
                    <a:bodyPr/>
                    <a:lstStyle/>
                    <a:p>
                      <a:pPr algn="l" fontAlgn="ctr"/>
                      <a:r>
                        <a:rPr lang="es-PE" sz="1600" b="1" u="none" strike="noStrike">
                          <a:solidFill>
                            <a:srgbClr val="000000"/>
                          </a:solidFill>
                          <a:effectLst/>
                        </a:rPr>
                        <a:t>Infundado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4740</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87.24%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7574320"/>
                  </a:ext>
                </a:extLst>
              </a:tr>
              <a:tr h="250173">
                <a:tc>
                  <a:txBody>
                    <a:bodyPr/>
                    <a:lstStyle/>
                    <a:p>
                      <a:pPr algn="l" fontAlgn="ctr"/>
                      <a:r>
                        <a:rPr lang="es-PE" sz="1600" b="1" u="none" strike="noStrike">
                          <a:solidFill>
                            <a:srgbClr val="000000"/>
                          </a:solidFill>
                          <a:effectLst/>
                        </a:rPr>
                        <a:t>Fundado/F.P</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211</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3.88%</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7111707"/>
                  </a:ext>
                </a:extLst>
              </a:tr>
              <a:tr h="250173">
                <a:tc>
                  <a:txBody>
                    <a:bodyPr/>
                    <a:lstStyle/>
                    <a:p>
                      <a:pPr algn="l" fontAlgn="ctr"/>
                      <a:r>
                        <a:rPr lang="es-PE" sz="1600" b="1" u="none" strike="noStrike">
                          <a:solidFill>
                            <a:srgbClr val="000000"/>
                          </a:solidFill>
                          <a:effectLst/>
                        </a:rPr>
                        <a:t>Nulidad</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404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7.44%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762901"/>
                  </a:ext>
                </a:extLst>
              </a:tr>
              <a:tr h="250173">
                <a:tc>
                  <a:txBody>
                    <a:bodyPr/>
                    <a:lstStyle/>
                    <a:p>
                      <a:pPr algn="l" fontAlgn="ctr"/>
                      <a:r>
                        <a:rPr lang="es-PE" sz="1600" b="1" u="none" strike="noStrike">
                          <a:solidFill>
                            <a:srgbClr val="000000"/>
                          </a:solidFill>
                          <a:effectLst/>
                        </a:rPr>
                        <a:t>Improcedente</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dirty="0">
                          <a:solidFill>
                            <a:srgbClr val="000000"/>
                          </a:solidFill>
                          <a:effectLst/>
                        </a:rPr>
                        <a:t>8</a:t>
                      </a:r>
                      <a:endParaRPr lang="es-PE" sz="1400" b="1" i="0" u="none" strike="noStrike" dirty="0">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0.15%</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319216"/>
                  </a:ext>
                </a:extLst>
              </a:tr>
              <a:tr h="250173">
                <a:tc>
                  <a:txBody>
                    <a:bodyPr/>
                    <a:lstStyle/>
                    <a:p>
                      <a:pPr algn="l" fontAlgn="ctr"/>
                      <a:r>
                        <a:rPr lang="es-PE" sz="1600" b="1" u="none" strike="noStrike">
                          <a:solidFill>
                            <a:srgbClr val="000000"/>
                          </a:solidFill>
                          <a:effectLst/>
                        </a:rPr>
                        <a:t>Desistimiento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0.07%</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6137711"/>
                  </a:ext>
                </a:extLst>
              </a:tr>
              <a:tr h="250173">
                <a:tc>
                  <a:txBody>
                    <a:bodyPr/>
                    <a:lstStyle/>
                    <a:p>
                      <a:pPr algn="l" fontAlgn="ctr"/>
                      <a:r>
                        <a:rPr lang="es-PE" sz="1600" b="1" u="none" strike="noStrike">
                          <a:solidFill>
                            <a:srgbClr val="000000"/>
                          </a:solidFill>
                          <a:effectLst/>
                        </a:rPr>
                        <a:t>Otros</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66</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1.21%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72302321"/>
                  </a:ext>
                </a:extLst>
              </a:tr>
              <a:tr h="210672">
                <a:tc>
                  <a:txBody>
                    <a:bodyPr/>
                    <a:lstStyle/>
                    <a:p>
                      <a:pPr algn="l" fontAlgn="ctr"/>
                      <a:r>
                        <a:rPr lang="es-PE" sz="1400" b="1" u="none" strike="noStrike">
                          <a:solidFill>
                            <a:srgbClr val="000000"/>
                          </a:solidFill>
                          <a:effectLst/>
                        </a:rPr>
                        <a:t>Total</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5433</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dirty="0">
                          <a:solidFill>
                            <a:srgbClr val="000000"/>
                          </a:solidFill>
                          <a:effectLst/>
                        </a:rPr>
                        <a:t>100.00%</a:t>
                      </a:r>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610975"/>
                  </a:ext>
                </a:extLst>
              </a:tr>
            </a:tbl>
          </a:graphicData>
        </a:graphic>
      </p:graphicFrame>
    </p:spTree>
    <p:extLst>
      <p:ext uri="{BB962C8B-B14F-4D97-AF65-F5344CB8AC3E}">
        <p14:creationId xmlns:p14="http://schemas.microsoft.com/office/powerpoint/2010/main" val="9888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C8367E05-A6BA-F64C-FC77-6E25B8986E41}"/>
              </a:ext>
            </a:extLst>
          </p:cNvPr>
          <p:cNvGraphicFramePr>
            <a:graphicFrameLocks noGrp="1"/>
          </p:cNvGraphicFramePr>
          <p:nvPr>
            <p:extLst>
              <p:ext uri="{D42A27DB-BD31-4B8C-83A1-F6EECF244321}">
                <p14:modId xmlns:p14="http://schemas.microsoft.com/office/powerpoint/2010/main" val="2857925707"/>
              </p:ext>
            </p:extLst>
          </p:nvPr>
        </p:nvGraphicFramePr>
        <p:xfrm>
          <a:off x="240312" y="4132103"/>
          <a:ext cx="1872332" cy="2454326"/>
        </p:xfrm>
        <a:graphic>
          <a:graphicData uri="http://schemas.openxmlformats.org/drawingml/2006/table">
            <a:tbl>
              <a:tblPr firstRow="1" firstCol="1" bandRow="1"/>
              <a:tblGrid>
                <a:gridCol w="627914">
                  <a:extLst>
                    <a:ext uri="{9D8B030D-6E8A-4147-A177-3AD203B41FA5}">
                      <a16:colId xmlns:a16="http://schemas.microsoft.com/office/drawing/2014/main" val="1686963227"/>
                    </a:ext>
                  </a:extLst>
                </a:gridCol>
                <a:gridCol w="622209">
                  <a:extLst>
                    <a:ext uri="{9D8B030D-6E8A-4147-A177-3AD203B41FA5}">
                      <a16:colId xmlns:a16="http://schemas.microsoft.com/office/drawing/2014/main" val="164123852"/>
                    </a:ext>
                  </a:extLst>
                </a:gridCol>
                <a:gridCol w="622209">
                  <a:extLst>
                    <a:ext uri="{9D8B030D-6E8A-4147-A177-3AD203B41FA5}">
                      <a16:colId xmlns:a16="http://schemas.microsoft.com/office/drawing/2014/main" val="4252558311"/>
                    </a:ext>
                  </a:extLst>
                </a:gridCol>
              </a:tblGrid>
              <a:tr h="442568">
                <a:tc>
                  <a:txBody>
                    <a:bodyPr/>
                    <a:lstStyle/>
                    <a:p>
                      <a:pPr algn="ctr"/>
                      <a:r>
                        <a:rPr lang="es-PE" sz="900" b="1" dirty="0">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ESTADO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Total</a:t>
                      </a:r>
                      <a:endParaRPr lang="es-PE" sz="105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endParaRPr lang="es-PE" sz="105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2109774381"/>
                  </a:ext>
                </a:extLst>
              </a:tr>
              <a:tr h="222822">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Infundado</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1606</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ES" sz="1000" b="0" i="0" u="none" strike="noStrike" dirty="0">
                          <a:solidFill>
                            <a:srgbClr val="000000"/>
                          </a:solidFill>
                          <a:effectLst/>
                          <a:latin typeface="Arial" panose="020B0604020202020204" pitchFamily="34" charset="0"/>
                        </a:rPr>
                        <a:t>88.24%</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473417804"/>
                  </a:ext>
                </a:extLst>
              </a:tr>
              <a:tr h="373490">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Fundado / F.P</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56</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fontAlgn="b"/>
                      <a:r>
                        <a:rPr lang="es-ES" sz="1000" b="0" i="0" u="none" strike="noStrike" dirty="0">
                          <a:solidFill>
                            <a:srgbClr val="000000"/>
                          </a:solidFill>
                          <a:effectLst/>
                          <a:latin typeface="Arial" panose="020B0604020202020204" pitchFamily="34" charset="0"/>
                        </a:rPr>
                        <a:t>3.08%</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811766697"/>
                  </a:ext>
                </a:extLst>
              </a:tr>
              <a:tr h="222822">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Nulidad</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133</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ES" sz="1000" b="0" i="0" u="none" strike="noStrike" dirty="0">
                          <a:solidFill>
                            <a:srgbClr val="000000"/>
                          </a:solidFill>
                          <a:effectLst/>
                          <a:latin typeface="Arial" panose="020B0604020202020204" pitchFamily="34" charset="0"/>
                        </a:rPr>
                        <a:t>7.31%</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902813794"/>
                  </a:ext>
                </a:extLst>
              </a:tr>
              <a:tr h="373490">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Improcedente</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2</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fontAlgn="b"/>
                      <a:r>
                        <a:rPr lang="es-ES" sz="1000" b="0" i="0" u="none" strike="noStrike" dirty="0">
                          <a:solidFill>
                            <a:srgbClr val="000000"/>
                          </a:solidFill>
                          <a:effectLst/>
                          <a:latin typeface="Arial" panose="020B0604020202020204" pitchFamily="34" charset="0"/>
                        </a:rPr>
                        <a:t>0.11%</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794638817"/>
                  </a:ext>
                </a:extLst>
              </a:tr>
              <a:tr h="373490">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Desistimiento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1</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ES" sz="1000" b="0" i="0" u="none" strike="noStrike" dirty="0">
                          <a:solidFill>
                            <a:srgbClr val="000000"/>
                          </a:solidFill>
                          <a:effectLst/>
                          <a:latin typeface="Arial" panose="020B0604020202020204" pitchFamily="34" charset="0"/>
                        </a:rPr>
                        <a:t>0.05%</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928559859"/>
                  </a:ext>
                </a:extLst>
              </a:tr>
              <a:tr h="222822">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Otros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22</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fontAlgn="b"/>
                      <a:r>
                        <a:rPr lang="es-ES" sz="1000" b="0" i="0" u="none" strike="noStrike" dirty="0">
                          <a:solidFill>
                            <a:srgbClr val="000000"/>
                          </a:solidFill>
                          <a:effectLst/>
                          <a:latin typeface="Arial" panose="020B0604020202020204" pitchFamily="34" charset="0"/>
                        </a:rPr>
                        <a:t>1.21%</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125970851"/>
                  </a:ext>
                </a:extLst>
              </a:tr>
              <a:tr h="222822">
                <a:tc>
                  <a:txBody>
                    <a:bodyPr/>
                    <a:lstStyle/>
                    <a:p>
                      <a:pPr algn="ctr"/>
                      <a:r>
                        <a:rPr lang="es-PE" sz="8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TOTAL</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ES" sz="1000" b="0" i="0" u="none" strike="noStrike" dirty="0">
                          <a:solidFill>
                            <a:srgbClr val="000000"/>
                          </a:solidFill>
                          <a:effectLst/>
                          <a:latin typeface="Arial" panose="020B0604020202020204" pitchFamily="34" charset="0"/>
                        </a:rPr>
                        <a:t>1820</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ES" sz="1000" b="0" i="0" u="none" strike="noStrike" dirty="0">
                          <a:solidFill>
                            <a:srgbClr val="000000"/>
                          </a:solidFill>
                          <a:effectLst/>
                          <a:latin typeface="Arial" panose="020B0604020202020204" pitchFamily="34" charset="0"/>
                        </a:rPr>
                        <a:t>100.00%</a:t>
                      </a:r>
                      <a:endParaRPr lang="es-PE"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828734499"/>
                  </a:ext>
                </a:extLst>
              </a:tr>
            </a:tbl>
          </a:graphicData>
        </a:graphic>
      </p:graphicFrame>
      <p:graphicFrame>
        <p:nvGraphicFramePr>
          <p:cNvPr id="7" name="Tabla 6">
            <a:extLst>
              <a:ext uri="{FF2B5EF4-FFF2-40B4-BE49-F238E27FC236}">
                <a16:creationId xmlns:a16="http://schemas.microsoft.com/office/drawing/2014/main" id="{1883E0D7-950F-7FFC-80E9-3259A189F823}"/>
              </a:ext>
            </a:extLst>
          </p:cNvPr>
          <p:cNvGraphicFramePr>
            <a:graphicFrameLocks noGrp="1"/>
          </p:cNvGraphicFramePr>
          <p:nvPr>
            <p:extLst>
              <p:ext uri="{D42A27DB-BD31-4B8C-83A1-F6EECF244321}">
                <p14:modId xmlns:p14="http://schemas.microsoft.com/office/powerpoint/2010/main" val="2769015345"/>
              </p:ext>
            </p:extLst>
          </p:nvPr>
        </p:nvGraphicFramePr>
        <p:xfrm>
          <a:off x="2199390" y="4132103"/>
          <a:ext cx="8954529" cy="2635959"/>
        </p:xfrm>
        <a:graphic>
          <a:graphicData uri="http://schemas.openxmlformats.org/drawingml/2006/table">
            <a:tbl>
              <a:tblPr firstRow="1" firstCol="1" bandRow="1"/>
              <a:tblGrid>
                <a:gridCol w="676275">
                  <a:extLst>
                    <a:ext uri="{9D8B030D-6E8A-4147-A177-3AD203B41FA5}">
                      <a16:colId xmlns:a16="http://schemas.microsoft.com/office/drawing/2014/main" val="4105813593"/>
                    </a:ext>
                  </a:extLst>
                </a:gridCol>
                <a:gridCol w="377199">
                  <a:extLst>
                    <a:ext uri="{9D8B030D-6E8A-4147-A177-3AD203B41FA5}">
                      <a16:colId xmlns:a16="http://schemas.microsoft.com/office/drawing/2014/main" val="4238957158"/>
                    </a:ext>
                  </a:extLst>
                </a:gridCol>
                <a:gridCol w="526737">
                  <a:extLst>
                    <a:ext uri="{9D8B030D-6E8A-4147-A177-3AD203B41FA5}">
                      <a16:colId xmlns:a16="http://schemas.microsoft.com/office/drawing/2014/main" val="2157927079"/>
                    </a:ext>
                  </a:extLst>
                </a:gridCol>
                <a:gridCol w="526737">
                  <a:extLst>
                    <a:ext uri="{9D8B030D-6E8A-4147-A177-3AD203B41FA5}">
                      <a16:colId xmlns:a16="http://schemas.microsoft.com/office/drawing/2014/main" val="3061587117"/>
                    </a:ext>
                  </a:extLst>
                </a:gridCol>
                <a:gridCol w="526737">
                  <a:extLst>
                    <a:ext uri="{9D8B030D-6E8A-4147-A177-3AD203B41FA5}">
                      <a16:colId xmlns:a16="http://schemas.microsoft.com/office/drawing/2014/main" val="2228714572"/>
                    </a:ext>
                  </a:extLst>
                </a:gridCol>
                <a:gridCol w="526737">
                  <a:extLst>
                    <a:ext uri="{9D8B030D-6E8A-4147-A177-3AD203B41FA5}">
                      <a16:colId xmlns:a16="http://schemas.microsoft.com/office/drawing/2014/main" val="2531718189"/>
                    </a:ext>
                  </a:extLst>
                </a:gridCol>
                <a:gridCol w="526737">
                  <a:extLst>
                    <a:ext uri="{9D8B030D-6E8A-4147-A177-3AD203B41FA5}">
                      <a16:colId xmlns:a16="http://schemas.microsoft.com/office/drawing/2014/main" val="68257077"/>
                    </a:ext>
                  </a:extLst>
                </a:gridCol>
                <a:gridCol w="526737">
                  <a:extLst>
                    <a:ext uri="{9D8B030D-6E8A-4147-A177-3AD203B41FA5}">
                      <a16:colId xmlns:a16="http://schemas.microsoft.com/office/drawing/2014/main" val="1489147444"/>
                    </a:ext>
                  </a:extLst>
                </a:gridCol>
                <a:gridCol w="526737">
                  <a:extLst>
                    <a:ext uri="{9D8B030D-6E8A-4147-A177-3AD203B41FA5}">
                      <a16:colId xmlns:a16="http://schemas.microsoft.com/office/drawing/2014/main" val="1241165266"/>
                    </a:ext>
                  </a:extLst>
                </a:gridCol>
                <a:gridCol w="526737">
                  <a:extLst>
                    <a:ext uri="{9D8B030D-6E8A-4147-A177-3AD203B41FA5}">
                      <a16:colId xmlns:a16="http://schemas.microsoft.com/office/drawing/2014/main" val="4197366162"/>
                    </a:ext>
                  </a:extLst>
                </a:gridCol>
                <a:gridCol w="526737">
                  <a:extLst>
                    <a:ext uri="{9D8B030D-6E8A-4147-A177-3AD203B41FA5}">
                      <a16:colId xmlns:a16="http://schemas.microsoft.com/office/drawing/2014/main" val="2527937750"/>
                    </a:ext>
                  </a:extLst>
                </a:gridCol>
                <a:gridCol w="526737">
                  <a:extLst>
                    <a:ext uri="{9D8B030D-6E8A-4147-A177-3AD203B41FA5}">
                      <a16:colId xmlns:a16="http://schemas.microsoft.com/office/drawing/2014/main" val="1441641794"/>
                    </a:ext>
                  </a:extLst>
                </a:gridCol>
                <a:gridCol w="526737">
                  <a:extLst>
                    <a:ext uri="{9D8B030D-6E8A-4147-A177-3AD203B41FA5}">
                      <a16:colId xmlns:a16="http://schemas.microsoft.com/office/drawing/2014/main" val="120561687"/>
                    </a:ext>
                  </a:extLst>
                </a:gridCol>
                <a:gridCol w="526737">
                  <a:extLst>
                    <a:ext uri="{9D8B030D-6E8A-4147-A177-3AD203B41FA5}">
                      <a16:colId xmlns:a16="http://schemas.microsoft.com/office/drawing/2014/main" val="85386041"/>
                    </a:ext>
                  </a:extLst>
                </a:gridCol>
                <a:gridCol w="526737">
                  <a:extLst>
                    <a:ext uri="{9D8B030D-6E8A-4147-A177-3AD203B41FA5}">
                      <a16:colId xmlns:a16="http://schemas.microsoft.com/office/drawing/2014/main" val="4058044063"/>
                    </a:ext>
                  </a:extLst>
                </a:gridCol>
                <a:gridCol w="526737">
                  <a:extLst>
                    <a:ext uri="{9D8B030D-6E8A-4147-A177-3AD203B41FA5}">
                      <a16:colId xmlns:a16="http://schemas.microsoft.com/office/drawing/2014/main" val="4036041765"/>
                    </a:ext>
                  </a:extLst>
                </a:gridCol>
                <a:gridCol w="526737">
                  <a:extLst>
                    <a:ext uri="{9D8B030D-6E8A-4147-A177-3AD203B41FA5}">
                      <a16:colId xmlns:a16="http://schemas.microsoft.com/office/drawing/2014/main" val="4054452720"/>
                    </a:ext>
                  </a:extLst>
                </a:gridCol>
              </a:tblGrid>
              <a:tr h="214028">
                <a:tc rowSpan="2">
                  <a:txBody>
                    <a:bodyPr/>
                    <a:lstStyle/>
                    <a:p>
                      <a:pPr algn="ctr"/>
                      <a:r>
                        <a:rPr lang="es-PE" sz="105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gridSpan="3">
                  <a:txBody>
                    <a:bodyPr/>
                    <a:lstStyle/>
                    <a:p>
                      <a:pPr algn="ctr"/>
                      <a:r>
                        <a:rPr lang="es-PE" sz="105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ENERO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algn="ctr"/>
                      <a:r>
                        <a:rPr lang="es-PE" sz="105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FEBRERO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algn="ctr"/>
                      <a:r>
                        <a:rPr lang="es-PE" sz="105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MARZO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A</a:t>
                      </a:r>
                      <a:r>
                        <a:rPr lang="es-PE" sz="105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BRIL</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a:t>
                      </a:r>
                      <a:r>
                        <a:rPr lang="es-PE" sz="105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AYO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endParaRPr lang="es-PE" sz="1200" dirty="0">
                        <a:effectLst/>
                        <a:latin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3586470851"/>
                  </a:ext>
                </a:extLst>
              </a:tr>
              <a:tr h="162752">
                <a:tc vMerge="1">
                  <a:txBody>
                    <a:bodyPr/>
                    <a:lstStyle/>
                    <a:p>
                      <a:endParaRPr lang="es-PE"/>
                    </a:p>
                  </a:txBody>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449680717"/>
                  </a:ext>
                </a:extLst>
              </a:tr>
              <a:tr h="321043">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Infundado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255</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75</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14</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236</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78</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17</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206</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18</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204</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83</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16</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234</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88</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12</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1606</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701575571"/>
                  </a:ext>
                </a:extLst>
              </a:tr>
              <a:tr h="427225">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Fundado / F.P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5</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2</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16</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13</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56</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4188786604"/>
                  </a:ext>
                </a:extLst>
              </a:tr>
              <a:tr h="284817">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Nulidad</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16</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3</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25</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3</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41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5</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21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5</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133</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682196660"/>
                  </a:ext>
                </a:extLst>
              </a:tr>
              <a:tr h="321043">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Improcedente</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2</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2</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639372174"/>
                  </a:ext>
                </a:extLst>
              </a:tr>
              <a:tr h="321043">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Desistimiento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1</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318708488"/>
                  </a:ext>
                </a:extLst>
              </a:tr>
              <a:tr h="162752">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Otros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4</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a:t>
                      </a:r>
                      <a:endParaRPr lang="es-PE" sz="1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1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22</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27754453"/>
                  </a:ext>
                </a:extLst>
              </a:tr>
              <a:tr h="162752">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285</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79</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19</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262</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83</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19</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236</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77</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1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20</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1" dirty="0">
                          <a:effectLst/>
                          <a:latin typeface="Calibri" panose="020F0502020204030204" pitchFamily="34" charset="0"/>
                          <a:ea typeface="Calibri" panose="020F0502020204030204" pitchFamily="34" charset="0"/>
                          <a:cs typeface="Times New Roman" panose="02020603050405020304" pitchFamily="18" charset="0"/>
                        </a:rPr>
                        <a:t>256</a:t>
                      </a:r>
                      <a:endParaRPr lang="es-PE"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1" dirty="0">
                          <a:effectLst/>
                          <a:latin typeface="Calibri" panose="020F0502020204030204" pitchFamily="34" charset="0"/>
                          <a:ea typeface="Calibri" panose="020F0502020204030204" pitchFamily="34" charset="0"/>
                          <a:cs typeface="Times New Roman" panose="02020603050405020304" pitchFamily="18" charset="0"/>
                        </a:rPr>
                        <a:t>89</a:t>
                      </a:r>
                      <a:endParaRPr lang="es-PE"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1" dirty="0">
                          <a:effectLst/>
                          <a:latin typeface="Calibri" panose="020F0502020204030204" pitchFamily="34" charset="0"/>
                          <a:ea typeface="Calibri" panose="020F0502020204030204" pitchFamily="34" charset="0"/>
                          <a:cs typeface="Times New Roman" panose="02020603050405020304" pitchFamily="18" charset="0"/>
                        </a:rPr>
                        <a:t>18</a:t>
                      </a:r>
                      <a:endParaRPr lang="es-PE"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1" dirty="0">
                          <a:effectLst/>
                          <a:latin typeface="Calibri" panose="020F0502020204030204" pitchFamily="34" charset="0"/>
                          <a:ea typeface="Calibri" panose="020F0502020204030204" pitchFamily="34" charset="0"/>
                          <a:cs typeface="Times New Roman" panose="02020603050405020304" pitchFamily="18" charset="0"/>
                        </a:rPr>
                        <a:t>268</a:t>
                      </a:r>
                      <a:endParaRPr lang="es-PE"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1" dirty="0">
                          <a:effectLst/>
                          <a:latin typeface="Calibri" panose="020F0502020204030204" pitchFamily="34" charset="0"/>
                          <a:ea typeface="Calibri" panose="020F0502020204030204" pitchFamily="34" charset="0"/>
                          <a:cs typeface="Times New Roman" panose="02020603050405020304" pitchFamily="18" charset="0"/>
                        </a:rPr>
                        <a:t>97</a:t>
                      </a:r>
                      <a:endParaRPr lang="es-PE"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100" b="1" dirty="0">
                          <a:effectLst/>
                          <a:latin typeface="Calibri" panose="020F0502020204030204" pitchFamily="34" charset="0"/>
                          <a:ea typeface="Calibri" panose="020F0502020204030204" pitchFamily="34" charset="0"/>
                          <a:cs typeface="Times New Roman" panose="02020603050405020304" pitchFamily="18" charset="0"/>
                        </a:rPr>
                        <a:t>12</a:t>
                      </a:r>
                      <a:endParaRPr lang="es-PE"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1820</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964130000"/>
                  </a:ext>
                </a:extLst>
              </a:tr>
            </a:tbl>
          </a:graphicData>
        </a:graphic>
      </p:graphicFrame>
      <p:graphicFrame>
        <p:nvGraphicFramePr>
          <p:cNvPr id="3" name="Gráfico 2">
            <a:extLst>
              <a:ext uri="{FF2B5EF4-FFF2-40B4-BE49-F238E27FC236}">
                <a16:creationId xmlns:a16="http://schemas.microsoft.com/office/drawing/2014/main" id="{63324CF6-22F2-DDF0-1806-8EAD87496C1B}"/>
              </a:ext>
            </a:extLst>
          </p:cNvPr>
          <p:cNvGraphicFramePr>
            <a:graphicFrameLocks/>
          </p:cNvGraphicFramePr>
          <p:nvPr>
            <p:extLst>
              <p:ext uri="{D42A27DB-BD31-4B8C-83A1-F6EECF244321}">
                <p14:modId xmlns:p14="http://schemas.microsoft.com/office/powerpoint/2010/main" val="1841178673"/>
              </p:ext>
            </p:extLst>
          </p:nvPr>
        </p:nvGraphicFramePr>
        <p:xfrm>
          <a:off x="695326" y="1173360"/>
          <a:ext cx="10354703" cy="283364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5969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772892"/>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DESAFIOS/PROPUESTAS </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4E81CA-E15C-F5EE-DC7A-2237FDCAEE51}"/>
              </a:ext>
            </a:extLst>
          </p:cNvPr>
          <p:cNvGraphicFramePr>
            <a:graphicFrameLocks noGrp="1"/>
          </p:cNvGraphicFramePr>
          <p:nvPr>
            <p:extLst>
              <p:ext uri="{D42A27DB-BD31-4B8C-83A1-F6EECF244321}">
                <p14:modId xmlns:p14="http://schemas.microsoft.com/office/powerpoint/2010/main" val="231332822"/>
              </p:ext>
            </p:extLst>
          </p:nvPr>
        </p:nvGraphicFramePr>
        <p:xfrm>
          <a:off x="338927" y="788611"/>
          <a:ext cx="11514146" cy="6341469"/>
        </p:xfrm>
        <a:graphic>
          <a:graphicData uri="http://schemas.openxmlformats.org/drawingml/2006/table">
            <a:tbl>
              <a:tblPr firstRow="1" firstCol="1" bandRow="1"/>
              <a:tblGrid>
                <a:gridCol w="3028182">
                  <a:extLst>
                    <a:ext uri="{9D8B030D-6E8A-4147-A177-3AD203B41FA5}">
                      <a16:colId xmlns:a16="http://schemas.microsoft.com/office/drawing/2014/main" val="4249395483"/>
                    </a:ext>
                  </a:extLst>
                </a:gridCol>
                <a:gridCol w="4460839">
                  <a:extLst>
                    <a:ext uri="{9D8B030D-6E8A-4147-A177-3AD203B41FA5}">
                      <a16:colId xmlns:a16="http://schemas.microsoft.com/office/drawing/2014/main" val="972088636"/>
                    </a:ext>
                  </a:extLst>
                </a:gridCol>
                <a:gridCol w="4025125">
                  <a:extLst>
                    <a:ext uri="{9D8B030D-6E8A-4147-A177-3AD203B41FA5}">
                      <a16:colId xmlns:a16="http://schemas.microsoft.com/office/drawing/2014/main" val="2022867340"/>
                    </a:ext>
                  </a:extLst>
                </a:gridCol>
              </a:tblGrid>
              <a:tr h="327125">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PROBLEMAS/DESAFIO.</a:t>
                      </a:r>
                      <a:endParaRPr lang="es-PE" sz="14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SOLUCIONES</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PROPUESTA</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399955915"/>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INDICADOR PNC - TLT 6 MESES – META 98%. Revisión de ficha 2024 e Indicadores internos complementarios.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Reunión semanal de coordinación y control de gestión GAFA-DAP-GENGI </a:t>
                      </a:r>
                      <a:r>
                        <a:rPr lang="es-ES" sz="1200" dirty="0" err="1">
                          <a:solidFill>
                            <a:srgbClr val="000000"/>
                          </a:solidFill>
                          <a:effectLst/>
                          <a:latin typeface="Calibri" panose="020F0502020204030204" pitchFamily="34" charset="0"/>
                          <a:ea typeface="Calibri" panose="020F0502020204030204" pitchFamily="34" charset="0"/>
                        </a:rPr>
                        <a:t>ica</a:t>
                      </a:r>
                      <a:r>
                        <a:rPr lang="es-ES" sz="1200" dirty="0">
                          <a:solidFill>
                            <a:srgbClr val="000000"/>
                          </a:solidFill>
                          <a:effectLst/>
                          <a:latin typeface="Calibri" panose="020F0502020204030204" pitchFamily="34" charset="0"/>
                          <a:ea typeface="Calibri" panose="020F0502020204030204" pitchFamily="34" charset="0"/>
                        </a:rPr>
                        <a:t>).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 TLT 125 días y TLT 58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p>
                    <a:p>
                      <a:r>
                        <a:rPr lang="es-ES" sz="1200" b="1" dirty="0">
                          <a:solidFill>
                            <a:srgbClr val="000000"/>
                          </a:solidFill>
                          <a:effectLst/>
                          <a:latin typeface="Calibri" panose="020F0502020204030204" pitchFamily="34" charset="0"/>
                          <a:ea typeface="Calibri" panose="020F0502020204030204" pitchFamily="34" charset="0"/>
                        </a:rPr>
                        <a:t>Vencimiento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r>
                        <a:rPr lang="es-ES" sz="1200" dirty="0">
                          <a:solidFill>
                            <a:srgbClr val="000000"/>
                          </a:solidFill>
                          <a:effectLst/>
                          <a:latin typeface="Calibri" panose="020F0502020204030204" pitchFamily="34" charset="0"/>
                          <a:ea typeface="Calibri" panose="020F0502020204030204" pitchFamily="34" charset="0"/>
                        </a:rPr>
                        <a:t>de reclamo (30 días hábiles), bandejas CERO y apelaciones (15 días calendarios para pedir actuados). Excluir el OEA de la ficha si lo monitorea PNGCA.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241051180"/>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Propuesta de mejora DCCI RD y RTF. Registro, Criterios, Instructivos y otros. DCCII Registro manual de data de reclamos, LC actualización y remisión de actuados. DCP retroalimentación INCA.  PASIVO TF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Marzo </a:t>
                      </a:r>
                    </a:p>
                    <a:p>
                      <a:r>
                        <a:rPr lang="es-ES" sz="1200" dirty="0">
                          <a:solidFill>
                            <a:srgbClr val="000000"/>
                          </a:solidFill>
                          <a:effectLst/>
                          <a:latin typeface="Calibri" panose="020F0502020204030204" pitchFamily="34" charset="0"/>
                          <a:ea typeface="Calibri" panose="020F0502020204030204" pitchFamily="34" charset="0"/>
                        </a:rPr>
                        <a:t>DCCI-DCCII-DCP: retroalimentación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to</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(F/N)</a:t>
                      </a:r>
                    </a:p>
                    <a:p>
                      <a:r>
                        <a:rPr lang="es-ES" sz="1200" dirty="0">
                          <a:solidFill>
                            <a:srgbClr val="000000"/>
                          </a:solidFill>
                          <a:effectLst/>
                          <a:latin typeface="Calibri" panose="020F0502020204030204" pitchFamily="34" charset="0"/>
                          <a:ea typeface="Calibri" panose="020F0502020204030204" pitchFamily="34" charset="0"/>
                        </a:rPr>
                        <a:t>Abril</a:t>
                      </a:r>
                    </a:p>
                    <a:p>
                      <a:r>
                        <a:rPr lang="es-ES" sz="1200" dirty="0">
                          <a:solidFill>
                            <a:srgbClr val="000000"/>
                          </a:solidFill>
                          <a:effectLst/>
                          <a:latin typeface="Calibri" panose="020F0502020204030204" pitchFamily="34" charset="0"/>
                          <a:ea typeface="Calibri" panose="020F0502020204030204" pitchFamily="34" charset="0"/>
                        </a:rPr>
                        <a:t>DCCI – oportunidad de mejora 11 personas.</a:t>
                      </a:r>
                    </a:p>
                    <a:p>
                      <a:endParaRPr lang="es-ES" sz="1200" dirty="0">
                        <a:solidFill>
                          <a:srgbClr val="000000"/>
                        </a:solidFill>
                        <a:effectLst/>
                        <a:latin typeface="Calibri" panose="020F0502020204030204" pitchFamily="34" charset="0"/>
                        <a:ea typeface="Calibri" panose="020F0502020204030204" pitchFamily="34" charset="0"/>
                      </a:endParaRPr>
                    </a:p>
                    <a:p>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Mejorar resultados y retroalimentación interna en fondo y en  Admisibilidad, a la IAMC, a las IAAP y Aduanas de provincia, y la INCA.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879781516"/>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Control de Gestión para mejora del proceso de recursos impugnatorios: </a:t>
                      </a:r>
                    </a:p>
                    <a:p>
                      <a:r>
                        <a:rPr lang="es-PE" sz="1200" b="1" dirty="0">
                          <a:solidFill>
                            <a:schemeClr val="bg1"/>
                          </a:solidFill>
                          <a:effectLst/>
                          <a:latin typeface="Calibri" panose="020F0502020204030204" pitchFamily="34" charset="0"/>
                          <a:ea typeface="Calibri" panose="020F0502020204030204" pitchFamily="34" charset="0"/>
                        </a:rPr>
                        <a:t>Reunión con supervisores – Trimestral </a:t>
                      </a:r>
                    </a:p>
                    <a:p>
                      <a:r>
                        <a:rPr lang="es-PE" sz="1200" b="1" dirty="0">
                          <a:solidFill>
                            <a:schemeClr val="bg1"/>
                          </a:solidFill>
                          <a:effectLst/>
                          <a:latin typeface="Calibri" panose="020F0502020204030204" pitchFamily="34" charset="0"/>
                          <a:ea typeface="Calibri" panose="020F0502020204030204" pitchFamily="34" charset="0"/>
                        </a:rPr>
                        <a:t>Reunión con jefaturas – mensual </a:t>
                      </a:r>
                    </a:p>
                    <a:p>
                      <a:r>
                        <a:rPr lang="es-PE" sz="1200" b="1" dirty="0">
                          <a:solidFill>
                            <a:schemeClr val="bg1"/>
                          </a:solidFill>
                          <a:effectLst/>
                          <a:latin typeface="Calibri" panose="020F0502020204030204" pitchFamily="34" charset="0"/>
                          <a:ea typeface="Calibri" panose="020F0502020204030204" pitchFamily="34" charset="0"/>
                        </a:rPr>
                        <a:t>Reunión con S5 – semanal</a:t>
                      </a:r>
                    </a:p>
                    <a:p>
                      <a:r>
                        <a:rPr lang="es-PE" sz="1200" b="1" dirty="0">
                          <a:solidFill>
                            <a:schemeClr val="bg1"/>
                          </a:solidFill>
                          <a:effectLst/>
                          <a:latin typeface="Calibri" panose="020F0502020204030204" pitchFamily="34" charset="0"/>
                          <a:ea typeface="Calibri" panose="020F0502020204030204" pitchFamily="34" charset="0"/>
                        </a:rPr>
                        <a:t>MAPEO DE PROCESO Y CAPACITACIÓN.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2024 </a:t>
                      </a: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a:t>
                      </a:r>
                      <a:r>
                        <a:rPr lang="es-ES" sz="1200" dirty="0">
                          <a:solidFill>
                            <a:srgbClr val="000000"/>
                          </a:solidFill>
                          <a:effectLst/>
                          <a:latin typeface="Calibri" panose="020F0502020204030204" pitchFamily="34" charset="0"/>
                          <a:ea typeface="Calibri" panose="020F0502020204030204" pitchFamily="34" charset="0"/>
                        </a:rPr>
                        <a:t> en todas las actividades del flujo de los recursos impugnatorios (reclamos y apelaciones). </a:t>
                      </a:r>
                    </a:p>
                    <a:p>
                      <a:r>
                        <a:rPr lang="es-ES" sz="1200" b="1" dirty="0">
                          <a:solidFill>
                            <a:srgbClr val="FF0000"/>
                          </a:solidFill>
                          <a:effectLst/>
                          <a:latin typeface="Calibri" panose="020F0502020204030204" pitchFamily="34" charset="0"/>
                          <a:ea typeface="Calibri" panose="020F0502020204030204" pitchFamily="34" charset="0"/>
                        </a:rPr>
                        <a:t>PROPUESTA: </a:t>
                      </a:r>
                      <a:r>
                        <a:rPr lang="es-ES" sz="1200" dirty="0">
                          <a:solidFill>
                            <a:srgbClr val="000000"/>
                          </a:solidFill>
                          <a:effectLst/>
                          <a:latin typeface="Calibri" panose="020F0502020204030204" pitchFamily="34" charset="0"/>
                          <a:ea typeface="Calibri" panose="020F0502020204030204" pitchFamily="34" charset="0"/>
                        </a:rPr>
                        <a:t>Diseño del flujo de información. Control de gestión de la información del proceso.</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76611657"/>
                  </a:ext>
                </a:extLst>
              </a:tr>
              <a:tr h="605712">
                <a:tc>
                  <a:txBody>
                    <a:bodyPr/>
                    <a:lstStyle/>
                    <a:p>
                      <a:r>
                        <a:rPr lang="es-PE" sz="1200" b="1" dirty="0">
                          <a:solidFill>
                            <a:schemeClr val="bg1"/>
                          </a:solidFill>
                          <a:effectLst/>
                          <a:latin typeface="Calibri" panose="020F0502020204030204" pitchFamily="34" charset="0"/>
                          <a:ea typeface="Calibri" panose="020F0502020204030204" pitchFamily="34" charset="0"/>
                        </a:rPr>
                        <a:t>BANDEJA CERO: </a:t>
                      </a:r>
                    </a:p>
                    <a:p>
                      <a:r>
                        <a:rPr lang="es-PE" sz="1200" b="1" dirty="0">
                          <a:solidFill>
                            <a:schemeClr val="bg1"/>
                          </a:solidFill>
                          <a:effectLst/>
                          <a:latin typeface="Calibri" panose="020F0502020204030204" pitchFamily="34" charset="0"/>
                          <a:ea typeface="Calibri" panose="020F0502020204030204" pitchFamily="34" charset="0"/>
                        </a:rPr>
                        <a:t>Pasivo admisibilidad  13 casos del 2023 (77). DCCI 25 y DCCII 8. </a:t>
                      </a:r>
                    </a:p>
                    <a:p>
                      <a:r>
                        <a:rPr lang="es-PE" sz="1200" b="1" dirty="0">
                          <a:solidFill>
                            <a:schemeClr val="bg1"/>
                          </a:solidFill>
                          <a:effectLst/>
                          <a:latin typeface="Calibri" panose="020F0502020204030204" pitchFamily="34" charset="0"/>
                          <a:ea typeface="Calibri" panose="020F0502020204030204" pitchFamily="34" charset="0"/>
                        </a:rPr>
                        <a:t>BANDEJA DE INGRESADOS 5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Revisión diaria a cargo de las asistentes y maratones.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BANDEJA CERO</a:t>
                      </a:r>
                      <a:r>
                        <a:rPr lang="es-ES" sz="1200" dirty="0">
                          <a:solidFill>
                            <a:srgbClr val="000000"/>
                          </a:solidFill>
                          <a:effectLst/>
                          <a:latin typeface="Calibri" panose="020F0502020204030204" pitchFamily="34" charset="0"/>
                          <a:ea typeface="Calibri" panose="020F0502020204030204" pitchFamily="34" charset="0"/>
                        </a:rPr>
                        <a:t> de admisibilidad (E-</a:t>
                      </a:r>
                      <a:r>
                        <a:rPr lang="es-ES" sz="1200" dirty="0" err="1">
                          <a:solidFill>
                            <a:srgbClr val="000000"/>
                          </a:solidFill>
                          <a:effectLst/>
                          <a:latin typeface="Calibri" panose="020F0502020204030204" pitchFamily="34" charset="0"/>
                          <a:ea typeface="Calibri" panose="020F0502020204030204" pitchFamily="34" charset="0"/>
                        </a:rPr>
                        <a:t>chaski</a:t>
                      </a:r>
                      <a:r>
                        <a:rPr lang="es-ES" sz="1200" dirty="0">
                          <a:solidFill>
                            <a:srgbClr val="000000"/>
                          </a:solidFill>
                          <a:effectLst/>
                          <a:latin typeface="Calibri" panose="020F0502020204030204" pitchFamily="34" charset="0"/>
                          <a:ea typeface="Calibri" panose="020F0502020204030204" pitchFamily="34" charset="0"/>
                        </a:rPr>
                        <a:t>, SIGERI ingresado y no asignado y físico, SIGED y Memo interno. </a:t>
                      </a:r>
                      <a:endParaRPr lang="es-PE" sz="1200" b="1"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2303611654"/>
                  </a:ext>
                </a:extLst>
              </a:tr>
              <a:tr h="1150116">
                <a:tc>
                  <a:txBody>
                    <a:bodyPr/>
                    <a:lstStyle/>
                    <a:p>
                      <a:r>
                        <a:rPr lang="es-PE" sz="1200" b="1" dirty="0">
                          <a:solidFill>
                            <a:schemeClr val="bg1"/>
                          </a:solidFill>
                          <a:effectLst/>
                          <a:latin typeface="Calibri" panose="020F0502020204030204" pitchFamily="34" charset="0"/>
                          <a:ea typeface="Calibri" panose="020F0502020204030204" pitchFamily="34" charset="0"/>
                        </a:rPr>
                        <a:t>Admisibilidad: devolución por evaluación incorrecta y remisión de </a:t>
                      </a:r>
                      <a:r>
                        <a:rPr lang="es-PE" sz="1200" b="1" dirty="0" err="1">
                          <a:solidFill>
                            <a:schemeClr val="bg1"/>
                          </a:solidFill>
                          <a:effectLst/>
                          <a:latin typeface="Calibri" panose="020F0502020204030204" pitchFamily="34" charset="0"/>
                          <a:ea typeface="Calibri" panose="020F0502020204030204" pitchFamily="34" charset="0"/>
                        </a:rPr>
                        <a:t>exp</a:t>
                      </a:r>
                      <a:r>
                        <a:rPr lang="es-PE" sz="1200" b="1" dirty="0">
                          <a:solidFill>
                            <a:schemeClr val="bg1"/>
                          </a:solidFill>
                          <a:effectLst/>
                          <a:latin typeface="Calibri" panose="020F0502020204030204" pitchFamily="34" charset="0"/>
                          <a:ea typeface="Calibri" panose="020F0502020204030204" pitchFamily="34" charset="0"/>
                        </a:rPr>
                        <a:t>.  (RD </a:t>
                      </a:r>
                      <a:r>
                        <a:rPr lang="es-PE" sz="1200" b="1" dirty="0" err="1">
                          <a:solidFill>
                            <a:schemeClr val="bg1"/>
                          </a:solidFill>
                          <a:effectLst/>
                          <a:latin typeface="Calibri" panose="020F0502020204030204" pitchFamily="34" charset="0"/>
                          <a:ea typeface="Calibri" panose="020F0502020204030204" pitchFamily="34" charset="0"/>
                        </a:rPr>
                        <a:t>complem</a:t>
                      </a:r>
                      <a:r>
                        <a:rPr lang="es-PE" sz="1200" b="1" dirty="0">
                          <a:solidFill>
                            <a:schemeClr val="bg1"/>
                          </a:solidFill>
                          <a:effectLst/>
                          <a:latin typeface="Calibri" panose="020F0502020204030204" pitchFamily="34" charset="0"/>
                          <a:ea typeface="Calibri" panose="020F0502020204030204" pitchFamily="34" charset="0"/>
                        </a:rPr>
                        <a:t>)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Primera etapa </a:t>
                      </a:r>
                      <a:r>
                        <a:rPr lang="es-PE" sz="1200" dirty="0">
                          <a:solidFill>
                            <a:srgbClr val="000000"/>
                          </a:solidFill>
                          <a:effectLst/>
                          <a:latin typeface="Calibri" panose="020F0502020204030204" pitchFamily="34" charset="0"/>
                          <a:ea typeface="Calibri" panose="020F0502020204030204" pitchFamily="34" charset="0"/>
                        </a:rPr>
                        <a:t>Coordinación previa con la DAP para reconfirmar la devolución del SIGERI, y remisión de correo electrónico para seguimiento y atención inmediata (límite del vencimiento). </a:t>
                      </a:r>
                    </a:p>
                    <a:p>
                      <a:r>
                        <a:rPr lang="es-PE" sz="1200" dirty="0">
                          <a:solidFill>
                            <a:srgbClr val="000000"/>
                          </a:solidFill>
                          <a:effectLst/>
                          <a:latin typeface="Calibri" panose="020F0502020204030204" pitchFamily="34" charset="0"/>
                          <a:ea typeface="Calibri" panose="020F0502020204030204" pitchFamily="34" charset="0"/>
                        </a:rPr>
                        <a:t>Validación con GENGI ( </a:t>
                      </a:r>
                      <a:r>
                        <a:rPr lang="es-PE" sz="1200" dirty="0" err="1">
                          <a:solidFill>
                            <a:srgbClr val="000000"/>
                          </a:solidFill>
                          <a:effectLst/>
                          <a:latin typeface="Calibri" panose="020F0502020204030204" pitchFamily="34" charset="0"/>
                          <a:ea typeface="Calibri" panose="020F0502020204030204" pitchFamily="34" charset="0"/>
                        </a:rPr>
                        <a:t>CPf</a:t>
                      </a:r>
                      <a:r>
                        <a:rPr lang="es-PE" sz="1200" dirty="0">
                          <a:solidFill>
                            <a:srgbClr val="000000"/>
                          </a:solidFill>
                          <a:effectLst/>
                          <a:latin typeface="Calibri" panose="020F0502020204030204" pitchFamily="34" charset="0"/>
                          <a:ea typeface="Calibri" panose="020F0502020204030204" pitchFamily="34" charset="0"/>
                        </a:rPr>
                        <a:t>)</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Segunda etapa: revisión de GENGI. Unificar criterio.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842478686"/>
                  </a:ext>
                </a:extLst>
              </a:tr>
              <a:tr h="806028">
                <a:tc>
                  <a:txBody>
                    <a:bodyPr/>
                    <a:lstStyle/>
                    <a:p>
                      <a:r>
                        <a:rPr lang="es-PE" sz="1200" b="1" dirty="0">
                          <a:solidFill>
                            <a:schemeClr val="bg1"/>
                          </a:solidFill>
                          <a:effectLst/>
                          <a:latin typeface="Calibri" panose="020F0502020204030204" pitchFamily="34" charset="0"/>
                          <a:ea typeface="Calibri" panose="020F0502020204030204" pitchFamily="34" charset="0"/>
                        </a:rPr>
                        <a:t>Actuados físicos reclamos: falta flujo, falta de remisión oportuna y derivación tardía de expedientes.  </a:t>
                      </a:r>
                    </a:p>
                    <a:p>
                      <a:r>
                        <a:rPr lang="es-PE" sz="1200" b="1" dirty="0">
                          <a:solidFill>
                            <a:schemeClr val="bg1"/>
                          </a:solidFill>
                          <a:effectLst/>
                          <a:latin typeface="Calibri" panose="020F0502020204030204" pitchFamily="34" charset="0"/>
                          <a:ea typeface="Calibri" panose="020F0502020204030204" pitchFamily="34" charset="0"/>
                        </a:rPr>
                        <a:t>Actuados físicos apelaciones: pasivo por coordinar FONDO-ADM. Conformación</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Apoyo de Sara búsqueda de actuados y generar </a:t>
                      </a:r>
                      <a:r>
                        <a:rPr lang="es-PE" sz="1200" dirty="0" err="1">
                          <a:solidFill>
                            <a:srgbClr val="000000"/>
                          </a:solidFill>
                          <a:effectLst/>
                          <a:latin typeface="Calibri" panose="020F0502020204030204" pitchFamily="34" charset="0"/>
                          <a:ea typeface="Calibri" panose="020F0502020204030204" pitchFamily="34" charset="0"/>
                        </a:rPr>
                        <a:t>Chasky</a:t>
                      </a:r>
                      <a:r>
                        <a:rPr lang="es-PE" sz="1200" dirty="0">
                          <a:solidFill>
                            <a:srgbClr val="000000"/>
                          </a:solidFill>
                          <a:effectLst/>
                          <a:latin typeface="Calibri" panose="020F0502020204030204" pitchFamily="34" charset="0"/>
                          <a:ea typeface="Calibri" panose="020F0502020204030204" pitchFamily="34" charset="0"/>
                        </a:rPr>
                        <a:t> (indicador).</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Divisiones de Fondo apoyan a la DAP en revisión de admisibilidad de reclamo y apelaciones. </a:t>
                      </a:r>
                      <a:endParaRPr lang="es-PE" sz="1200" dirty="0">
                        <a:effectLst/>
                        <a:latin typeface="Calibri" panose="020F0502020204030204" pitchFamily="34" charset="0"/>
                        <a:ea typeface="Calibri" panose="020F0502020204030204" pitchFamily="34" charset="0"/>
                      </a:endParaRPr>
                    </a:p>
                    <a:p>
                      <a:r>
                        <a:rPr lang="es-419" sz="1200" dirty="0">
                          <a:solidFill>
                            <a:srgbClr val="000000"/>
                          </a:solidFill>
                          <a:effectLst/>
                          <a:latin typeface="Calibri" panose="020F0502020204030204" pitchFamily="34" charset="0"/>
                          <a:ea typeface="Calibri" panose="020F0502020204030204" pitchFamily="34" charset="0"/>
                        </a:rPr>
                        <a:t>- Se solicitó la implementación de alertas TLT 6 m. a fondo y DAP.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Coordinación con IAMC. </a:t>
                      </a:r>
                      <a:r>
                        <a:rPr lang="es-PE" sz="1200" dirty="0">
                          <a:solidFill>
                            <a:srgbClr val="000000"/>
                          </a:solidFill>
                          <a:effectLst/>
                          <a:latin typeface="Calibri" panose="020F0502020204030204" pitchFamily="34" charset="0"/>
                          <a:ea typeface="Calibri" panose="020F0502020204030204" pitchFamily="34" charset="0"/>
                        </a:rPr>
                        <a:t>Conformar equipo y atender oportunamente. Permitirá mejorar el control de las áreas de origen y las áreas de reclamo fondo.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21348042"/>
                  </a:ext>
                </a:extLst>
              </a:tr>
            </a:tbl>
          </a:graphicData>
        </a:graphic>
      </p:graphicFrame>
    </p:spTree>
    <p:extLst>
      <p:ext uri="{BB962C8B-B14F-4D97-AF65-F5344CB8AC3E}">
        <p14:creationId xmlns:p14="http://schemas.microsoft.com/office/powerpoint/2010/main" val="308400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REQUERIMIENTO</a:t>
            </a:r>
            <a:r>
              <a:rPr lang="es-ES" sz="3600" b="1" dirty="0"/>
              <a:t>: </a:t>
            </a:r>
            <a:r>
              <a:rPr lang="es-ES" sz="2800" b="1" dirty="0">
                <a:latin typeface="Arial" panose="020B0604020202020204" pitchFamily="34" charset="0"/>
                <a:cs typeface="Arial" panose="020B0604020202020204" pitchFamily="34" charset="0"/>
              </a:rPr>
              <a:t>REPORTES DE GESTIÓN</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C6DFF1E-FD88-4ACA-93F2-AF985B10E39F}"/>
              </a:ext>
            </a:extLst>
          </p:cNvPr>
          <p:cNvSpPr txBox="1"/>
          <p:nvPr/>
        </p:nvSpPr>
        <p:spPr>
          <a:xfrm>
            <a:off x="56284" y="1001498"/>
            <a:ext cx="12040466" cy="5706883"/>
          </a:xfrm>
          <a:prstGeom prst="rect">
            <a:avLst/>
          </a:prstGeom>
          <a:noFill/>
        </p:spPr>
        <p:txBody>
          <a:bodyPr wrap="square">
            <a:spAutoFit/>
          </a:bodyPr>
          <a:lstStyle/>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Reporte de gestión – NETO TLT (125) OEA (3 meses) y fictas (2 meses). BRUTO – reportado o contrastado por fondo). Reporte NETO: </a:t>
            </a:r>
            <a:r>
              <a:rPr lang="es-PE" sz="2000" dirty="0">
                <a:latin typeface="Arial" panose="020B0604020202020204" pitchFamily="34" charset="0"/>
                <a:ea typeface="Calibri" panose="020F0502020204030204" pitchFamily="34" charset="0"/>
                <a:cs typeface="Arial" panose="020B0604020202020204" pitchFamily="34" charset="0"/>
              </a:rPr>
              <a:t>F</a:t>
            </a:r>
            <a:r>
              <a:rPr lang="es-PE" sz="2000" dirty="0">
                <a:effectLst/>
                <a:latin typeface="Arial" panose="020B0604020202020204" pitchFamily="34" charset="0"/>
                <a:ea typeface="Calibri" panose="020F0502020204030204" pitchFamily="34" charset="0"/>
                <a:cs typeface="Arial" panose="020B0604020202020204" pitchFamily="34" charset="0"/>
              </a:rPr>
              <a:t>ondo y Admisibilidad. </a:t>
            </a: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Registro de montos de los reclamos y resultado de los reclamos (infundado, fundado, nulos </a:t>
            </a:r>
            <a:r>
              <a:rPr lang="es-ES" sz="2000" dirty="0" err="1">
                <a:effectLst/>
                <a:latin typeface="Arial" panose="020B0604020202020204" pitchFamily="34" charset="0"/>
                <a:ea typeface="Calibri" panose="020F0502020204030204" pitchFamily="34" charset="0"/>
                <a:cs typeface="Arial" panose="020B0604020202020204" pitchFamily="34" charset="0"/>
              </a:rPr>
              <a:t>etc</a:t>
            </a:r>
            <a:r>
              <a:rPr lang="es-ES" sz="2000" dirty="0">
                <a:effectLst/>
                <a:latin typeface="Arial" panose="020B0604020202020204" pitchFamily="34" charset="0"/>
                <a:ea typeface="Calibri" panose="020F0502020204030204" pitchFamily="34" charset="0"/>
                <a:cs typeface="Arial" panose="020B0604020202020204" pitchFamily="34" charset="0"/>
              </a:rPr>
              <a:t>) y montos. Pendiente vinculación modulo LC. </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Resultados de apelaciones – RTF(</a:t>
            </a:r>
            <a:r>
              <a:rPr lang="es-PE" sz="2000" dirty="0">
                <a:effectLst/>
                <a:latin typeface="Arial" panose="020B0604020202020204" pitchFamily="34" charset="0"/>
                <a:ea typeface="Calibri" panose="020F0502020204030204" pitchFamily="34" charset="0"/>
                <a:cs typeface="Arial" panose="020B0604020202020204" pitchFamily="34" charset="0"/>
              </a:rPr>
              <a:t>Dependencia /</a:t>
            </a:r>
            <a:r>
              <a:rPr lang="es-PE" sz="2000" dirty="0" err="1">
                <a:effectLst/>
                <a:latin typeface="Arial" panose="020B0604020202020204" pitchFamily="34" charset="0"/>
                <a:ea typeface="Calibri" panose="020F0502020204030204" pitchFamily="34" charset="0"/>
                <a:cs typeface="Arial" panose="020B0604020202020204" pitchFamily="34" charset="0"/>
              </a:rPr>
              <a:t>exp</a:t>
            </a:r>
            <a:r>
              <a:rPr lang="es-PE" sz="2000" dirty="0">
                <a:effectLst/>
                <a:latin typeface="Arial" panose="020B0604020202020204" pitchFamily="34" charset="0"/>
                <a:ea typeface="Calibri" panose="020F0502020204030204" pitchFamily="34" charset="0"/>
                <a:cs typeface="Arial" panose="020B0604020202020204" pitchFamily="34" charset="0"/>
              </a:rPr>
              <a:t>. /fecha de ingreso/ usuario/resolución vinculada/ </a:t>
            </a:r>
            <a:r>
              <a:rPr lang="es-ES" sz="2000" dirty="0">
                <a:effectLst/>
                <a:latin typeface="Arial" panose="020B0604020202020204" pitchFamily="34" charset="0"/>
                <a:ea typeface="Calibri" panose="020F0502020204030204" pitchFamily="34" charset="0"/>
                <a:cs typeface="Arial" panose="020B0604020202020204" pitchFamily="34" charset="0"/>
              </a:rPr>
              <a:t>materia /DAM vinculada/Liquidación de Cobranza - montos). </a:t>
            </a:r>
            <a:r>
              <a:rPr lang="es-ES" sz="2000" dirty="0">
                <a:latin typeface="Arial" panose="020B0604020202020204" pitchFamily="34" charset="0"/>
                <a:ea typeface="Calibri" panose="020F0502020204030204" pitchFamily="34" charset="0"/>
                <a:cs typeface="Arial" panose="020B0604020202020204" pitchFamily="34" charset="0"/>
              </a:rPr>
              <a:t>Pendiente </a:t>
            </a:r>
            <a:r>
              <a:rPr lang="es-ES" sz="2000" dirty="0">
                <a:effectLst/>
                <a:latin typeface="Arial" panose="020B0604020202020204" pitchFamily="34" charset="0"/>
                <a:ea typeface="Calibri" panose="020F0502020204030204" pitchFamily="34" charset="0"/>
                <a:cs typeface="Arial" panose="020B0604020202020204" pitchFamily="34" charset="0"/>
              </a:rPr>
              <a:t>informe (periodicidad).</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SIGERI</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Vinculaciones</a:t>
            </a:r>
            <a:r>
              <a:rPr lang="es-PE" sz="2000" dirty="0">
                <a:effectLst/>
                <a:latin typeface="Arial" panose="020B0604020202020204" pitchFamily="34" charset="0"/>
                <a:ea typeface="Calibri" panose="020F0502020204030204" pitchFamily="34" charset="0"/>
                <a:cs typeface="Arial" panose="020B0604020202020204" pitchFamily="34" charset="0"/>
              </a:rPr>
              <a:t>: </a:t>
            </a:r>
            <a:r>
              <a:rPr lang="es-PE" sz="2000" dirty="0">
                <a:latin typeface="Arial" panose="020B0604020202020204" pitchFamily="34" charset="0"/>
                <a:ea typeface="Calibri" panose="020F0502020204030204" pitchFamily="34" charset="0"/>
                <a:cs typeface="Arial" panose="020B0604020202020204" pitchFamily="34" charset="0"/>
              </a:rPr>
              <a:t>no actualiza el resultado de reclamo en el módulo de LC – DCCII.</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Distribución</a:t>
            </a:r>
            <a:r>
              <a:rPr lang="es-PE" sz="2000" dirty="0">
                <a:latin typeface="Arial" panose="020B0604020202020204" pitchFamily="34" charset="0"/>
                <a:ea typeface="Calibri" panose="020F0502020204030204" pitchFamily="34" charset="0"/>
                <a:cs typeface="Arial" panose="020B0604020202020204" pitchFamily="34" charset="0"/>
              </a:rPr>
              <a:t>. Copia a las </a:t>
            </a:r>
            <a:r>
              <a:rPr lang="es-PE" sz="2000" dirty="0">
                <a:latin typeface="Arial" panose="020B0604020202020204" pitchFamily="34" charset="0"/>
                <a:cs typeface="Arial" panose="020B0604020202020204" pitchFamily="34" charset="0"/>
              </a:rPr>
              <a:t>partes involucradas cuando ha sido revertido, admisibilidad errada, baja de expedientes y no permite derivar a las áreas generadoras (control manual). </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Reportes</a:t>
            </a:r>
            <a:r>
              <a:rPr lang="es-PE" sz="2000" dirty="0">
                <a:effectLst/>
                <a:latin typeface="Arial" panose="020B0604020202020204" pitchFamily="34" charset="0"/>
                <a:ea typeface="Calibri" panose="020F0502020204030204" pitchFamily="34" charset="0"/>
                <a:cs typeface="Arial" panose="020B0604020202020204" pitchFamily="34" charset="0"/>
              </a:rPr>
              <a:t>: inconsistencia entre reporte de consulta y el reporte manual.</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Acumulación</a:t>
            </a:r>
            <a:r>
              <a:rPr lang="es-PE" sz="2000" dirty="0">
                <a:latin typeface="Arial" panose="020B0604020202020204" pitchFamily="34" charset="0"/>
                <a:ea typeface="Calibri" panose="020F0502020204030204" pitchFamily="34" charset="0"/>
                <a:cs typeface="Arial" panose="020B0604020202020204" pitchFamily="34" charset="0"/>
              </a:rPr>
              <a:t>: no te permite acumular expedientes de reclamo. IMPLEMENTADO.</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Alertas</a:t>
            </a:r>
            <a:r>
              <a:rPr lang="es-PE" sz="2000" dirty="0">
                <a:latin typeface="Arial" panose="020B0604020202020204" pitchFamily="34" charset="0"/>
                <a:ea typeface="Calibri" panose="020F0502020204030204" pitchFamily="34" charset="0"/>
                <a:cs typeface="Arial" panose="020B0604020202020204" pitchFamily="34" charset="0"/>
              </a:rPr>
              <a:t>: requerimientos pendiente cuando ya están atendidos y se solicita alerta de reporte de vencimiento de expedientes a cada resolutor. IMPLEMENTADO CON ERROR (resolvió y sigue)</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Estandarización</a:t>
            </a:r>
            <a:r>
              <a:rPr lang="es-PE" sz="2000" dirty="0">
                <a:latin typeface="Arial" panose="020B0604020202020204" pitchFamily="34" charset="0"/>
                <a:ea typeface="Calibri" panose="020F0502020204030204" pitchFamily="34" charset="0"/>
                <a:cs typeface="Arial" panose="020B0604020202020204" pitchFamily="34" charset="0"/>
              </a:rPr>
              <a:t> de carga de </a:t>
            </a:r>
            <a:r>
              <a:rPr lang="es-PE" sz="2000" dirty="0">
                <a:effectLst/>
                <a:latin typeface="Arial" panose="020B0604020202020204" pitchFamily="34" charset="0"/>
                <a:ea typeface="Calibri" panose="020F0502020204030204" pitchFamily="34" charset="0"/>
                <a:cs typeface="Arial" panose="020B0604020202020204" pitchFamily="34" charset="0"/>
              </a:rPr>
              <a:t>documentos digitalizados.</a:t>
            </a:r>
          </a:p>
          <a:p>
            <a:pPr lvl="0">
              <a:lnSpc>
                <a:spcPct val="107000"/>
              </a:lnSpc>
              <a:spcAft>
                <a:spcPts val="800"/>
              </a:spcAft>
            </a:pPr>
            <a:endParaRPr lang="es-P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28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1106401" y="3287432"/>
            <a:ext cx="10515600" cy="636373"/>
          </a:xfrm>
        </p:spPr>
        <p:txBody>
          <a:bodyPr>
            <a:noAutofit/>
          </a:bodyPr>
          <a:lstStyle/>
          <a:p>
            <a:pPr algn="ctr"/>
            <a:r>
              <a:rPr lang="es-ES" sz="3800" b="1" dirty="0">
                <a:latin typeface="Arial" panose="020B0604020202020204" pitchFamily="34" charset="0"/>
                <a:cs typeface="Arial" panose="020B0604020202020204" pitchFamily="34" charset="0"/>
              </a:rPr>
              <a:t>GRACIAS </a:t>
            </a:r>
            <a:endParaRPr lang="es-PE" sz="3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17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graphicFrame>
        <p:nvGraphicFramePr>
          <p:cNvPr id="4" name="Diagrama 3">
            <a:extLst>
              <a:ext uri="{FF2B5EF4-FFF2-40B4-BE49-F238E27FC236}">
                <a16:creationId xmlns:a16="http://schemas.microsoft.com/office/drawing/2014/main" id="{B73A0242-448A-5470-BCB4-0C7FDF272798}"/>
              </a:ext>
            </a:extLst>
          </p:cNvPr>
          <p:cNvGraphicFramePr/>
          <p:nvPr>
            <p:extLst>
              <p:ext uri="{D42A27DB-BD31-4B8C-83A1-F6EECF244321}">
                <p14:modId xmlns:p14="http://schemas.microsoft.com/office/powerpoint/2010/main" val="3049309488"/>
              </p:ext>
            </p:extLst>
          </p:nvPr>
        </p:nvGraphicFramePr>
        <p:xfrm>
          <a:off x="1289242" y="2360834"/>
          <a:ext cx="9037724" cy="34956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5" name="Grupo 4">
            <a:extLst>
              <a:ext uri="{FF2B5EF4-FFF2-40B4-BE49-F238E27FC236}">
                <a16:creationId xmlns:a16="http://schemas.microsoft.com/office/drawing/2014/main" id="{9F585784-5C13-9088-33E0-D6B4EDE5C237}"/>
              </a:ext>
            </a:extLst>
          </p:cNvPr>
          <p:cNvGrpSpPr/>
          <p:nvPr/>
        </p:nvGrpSpPr>
        <p:grpSpPr>
          <a:xfrm>
            <a:off x="5993561" y="3259348"/>
            <a:ext cx="2033678" cy="1615654"/>
            <a:chOff x="2570329" y="1320517"/>
            <a:chExt cx="2033678" cy="1615654"/>
          </a:xfrm>
        </p:grpSpPr>
        <p:sp>
          <p:nvSpPr>
            <p:cNvPr id="6" name="Rectángulo 5">
              <a:extLst>
                <a:ext uri="{FF2B5EF4-FFF2-40B4-BE49-F238E27FC236}">
                  <a16:creationId xmlns:a16="http://schemas.microsoft.com/office/drawing/2014/main" id="{3EA2920C-8FE6-4C7F-52E7-CEB8C1E8E309}"/>
                </a:ext>
              </a:extLst>
            </p:cNvPr>
            <p:cNvSpPr/>
            <p:nvPr/>
          </p:nvSpPr>
          <p:spPr>
            <a:xfrm>
              <a:off x="2570329" y="1320517"/>
              <a:ext cx="1843178" cy="161565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7" name="CuadroTexto 6">
              <a:extLst>
                <a:ext uri="{FF2B5EF4-FFF2-40B4-BE49-F238E27FC236}">
                  <a16:creationId xmlns:a16="http://schemas.microsoft.com/office/drawing/2014/main" id="{17DBAFDE-6F80-1C24-F525-3BC4EEA8596B}"/>
                </a:ext>
              </a:extLst>
            </p:cNvPr>
            <p:cNvSpPr txBox="1"/>
            <p:nvPr/>
          </p:nvSpPr>
          <p:spPr>
            <a:xfrm>
              <a:off x="2760829" y="1320517"/>
              <a:ext cx="1843178" cy="161565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kern="1200" dirty="0"/>
                <a:t>Criterio</a:t>
              </a:r>
              <a:endParaRPr lang="es-PE" sz="2400" kern="1200" dirty="0"/>
            </a:p>
          </p:txBody>
        </p:sp>
      </p:grpSp>
      <p:sp>
        <p:nvSpPr>
          <p:cNvPr id="12" name="Globo: flecha hacia abajo 11">
            <a:extLst>
              <a:ext uri="{FF2B5EF4-FFF2-40B4-BE49-F238E27FC236}">
                <a16:creationId xmlns:a16="http://schemas.microsoft.com/office/drawing/2014/main" id="{B068941D-7830-1EAA-0A7E-06B3CC3D4B5B}"/>
              </a:ext>
            </a:extLst>
          </p:cNvPr>
          <p:cNvSpPr/>
          <p:nvPr/>
        </p:nvSpPr>
        <p:spPr>
          <a:xfrm>
            <a:off x="8705850" y="1404108"/>
            <a:ext cx="981075" cy="789499"/>
          </a:xfrm>
          <a:prstGeom prst="downArrowCallout">
            <a:avLst/>
          </a:prstGeom>
          <a:ln w="28575"/>
        </p:spPr>
        <p:style>
          <a:lnRef idx="2">
            <a:schemeClr val="accent2"/>
          </a:lnRef>
          <a:fillRef idx="1">
            <a:schemeClr val="lt1"/>
          </a:fillRef>
          <a:effectRef idx="0">
            <a:schemeClr val="accent2"/>
          </a:effectRef>
          <a:fontRef idx="minor">
            <a:schemeClr val="dk1"/>
          </a:fontRef>
        </p:style>
        <p:txBody>
          <a:bodyPr rtlCol="0" anchor="ctr"/>
          <a:lstStyle/>
          <a:p>
            <a:pPr algn="ctr"/>
            <a:r>
              <a:rPr lang="es-ES" sz="2000" b="1" dirty="0"/>
              <a:t>DCP</a:t>
            </a:r>
            <a:endParaRPr lang="es-PE" sz="2000" b="1" dirty="0"/>
          </a:p>
        </p:txBody>
      </p:sp>
      <p:sp>
        <p:nvSpPr>
          <p:cNvPr id="13" name="Globo: flecha hacia abajo 12">
            <a:extLst>
              <a:ext uri="{FF2B5EF4-FFF2-40B4-BE49-F238E27FC236}">
                <a16:creationId xmlns:a16="http://schemas.microsoft.com/office/drawing/2014/main" id="{2913BFE8-C7D2-6CE3-065B-CF54C37A4412}"/>
              </a:ext>
            </a:extLst>
          </p:cNvPr>
          <p:cNvSpPr/>
          <p:nvPr/>
        </p:nvSpPr>
        <p:spPr>
          <a:xfrm>
            <a:off x="6257925" y="1956559"/>
            <a:ext cx="981075" cy="789499"/>
          </a:xfrm>
          <a:prstGeom prst="downArrowCallout">
            <a:avLst/>
          </a:prstGeom>
          <a:ln w="28575"/>
        </p:spPr>
        <p:style>
          <a:lnRef idx="2">
            <a:schemeClr val="accent2"/>
          </a:lnRef>
          <a:fillRef idx="1">
            <a:schemeClr val="lt1"/>
          </a:fillRef>
          <a:effectRef idx="0">
            <a:schemeClr val="accent2"/>
          </a:effectRef>
          <a:fontRef idx="minor">
            <a:schemeClr val="dk1"/>
          </a:fontRef>
        </p:style>
        <p:txBody>
          <a:bodyPr rtlCol="0" anchor="ctr"/>
          <a:lstStyle/>
          <a:p>
            <a:pPr algn="ctr"/>
            <a:r>
              <a:rPr lang="es-ES" sz="2000" b="1" dirty="0"/>
              <a:t>DCCI</a:t>
            </a:r>
            <a:endParaRPr lang="es-PE" sz="2000" b="1" dirty="0"/>
          </a:p>
        </p:txBody>
      </p:sp>
      <p:sp>
        <p:nvSpPr>
          <p:cNvPr id="14" name="Globo: flecha hacia abajo 13">
            <a:extLst>
              <a:ext uri="{FF2B5EF4-FFF2-40B4-BE49-F238E27FC236}">
                <a16:creationId xmlns:a16="http://schemas.microsoft.com/office/drawing/2014/main" id="{2AA3190B-8993-96D9-0628-7F78C846EA65}"/>
              </a:ext>
            </a:extLst>
          </p:cNvPr>
          <p:cNvSpPr/>
          <p:nvPr/>
        </p:nvSpPr>
        <p:spPr>
          <a:xfrm>
            <a:off x="4105275" y="2606905"/>
            <a:ext cx="981075" cy="789499"/>
          </a:xfrm>
          <a:prstGeom prst="downArrowCallout">
            <a:avLst/>
          </a:prstGeom>
          <a:ln w="28575"/>
        </p:spPr>
        <p:style>
          <a:lnRef idx="2">
            <a:schemeClr val="accent2"/>
          </a:lnRef>
          <a:fillRef idx="1">
            <a:schemeClr val="lt1"/>
          </a:fillRef>
          <a:effectRef idx="0">
            <a:schemeClr val="accent2"/>
          </a:effectRef>
          <a:fontRef idx="minor">
            <a:schemeClr val="dk1"/>
          </a:fontRef>
        </p:style>
        <p:txBody>
          <a:bodyPr rtlCol="0" anchor="ctr"/>
          <a:lstStyle/>
          <a:p>
            <a:pPr algn="ctr"/>
            <a:r>
              <a:rPr lang="es-ES" sz="2000" b="1" dirty="0"/>
              <a:t>DCCII</a:t>
            </a:r>
            <a:endParaRPr lang="es-PE" sz="2000" b="1" dirty="0"/>
          </a:p>
        </p:txBody>
      </p:sp>
      <p:sp>
        <p:nvSpPr>
          <p:cNvPr id="15" name="Globo: flecha hacia abajo 14">
            <a:extLst>
              <a:ext uri="{FF2B5EF4-FFF2-40B4-BE49-F238E27FC236}">
                <a16:creationId xmlns:a16="http://schemas.microsoft.com/office/drawing/2014/main" id="{8F7C77D5-8E17-885B-06B5-24E8C5E1C1AF}"/>
              </a:ext>
            </a:extLst>
          </p:cNvPr>
          <p:cNvSpPr/>
          <p:nvPr/>
        </p:nvSpPr>
        <p:spPr>
          <a:xfrm>
            <a:off x="1524000" y="3159873"/>
            <a:ext cx="981075" cy="789499"/>
          </a:xfrm>
          <a:prstGeom prst="downArrowCallout">
            <a:avLst/>
          </a:prstGeom>
          <a:ln w="28575"/>
        </p:spPr>
        <p:style>
          <a:lnRef idx="2">
            <a:schemeClr val="accent2"/>
          </a:lnRef>
          <a:fillRef idx="1">
            <a:schemeClr val="lt1"/>
          </a:fillRef>
          <a:effectRef idx="0">
            <a:schemeClr val="accent2"/>
          </a:effectRef>
          <a:fontRef idx="minor">
            <a:schemeClr val="dk1"/>
          </a:fontRef>
        </p:style>
        <p:txBody>
          <a:bodyPr rtlCol="0" anchor="ctr"/>
          <a:lstStyle/>
          <a:p>
            <a:pPr algn="ctr"/>
            <a:r>
              <a:rPr lang="es-ES" sz="2000" b="1" dirty="0"/>
              <a:t>S5</a:t>
            </a:r>
            <a:endParaRPr lang="es-PE" sz="2000" b="1" dirty="0"/>
          </a:p>
        </p:txBody>
      </p:sp>
      <p:cxnSp>
        <p:nvCxnSpPr>
          <p:cNvPr id="17" name="Conector recto de flecha 16">
            <a:extLst>
              <a:ext uri="{FF2B5EF4-FFF2-40B4-BE49-F238E27FC236}">
                <a16:creationId xmlns:a16="http://schemas.microsoft.com/office/drawing/2014/main" id="{AC2E6FA7-57D1-F07C-4660-BE7BB276D7F3}"/>
              </a:ext>
            </a:extLst>
          </p:cNvPr>
          <p:cNvCxnSpPr/>
          <p:nvPr/>
        </p:nvCxnSpPr>
        <p:spPr>
          <a:xfrm flipV="1">
            <a:off x="2620405" y="3429000"/>
            <a:ext cx="411441" cy="2489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Conector recto de flecha 17">
            <a:extLst>
              <a:ext uri="{FF2B5EF4-FFF2-40B4-BE49-F238E27FC236}">
                <a16:creationId xmlns:a16="http://schemas.microsoft.com/office/drawing/2014/main" id="{7DC765FB-4BF6-C15D-EF32-2091AEA5D923}"/>
              </a:ext>
            </a:extLst>
          </p:cNvPr>
          <p:cNvCxnSpPr/>
          <p:nvPr/>
        </p:nvCxnSpPr>
        <p:spPr>
          <a:xfrm flipV="1">
            <a:off x="2755621" y="3639700"/>
            <a:ext cx="411441" cy="2489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 name="Título 94">
            <a:extLst>
              <a:ext uri="{FF2B5EF4-FFF2-40B4-BE49-F238E27FC236}">
                <a16:creationId xmlns:a16="http://schemas.microsoft.com/office/drawing/2014/main" id="{3209DC3F-3C9A-B610-9D42-215EE91AA8BA}"/>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EVALUACIÓN DE GESTIÓN</a:t>
            </a:r>
            <a:endParaRPr lang="es-PE"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9758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63A6AE8B7E4A2449C903AFD2456BD74" ma:contentTypeVersion="4" ma:contentTypeDescription="Crear nuevo documento." ma:contentTypeScope="" ma:versionID="ddec260070336827ee8c328f02272273">
  <xsd:schema xmlns:xsd="http://www.w3.org/2001/XMLSchema" xmlns:xs="http://www.w3.org/2001/XMLSchema" xmlns:p="http://schemas.microsoft.com/office/2006/metadata/properties" xmlns:ns2="c4795172-acc8-41fc-abdb-af5ed44f61af" targetNamespace="http://schemas.microsoft.com/office/2006/metadata/properties" ma:root="true" ma:fieldsID="590a657cbc5fcb450edb0ba38c295f5b" ns2:_="">
    <xsd:import namespace="c4795172-acc8-41fc-abdb-af5ed44f61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795172-acc8-41fc-abdb-af5ed44f6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B240190-4123-47C4-9096-0443A2FEF74B}"/>
</file>

<file path=customXml/itemProps2.xml><?xml version="1.0" encoding="utf-8"?>
<ds:datastoreItem xmlns:ds="http://schemas.openxmlformats.org/officeDocument/2006/customXml" ds:itemID="{34C72402-9552-489A-87C9-560BAFF222B2}"/>
</file>

<file path=customXml/itemProps3.xml><?xml version="1.0" encoding="utf-8"?>
<ds:datastoreItem xmlns:ds="http://schemas.openxmlformats.org/officeDocument/2006/customXml" ds:itemID="{830B784A-D5AA-41CD-85F7-39BAF9F94F65}"/>
</file>

<file path=docProps/app.xml><?xml version="1.0" encoding="utf-8"?>
<Properties xmlns="http://schemas.openxmlformats.org/officeDocument/2006/extended-properties" xmlns:vt="http://schemas.openxmlformats.org/officeDocument/2006/docPropsVTypes">
  <TotalTime>25219</TotalTime>
  <Words>3775</Words>
  <Application>Microsoft Office PowerPoint</Application>
  <PresentationFormat>Panorámica</PresentationFormat>
  <Paragraphs>1624</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Calibri Light</vt:lpstr>
      <vt:lpstr>Times New Roman</vt:lpstr>
      <vt:lpstr>Tema de Office</vt:lpstr>
      <vt:lpstr>Presentación de PowerPoint</vt:lpstr>
      <vt:lpstr>INGRESOS Y SALIDAS DE RECLAMACIONES 2019-2024*</vt:lpstr>
      <vt:lpstr>STOCK DE DOCUMENTOS– 2024</vt:lpstr>
      <vt:lpstr>PRODUCTIVIDAD RECLAMOS – 2022 - 2024</vt:lpstr>
      <vt:lpstr>PRODUCTIVIDAD MARZO 2024</vt:lpstr>
      <vt:lpstr>PROGRAMACIÓN Y PRODUCCIÓN–2023-2024</vt:lpstr>
      <vt:lpstr>PRODUCTIVIDAD POR SUPERVISIÓN</vt:lpstr>
      <vt:lpstr>PROYECTADO Y NO APLICADO </vt:lpstr>
      <vt:lpstr>PRODUCCIÓN POR RESOLUTOR-DCCI</vt:lpstr>
      <vt:lpstr>PRODUCCIÓN POR RESOLUTOR-DCCII</vt:lpstr>
      <vt:lpstr>PRODUCCIÓN POR RESOLUTOR-DCP</vt:lpstr>
      <vt:lpstr>STOCK VENCIDOS</vt:lpstr>
      <vt:lpstr>NO GESTIONABLE Y REINGRESADOS </vt:lpstr>
      <vt:lpstr>ITOP REPORTADOS–2023</vt:lpstr>
      <vt:lpstr>RESULTADOS DE RECLAMO - 2024 </vt:lpstr>
      <vt:lpstr>SUMILLAS DE NULIDADES DECLARADAS POR LA GAFA-DCCI</vt:lpstr>
      <vt:lpstr>SUMILLAS DE NULIDADES DECLARADAS POR LA GAFA-DCCII</vt:lpstr>
      <vt:lpstr>OPORTUNIDAD DE MEJORA </vt:lpstr>
      <vt:lpstr>OPORTUNIDAD DE MEJORA </vt:lpstr>
      <vt:lpstr>DESAFIOS/PROPUESTAS </vt:lpstr>
      <vt:lpstr>REQUERIMIENTO: REPORTES DE GESTIÓN</vt:lpstr>
      <vt:lpstr>GRACIAS </vt:lpstr>
      <vt:lpstr>EVALUACIÓN DE GESTIÓN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Rondon Malaga Johanna Karelle</dc:creator>
  <cp:lastModifiedBy>Gonzales Estrada Sara Stephany</cp:lastModifiedBy>
  <cp:revision>672</cp:revision>
  <cp:lastPrinted>2023-01-10T23:55:26Z</cp:lastPrinted>
  <dcterms:created xsi:type="dcterms:W3CDTF">2022-11-02T14:55:38Z</dcterms:created>
  <dcterms:modified xsi:type="dcterms:W3CDTF">2024-06-06T16:00:45Z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0x010100863A6AE8B7E4A2449C903AFD2456BD74</vt:lpwstr>
  </property>
</Properties>
</file>