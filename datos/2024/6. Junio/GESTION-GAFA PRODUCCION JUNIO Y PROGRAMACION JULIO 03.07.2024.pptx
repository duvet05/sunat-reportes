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5744" r:id="rId5"/>
    <p:sldId id="5395" r:id="rId6"/>
    <p:sldId id="5762" r:id="rId7"/>
    <p:sldId id="5746" r:id="rId8"/>
    <p:sldId id="5782" r:id="rId9"/>
    <p:sldId id="5761" r:id="rId10"/>
    <p:sldId id="5777" r:id="rId11"/>
    <p:sldId id="5778" r:id="rId12"/>
    <p:sldId id="5787" r:id="rId13"/>
    <p:sldId id="5785" r:id="rId14"/>
    <p:sldId id="5786" r:id="rId15"/>
    <p:sldId id="5764" r:id="rId16"/>
    <p:sldId id="5774" r:id="rId17"/>
    <p:sldId id="5780" r:id="rId18"/>
    <p:sldId id="5788" r:id="rId19"/>
    <p:sldId id="5790" r:id="rId20"/>
    <p:sldId id="5794" r:id="rId21"/>
    <p:sldId id="5789" r:id="rId22"/>
    <p:sldId id="5784" r:id="rId23"/>
    <p:sldId id="5792" r:id="rId24"/>
    <p:sldId id="5767" r:id="rId25"/>
    <p:sldId id="5752" r:id="rId26"/>
    <p:sldId id="5757" r:id="rId27"/>
  </p:sldIdLst>
  <p:sldSz cx="12192000" cy="6858000"/>
  <p:notesSz cx="6797675" cy="9926638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FF99FF"/>
    <a:srgbClr val="CCFF99"/>
    <a:srgbClr val="CCFFCC"/>
    <a:srgbClr val="99CC00"/>
    <a:srgbClr val="2FBF85"/>
    <a:srgbClr val="FFCCFF"/>
    <a:srgbClr val="FFCCCC"/>
    <a:srgbClr val="99FFCC"/>
    <a:srgbClr val="586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C5D37A-2B67-24B7-5D94-0404FFE27174}" v="2" dt="2024-08-07T20:30:36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Estilo temático 2 - Énfasis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67" d="100"/>
          <a:sy n="67" d="100"/>
        </p:scale>
        <p:origin x="6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tez Quispe Linda" userId="S::lcortez@sunat.gob.pe::3d5ff218-51e7-4200-9c48-ad418b70b0ea" providerId="AD" clId="Web-{D2C5D37A-2B67-24B7-5D94-0404FFE27174}"/>
    <pc:docChg chg="modSld">
      <pc:chgData name="Cortez Quispe Linda" userId="S::lcortez@sunat.gob.pe::3d5ff218-51e7-4200-9c48-ad418b70b0ea" providerId="AD" clId="Web-{D2C5D37A-2B67-24B7-5D94-0404FFE27174}" dt="2024-08-07T20:30:36.326" v="1" actId="1076"/>
      <pc:docMkLst>
        <pc:docMk/>
      </pc:docMkLst>
      <pc:sldChg chg="modSp">
        <pc:chgData name="Cortez Quispe Linda" userId="S::lcortez@sunat.gob.pe::3d5ff218-51e7-4200-9c48-ad418b70b0ea" providerId="AD" clId="Web-{D2C5D37A-2B67-24B7-5D94-0404FFE27174}" dt="2024-08-07T20:30:36.326" v="1" actId="1076"/>
        <pc:sldMkLst>
          <pc:docMk/>
          <pc:sldMk cId="3750528463" sldId="5746"/>
        </pc:sldMkLst>
        <pc:graphicFrameChg chg="mod">
          <ac:chgData name="Cortez Quispe Linda" userId="S::lcortez@sunat.gob.pe::3d5ff218-51e7-4200-9c48-ad418b70b0ea" providerId="AD" clId="Web-{D2C5D37A-2B67-24B7-5D94-0404FFE27174}" dt="2024-08-07T20:30:36.326" v="1" actId="1076"/>
          <ac:graphicFrameMkLst>
            <pc:docMk/>
            <pc:sldMk cId="3750528463" sldId="5746"/>
            <ac:graphicFrameMk id="4" creationId="{64F8C81C-2666-B65E-9EEE-9E42E376ADEE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s-ES" b="1"/>
              <a:t>EVOLUCION DE INGRESOS Y SALIDAS EXPEDIENTES DE RECLAMO 2019-2024*</a:t>
            </a:r>
            <a:endParaRPr lang="es-PE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INGRESOS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'INGRESOS Y SALIDAS'!$B$3:$G$3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'INGRESOS Y SALIDAS'!$B$4:$G$4</c:f>
              <c:numCache>
                <c:formatCode>#,##0</c:formatCode>
                <c:ptCount val="6"/>
                <c:pt idx="0">
                  <c:v>4409</c:v>
                </c:pt>
                <c:pt idx="1">
                  <c:v>3249</c:v>
                </c:pt>
                <c:pt idx="2">
                  <c:v>5860</c:v>
                </c:pt>
                <c:pt idx="3">
                  <c:v>5970</c:v>
                </c:pt>
                <c:pt idx="4">
                  <c:v>4678</c:v>
                </c:pt>
                <c:pt idx="5">
                  <c:v>1206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F4-4155-9220-8B88C1197F0D}"/>
            </c:ext>
          </c:extLst>
        </c:ser>
        <c:ser>
          <c:idx val="1"/>
          <c:order val="1"/>
          <c:tx>
            <c:v>SALIDAS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'INGRESOS Y SALIDAS'!$B$3:$G$3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'INGRESOS Y SALIDAS'!$B$5:$G$5</c:f>
              <c:numCache>
                <c:formatCode>#,##0</c:formatCode>
                <c:ptCount val="6"/>
                <c:pt idx="0">
                  <c:v>3435</c:v>
                </c:pt>
                <c:pt idx="1">
                  <c:v>2981</c:v>
                </c:pt>
                <c:pt idx="2">
                  <c:v>3455</c:v>
                </c:pt>
                <c:pt idx="3">
                  <c:v>5581</c:v>
                </c:pt>
                <c:pt idx="4">
                  <c:v>6248</c:v>
                </c:pt>
                <c:pt idx="5">
                  <c:v>1318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F4-4155-9220-8B88C1197F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17999904"/>
        <c:axId val="2117996576"/>
      </c:barChart>
      <c:catAx>
        <c:axId val="2117999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117996576"/>
        <c:crosses val="autoZero"/>
        <c:auto val="1"/>
        <c:lblAlgn val="ctr"/>
        <c:lblOffset val="100"/>
        <c:noMultiLvlLbl val="0"/>
      </c:catAx>
      <c:valAx>
        <c:axId val="211799657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D7D31"/>
              </a:solidFill>
              <a:prstDash val="solid"/>
              <a:miter lim="800000"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117999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solidFill>
      <a:sysClr val="window" lastClr="FFFFFF"/>
    </a:solidFill>
    <a:ln w="12700" cap="flat" cmpd="sng" algn="ctr">
      <a:solidFill>
        <a:srgbClr val="ED7D31"/>
      </a:solidFill>
      <a:prstDash val="solid"/>
      <a:miter lim="800000"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s-E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s-PE" b="1"/>
              <a:t>Resultados de Reclamos de Aduanas</a:t>
            </a:r>
          </a:p>
          <a:p>
            <a:pPr>
              <a:defRPr b="1"/>
            </a:pPr>
            <a:r>
              <a:rPr lang="es-PE" b="1"/>
              <a:t>Ene-Dic 2023</a:t>
            </a:r>
          </a:p>
        </c:rich>
      </c:tx>
      <c:layout>
        <c:manualLayout>
          <c:xMode val="edge"/>
          <c:yMode val="edge"/>
          <c:x val="0.35653306494582915"/>
          <c:y val="3.788835166938560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20000"/>
                      <a:lumOff val="80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20000"/>
                      <a:lumOff val="8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20000"/>
                      <a:lumOff val="80000"/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6350" cap="flat" cmpd="sng" algn="ctr">
                <a:solidFill>
                  <a:schemeClr val="accent6"/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1-3CCD-453E-ABA9-FF0DB7543258}"/>
              </c:ext>
            </c:extLst>
          </c:dPt>
          <c:cat>
            <c:strRef>
              <c:f>'RECLAMOS-RTF'!$A$5:$A$11</c:f>
              <c:strCache>
                <c:ptCount val="7"/>
                <c:pt idx="0">
                  <c:v>Infundado</c:v>
                </c:pt>
                <c:pt idx="1">
                  <c:v>Fundado/F.P</c:v>
                </c:pt>
                <c:pt idx="2">
                  <c:v>Nulidad</c:v>
                </c:pt>
                <c:pt idx="3">
                  <c:v>Improcedente</c:v>
                </c:pt>
                <c:pt idx="4">
                  <c:v>Desistimiento</c:v>
                </c:pt>
                <c:pt idx="5">
                  <c:v>Otros</c:v>
                </c:pt>
                <c:pt idx="6">
                  <c:v>Total</c:v>
                </c:pt>
              </c:strCache>
            </c:strRef>
          </c:cat>
          <c:val>
            <c:numRef>
              <c:f>'RECLAMOS-RTF'!$B$5:$B$11</c:f>
              <c:numCache>
                <c:formatCode>General</c:formatCode>
                <c:ptCount val="7"/>
                <c:pt idx="0">
                  <c:v>4740</c:v>
                </c:pt>
                <c:pt idx="1">
                  <c:v>211</c:v>
                </c:pt>
                <c:pt idx="2">
                  <c:v>404</c:v>
                </c:pt>
                <c:pt idx="3">
                  <c:v>8</c:v>
                </c:pt>
                <c:pt idx="4">
                  <c:v>4</c:v>
                </c:pt>
                <c:pt idx="5">
                  <c:v>66</c:v>
                </c:pt>
                <c:pt idx="6">
                  <c:v>5433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CD-453E-ABA9-FF0DB7543258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'RECLAMOS-RTF'!$A$5:$A$11</c:f>
              <c:strCache>
                <c:ptCount val="7"/>
                <c:pt idx="0">
                  <c:v>Infundado</c:v>
                </c:pt>
                <c:pt idx="1">
                  <c:v>Fundado/F.P</c:v>
                </c:pt>
                <c:pt idx="2">
                  <c:v>Nulidad</c:v>
                </c:pt>
                <c:pt idx="3">
                  <c:v>Improcedente</c:v>
                </c:pt>
                <c:pt idx="4">
                  <c:v>Desistimiento</c:v>
                </c:pt>
                <c:pt idx="5">
                  <c:v>Otros</c:v>
                </c:pt>
                <c:pt idx="6">
                  <c:v>Total</c:v>
                </c:pt>
              </c:strCache>
            </c:strRef>
          </c:cat>
          <c:val>
            <c:numRef>
              <c:f>'RECLAMOS-RTF'!$C$5:$C$11</c:f>
              <c:numCache>
                <c:formatCode>0.00%</c:formatCode>
                <c:ptCount val="7"/>
                <c:pt idx="0">
                  <c:v>0.87244616234124794</c:v>
                </c:pt>
                <c:pt idx="1">
                  <c:v>3.8836738450211669E-2</c:v>
                </c:pt>
                <c:pt idx="2">
                  <c:v>7.4360390207988222E-2</c:v>
                </c:pt>
                <c:pt idx="3">
                  <c:v>1.4724829744156083E-3</c:v>
                </c:pt>
                <c:pt idx="4">
                  <c:v>7.3624148720780416E-4</c:v>
                </c:pt>
                <c:pt idx="5">
                  <c:v>1.2147984538928768E-2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CCD-453E-ABA9-FF0DB75432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2598640"/>
        <c:axId val="1422580752"/>
      </c:barChart>
      <c:catAx>
        <c:axId val="1422598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22580752"/>
        <c:crosses val="autoZero"/>
        <c:auto val="1"/>
        <c:lblAlgn val="ctr"/>
        <c:lblOffset val="100"/>
        <c:noMultiLvlLbl val="0"/>
      </c:catAx>
      <c:valAx>
        <c:axId val="14225807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2"/>
              </a:solidFill>
              <a:prstDash val="solid"/>
              <a:miter lim="800000"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/>
                  <a:t>TOTALES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225986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12700" cap="flat" cmpd="sng" algn="ctr">
      <a:solidFill>
        <a:schemeClr val="accent2"/>
      </a:solidFill>
      <a:prstDash val="solid"/>
      <a:miter lim="800000"/>
    </a:ln>
    <a:effectLst/>
  </c:spPr>
  <c:txPr>
    <a:bodyPr/>
    <a:lstStyle/>
    <a:p>
      <a:pPr>
        <a:defRPr sz="1400">
          <a:solidFill>
            <a:schemeClr val="dk1"/>
          </a:solidFill>
          <a:latin typeface="+mn-lt"/>
          <a:ea typeface="+mn-ea"/>
          <a:cs typeface="+mn-cs"/>
        </a:defRPr>
      </a:pPr>
      <a:endParaRPr lang="es-E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s-PE" b="1"/>
              <a:t>Resultados de Reclamos de Aduanas</a:t>
            </a:r>
          </a:p>
          <a:p>
            <a:pPr>
              <a:defRPr b="1"/>
            </a:pPr>
            <a:r>
              <a:rPr lang="es-PE" b="1"/>
              <a:t>Ene-Jun 2024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6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 prstMaterial="matte"/>
          </c:spPr>
          <c:invertIfNegative val="0"/>
          <c:cat>
            <c:strRef>
              <c:f>RESULTADOS!$C$23:$C$29</c:f>
              <c:strCache>
                <c:ptCount val="7"/>
                <c:pt idx="0">
                  <c:v>Infundado</c:v>
                </c:pt>
                <c:pt idx="1">
                  <c:v>Fundado / F.P</c:v>
                </c:pt>
                <c:pt idx="2">
                  <c:v>Nulidad</c:v>
                </c:pt>
                <c:pt idx="3">
                  <c:v>Improcedente</c:v>
                </c:pt>
                <c:pt idx="4">
                  <c:v>Desistimiento </c:v>
                </c:pt>
                <c:pt idx="5">
                  <c:v>Otros </c:v>
                </c:pt>
                <c:pt idx="6">
                  <c:v>TOTAL</c:v>
                </c:pt>
              </c:strCache>
            </c:strRef>
          </c:cat>
          <c:val>
            <c:numRef>
              <c:f>RESULTADOS!$D$23:$D$29</c:f>
              <c:numCache>
                <c:formatCode>General</c:formatCode>
                <c:ptCount val="7"/>
                <c:pt idx="0">
                  <c:v>1914</c:v>
                </c:pt>
                <c:pt idx="1">
                  <c:v>71</c:v>
                </c:pt>
                <c:pt idx="2">
                  <c:v>168</c:v>
                </c:pt>
                <c:pt idx="3">
                  <c:v>2</c:v>
                </c:pt>
                <c:pt idx="4">
                  <c:v>1</c:v>
                </c:pt>
                <c:pt idx="5">
                  <c:v>22</c:v>
                </c:pt>
                <c:pt idx="6">
                  <c:v>2178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9A-427D-9787-B08C8A172462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RESULTADOS!$C$23:$C$29</c:f>
              <c:strCache>
                <c:ptCount val="7"/>
                <c:pt idx="0">
                  <c:v>Infundado</c:v>
                </c:pt>
                <c:pt idx="1">
                  <c:v>Fundado / F.P</c:v>
                </c:pt>
                <c:pt idx="2">
                  <c:v>Nulidad</c:v>
                </c:pt>
                <c:pt idx="3">
                  <c:v>Improcedente</c:v>
                </c:pt>
                <c:pt idx="4">
                  <c:v>Desistimiento </c:v>
                </c:pt>
                <c:pt idx="5">
                  <c:v>Otros </c:v>
                </c:pt>
                <c:pt idx="6">
                  <c:v>TOTAL</c:v>
                </c:pt>
              </c:strCache>
            </c:strRef>
          </c:cat>
          <c:val>
            <c:numRef>
              <c:f>RESULTADOS!$E$23:$E$29</c:f>
              <c:numCache>
                <c:formatCode>0.00%</c:formatCode>
                <c:ptCount val="7"/>
                <c:pt idx="0">
                  <c:v>0.87878787878787878</c:v>
                </c:pt>
                <c:pt idx="1">
                  <c:v>3.2598714416896234E-2</c:v>
                </c:pt>
                <c:pt idx="2">
                  <c:v>7.7134986225895319E-2</c:v>
                </c:pt>
                <c:pt idx="3">
                  <c:v>9.1827364554637281E-4</c:v>
                </c:pt>
                <c:pt idx="4">
                  <c:v>4.591368227731864E-4</c:v>
                </c:pt>
                <c:pt idx="5">
                  <c:v>1.0101010101010102E-2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9A-427D-9787-B08C8A1724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92604288"/>
        <c:axId val="592581824"/>
      </c:barChart>
      <c:catAx>
        <c:axId val="592604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592581824"/>
        <c:crosses val="autoZero"/>
        <c:auto val="1"/>
        <c:lblAlgn val="ctr"/>
        <c:lblOffset val="100"/>
        <c:noMultiLvlLbl val="0"/>
      </c:catAx>
      <c:valAx>
        <c:axId val="59258182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PE"/>
                  <a:t>TOTALES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59260428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6350" cap="flat" cmpd="sng" algn="ctr">
            <a:solidFill>
              <a:schemeClr val="accent6"/>
            </a:solidFill>
            <a:prstDash val="solid"/>
            <a:miter lim="800000"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12700" cap="flat" cmpd="sng" algn="ctr">
      <a:solidFill>
        <a:schemeClr val="accent6"/>
      </a:solidFill>
      <a:prstDash val="solid"/>
      <a:miter lim="800000"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s-E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CA8B4-C47F-4E03-8EAA-AEC2E933409F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6A85C-24F3-4956-8CAF-0400FEF1FA9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9801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8018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225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63742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2045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0884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4599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8175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4116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32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6963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7108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0235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9261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16063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36410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8859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3865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3905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1752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7821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36721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9744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0EBD03-D921-43CE-8153-F6D6722FCB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717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2E7F3-3903-4E1D-8084-0DC05C837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9DFAA0-BBEA-496B-B217-FE1EC3FC6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098F06-736E-46C7-AC7E-A0DD35FB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1D53AD-021E-420D-A45A-5DE972D7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DC73AE-0F49-420F-9711-F965FF34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678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D202-F60F-418F-B356-03CA7D877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77AA28-DEE3-4FC1-BAE1-E6AFA62A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078544-1F2E-444D-B8E8-0B5B534E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1F83FC-A60B-49E6-9E1C-9B1D745B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E286A2-7561-4B7D-870F-6CB2A625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1493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48F86-2D3F-45D5-85FF-32D590E8B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BDD57E-75F5-4414-AE43-24ACDFE27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F39EB2-DC1A-4B76-A607-540E2AFB0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659A66-CE9C-4AE2-A43D-391CFF4B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C4C05F-D418-4BB8-A63F-FADB2BE6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4609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5F591-1D41-441E-AA95-DA0B740C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84C426-4ABF-47B5-96A8-7DD4863F6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581556-4EC1-4E5D-AD7B-E4330322E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E6A027-3C79-48A2-86B5-F99135D1C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8F9C01-F48E-4887-981C-40097F8B7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930058-3E70-4688-9D37-132281FE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8534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40B37-FCF7-4B55-85DF-F62FF1FE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1896B5-9EE8-47E4-91A2-0128335D2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63FB78-B243-4B5C-A4B0-899B095F2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4E062D-1FBD-4740-9591-FF15F6C44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D08BE8A-A2D5-4B6E-9DAB-EB6E6AC7A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0B8163-EA4D-4292-B02E-3B806C4D0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C7E4B2C-AF8F-4065-8F2C-A533637C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7D1464-F0F0-4D16-876F-A49A009F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2300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D1B32-8CD9-4E07-A705-16F56C6A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89AFFA-5546-4BDE-9DCC-0D9185A3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868871-4F2B-468C-A281-03B39AC1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1548AD-0797-49CF-8A32-489DE78F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822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1BBACE8-1FF9-4DCE-BDFF-781E4EDB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8F2886-0965-4D8B-9448-88DEC9E0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7B9FB8-5854-4739-9885-76391E5F2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6904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4540F-ABF6-474A-AB91-401BF0417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0BA34A-F3A7-41F0-8235-DB969C0BD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1FD3ED-E203-44F4-A13E-24C419080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4A6CC1-F911-4CB8-B9F6-56532672E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6D7865-4AAB-4623-8FBD-249FC3217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940CCF-0F75-4D77-A0C3-8971815E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9410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51275-DE27-4158-AA5F-44F5EE1C3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B01499-763F-47B5-BFD1-63E77D563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CFD260-36E3-4D33-9F42-DC51279BB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2EBD3E-F528-4CA4-A32B-F0A72B35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27CDEF-92F2-40A0-BAE5-D2BD8022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DBC24D-381D-41F8-9D66-8C221CD7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3146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31BD0-76AA-4609-B77F-1A62E9CA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FDD779-50D6-40E5-BA33-7FF26DCF0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0CB4A4-EFE8-421F-935D-F071B90D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4501A0-A46C-4082-8991-E174E9FB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5DF1E6-391E-412D-BC62-BE28257C2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9135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A5389C-24F0-40B8-B3A4-5B618437A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265058-8B96-46CE-A8EE-7F30DCB57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C2B80-5F54-469C-B95C-236E218A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E4A53C-1617-402F-AEA5-31668F35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2DE16E-D827-4A85-B9BC-4058637C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67156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8D7D316-AA24-4AA3-98FC-FDF5882A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133841"/>
            <a:ext cx="10224477" cy="1323807"/>
          </a:xfrm>
          <a:prstGeom prst="rect">
            <a:avLst/>
          </a:prstGeom>
        </p:spPr>
        <p:txBody>
          <a:bodyPr/>
          <a:lstStyle>
            <a:lvl1pPr>
              <a:defRPr sz="4263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631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4291EF-15E9-414F-95EC-8F59D36B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4EA333-6386-4D76-AC88-517C11CF8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108574-E514-4EEB-B046-9A3DB5F39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9FD26-0981-4205-871D-895179B88314}" type="datetimeFigureOut">
              <a:rPr lang="es-419" smtClean="0"/>
              <a:t>7/8/2024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92D44A-6FF1-4AA9-8628-83F79F65C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E3C7ED-7510-4B32-96A0-A10D7CC1A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787B5-27E6-4680-BFC4-A185ECDA7C5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005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D2D66F62-5EF4-E640-8F00-37B5AB567BFE}"/>
              </a:ext>
            </a:extLst>
          </p:cNvPr>
          <p:cNvSpPr txBox="1">
            <a:spLocks noChangeArrowheads="1"/>
          </p:cNvSpPr>
          <p:nvPr/>
        </p:nvSpPr>
        <p:spPr>
          <a:xfrm>
            <a:off x="861147" y="3517621"/>
            <a:ext cx="10191750" cy="938981"/>
          </a:xfrm>
          <a:prstGeom prst="rect">
            <a:avLst/>
          </a:prstGeom>
        </p:spPr>
        <p:txBody>
          <a:bodyPr/>
          <a:lstStyle/>
          <a:p>
            <a:pPr algn="ctr" defTabSz="1217947">
              <a:defRPr/>
            </a:pPr>
            <a:r>
              <a:rPr lang="es-PE" sz="3600" b="1" dirty="0">
                <a:latin typeface="Arial"/>
                <a:ea typeface="+mj-ea"/>
                <a:cs typeface="Arial"/>
              </a:rPr>
              <a:t>GERENCIA DE ANÁLISIS DE FONDO ADUANAS</a:t>
            </a:r>
          </a:p>
          <a:p>
            <a:pPr algn="ctr" defTabSz="1217947">
              <a:defRPr/>
            </a:pPr>
            <a:endParaRPr lang="es-PE" sz="2400" b="1" dirty="0">
              <a:latin typeface="Arial"/>
              <a:ea typeface="+mj-ea"/>
              <a:cs typeface="Arial"/>
            </a:endParaRPr>
          </a:p>
        </p:txBody>
      </p:sp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6326" y="267539"/>
            <a:ext cx="2060746" cy="57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919B8A05-1ED3-443D-A7BD-4492F8B9CE89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2178278"/>
            <a:ext cx="10763250" cy="938981"/>
          </a:xfrm>
          <a:prstGeom prst="rect">
            <a:avLst/>
          </a:prstGeom>
        </p:spPr>
        <p:txBody>
          <a:bodyPr/>
          <a:lstStyle/>
          <a:p>
            <a:pPr algn="ctr" defTabSz="1217947">
              <a:defRPr/>
            </a:pPr>
            <a:r>
              <a:rPr lang="es-PE" sz="3500" b="1" dirty="0">
                <a:latin typeface="Arial"/>
                <a:ea typeface="+mj-ea"/>
                <a:cs typeface="Arial"/>
              </a:rPr>
              <a:t>INTENDENCIA NACIONAL DE IMPUGNACIONES</a:t>
            </a:r>
          </a:p>
          <a:p>
            <a:pPr algn="ctr" defTabSz="1217947">
              <a:defRPr/>
            </a:pPr>
            <a:endParaRPr lang="es-PE" sz="2400" b="1" dirty="0">
              <a:latin typeface="Arial"/>
              <a:ea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9534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INGRESOS Y SALIDAS DE RECLAMACIONES 2019-2024*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8136A2-0473-ED01-6C0D-CE6FCF440D43}"/>
              </a:ext>
            </a:extLst>
          </p:cNvPr>
          <p:cNvSpPr txBox="1"/>
          <p:nvPr/>
        </p:nvSpPr>
        <p:spPr>
          <a:xfrm>
            <a:off x="1677271" y="1307978"/>
            <a:ext cx="7562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EVOLUCIÓN DE INGRESOS Y SALIDAS EXPEDIENTES DE RECLAMO 2019-2024*</a:t>
            </a:r>
            <a:endParaRPr lang="es-PE" sz="2000" b="1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2D20683-F364-E956-9C4F-D440AA5ED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599928"/>
              </p:ext>
            </p:extLst>
          </p:nvPr>
        </p:nvGraphicFramePr>
        <p:xfrm>
          <a:off x="1104899" y="2180484"/>
          <a:ext cx="8707594" cy="963978"/>
        </p:xfrm>
        <a:graphic>
          <a:graphicData uri="http://schemas.openxmlformats.org/drawingml/2006/table">
            <a:tbl>
              <a:tblPr firstRow="1" firstCol="1" bandRow="1"/>
              <a:tblGrid>
                <a:gridCol w="1243942">
                  <a:extLst>
                    <a:ext uri="{9D8B030D-6E8A-4147-A177-3AD203B41FA5}">
                      <a16:colId xmlns:a16="http://schemas.microsoft.com/office/drawing/2014/main" val="4093851502"/>
                    </a:ext>
                  </a:extLst>
                </a:gridCol>
                <a:gridCol w="1243942">
                  <a:extLst>
                    <a:ext uri="{9D8B030D-6E8A-4147-A177-3AD203B41FA5}">
                      <a16:colId xmlns:a16="http://schemas.microsoft.com/office/drawing/2014/main" val="3969460617"/>
                    </a:ext>
                  </a:extLst>
                </a:gridCol>
                <a:gridCol w="1243942">
                  <a:extLst>
                    <a:ext uri="{9D8B030D-6E8A-4147-A177-3AD203B41FA5}">
                      <a16:colId xmlns:a16="http://schemas.microsoft.com/office/drawing/2014/main" val="198342931"/>
                    </a:ext>
                  </a:extLst>
                </a:gridCol>
                <a:gridCol w="1243942">
                  <a:extLst>
                    <a:ext uri="{9D8B030D-6E8A-4147-A177-3AD203B41FA5}">
                      <a16:colId xmlns:a16="http://schemas.microsoft.com/office/drawing/2014/main" val="2370426896"/>
                    </a:ext>
                  </a:extLst>
                </a:gridCol>
                <a:gridCol w="1243942">
                  <a:extLst>
                    <a:ext uri="{9D8B030D-6E8A-4147-A177-3AD203B41FA5}">
                      <a16:colId xmlns:a16="http://schemas.microsoft.com/office/drawing/2014/main" val="1469780919"/>
                    </a:ext>
                  </a:extLst>
                </a:gridCol>
                <a:gridCol w="1243942">
                  <a:extLst>
                    <a:ext uri="{9D8B030D-6E8A-4147-A177-3AD203B41FA5}">
                      <a16:colId xmlns:a16="http://schemas.microsoft.com/office/drawing/2014/main" val="2591977041"/>
                    </a:ext>
                  </a:extLst>
                </a:gridCol>
                <a:gridCol w="1243942">
                  <a:extLst>
                    <a:ext uri="{9D8B030D-6E8A-4147-A177-3AD203B41FA5}">
                      <a16:colId xmlns:a16="http://schemas.microsoft.com/office/drawing/2014/main" val="3152186309"/>
                    </a:ext>
                  </a:extLst>
                </a:gridCol>
              </a:tblGrid>
              <a:tr h="321326">
                <a:tc>
                  <a:txBody>
                    <a:bodyPr/>
                    <a:lstStyle/>
                    <a:p>
                      <a:pPr algn="l" rtl="0" fontAlgn="ctr"/>
                      <a:r>
                        <a:rPr lang="es-PE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DETALLE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01519"/>
                  </a:ext>
                </a:extLst>
              </a:tr>
              <a:tr h="321326">
                <a:tc>
                  <a:txBody>
                    <a:bodyPr/>
                    <a:lstStyle/>
                    <a:p>
                      <a:pPr algn="l" rtl="0" fontAlgn="ctr"/>
                      <a:r>
                        <a:rPr lang="es-PE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INGRESOS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4,409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5,860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5,970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671636"/>
                  </a:ext>
                </a:extLst>
              </a:tr>
              <a:tr h="321326">
                <a:tc>
                  <a:txBody>
                    <a:bodyPr/>
                    <a:lstStyle/>
                    <a:p>
                      <a:pPr algn="l" rtl="0" fontAlgn="ctr"/>
                      <a:r>
                        <a:rPr lang="es-PE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SALIDAS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5,581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s-PE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584415"/>
                  </a:ext>
                </a:extLst>
              </a:tr>
            </a:tbl>
          </a:graphicData>
        </a:graphic>
      </p:graphicFrame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4FE17D7D-2799-58B1-C4FA-F339EFEFFD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0308350"/>
              </p:ext>
            </p:extLst>
          </p:nvPr>
        </p:nvGraphicFramePr>
        <p:xfrm>
          <a:off x="1104899" y="3496989"/>
          <a:ext cx="8707595" cy="296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61CC4B4-FE39-48D4-90AB-3AA1280F5B02}"/>
              </a:ext>
            </a:extLst>
          </p:cNvPr>
          <p:cNvSpPr txBox="1"/>
          <p:nvPr/>
        </p:nvSpPr>
        <p:spPr>
          <a:xfrm>
            <a:off x="1104900" y="6459239"/>
            <a:ext cx="2611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/>
              <a:t>*Primer trimestre 2024</a:t>
            </a:r>
            <a:endParaRPr lang="es-PE" sz="1100" b="1" dirty="0"/>
          </a:p>
        </p:txBody>
      </p:sp>
    </p:spTree>
    <p:extLst>
      <p:ext uri="{BB962C8B-B14F-4D97-AF65-F5344CB8AC3E}">
        <p14:creationId xmlns:p14="http://schemas.microsoft.com/office/powerpoint/2010/main" val="3333353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STOCK DE DOCUMENTOS– 2024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56F964CE-6A15-CC82-91F5-317A16FEDABD}"/>
              </a:ext>
            </a:extLst>
          </p:cNvPr>
          <p:cNvSpPr/>
          <p:nvPr/>
        </p:nvSpPr>
        <p:spPr>
          <a:xfrm>
            <a:off x="4200117" y="3176728"/>
            <a:ext cx="927907" cy="880323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TOTAL</a:t>
            </a:r>
            <a:endParaRPr lang="es-PE" sz="1600" b="1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42F9C33F-9E22-4CEF-FF21-529EBFB9B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007293"/>
              </p:ext>
            </p:extLst>
          </p:nvPr>
        </p:nvGraphicFramePr>
        <p:xfrm>
          <a:off x="900593" y="1353466"/>
          <a:ext cx="2518882" cy="1422430"/>
        </p:xfrm>
        <a:graphic>
          <a:graphicData uri="http://schemas.openxmlformats.org/drawingml/2006/table">
            <a:tbl>
              <a:tblPr/>
              <a:tblGrid>
                <a:gridCol w="1529820">
                  <a:extLst>
                    <a:ext uri="{9D8B030D-6E8A-4147-A177-3AD203B41FA5}">
                      <a16:colId xmlns:a16="http://schemas.microsoft.com/office/drawing/2014/main" val="303441847"/>
                    </a:ext>
                  </a:extLst>
                </a:gridCol>
                <a:gridCol w="347184">
                  <a:extLst>
                    <a:ext uri="{9D8B030D-6E8A-4147-A177-3AD203B41FA5}">
                      <a16:colId xmlns:a16="http://schemas.microsoft.com/office/drawing/2014/main" val="1716151770"/>
                    </a:ext>
                  </a:extLst>
                </a:gridCol>
                <a:gridCol w="641878">
                  <a:extLst>
                    <a:ext uri="{9D8B030D-6E8A-4147-A177-3AD203B41FA5}">
                      <a16:colId xmlns:a16="http://schemas.microsoft.com/office/drawing/2014/main" val="757411442"/>
                    </a:ext>
                  </a:extLst>
                </a:gridCol>
              </a:tblGrid>
              <a:tr h="35094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DCCI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     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009855"/>
                  </a:ext>
                </a:extLst>
              </a:tr>
              <a:tr h="31523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484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027070"/>
                  </a:ext>
                </a:extLst>
              </a:tr>
              <a:tr h="441029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ADMISIBILIDAD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113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716666"/>
                  </a:ext>
                </a:extLst>
              </a:tr>
              <a:tr h="31523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597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887893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E5EFB618-4604-09BB-AFE3-37F61C5C0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42156"/>
              </p:ext>
            </p:extLst>
          </p:nvPr>
        </p:nvGraphicFramePr>
        <p:xfrm>
          <a:off x="900592" y="2876867"/>
          <a:ext cx="2518881" cy="1367509"/>
        </p:xfrm>
        <a:graphic>
          <a:graphicData uri="http://schemas.openxmlformats.org/drawingml/2006/table">
            <a:tbl>
              <a:tblPr/>
              <a:tblGrid>
                <a:gridCol w="1527944">
                  <a:extLst>
                    <a:ext uri="{9D8B030D-6E8A-4147-A177-3AD203B41FA5}">
                      <a16:colId xmlns:a16="http://schemas.microsoft.com/office/drawing/2014/main" val="2925254002"/>
                    </a:ext>
                  </a:extLst>
                </a:gridCol>
                <a:gridCol w="990937">
                  <a:extLst>
                    <a:ext uri="{9D8B030D-6E8A-4147-A177-3AD203B41FA5}">
                      <a16:colId xmlns:a16="http://schemas.microsoft.com/office/drawing/2014/main" val="867454367"/>
                    </a:ext>
                  </a:extLst>
                </a:gridCol>
              </a:tblGrid>
              <a:tr h="301945"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DCCII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         </a:t>
                      </a:r>
                      <a:endParaRPr lang="es-PE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929919"/>
                  </a:ext>
                </a:extLst>
              </a:tr>
              <a:tr h="316687">
                <a:tc>
                  <a:txBody>
                    <a:bodyPr/>
                    <a:lstStyle/>
                    <a:p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FONDO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292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334386"/>
                  </a:ext>
                </a:extLst>
              </a:tr>
              <a:tr h="446932">
                <a:tc>
                  <a:txBody>
                    <a:bodyPr/>
                    <a:lstStyle/>
                    <a:p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ADMISIBILIDAD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4B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82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438467"/>
                  </a:ext>
                </a:extLst>
              </a:tr>
              <a:tr h="301945">
                <a:tc>
                  <a:txBody>
                    <a:bodyPr/>
                    <a:lstStyle/>
                    <a:p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374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4B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674559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11E47780-28B5-BC8F-2D32-D418E13A9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208029"/>
              </p:ext>
            </p:extLst>
          </p:nvPr>
        </p:nvGraphicFramePr>
        <p:xfrm>
          <a:off x="900592" y="4399960"/>
          <a:ext cx="2518880" cy="1456539"/>
        </p:xfrm>
        <a:graphic>
          <a:graphicData uri="http://schemas.openxmlformats.org/drawingml/2006/table">
            <a:tbl>
              <a:tblPr/>
              <a:tblGrid>
                <a:gridCol w="1483230">
                  <a:extLst>
                    <a:ext uri="{9D8B030D-6E8A-4147-A177-3AD203B41FA5}">
                      <a16:colId xmlns:a16="http://schemas.microsoft.com/office/drawing/2014/main" val="33698083"/>
                    </a:ext>
                  </a:extLst>
                </a:gridCol>
                <a:gridCol w="1035650">
                  <a:extLst>
                    <a:ext uri="{9D8B030D-6E8A-4147-A177-3AD203B41FA5}">
                      <a16:colId xmlns:a16="http://schemas.microsoft.com/office/drawing/2014/main" val="1249015919"/>
                    </a:ext>
                  </a:extLst>
                </a:gridCol>
              </a:tblGrid>
              <a:tr h="289875"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DCP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            </a:t>
                      </a:r>
                      <a:endParaRPr lang="es-PE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60316"/>
                  </a:ext>
                </a:extLst>
              </a:tr>
              <a:tr h="438144">
                <a:tc>
                  <a:txBody>
                    <a:bodyPr/>
                    <a:lstStyle/>
                    <a:p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FONDO (INCA+IAMC)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616474"/>
                  </a:ext>
                </a:extLst>
              </a:tr>
              <a:tr h="438645">
                <a:tc>
                  <a:txBody>
                    <a:bodyPr/>
                    <a:lstStyle/>
                    <a:p>
                      <a:r>
                        <a:rPr lang="es-PE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ADMISIBILIDAD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4B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527589"/>
                  </a:ext>
                </a:extLst>
              </a:tr>
              <a:tr h="289875">
                <a:tc>
                  <a:txBody>
                    <a:bodyPr/>
                    <a:lstStyle/>
                    <a:p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49</a:t>
                      </a:r>
                      <a:endParaRPr lang="es-PE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549735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C33A2A62-036F-C383-8520-446B907B9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143321"/>
              </p:ext>
            </p:extLst>
          </p:nvPr>
        </p:nvGraphicFramePr>
        <p:xfrm>
          <a:off x="7268874" y="5224551"/>
          <a:ext cx="2419350" cy="76560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806450">
                  <a:extLst>
                    <a:ext uri="{9D8B030D-6E8A-4147-A177-3AD203B41FA5}">
                      <a16:colId xmlns:a16="http://schemas.microsoft.com/office/drawing/2014/main" val="4025633932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3397563117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1535915550"/>
                    </a:ext>
                  </a:extLst>
                </a:gridCol>
              </a:tblGrid>
              <a:tr h="25520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INGRESADOS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304820"/>
                  </a:ext>
                </a:extLst>
              </a:tr>
              <a:tr h="255202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DCCI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DCCII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DCP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4528736"/>
                  </a:ext>
                </a:extLst>
              </a:tr>
              <a:tr h="255202"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</a:rPr>
                        <a:t>XXX</a:t>
                      </a:r>
                      <a:endParaRPr lang="es-PE" sz="14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s-PE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386828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5348961-3E42-D777-9E0B-39E48E615938}"/>
              </a:ext>
            </a:extLst>
          </p:cNvPr>
          <p:cNvSpPr txBox="1"/>
          <p:nvPr/>
        </p:nvSpPr>
        <p:spPr>
          <a:xfrm>
            <a:off x="7268874" y="1046149"/>
            <a:ext cx="1457325" cy="36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2023</a:t>
            </a:r>
            <a:endParaRPr lang="es-PE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8BA90EE-AAFF-1CB0-5F16-DB7D138D89F2}"/>
              </a:ext>
            </a:extLst>
          </p:cNvPr>
          <p:cNvSpPr txBox="1"/>
          <p:nvPr/>
        </p:nvSpPr>
        <p:spPr>
          <a:xfrm>
            <a:off x="7539037" y="3067096"/>
            <a:ext cx="1457325" cy="36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2024</a:t>
            </a:r>
            <a:endParaRPr lang="es-PE" b="1" dirty="0"/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C92AC8BE-E273-CB5B-F901-4896BFC3E34F}"/>
              </a:ext>
            </a:extLst>
          </p:cNvPr>
          <p:cNvSpPr/>
          <p:nvPr/>
        </p:nvSpPr>
        <p:spPr>
          <a:xfrm>
            <a:off x="3607584" y="1513887"/>
            <a:ext cx="514350" cy="4093467"/>
          </a:xfrm>
          <a:prstGeom prst="rightBrace">
            <a:avLst>
              <a:gd name="adj1" fmla="val 8333"/>
              <a:gd name="adj2" fmla="val 50465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b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629695C-2A70-2448-59F5-EF50943DF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929117"/>
              </p:ext>
            </p:extLst>
          </p:nvPr>
        </p:nvGraphicFramePr>
        <p:xfrm>
          <a:off x="4481272" y="1406283"/>
          <a:ext cx="7209221" cy="664142"/>
        </p:xfrm>
        <a:graphic>
          <a:graphicData uri="http://schemas.openxmlformats.org/drawingml/2006/table">
            <a:tbl>
              <a:tblPr/>
              <a:tblGrid>
                <a:gridCol w="510998">
                  <a:extLst>
                    <a:ext uri="{9D8B030D-6E8A-4147-A177-3AD203B41FA5}">
                      <a16:colId xmlns:a16="http://schemas.microsoft.com/office/drawing/2014/main" val="1074764036"/>
                    </a:ext>
                  </a:extLst>
                </a:gridCol>
                <a:gridCol w="704349">
                  <a:extLst>
                    <a:ext uri="{9D8B030D-6E8A-4147-A177-3AD203B41FA5}">
                      <a16:colId xmlns:a16="http://schemas.microsoft.com/office/drawing/2014/main" val="3258104317"/>
                    </a:ext>
                  </a:extLst>
                </a:gridCol>
                <a:gridCol w="593863">
                  <a:extLst>
                    <a:ext uri="{9D8B030D-6E8A-4147-A177-3AD203B41FA5}">
                      <a16:colId xmlns:a16="http://schemas.microsoft.com/office/drawing/2014/main" val="3572637511"/>
                    </a:ext>
                  </a:extLst>
                </a:gridCol>
                <a:gridCol w="510998">
                  <a:extLst>
                    <a:ext uri="{9D8B030D-6E8A-4147-A177-3AD203B41FA5}">
                      <a16:colId xmlns:a16="http://schemas.microsoft.com/office/drawing/2014/main" val="3857808528"/>
                    </a:ext>
                  </a:extLst>
                </a:gridCol>
                <a:gridCol w="524809">
                  <a:extLst>
                    <a:ext uri="{9D8B030D-6E8A-4147-A177-3AD203B41FA5}">
                      <a16:colId xmlns:a16="http://schemas.microsoft.com/office/drawing/2014/main" val="1503528122"/>
                    </a:ext>
                  </a:extLst>
                </a:gridCol>
                <a:gridCol w="455755">
                  <a:extLst>
                    <a:ext uri="{9D8B030D-6E8A-4147-A177-3AD203B41FA5}">
                      <a16:colId xmlns:a16="http://schemas.microsoft.com/office/drawing/2014/main" val="534461439"/>
                    </a:ext>
                  </a:extLst>
                </a:gridCol>
                <a:gridCol w="441945">
                  <a:extLst>
                    <a:ext uri="{9D8B030D-6E8A-4147-A177-3AD203B41FA5}">
                      <a16:colId xmlns:a16="http://schemas.microsoft.com/office/drawing/2014/main" val="1464611740"/>
                    </a:ext>
                  </a:extLst>
                </a:gridCol>
                <a:gridCol w="607674">
                  <a:extLst>
                    <a:ext uri="{9D8B030D-6E8A-4147-A177-3AD203B41FA5}">
                      <a16:colId xmlns:a16="http://schemas.microsoft.com/office/drawing/2014/main" val="983088506"/>
                    </a:ext>
                  </a:extLst>
                </a:gridCol>
                <a:gridCol w="718160">
                  <a:extLst>
                    <a:ext uri="{9D8B030D-6E8A-4147-A177-3AD203B41FA5}">
                      <a16:colId xmlns:a16="http://schemas.microsoft.com/office/drawing/2014/main" val="1149158738"/>
                    </a:ext>
                  </a:extLst>
                </a:gridCol>
                <a:gridCol w="621485">
                  <a:extLst>
                    <a:ext uri="{9D8B030D-6E8A-4147-A177-3AD203B41FA5}">
                      <a16:colId xmlns:a16="http://schemas.microsoft.com/office/drawing/2014/main" val="3128830786"/>
                    </a:ext>
                  </a:extLst>
                </a:gridCol>
                <a:gridCol w="828646">
                  <a:extLst>
                    <a:ext uri="{9D8B030D-6E8A-4147-A177-3AD203B41FA5}">
                      <a16:colId xmlns:a16="http://schemas.microsoft.com/office/drawing/2014/main" val="3835212946"/>
                    </a:ext>
                  </a:extLst>
                </a:gridCol>
                <a:gridCol w="690539">
                  <a:extLst>
                    <a:ext uri="{9D8B030D-6E8A-4147-A177-3AD203B41FA5}">
                      <a16:colId xmlns:a16="http://schemas.microsoft.com/office/drawing/2014/main" val="1709949566"/>
                    </a:ext>
                  </a:extLst>
                </a:gridCol>
              </a:tblGrid>
              <a:tr h="176321">
                <a:tc gridSpan="12"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146899"/>
                  </a:ext>
                </a:extLst>
              </a:tr>
              <a:tr h="311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FEBRERO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MARZO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ABRIL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AGOSTO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SETIEMBRE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OCTUBRE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NOVIEMBRE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DICIEMBRE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435292"/>
                  </a:ext>
                </a:extLst>
              </a:tr>
              <a:tr h="1763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640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472469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806AB0E-3F85-9087-9ED5-45EE0E593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455476"/>
              </p:ext>
            </p:extLst>
          </p:nvPr>
        </p:nvGraphicFramePr>
        <p:xfrm>
          <a:off x="4481271" y="2241377"/>
          <a:ext cx="7209220" cy="717199"/>
        </p:xfrm>
        <a:graphic>
          <a:graphicData uri="http://schemas.openxmlformats.org/drawingml/2006/table">
            <a:tbl>
              <a:tblPr/>
              <a:tblGrid>
                <a:gridCol w="510998">
                  <a:extLst>
                    <a:ext uri="{9D8B030D-6E8A-4147-A177-3AD203B41FA5}">
                      <a16:colId xmlns:a16="http://schemas.microsoft.com/office/drawing/2014/main" val="2311963422"/>
                    </a:ext>
                  </a:extLst>
                </a:gridCol>
                <a:gridCol w="704349">
                  <a:extLst>
                    <a:ext uri="{9D8B030D-6E8A-4147-A177-3AD203B41FA5}">
                      <a16:colId xmlns:a16="http://schemas.microsoft.com/office/drawing/2014/main" val="1516187338"/>
                    </a:ext>
                  </a:extLst>
                </a:gridCol>
                <a:gridCol w="593863">
                  <a:extLst>
                    <a:ext uri="{9D8B030D-6E8A-4147-A177-3AD203B41FA5}">
                      <a16:colId xmlns:a16="http://schemas.microsoft.com/office/drawing/2014/main" val="3647570914"/>
                    </a:ext>
                  </a:extLst>
                </a:gridCol>
                <a:gridCol w="510998">
                  <a:extLst>
                    <a:ext uri="{9D8B030D-6E8A-4147-A177-3AD203B41FA5}">
                      <a16:colId xmlns:a16="http://schemas.microsoft.com/office/drawing/2014/main" val="1400445797"/>
                    </a:ext>
                  </a:extLst>
                </a:gridCol>
                <a:gridCol w="524809">
                  <a:extLst>
                    <a:ext uri="{9D8B030D-6E8A-4147-A177-3AD203B41FA5}">
                      <a16:colId xmlns:a16="http://schemas.microsoft.com/office/drawing/2014/main" val="3198969946"/>
                    </a:ext>
                  </a:extLst>
                </a:gridCol>
                <a:gridCol w="455755">
                  <a:extLst>
                    <a:ext uri="{9D8B030D-6E8A-4147-A177-3AD203B41FA5}">
                      <a16:colId xmlns:a16="http://schemas.microsoft.com/office/drawing/2014/main" val="2228440488"/>
                    </a:ext>
                  </a:extLst>
                </a:gridCol>
                <a:gridCol w="441945">
                  <a:extLst>
                    <a:ext uri="{9D8B030D-6E8A-4147-A177-3AD203B41FA5}">
                      <a16:colId xmlns:a16="http://schemas.microsoft.com/office/drawing/2014/main" val="795327759"/>
                    </a:ext>
                  </a:extLst>
                </a:gridCol>
                <a:gridCol w="607674">
                  <a:extLst>
                    <a:ext uri="{9D8B030D-6E8A-4147-A177-3AD203B41FA5}">
                      <a16:colId xmlns:a16="http://schemas.microsoft.com/office/drawing/2014/main" val="2178664864"/>
                    </a:ext>
                  </a:extLst>
                </a:gridCol>
                <a:gridCol w="718160">
                  <a:extLst>
                    <a:ext uri="{9D8B030D-6E8A-4147-A177-3AD203B41FA5}">
                      <a16:colId xmlns:a16="http://schemas.microsoft.com/office/drawing/2014/main" val="3907391050"/>
                    </a:ext>
                  </a:extLst>
                </a:gridCol>
                <a:gridCol w="621485">
                  <a:extLst>
                    <a:ext uri="{9D8B030D-6E8A-4147-A177-3AD203B41FA5}">
                      <a16:colId xmlns:a16="http://schemas.microsoft.com/office/drawing/2014/main" val="2424771591"/>
                    </a:ext>
                  </a:extLst>
                </a:gridCol>
                <a:gridCol w="828646">
                  <a:extLst>
                    <a:ext uri="{9D8B030D-6E8A-4147-A177-3AD203B41FA5}">
                      <a16:colId xmlns:a16="http://schemas.microsoft.com/office/drawing/2014/main" val="3910783422"/>
                    </a:ext>
                  </a:extLst>
                </a:gridCol>
                <a:gridCol w="690538">
                  <a:extLst>
                    <a:ext uri="{9D8B030D-6E8A-4147-A177-3AD203B41FA5}">
                      <a16:colId xmlns:a16="http://schemas.microsoft.com/office/drawing/2014/main" val="4013679102"/>
                    </a:ext>
                  </a:extLst>
                </a:gridCol>
              </a:tblGrid>
              <a:tr h="190407">
                <a:tc gridSpan="12"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ADMISIBILIDAD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217592"/>
                  </a:ext>
                </a:extLst>
              </a:tr>
              <a:tr h="3363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FEBRERO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MARZO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ABRIL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AGOSTO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SETIEMBRE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OCTUBRE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NOVIEMBRE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DICIEMBRE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571487"/>
                  </a:ext>
                </a:extLst>
              </a:tr>
              <a:tr h="1904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368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835668"/>
                  </a:ext>
                </a:extLst>
              </a:tr>
            </a:tbl>
          </a:graphicData>
        </a:graphic>
      </p:graphicFrame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55C31B5B-B9FD-7A3C-712D-BFA36F022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758786"/>
              </p:ext>
            </p:extLst>
          </p:nvPr>
        </p:nvGraphicFramePr>
        <p:xfrm>
          <a:off x="6914860" y="3479413"/>
          <a:ext cx="3200691" cy="622367"/>
        </p:xfrm>
        <a:graphic>
          <a:graphicData uri="http://schemas.openxmlformats.org/drawingml/2006/table">
            <a:tbl>
              <a:tblPr/>
              <a:tblGrid>
                <a:gridCol w="666265">
                  <a:extLst>
                    <a:ext uri="{9D8B030D-6E8A-4147-A177-3AD203B41FA5}">
                      <a16:colId xmlns:a16="http://schemas.microsoft.com/office/drawing/2014/main" val="2608954436"/>
                    </a:ext>
                  </a:extLst>
                </a:gridCol>
                <a:gridCol w="561752">
                  <a:extLst>
                    <a:ext uri="{9D8B030D-6E8A-4147-A177-3AD203B41FA5}">
                      <a16:colId xmlns:a16="http://schemas.microsoft.com/office/drawing/2014/main" val="3702516282"/>
                    </a:ext>
                  </a:extLst>
                </a:gridCol>
                <a:gridCol w="483369">
                  <a:extLst>
                    <a:ext uri="{9D8B030D-6E8A-4147-A177-3AD203B41FA5}">
                      <a16:colId xmlns:a16="http://schemas.microsoft.com/office/drawing/2014/main" val="3202347375"/>
                    </a:ext>
                  </a:extLst>
                </a:gridCol>
                <a:gridCol w="496435">
                  <a:extLst>
                    <a:ext uri="{9D8B030D-6E8A-4147-A177-3AD203B41FA5}">
                      <a16:colId xmlns:a16="http://schemas.microsoft.com/office/drawing/2014/main" val="66548466"/>
                    </a:ext>
                  </a:extLst>
                </a:gridCol>
                <a:gridCol w="496435">
                  <a:extLst>
                    <a:ext uri="{9D8B030D-6E8A-4147-A177-3AD203B41FA5}">
                      <a16:colId xmlns:a16="http://schemas.microsoft.com/office/drawing/2014/main" val="520983657"/>
                    </a:ext>
                  </a:extLst>
                </a:gridCol>
                <a:gridCol w="496435">
                  <a:extLst>
                    <a:ext uri="{9D8B030D-6E8A-4147-A177-3AD203B41FA5}">
                      <a16:colId xmlns:a16="http://schemas.microsoft.com/office/drawing/2014/main" val="2948232374"/>
                    </a:ext>
                  </a:extLst>
                </a:gridCol>
              </a:tblGrid>
              <a:tr h="108498"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s-P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PE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PE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967146"/>
                  </a:ext>
                </a:extLst>
              </a:tr>
              <a:tr h="2870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FEBRERO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MARZO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ABRIL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MAYO</a:t>
                      </a:r>
                      <a:endParaRPr lang="es-PE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  <a:endParaRPr lang="es-PE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02174"/>
                  </a:ext>
                </a:extLst>
              </a:tr>
              <a:tr h="164626"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824 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773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822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586754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B46C2B3E-E31E-3FFD-A4B2-083C609EF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499178"/>
              </p:ext>
            </p:extLst>
          </p:nvPr>
        </p:nvGraphicFramePr>
        <p:xfrm>
          <a:off x="6914861" y="4283598"/>
          <a:ext cx="3200690" cy="639885"/>
        </p:xfrm>
        <a:graphic>
          <a:graphicData uri="http://schemas.openxmlformats.org/drawingml/2006/table">
            <a:tbl>
              <a:tblPr/>
              <a:tblGrid>
                <a:gridCol w="666265">
                  <a:extLst>
                    <a:ext uri="{9D8B030D-6E8A-4147-A177-3AD203B41FA5}">
                      <a16:colId xmlns:a16="http://schemas.microsoft.com/office/drawing/2014/main" val="4160914120"/>
                    </a:ext>
                  </a:extLst>
                </a:gridCol>
                <a:gridCol w="561753">
                  <a:extLst>
                    <a:ext uri="{9D8B030D-6E8A-4147-A177-3AD203B41FA5}">
                      <a16:colId xmlns:a16="http://schemas.microsoft.com/office/drawing/2014/main" val="394916733"/>
                    </a:ext>
                  </a:extLst>
                </a:gridCol>
                <a:gridCol w="483370">
                  <a:extLst>
                    <a:ext uri="{9D8B030D-6E8A-4147-A177-3AD203B41FA5}">
                      <a16:colId xmlns:a16="http://schemas.microsoft.com/office/drawing/2014/main" val="2531847754"/>
                    </a:ext>
                  </a:extLst>
                </a:gridCol>
                <a:gridCol w="496434">
                  <a:extLst>
                    <a:ext uri="{9D8B030D-6E8A-4147-A177-3AD203B41FA5}">
                      <a16:colId xmlns:a16="http://schemas.microsoft.com/office/drawing/2014/main" val="4039369803"/>
                    </a:ext>
                  </a:extLst>
                </a:gridCol>
                <a:gridCol w="496434">
                  <a:extLst>
                    <a:ext uri="{9D8B030D-6E8A-4147-A177-3AD203B41FA5}">
                      <a16:colId xmlns:a16="http://schemas.microsoft.com/office/drawing/2014/main" val="4279191836"/>
                    </a:ext>
                  </a:extLst>
                </a:gridCol>
                <a:gridCol w="496434">
                  <a:extLst>
                    <a:ext uri="{9D8B030D-6E8A-4147-A177-3AD203B41FA5}">
                      <a16:colId xmlns:a16="http://schemas.microsoft.com/office/drawing/2014/main" val="3497754010"/>
                    </a:ext>
                  </a:extLst>
                </a:gridCol>
              </a:tblGrid>
              <a:tr h="158881"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s-P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ADMISIBILIDAD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PE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PE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884749"/>
                  </a:ext>
                </a:extLst>
              </a:tr>
              <a:tr h="3046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FEBRERO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MARZO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ABRIL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MAYO</a:t>
                      </a:r>
                      <a:endParaRPr lang="es-PE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  <a:endParaRPr lang="es-PE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795587"/>
                  </a:ext>
                </a:extLst>
              </a:tr>
              <a:tr h="158881"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P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056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238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PRODUCTIVIDAD RECLAMOS – 2022 - 2024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C8A378-12BC-4544-B033-50EA62648EBF}"/>
              </a:ext>
            </a:extLst>
          </p:cNvPr>
          <p:cNvSpPr txBox="1"/>
          <p:nvPr/>
        </p:nvSpPr>
        <p:spPr>
          <a:xfrm>
            <a:off x="292044" y="6280638"/>
            <a:ext cx="850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dirty="0">
                <a:effectLst/>
                <a:latin typeface="+mj-lt"/>
                <a:ea typeface="Calibri" panose="020F0502020204030204" pitchFamily="34" charset="0"/>
              </a:rPr>
              <a:t> (*) Se resolvieron reclamos de origen INCA (10 casos)  por un monto de S/. 26.5 e incluye 1 Informe de demanda.</a:t>
            </a:r>
          </a:p>
          <a:p>
            <a:r>
              <a:rPr lang="es-PE" sz="1200" dirty="0">
                <a:effectLst/>
                <a:latin typeface="+mj-lt"/>
                <a:ea typeface="Calibri" panose="020F0502020204030204" pitchFamily="34" charset="0"/>
              </a:rPr>
              <a:t>	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4F8C81C-2666-B65E-9EEE-9E42E376A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439942"/>
              </p:ext>
            </p:extLst>
          </p:nvPr>
        </p:nvGraphicFramePr>
        <p:xfrm>
          <a:off x="462639" y="1086523"/>
          <a:ext cx="11157004" cy="5097523"/>
        </p:xfrm>
        <a:graphic>
          <a:graphicData uri="http://schemas.openxmlformats.org/drawingml/2006/table">
            <a:tbl>
              <a:tblPr/>
              <a:tblGrid>
                <a:gridCol w="1516241">
                  <a:extLst>
                    <a:ext uri="{9D8B030D-6E8A-4147-A177-3AD203B41FA5}">
                      <a16:colId xmlns:a16="http://schemas.microsoft.com/office/drawing/2014/main" val="3492535676"/>
                    </a:ext>
                  </a:extLst>
                </a:gridCol>
                <a:gridCol w="328519">
                  <a:extLst>
                    <a:ext uri="{9D8B030D-6E8A-4147-A177-3AD203B41FA5}">
                      <a16:colId xmlns:a16="http://schemas.microsoft.com/office/drawing/2014/main" val="76689572"/>
                    </a:ext>
                  </a:extLst>
                </a:gridCol>
                <a:gridCol w="328519">
                  <a:extLst>
                    <a:ext uri="{9D8B030D-6E8A-4147-A177-3AD203B41FA5}">
                      <a16:colId xmlns:a16="http://schemas.microsoft.com/office/drawing/2014/main" val="2153248672"/>
                    </a:ext>
                  </a:extLst>
                </a:gridCol>
                <a:gridCol w="328519">
                  <a:extLst>
                    <a:ext uri="{9D8B030D-6E8A-4147-A177-3AD203B41FA5}">
                      <a16:colId xmlns:a16="http://schemas.microsoft.com/office/drawing/2014/main" val="1796686116"/>
                    </a:ext>
                  </a:extLst>
                </a:gridCol>
                <a:gridCol w="328519">
                  <a:extLst>
                    <a:ext uri="{9D8B030D-6E8A-4147-A177-3AD203B41FA5}">
                      <a16:colId xmlns:a16="http://schemas.microsoft.com/office/drawing/2014/main" val="815055748"/>
                    </a:ext>
                  </a:extLst>
                </a:gridCol>
                <a:gridCol w="328519">
                  <a:extLst>
                    <a:ext uri="{9D8B030D-6E8A-4147-A177-3AD203B41FA5}">
                      <a16:colId xmlns:a16="http://schemas.microsoft.com/office/drawing/2014/main" val="4121344099"/>
                    </a:ext>
                  </a:extLst>
                </a:gridCol>
                <a:gridCol w="404330">
                  <a:extLst>
                    <a:ext uri="{9D8B030D-6E8A-4147-A177-3AD203B41FA5}">
                      <a16:colId xmlns:a16="http://schemas.microsoft.com/office/drawing/2014/main" val="3943723764"/>
                    </a:ext>
                  </a:extLst>
                </a:gridCol>
                <a:gridCol w="366425">
                  <a:extLst>
                    <a:ext uri="{9D8B030D-6E8A-4147-A177-3AD203B41FA5}">
                      <a16:colId xmlns:a16="http://schemas.microsoft.com/office/drawing/2014/main" val="3143106854"/>
                    </a:ext>
                  </a:extLst>
                </a:gridCol>
                <a:gridCol w="391695">
                  <a:extLst>
                    <a:ext uri="{9D8B030D-6E8A-4147-A177-3AD203B41FA5}">
                      <a16:colId xmlns:a16="http://schemas.microsoft.com/office/drawing/2014/main" val="840413810"/>
                    </a:ext>
                  </a:extLst>
                </a:gridCol>
                <a:gridCol w="442238">
                  <a:extLst>
                    <a:ext uri="{9D8B030D-6E8A-4147-A177-3AD203B41FA5}">
                      <a16:colId xmlns:a16="http://schemas.microsoft.com/office/drawing/2014/main" val="1588019462"/>
                    </a:ext>
                  </a:extLst>
                </a:gridCol>
                <a:gridCol w="404330">
                  <a:extLst>
                    <a:ext uri="{9D8B030D-6E8A-4147-A177-3AD203B41FA5}">
                      <a16:colId xmlns:a16="http://schemas.microsoft.com/office/drawing/2014/main" val="3380776616"/>
                    </a:ext>
                  </a:extLst>
                </a:gridCol>
                <a:gridCol w="366425">
                  <a:extLst>
                    <a:ext uri="{9D8B030D-6E8A-4147-A177-3AD203B41FA5}">
                      <a16:colId xmlns:a16="http://schemas.microsoft.com/office/drawing/2014/main" val="3065826786"/>
                    </a:ext>
                  </a:extLst>
                </a:gridCol>
                <a:gridCol w="353790">
                  <a:extLst>
                    <a:ext uri="{9D8B030D-6E8A-4147-A177-3AD203B41FA5}">
                      <a16:colId xmlns:a16="http://schemas.microsoft.com/office/drawing/2014/main" val="1086211501"/>
                    </a:ext>
                  </a:extLst>
                </a:gridCol>
                <a:gridCol w="404330">
                  <a:extLst>
                    <a:ext uri="{9D8B030D-6E8A-4147-A177-3AD203B41FA5}">
                      <a16:colId xmlns:a16="http://schemas.microsoft.com/office/drawing/2014/main" val="2199999393"/>
                    </a:ext>
                  </a:extLst>
                </a:gridCol>
                <a:gridCol w="429601">
                  <a:extLst>
                    <a:ext uri="{9D8B030D-6E8A-4147-A177-3AD203B41FA5}">
                      <a16:colId xmlns:a16="http://schemas.microsoft.com/office/drawing/2014/main" val="426754131"/>
                    </a:ext>
                  </a:extLst>
                </a:gridCol>
                <a:gridCol w="442238">
                  <a:extLst>
                    <a:ext uri="{9D8B030D-6E8A-4147-A177-3AD203B41FA5}">
                      <a16:colId xmlns:a16="http://schemas.microsoft.com/office/drawing/2014/main" val="1012459040"/>
                    </a:ext>
                  </a:extLst>
                </a:gridCol>
                <a:gridCol w="404330">
                  <a:extLst>
                    <a:ext uri="{9D8B030D-6E8A-4147-A177-3AD203B41FA5}">
                      <a16:colId xmlns:a16="http://schemas.microsoft.com/office/drawing/2014/main" val="1781910412"/>
                    </a:ext>
                  </a:extLst>
                </a:gridCol>
                <a:gridCol w="467507">
                  <a:extLst>
                    <a:ext uri="{9D8B030D-6E8A-4147-A177-3AD203B41FA5}">
                      <a16:colId xmlns:a16="http://schemas.microsoft.com/office/drawing/2014/main" val="2994845384"/>
                    </a:ext>
                  </a:extLst>
                </a:gridCol>
                <a:gridCol w="492778">
                  <a:extLst>
                    <a:ext uri="{9D8B030D-6E8A-4147-A177-3AD203B41FA5}">
                      <a16:colId xmlns:a16="http://schemas.microsoft.com/office/drawing/2014/main" val="4256857358"/>
                    </a:ext>
                  </a:extLst>
                </a:gridCol>
                <a:gridCol w="555955">
                  <a:extLst>
                    <a:ext uri="{9D8B030D-6E8A-4147-A177-3AD203B41FA5}">
                      <a16:colId xmlns:a16="http://schemas.microsoft.com/office/drawing/2014/main" val="99379560"/>
                    </a:ext>
                  </a:extLst>
                </a:gridCol>
                <a:gridCol w="518049">
                  <a:extLst>
                    <a:ext uri="{9D8B030D-6E8A-4147-A177-3AD203B41FA5}">
                      <a16:colId xmlns:a16="http://schemas.microsoft.com/office/drawing/2014/main" val="2462006788"/>
                    </a:ext>
                  </a:extLst>
                </a:gridCol>
                <a:gridCol w="518049">
                  <a:extLst>
                    <a:ext uri="{9D8B030D-6E8A-4147-A177-3AD203B41FA5}">
                      <a16:colId xmlns:a16="http://schemas.microsoft.com/office/drawing/2014/main" val="1875944976"/>
                    </a:ext>
                  </a:extLst>
                </a:gridCol>
                <a:gridCol w="518049">
                  <a:extLst>
                    <a:ext uri="{9D8B030D-6E8A-4147-A177-3AD203B41FA5}">
                      <a16:colId xmlns:a16="http://schemas.microsoft.com/office/drawing/2014/main" val="3053228018"/>
                    </a:ext>
                  </a:extLst>
                </a:gridCol>
                <a:gridCol w="518049">
                  <a:extLst>
                    <a:ext uri="{9D8B030D-6E8A-4147-A177-3AD203B41FA5}">
                      <a16:colId xmlns:a16="http://schemas.microsoft.com/office/drawing/2014/main" val="1660915840"/>
                    </a:ext>
                  </a:extLst>
                </a:gridCol>
              </a:tblGrid>
              <a:tr h="273320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99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b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s-PE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s-PE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040257"/>
                  </a:ext>
                </a:extLst>
              </a:tr>
              <a:tr h="819964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DIVISIÓN DE CONTROL CONCURRENTE-I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AGO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SET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ABR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AGO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SET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ABR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MAY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JUN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500624"/>
                  </a:ext>
                </a:extLst>
              </a:tr>
              <a:tr h="27332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Reclamos resueltos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401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368 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368 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256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268(*)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alibri Light" panose="020F0302020204030204" pitchFamily="34" charset="0"/>
                        </a:rPr>
                        <a:t>232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670124"/>
                  </a:ext>
                </a:extLst>
              </a:tr>
              <a:tr h="27332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Resolutor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16.7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17.8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alibri Light" panose="020F0302020204030204" pitchFamily="34" charset="0"/>
                        </a:rPr>
                        <a:t>22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260857"/>
                  </a:ext>
                </a:extLst>
              </a:tr>
              <a:tr h="27332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Producción Promedio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18.96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20.24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20.69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14.24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12.29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14.38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14.11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alibri Light" panose="020F0302020204030204" pitchFamily="34" charset="0"/>
                        </a:rPr>
                        <a:t>10.54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465785"/>
                  </a:ext>
                </a:extLst>
              </a:tr>
              <a:tr h="819964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DIVISIÓN DE CONTROL CONCURRENTE-II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AGO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SET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ABR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AGO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SET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ABR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MAY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JUN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159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Reclamos resueltos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107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104 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  77*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89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104 (**)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111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434921"/>
                  </a:ext>
                </a:extLst>
              </a:tr>
              <a:tr h="27332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Resolutor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8.8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10.7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10.5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644288"/>
                  </a:ext>
                </a:extLst>
              </a:tr>
              <a:tr h="27332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Producción Promedio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9.72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10.11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9.72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10.57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371244"/>
                  </a:ext>
                </a:extLst>
              </a:tr>
              <a:tr h="546642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DIVISIÓN DE CONTROL POSTERIOR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AGO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SET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ABR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AGO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SET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ENE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FEB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ABR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MAY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JUN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108723"/>
                  </a:ext>
                </a:extLst>
              </a:tr>
              <a:tr h="35863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Reclamos resueltos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37*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18*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13 (***)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16*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070957"/>
                  </a:ext>
                </a:extLst>
              </a:tr>
              <a:tr h="27332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Resolutor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2.21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6.36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4.89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5.32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6.23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5.37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0602570"/>
                  </a:ext>
                </a:extLst>
              </a:tr>
              <a:tr h="27332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Producción Promedio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 3.63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4.75 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6.90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7.24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2.99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F7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3.84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4.29*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3.38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2.09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2.98</a:t>
                      </a:r>
                      <a:endParaRPr lang="es-P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C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925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528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PRODUCTIVIDAD MARZO 2024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5DCBF7E6-D327-F7EC-950D-E13591629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706"/>
              </p:ext>
            </p:extLst>
          </p:nvPr>
        </p:nvGraphicFramePr>
        <p:xfrm>
          <a:off x="292043" y="1040573"/>
          <a:ext cx="11688829" cy="5087946"/>
        </p:xfrm>
        <a:graphic>
          <a:graphicData uri="http://schemas.openxmlformats.org/drawingml/2006/table">
            <a:tbl>
              <a:tblPr firstRow="1" firstCol="1" bandRow="1"/>
              <a:tblGrid>
                <a:gridCol w="1547558">
                  <a:extLst>
                    <a:ext uri="{9D8B030D-6E8A-4147-A177-3AD203B41FA5}">
                      <a16:colId xmlns:a16="http://schemas.microsoft.com/office/drawing/2014/main" val="925094151"/>
                    </a:ext>
                  </a:extLst>
                </a:gridCol>
                <a:gridCol w="845457">
                  <a:extLst>
                    <a:ext uri="{9D8B030D-6E8A-4147-A177-3AD203B41FA5}">
                      <a16:colId xmlns:a16="http://schemas.microsoft.com/office/drawing/2014/main" val="477222435"/>
                    </a:ext>
                  </a:extLst>
                </a:gridCol>
                <a:gridCol w="1308047">
                  <a:extLst>
                    <a:ext uri="{9D8B030D-6E8A-4147-A177-3AD203B41FA5}">
                      <a16:colId xmlns:a16="http://schemas.microsoft.com/office/drawing/2014/main" val="2282184332"/>
                    </a:ext>
                  </a:extLst>
                </a:gridCol>
                <a:gridCol w="1328326">
                  <a:extLst>
                    <a:ext uri="{9D8B030D-6E8A-4147-A177-3AD203B41FA5}">
                      <a16:colId xmlns:a16="http://schemas.microsoft.com/office/drawing/2014/main" val="889253127"/>
                    </a:ext>
                  </a:extLst>
                </a:gridCol>
                <a:gridCol w="932871">
                  <a:extLst>
                    <a:ext uri="{9D8B030D-6E8A-4147-A177-3AD203B41FA5}">
                      <a16:colId xmlns:a16="http://schemas.microsoft.com/office/drawing/2014/main" val="3618495769"/>
                    </a:ext>
                  </a:extLst>
                </a:gridCol>
                <a:gridCol w="1176230">
                  <a:extLst>
                    <a:ext uri="{9D8B030D-6E8A-4147-A177-3AD203B41FA5}">
                      <a16:colId xmlns:a16="http://schemas.microsoft.com/office/drawing/2014/main" val="3676107308"/>
                    </a:ext>
                  </a:extLst>
                </a:gridCol>
                <a:gridCol w="1308047">
                  <a:extLst>
                    <a:ext uri="{9D8B030D-6E8A-4147-A177-3AD203B41FA5}">
                      <a16:colId xmlns:a16="http://schemas.microsoft.com/office/drawing/2014/main" val="343955240"/>
                    </a:ext>
                  </a:extLst>
                </a:gridCol>
                <a:gridCol w="1107182">
                  <a:extLst>
                    <a:ext uri="{9D8B030D-6E8A-4147-A177-3AD203B41FA5}">
                      <a16:colId xmlns:a16="http://schemas.microsoft.com/office/drawing/2014/main" val="1609030641"/>
                    </a:ext>
                  </a:extLst>
                </a:gridCol>
                <a:gridCol w="1163323">
                  <a:extLst>
                    <a:ext uri="{9D8B030D-6E8A-4147-A177-3AD203B41FA5}">
                      <a16:colId xmlns:a16="http://schemas.microsoft.com/office/drawing/2014/main" val="1343854734"/>
                    </a:ext>
                  </a:extLst>
                </a:gridCol>
                <a:gridCol w="971788">
                  <a:extLst>
                    <a:ext uri="{9D8B030D-6E8A-4147-A177-3AD203B41FA5}">
                      <a16:colId xmlns:a16="http://schemas.microsoft.com/office/drawing/2014/main" val="2417700680"/>
                    </a:ext>
                  </a:extLst>
                </a:gridCol>
              </a:tblGrid>
              <a:tr h="191386">
                <a:tc gridSpan="10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PRODUCCIÓN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PRODUCCIÓN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88204"/>
                  </a:ext>
                </a:extLst>
              </a:tr>
              <a:tr h="191386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UUOO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DCCI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DCCII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DCP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672310"/>
                  </a:ext>
                </a:extLst>
              </a:tr>
              <a:tr h="685503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MATERIA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FONDO</a:t>
                      </a:r>
                      <a:endParaRPr lang="es-P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MEJORA RD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ADMISIBILIDAD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FONDO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MEJORA LC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ADMISIBILIDAD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FONDO</a:t>
                      </a:r>
                      <a:endParaRPr lang="es-PE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MEJORA 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ADMISIBILIDAD APELACIÓN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160857"/>
                  </a:ext>
                </a:extLst>
              </a:tr>
              <a:tr h="2944389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PRODUCTO RESUELTO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232</a:t>
                      </a:r>
                      <a:endParaRPr lang="es-PE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5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5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111</a:t>
                      </a:r>
                      <a:endParaRPr lang="es-PE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Atención de correo de Técnica Aduanera  -IA. Tumbes, sobre reclamos y LC vinculadas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Devolución 3 expedientes a admisibilidad por requisitos y trámite</a:t>
                      </a:r>
                    </a:p>
                    <a:p>
                      <a:pPr algn="l"/>
                      <a:endParaRPr lang="es-ES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s-ES" sz="12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Coordinación sobre 8 expedientes con admisibilidad para rectificar hoja de calificación </a:t>
                      </a:r>
                      <a:endParaRPr lang="es-PE" sz="12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3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5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22694"/>
                  </a:ext>
                </a:extLst>
              </a:tr>
              <a:tr h="411301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RESOLUTOR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</a:t>
                      </a:r>
                      <a:endParaRPr lang="es-PE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5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5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10.5</a:t>
                      </a:r>
                      <a:endParaRPr kumimoji="0" lang="es-P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P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P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5.37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5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5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962428"/>
                  </a:ext>
                </a:extLst>
              </a:tr>
              <a:tr h="650513">
                <a:tc>
                  <a:txBody>
                    <a:bodyPr/>
                    <a:lstStyle/>
                    <a:p>
                      <a:pPr algn="ctr"/>
                      <a:r>
                        <a:rPr lang="es-PE" sz="13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PRODUCCIÓN PROMEDIO</a:t>
                      </a:r>
                      <a:endParaRPr lang="es-PE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10.54</a:t>
                      </a:r>
                      <a:endParaRPr lang="es-PE" sz="1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5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5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10.57</a:t>
                      </a:r>
                      <a:endParaRPr kumimoji="0" lang="es-P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P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P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2.98</a:t>
                      </a:r>
                      <a:endParaRPr lang="es-PE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5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5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006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531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PROGRAMACIÓN Y PRODUCCIÓN–2023-2024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FC2ABA1-B454-A51E-4921-26238E396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901733"/>
              </p:ext>
            </p:extLst>
          </p:nvPr>
        </p:nvGraphicFramePr>
        <p:xfrm>
          <a:off x="292044" y="1293178"/>
          <a:ext cx="11595156" cy="3288345"/>
        </p:xfrm>
        <a:graphic>
          <a:graphicData uri="http://schemas.openxmlformats.org/drawingml/2006/table">
            <a:tbl>
              <a:tblPr/>
              <a:tblGrid>
                <a:gridCol w="541265">
                  <a:extLst>
                    <a:ext uri="{9D8B030D-6E8A-4147-A177-3AD203B41FA5}">
                      <a16:colId xmlns:a16="http://schemas.microsoft.com/office/drawing/2014/main" val="1618482016"/>
                    </a:ext>
                  </a:extLst>
                </a:gridCol>
                <a:gridCol w="511199">
                  <a:extLst>
                    <a:ext uri="{9D8B030D-6E8A-4147-A177-3AD203B41FA5}">
                      <a16:colId xmlns:a16="http://schemas.microsoft.com/office/drawing/2014/main" val="1856879478"/>
                    </a:ext>
                  </a:extLst>
                </a:gridCol>
                <a:gridCol w="431007">
                  <a:extLst>
                    <a:ext uri="{9D8B030D-6E8A-4147-A177-3AD203B41FA5}">
                      <a16:colId xmlns:a16="http://schemas.microsoft.com/office/drawing/2014/main" val="3149995394"/>
                    </a:ext>
                  </a:extLst>
                </a:gridCol>
                <a:gridCol w="531247">
                  <a:extLst>
                    <a:ext uri="{9D8B030D-6E8A-4147-A177-3AD203B41FA5}">
                      <a16:colId xmlns:a16="http://schemas.microsoft.com/office/drawing/2014/main" val="814693575"/>
                    </a:ext>
                  </a:extLst>
                </a:gridCol>
                <a:gridCol w="388813">
                  <a:extLst>
                    <a:ext uri="{9D8B030D-6E8A-4147-A177-3AD203B41FA5}">
                      <a16:colId xmlns:a16="http://schemas.microsoft.com/office/drawing/2014/main" val="1074761190"/>
                    </a:ext>
                  </a:extLst>
                </a:gridCol>
                <a:gridCol w="543368">
                  <a:extLst>
                    <a:ext uri="{9D8B030D-6E8A-4147-A177-3AD203B41FA5}">
                      <a16:colId xmlns:a16="http://schemas.microsoft.com/office/drawing/2014/main" val="3692527559"/>
                    </a:ext>
                  </a:extLst>
                </a:gridCol>
                <a:gridCol w="431007">
                  <a:extLst>
                    <a:ext uri="{9D8B030D-6E8A-4147-A177-3AD203B41FA5}">
                      <a16:colId xmlns:a16="http://schemas.microsoft.com/office/drawing/2014/main" val="4061206135"/>
                    </a:ext>
                  </a:extLst>
                </a:gridCol>
                <a:gridCol w="521218">
                  <a:extLst>
                    <a:ext uri="{9D8B030D-6E8A-4147-A177-3AD203B41FA5}">
                      <a16:colId xmlns:a16="http://schemas.microsoft.com/office/drawing/2014/main" val="693005033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2232056816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2387940828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2569707495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3784964087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1713751460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2001209396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2545075867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3560294591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853417601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2028932761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2799554528"/>
                    </a:ext>
                  </a:extLst>
                </a:gridCol>
                <a:gridCol w="641336">
                  <a:extLst>
                    <a:ext uri="{9D8B030D-6E8A-4147-A177-3AD203B41FA5}">
                      <a16:colId xmlns:a16="http://schemas.microsoft.com/office/drawing/2014/main" val="3675684831"/>
                    </a:ext>
                  </a:extLst>
                </a:gridCol>
              </a:tblGrid>
              <a:tr h="328328">
                <a:tc rowSpan="2">
                  <a:txBody>
                    <a:bodyPr/>
                    <a:lstStyle/>
                    <a:p>
                      <a:pPr algn="ctr" fontAlgn="b"/>
                      <a:endParaRPr lang="es-PE" sz="1450" b="0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2023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fontAlgn="b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2024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447104"/>
                  </a:ext>
                </a:extLst>
              </a:tr>
              <a:tr h="531253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OCTUBRE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NOVIEMBRE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DICIEMBRE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ENERO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FEBRERO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MARZO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MARZO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ABRIL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ABRIL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MAYO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ES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JUNIO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ES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JULIO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194752"/>
                  </a:ext>
                </a:extLst>
              </a:tr>
              <a:tr h="1037930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UUOO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PROD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PROG</a:t>
                      </a:r>
                      <a:endParaRPr lang="es-PE" sz="145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945064"/>
                  </a:ext>
                </a:extLst>
              </a:tr>
              <a:tr h="53125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150 (*)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150 (*)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314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285</a:t>
                      </a:r>
                      <a:endParaRPr lang="es-PE" sz="145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300</a:t>
                      </a:r>
                      <a:endParaRPr lang="es-PE" sz="145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264</a:t>
                      </a:r>
                      <a:endParaRPr lang="es-PE" sz="145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250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236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250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256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280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268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240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232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highlight>
                            <a:srgbClr val="00FFFF"/>
                          </a:highlight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XX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highlight>
                          <a:srgbClr val="00FFFF"/>
                        </a:highlight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564924"/>
                  </a:ext>
                </a:extLst>
              </a:tr>
              <a:tr h="328328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79</a:t>
                      </a:r>
                      <a:endParaRPr lang="es-PE" sz="145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8</a:t>
                      </a:r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83</a:t>
                      </a:r>
                      <a:endParaRPr lang="es-PE" sz="145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81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77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90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89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112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104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102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111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101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038957"/>
                  </a:ext>
                </a:extLst>
              </a:tr>
              <a:tr h="53125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5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14 (*)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15 (*)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20*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  <a:endParaRPr lang="es-PE" sz="145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17</a:t>
                      </a:r>
                      <a:endParaRPr lang="es-PE" sz="145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5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19</a:t>
                      </a:r>
                      <a:endParaRPr lang="es-PE" sz="145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es-PE" sz="145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50" b="1" i="0" u="none" strike="noStrike" kern="1200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es-PE" sz="1450" b="1" i="0" u="none" strike="noStrike" kern="1200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731200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87AF17A-BFED-46AC-919E-843612371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615438"/>
              </p:ext>
            </p:extLst>
          </p:nvPr>
        </p:nvGraphicFramePr>
        <p:xfrm>
          <a:off x="1049103" y="5500375"/>
          <a:ext cx="1916285" cy="9602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3455">
                  <a:extLst>
                    <a:ext uri="{9D8B030D-6E8A-4147-A177-3AD203B41FA5}">
                      <a16:colId xmlns:a16="http://schemas.microsoft.com/office/drawing/2014/main" val="400669114"/>
                    </a:ext>
                  </a:extLst>
                </a:gridCol>
                <a:gridCol w="621363">
                  <a:extLst>
                    <a:ext uri="{9D8B030D-6E8A-4147-A177-3AD203B41FA5}">
                      <a16:colId xmlns:a16="http://schemas.microsoft.com/office/drawing/2014/main" val="47251755"/>
                    </a:ext>
                  </a:extLst>
                </a:gridCol>
                <a:gridCol w="721467">
                  <a:extLst>
                    <a:ext uri="{9D8B030D-6E8A-4147-A177-3AD203B41FA5}">
                      <a16:colId xmlns:a16="http://schemas.microsoft.com/office/drawing/2014/main" val="53380357"/>
                    </a:ext>
                  </a:extLst>
                </a:gridCol>
              </a:tblGrid>
              <a:tr h="245664">
                <a:tc>
                  <a:txBody>
                    <a:bodyPr/>
                    <a:lstStyle/>
                    <a:p>
                      <a:r>
                        <a:rPr lang="es-PE" sz="1100" dirty="0">
                          <a:effectLst/>
                        </a:rPr>
                        <a:t>UUOO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effectLst/>
                        </a:rPr>
                        <a:t>2022 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s-PE" sz="1400">
                          <a:effectLst/>
                        </a:rPr>
                        <a:t>2024 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8351491"/>
                  </a:ext>
                </a:extLst>
              </a:tr>
              <a:tr h="234461"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</a:rPr>
                        <a:t>DCCI 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effectLst/>
                        </a:rPr>
                        <a:t>22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effectLst/>
                        </a:rPr>
                        <a:t>17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4503170"/>
                  </a:ext>
                </a:extLst>
              </a:tr>
              <a:tr h="245664">
                <a:tc>
                  <a:txBody>
                    <a:bodyPr/>
                    <a:lstStyle/>
                    <a:p>
                      <a:r>
                        <a:rPr lang="es-PE" sz="1100">
                          <a:effectLst/>
                        </a:rPr>
                        <a:t>DCCII </a:t>
                      </a:r>
                      <a:endParaRPr lang="es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effectLst/>
                        </a:rPr>
                        <a:t>4.5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effectLst/>
                        </a:rPr>
                        <a:t>10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6236002"/>
                  </a:ext>
                </a:extLst>
              </a:tr>
              <a:tr h="234461">
                <a:tc>
                  <a:txBody>
                    <a:bodyPr/>
                    <a:lstStyle/>
                    <a:p>
                      <a:r>
                        <a:rPr lang="es-PE" sz="1100" dirty="0">
                          <a:effectLst/>
                        </a:rPr>
                        <a:t>DCP</a:t>
                      </a:r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s-PE" sz="1400">
                          <a:effectLst/>
                        </a:rPr>
                        <a:t>2.2 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effectLst/>
                        </a:rPr>
                        <a:t>4.29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7154280"/>
                  </a:ext>
                </a:extLst>
              </a:tr>
            </a:tbl>
          </a:graphicData>
        </a:graphic>
      </p:graphicFrame>
      <p:sp>
        <p:nvSpPr>
          <p:cNvPr id="10" name="Título 94">
            <a:extLst>
              <a:ext uri="{FF2B5EF4-FFF2-40B4-BE49-F238E27FC236}">
                <a16:creationId xmlns:a16="http://schemas.microsoft.com/office/drawing/2014/main" id="{5E639BFF-C474-4303-B9F1-6A675CBE0E77}"/>
              </a:ext>
            </a:extLst>
          </p:cNvPr>
          <p:cNvSpPr txBox="1">
            <a:spLocks/>
          </p:cNvSpPr>
          <p:nvPr/>
        </p:nvSpPr>
        <p:spPr>
          <a:xfrm>
            <a:off x="394707" y="4820616"/>
            <a:ext cx="3040702" cy="594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</a:p>
          <a:p>
            <a:r>
              <a:rPr lang="es-ES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r>
              <a:rPr lang="es-ES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Antecedente </a:t>
            </a:r>
            <a:endParaRPr lang="es-PE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60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PRODUCTIVIDAD POR SUPERVISIÓN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4C93D83-6B0B-8FEB-B248-752214186839}"/>
              </a:ext>
            </a:extLst>
          </p:cNvPr>
          <p:cNvSpPr/>
          <p:nvPr/>
        </p:nvSpPr>
        <p:spPr>
          <a:xfrm>
            <a:off x="657226" y="1839595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</a:t>
            </a:r>
            <a:endParaRPr lang="es-PE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132D901-11E2-23E5-F84C-B50BE13D7D0E}"/>
              </a:ext>
            </a:extLst>
          </p:cNvPr>
          <p:cNvSpPr/>
          <p:nvPr/>
        </p:nvSpPr>
        <p:spPr>
          <a:xfrm>
            <a:off x="657226" y="3439416"/>
            <a:ext cx="1028700" cy="638174"/>
          </a:xfrm>
          <a:prstGeom prst="rightArrow">
            <a:avLst/>
          </a:prstGeom>
          <a:ln w="28575">
            <a:solidFill>
              <a:srgbClr val="FF99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DCCII</a:t>
            </a:r>
            <a:endParaRPr lang="es-PE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5B46D489-2A56-01B0-EB9C-D57AAAD377E8}"/>
              </a:ext>
            </a:extLst>
          </p:cNvPr>
          <p:cNvSpPr/>
          <p:nvPr/>
        </p:nvSpPr>
        <p:spPr>
          <a:xfrm>
            <a:off x="647701" y="5486646"/>
            <a:ext cx="1028700" cy="638174"/>
          </a:xfrm>
          <a:prstGeom prst="rightArrow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DCP</a:t>
            </a:r>
            <a:endParaRPr lang="es-PE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0ADA2C1-AAD1-1A2B-5E48-C4B607DCD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432019"/>
              </p:ext>
            </p:extLst>
          </p:nvPr>
        </p:nvGraphicFramePr>
        <p:xfrm>
          <a:off x="2393298" y="3270180"/>
          <a:ext cx="8693802" cy="160401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455080">
                  <a:extLst>
                    <a:ext uri="{9D8B030D-6E8A-4147-A177-3AD203B41FA5}">
                      <a16:colId xmlns:a16="http://schemas.microsoft.com/office/drawing/2014/main" val="3257801786"/>
                    </a:ext>
                  </a:extLst>
                </a:gridCol>
                <a:gridCol w="2136188">
                  <a:extLst>
                    <a:ext uri="{9D8B030D-6E8A-4147-A177-3AD203B41FA5}">
                      <a16:colId xmlns:a16="http://schemas.microsoft.com/office/drawing/2014/main" val="1776142972"/>
                    </a:ext>
                  </a:extLst>
                </a:gridCol>
                <a:gridCol w="1096282">
                  <a:extLst>
                    <a:ext uri="{9D8B030D-6E8A-4147-A177-3AD203B41FA5}">
                      <a16:colId xmlns:a16="http://schemas.microsoft.com/office/drawing/2014/main" val="153233266"/>
                    </a:ext>
                  </a:extLst>
                </a:gridCol>
                <a:gridCol w="1192082">
                  <a:extLst>
                    <a:ext uri="{9D8B030D-6E8A-4147-A177-3AD203B41FA5}">
                      <a16:colId xmlns:a16="http://schemas.microsoft.com/office/drawing/2014/main" val="1566383420"/>
                    </a:ext>
                  </a:extLst>
                </a:gridCol>
                <a:gridCol w="1378511">
                  <a:extLst>
                    <a:ext uri="{9D8B030D-6E8A-4147-A177-3AD203B41FA5}">
                      <a16:colId xmlns:a16="http://schemas.microsoft.com/office/drawing/2014/main" val="2882639219"/>
                    </a:ext>
                  </a:extLst>
                </a:gridCol>
                <a:gridCol w="1435659">
                  <a:extLst>
                    <a:ext uri="{9D8B030D-6E8A-4147-A177-3AD203B41FA5}">
                      <a16:colId xmlns:a16="http://schemas.microsoft.com/office/drawing/2014/main" val="2536285859"/>
                    </a:ext>
                  </a:extLst>
                </a:gridCol>
              </a:tblGrid>
              <a:tr h="424874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</a:rPr>
                        <a:t>Supervisión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</a:rPr>
                        <a:t>Resolución aplicada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</a:rPr>
                        <a:t>Resolutor efectivo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</a:rPr>
                        <a:t>Producción promedio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47544"/>
                  </a:ext>
                </a:extLst>
              </a:tr>
              <a:tr h="410828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</a:rPr>
                        <a:t>7U7201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dirty="0">
                          <a:solidFill>
                            <a:srgbClr val="000000"/>
                          </a:solidFill>
                          <a:effectLst/>
                        </a:rPr>
                        <a:t>Yessenia Salcedo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INTERMEDIO/ALTA</a:t>
                      </a:r>
                    </a:p>
                  </a:txBody>
                  <a:tcPr marL="68580" marR="68580" marT="9525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9.81</a:t>
                      </a:r>
                      <a:endParaRPr lang="es-PE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37749"/>
                  </a:ext>
                </a:extLst>
              </a:tr>
              <a:tr h="502389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</a:rPr>
                        <a:t>7U7202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800" kern="1200" dirty="0">
                          <a:solidFill>
                            <a:schemeClr val="tx1"/>
                          </a:solidFill>
                          <a:effectLst/>
                        </a:rPr>
                        <a:t>Allison Castro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INTERMEDIO/ALTA</a:t>
                      </a:r>
                    </a:p>
                  </a:txBody>
                  <a:tcPr marL="68580" marR="68580" marT="9525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9.62</a:t>
                      </a:r>
                      <a:endParaRPr lang="es-PE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552211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D7F5025-96FD-A7EE-5367-617ABB232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130629"/>
              </p:ext>
            </p:extLst>
          </p:nvPr>
        </p:nvGraphicFramePr>
        <p:xfrm>
          <a:off x="2393298" y="5091920"/>
          <a:ext cx="8636651" cy="1427626"/>
        </p:xfrm>
        <a:graphic>
          <a:graphicData uri="http://schemas.openxmlformats.org/drawingml/2006/table">
            <a:tbl>
              <a:tblPr firstRow="1" firstCol="1" bandRow="1"/>
              <a:tblGrid>
                <a:gridCol w="1584015">
                  <a:extLst>
                    <a:ext uri="{9D8B030D-6E8A-4147-A177-3AD203B41FA5}">
                      <a16:colId xmlns:a16="http://schemas.microsoft.com/office/drawing/2014/main" val="1791917023"/>
                    </a:ext>
                  </a:extLst>
                </a:gridCol>
                <a:gridCol w="1998876">
                  <a:extLst>
                    <a:ext uri="{9D8B030D-6E8A-4147-A177-3AD203B41FA5}">
                      <a16:colId xmlns:a16="http://schemas.microsoft.com/office/drawing/2014/main" val="778085126"/>
                    </a:ext>
                  </a:extLst>
                </a:gridCol>
                <a:gridCol w="1093724">
                  <a:extLst>
                    <a:ext uri="{9D8B030D-6E8A-4147-A177-3AD203B41FA5}">
                      <a16:colId xmlns:a16="http://schemas.microsoft.com/office/drawing/2014/main" val="3808763990"/>
                    </a:ext>
                  </a:extLst>
                </a:gridCol>
                <a:gridCol w="1169154">
                  <a:extLst>
                    <a:ext uri="{9D8B030D-6E8A-4147-A177-3AD203B41FA5}">
                      <a16:colId xmlns:a16="http://schemas.microsoft.com/office/drawing/2014/main" val="2363829853"/>
                    </a:ext>
                  </a:extLst>
                </a:gridCol>
                <a:gridCol w="1395441">
                  <a:extLst>
                    <a:ext uri="{9D8B030D-6E8A-4147-A177-3AD203B41FA5}">
                      <a16:colId xmlns:a16="http://schemas.microsoft.com/office/drawing/2014/main" val="3525508578"/>
                    </a:ext>
                  </a:extLst>
                </a:gridCol>
                <a:gridCol w="1395441">
                  <a:extLst>
                    <a:ext uri="{9D8B030D-6E8A-4147-A177-3AD203B41FA5}">
                      <a16:colId xmlns:a16="http://schemas.microsoft.com/office/drawing/2014/main" val="3174711922"/>
                    </a:ext>
                  </a:extLst>
                </a:gridCol>
              </a:tblGrid>
              <a:tr h="604666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Supervisión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 aplicada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Resolutor efectivo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Producción promedio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27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Ellsworth Carpio</a:t>
                      </a:r>
                    </a:p>
                    <a:p>
                      <a:pPr algn="ctr"/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 RD(*)</a:t>
                      </a:r>
                    </a:p>
                    <a:p>
                      <a:pPr algn="ctr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 INF.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5.37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MUY ALTA 3</a:t>
                      </a:r>
                    </a:p>
                    <a:p>
                      <a:pPr algn="l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ALTA 10</a:t>
                      </a:r>
                    </a:p>
                    <a:p>
                      <a:pPr algn="l"/>
                      <a:r>
                        <a:rPr lang="es-E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MEDIA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2.98 (*)</a:t>
                      </a:r>
                      <a:endParaRPr lang="es-PE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18158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9B5AFAD-2AB6-6CDE-A9C3-4DCFAEE25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430468"/>
              </p:ext>
            </p:extLst>
          </p:nvPr>
        </p:nvGraphicFramePr>
        <p:xfrm>
          <a:off x="2393295" y="1035366"/>
          <a:ext cx="8636653" cy="1963161"/>
        </p:xfrm>
        <a:graphic>
          <a:graphicData uri="http://schemas.openxmlformats.org/drawingml/2006/table">
            <a:tbl>
              <a:tblPr firstRow="1" firstCol="1" bandRow="1"/>
              <a:tblGrid>
                <a:gridCol w="1469809">
                  <a:extLst>
                    <a:ext uri="{9D8B030D-6E8A-4147-A177-3AD203B41FA5}">
                      <a16:colId xmlns:a16="http://schemas.microsoft.com/office/drawing/2014/main" val="2785956031"/>
                    </a:ext>
                  </a:extLst>
                </a:gridCol>
                <a:gridCol w="2101353">
                  <a:extLst>
                    <a:ext uri="{9D8B030D-6E8A-4147-A177-3AD203B41FA5}">
                      <a16:colId xmlns:a16="http://schemas.microsoft.com/office/drawing/2014/main" val="1033099074"/>
                    </a:ext>
                  </a:extLst>
                </a:gridCol>
                <a:gridCol w="1056369">
                  <a:extLst>
                    <a:ext uri="{9D8B030D-6E8A-4147-A177-3AD203B41FA5}">
                      <a16:colId xmlns:a16="http://schemas.microsoft.com/office/drawing/2014/main" val="1980848825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176937328"/>
                    </a:ext>
                  </a:extLst>
                </a:gridCol>
                <a:gridCol w="1421631">
                  <a:extLst>
                    <a:ext uri="{9D8B030D-6E8A-4147-A177-3AD203B41FA5}">
                      <a16:colId xmlns:a16="http://schemas.microsoft.com/office/drawing/2014/main" val="1472209076"/>
                    </a:ext>
                  </a:extLst>
                </a:gridCol>
                <a:gridCol w="1421631">
                  <a:extLst>
                    <a:ext uri="{9D8B030D-6E8A-4147-A177-3AD203B41FA5}">
                      <a16:colId xmlns:a16="http://schemas.microsoft.com/office/drawing/2014/main" val="1870332436"/>
                    </a:ext>
                  </a:extLst>
                </a:gridCol>
              </a:tblGrid>
              <a:tr h="855786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Supervisión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 aplicada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Resolutor efectivo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Producción promedio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48822"/>
                  </a:ext>
                </a:extLst>
              </a:tr>
              <a:tr h="361856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Roberto Vera Tudela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78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P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15.60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2714"/>
                  </a:ext>
                </a:extLst>
              </a:tr>
              <a:tr h="317626">
                <a:tc>
                  <a:txBody>
                    <a:bodyPr/>
                    <a:lstStyle/>
                    <a:p>
                      <a:pPr algn="ctr"/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Vanesa Chávez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4.6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P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17.17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718254"/>
                  </a:ext>
                </a:extLst>
              </a:tr>
              <a:tr h="427893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Angelita Santillan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6.4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P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8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lt"/>
                          <a:ea typeface="+mn-ea"/>
                          <a:cs typeface="+mn-cs"/>
                        </a:rPr>
                        <a:t>11.72</a:t>
                      </a:r>
                      <a:endParaRPr lang="es-PE" sz="1800" kern="1200" dirty="0"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51865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F696C2A2-DD36-69DE-704F-6AC1CB2E48BD}"/>
              </a:ext>
            </a:extLst>
          </p:cNvPr>
          <p:cNvSpPr txBox="1"/>
          <p:nvPr/>
        </p:nvSpPr>
        <p:spPr>
          <a:xfrm>
            <a:off x="2307571" y="4846364"/>
            <a:ext cx="8636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(*) </a:t>
            </a:r>
            <a:r>
              <a:rPr lang="es-ES" sz="1050" dirty="0"/>
              <a:t>Incluye 07 </a:t>
            </a:r>
            <a:r>
              <a:rPr lang="es-ES" sz="1050" dirty="0" err="1"/>
              <a:t>RDs</a:t>
            </a:r>
            <a:r>
              <a:rPr lang="es-ES" sz="1050" dirty="0"/>
              <a:t> que no pudieron aplicarse por falla del sistema - SIGERI (aplicadas 3 de junio</a:t>
            </a:r>
            <a:r>
              <a:rPr lang="es-ES" sz="1100" dirty="0"/>
              <a:t>)</a:t>
            </a:r>
            <a:endParaRPr lang="es-PE" sz="11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904C80E-FCD8-F48D-53FB-9E90B144A774}"/>
              </a:ext>
            </a:extLst>
          </p:cNvPr>
          <p:cNvSpPr txBox="1"/>
          <p:nvPr/>
        </p:nvSpPr>
        <p:spPr>
          <a:xfrm>
            <a:off x="2269472" y="6482773"/>
            <a:ext cx="8636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(*) Incluye 5 casos origen DCCI.</a:t>
            </a:r>
            <a:endParaRPr lang="es-PE" sz="11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AA650FB-D454-02CE-DB19-F659CFA837AB}"/>
              </a:ext>
            </a:extLst>
          </p:cNvPr>
          <p:cNvSpPr txBox="1"/>
          <p:nvPr/>
        </p:nvSpPr>
        <p:spPr>
          <a:xfrm>
            <a:off x="2307572" y="2980141"/>
            <a:ext cx="8636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(*) Labores adicionales.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772513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PROYECTADO Y NO APLICADO 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4C93D83-6B0B-8FEB-B248-752214186839}"/>
              </a:ext>
            </a:extLst>
          </p:cNvPr>
          <p:cNvSpPr/>
          <p:nvPr/>
        </p:nvSpPr>
        <p:spPr>
          <a:xfrm>
            <a:off x="657226" y="1839595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</a:t>
            </a:r>
            <a:endParaRPr lang="es-PE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132D901-11E2-23E5-F84C-B50BE13D7D0E}"/>
              </a:ext>
            </a:extLst>
          </p:cNvPr>
          <p:cNvSpPr/>
          <p:nvPr/>
        </p:nvSpPr>
        <p:spPr>
          <a:xfrm>
            <a:off x="723902" y="3976453"/>
            <a:ext cx="1028700" cy="638174"/>
          </a:xfrm>
          <a:prstGeom prst="rightArrow">
            <a:avLst/>
          </a:prstGeom>
          <a:ln w="28575">
            <a:solidFill>
              <a:srgbClr val="FF66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DCCII</a:t>
            </a:r>
            <a:endParaRPr lang="es-PE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5B46D489-2A56-01B0-EB9C-D57AAAD377E8}"/>
              </a:ext>
            </a:extLst>
          </p:cNvPr>
          <p:cNvSpPr/>
          <p:nvPr/>
        </p:nvSpPr>
        <p:spPr>
          <a:xfrm>
            <a:off x="723902" y="5793585"/>
            <a:ext cx="1028700" cy="638174"/>
          </a:xfrm>
          <a:prstGeom prst="rightArrow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DCP</a:t>
            </a:r>
            <a:endParaRPr lang="es-PE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D983311-D5D2-D4A1-1B19-7BD4F56B9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353051"/>
              </p:ext>
            </p:extLst>
          </p:nvPr>
        </p:nvGraphicFramePr>
        <p:xfrm>
          <a:off x="2349855" y="1022523"/>
          <a:ext cx="9012794" cy="2267814"/>
        </p:xfrm>
        <a:graphic>
          <a:graphicData uri="http://schemas.openxmlformats.org/drawingml/2006/table">
            <a:tbl>
              <a:tblPr firstRow="1" firstCol="1" bandRow="1"/>
              <a:tblGrid>
                <a:gridCol w="1363960">
                  <a:extLst>
                    <a:ext uri="{9D8B030D-6E8A-4147-A177-3AD203B41FA5}">
                      <a16:colId xmlns:a16="http://schemas.microsoft.com/office/drawing/2014/main" val="2785956031"/>
                    </a:ext>
                  </a:extLst>
                </a:gridCol>
                <a:gridCol w="1946617">
                  <a:extLst>
                    <a:ext uri="{9D8B030D-6E8A-4147-A177-3AD203B41FA5}">
                      <a16:colId xmlns:a16="http://schemas.microsoft.com/office/drawing/2014/main" val="1033099074"/>
                    </a:ext>
                  </a:extLst>
                </a:gridCol>
                <a:gridCol w="1403098">
                  <a:extLst>
                    <a:ext uri="{9D8B030D-6E8A-4147-A177-3AD203B41FA5}">
                      <a16:colId xmlns:a16="http://schemas.microsoft.com/office/drawing/2014/main" val="1980848825"/>
                    </a:ext>
                  </a:extLst>
                </a:gridCol>
                <a:gridCol w="1249960">
                  <a:extLst>
                    <a:ext uri="{9D8B030D-6E8A-4147-A177-3AD203B41FA5}">
                      <a16:colId xmlns:a16="http://schemas.microsoft.com/office/drawing/2014/main" val="176937328"/>
                    </a:ext>
                  </a:extLst>
                </a:gridCol>
                <a:gridCol w="1837189">
                  <a:extLst>
                    <a:ext uri="{9D8B030D-6E8A-4147-A177-3AD203B41FA5}">
                      <a16:colId xmlns:a16="http://schemas.microsoft.com/office/drawing/2014/main" val="1870332436"/>
                    </a:ext>
                  </a:extLst>
                </a:gridCol>
                <a:gridCol w="1211970">
                  <a:extLst>
                    <a:ext uri="{9D8B030D-6E8A-4147-A177-3AD203B41FA5}">
                      <a16:colId xmlns:a16="http://schemas.microsoft.com/office/drawing/2014/main" val="617388905"/>
                    </a:ext>
                  </a:extLst>
                </a:gridCol>
              </a:tblGrid>
              <a:tr h="447404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Supervisión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 proyectada 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aplicada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PE" sz="16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Motivo 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b="1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48822"/>
                  </a:ext>
                </a:extLst>
              </a:tr>
              <a:tr h="391479">
                <a:tc>
                  <a:txBody>
                    <a:bodyPr/>
                    <a:lstStyle/>
                    <a:p>
                      <a:pPr algn="l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Roberto Vera Tudela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s-PE" sz="14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  <a:endParaRPr lang="es-PE" sz="14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Dentro de 30 dias</a:t>
                      </a:r>
                    </a:p>
                    <a:p>
                      <a:pPr algn="l"/>
                      <a:r>
                        <a:rPr lang="pt-BR" sz="14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pt-BR" sz="1400" b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400" b="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2714"/>
                  </a:ext>
                </a:extLst>
              </a:tr>
              <a:tr h="256134">
                <a:tc>
                  <a:txBody>
                    <a:bodyPr/>
                    <a:lstStyle/>
                    <a:p>
                      <a:pPr algn="l"/>
                      <a:r>
                        <a:rPr lang="es-E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Vanesa Chávez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89</a:t>
                      </a:r>
                      <a:endParaRPr lang="es-PE" sz="14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89</a:t>
                      </a:r>
                      <a:endParaRPr lang="es-PE" sz="14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s-ES" sz="1400" b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es-PE" sz="14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718254"/>
                  </a:ext>
                </a:extLst>
              </a:tr>
              <a:tr h="1006659">
                <a:tc>
                  <a:txBody>
                    <a:bodyPr/>
                    <a:lstStyle/>
                    <a:p>
                      <a:pPr algn="l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Angelita Santillan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endParaRPr lang="es-PE" sz="14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79 </a:t>
                      </a:r>
                      <a:endParaRPr lang="es-PE" sz="14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x Memo por valor en evaluación</a:t>
                      </a:r>
                    </a:p>
                    <a:p>
                      <a:pPr algn="l"/>
                      <a:r>
                        <a:rPr lang="es-E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notificados el 1ero junio</a:t>
                      </a:r>
                    </a:p>
                    <a:p>
                      <a:pPr algn="l"/>
                      <a:r>
                        <a:rPr lang="es-E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proyecto dentro de 30 días</a:t>
                      </a:r>
                    </a:p>
                    <a:p>
                      <a:pPr algn="l"/>
                      <a:r>
                        <a:rPr lang="es-E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complejidad</a:t>
                      </a:r>
                      <a:endParaRPr lang="es-PE" sz="120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51865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F7A7C28-D61E-7992-8D2D-1107C7240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342603"/>
              </p:ext>
            </p:extLst>
          </p:nvPr>
        </p:nvGraphicFramePr>
        <p:xfrm>
          <a:off x="2345422" y="3318913"/>
          <a:ext cx="9017226" cy="1953255"/>
        </p:xfrm>
        <a:graphic>
          <a:graphicData uri="http://schemas.openxmlformats.org/drawingml/2006/table">
            <a:tbl>
              <a:tblPr firstRow="1" firstCol="1" bandRow="1"/>
              <a:tblGrid>
                <a:gridCol w="1372640">
                  <a:extLst>
                    <a:ext uri="{9D8B030D-6E8A-4147-A177-3AD203B41FA5}">
                      <a16:colId xmlns:a16="http://schemas.microsoft.com/office/drawing/2014/main" val="3257801786"/>
                    </a:ext>
                  </a:extLst>
                </a:gridCol>
                <a:gridCol w="1978063">
                  <a:extLst>
                    <a:ext uri="{9D8B030D-6E8A-4147-A177-3AD203B41FA5}">
                      <a16:colId xmlns:a16="http://schemas.microsoft.com/office/drawing/2014/main" val="1776142972"/>
                    </a:ext>
                  </a:extLst>
                </a:gridCol>
                <a:gridCol w="1350627">
                  <a:extLst>
                    <a:ext uri="{9D8B030D-6E8A-4147-A177-3AD203B41FA5}">
                      <a16:colId xmlns:a16="http://schemas.microsoft.com/office/drawing/2014/main" val="153233266"/>
                    </a:ext>
                  </a:extLst>
                </a:gridCol>
                <a:gridCol w="1291905">
                  <a:extLst>
                    <a:ext uri="{9D8B030D-6E8A-4147-A177-3AD203B41FA5}">
                      <a16:colId xmlns:a16="http://schemas.microsoft.com/office/drawing/2014/main" val="1566383420"/>
                    </a:ext>
                  </a:extLst>
                </a:gridCol>
                <a:gridCol w="1786855">
                  <a:extLst>
                    <a:ext uri="{9D8B030D-6E8A-4147-A177-3AD203B41FA5}">
                      <a16:colId xmlns:a16="http://schemas.microsoft.com/office/drawing/2014/main" val="2536285859"/>
                    </a:ext>
                  </a:extLst>
                </a:gridCol>
                <a:gridCol w="1237136">
                  <a:extLst>
                    <a:ext uri="{9D8B030D-6E8A-4147-A177-3AD203B41FA5}">
                      <a16:colId xmlns:a16="http://schemas.microsoft.com/office/drawing/2014/main" val="2628142879"/>
                    </a:ext>
                  </a:extLst>
                </a:gridCol>
              </a:tblGrid>
              <a:tr h="509317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Supervisión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 proyectada 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aplicada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PE" sz="16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Motivo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b="1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47544"/>
                  </a:ext>
                </a:extLst>
              </a:tr>
              <a:tr h="954968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Yessenia Salcedo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47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46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Pendiente de informe parcial de admisibilidad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Medio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37749"/>
                  </a:ext>
                </a:extLst>
              </a:tr>
              <a:tr h="48897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Allison Castro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66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66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Medio/Alta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552211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ED00117-3C55-7947-AD48-A563CEB4C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52660"/>
              </p:ext>
            </p:extLst>
          </p:nvPr>
        </p:nvGraphicFramePr>
        <p:xfrm>
          <a:off x="2345422" y="5538659"/>
          <a:ext cx="9017226" cy="1194372"/>
        </p:xfrm>
        <a:graphic>
          <a:graphicData uri="http://schemas.openxmlformats.org/drawingml/2006/table">
            <a:tbl>
              <a:tblPr firstRow="1" firstCol="1" bandRow="1"/>
              <a:tblGrid>
                <a:gridCol w="1383294">
                  <a:extLst>
                    <a:ext uri="{9D8B030D-6E8A-4147-A177-3AD203B41FA5}">
                      <a16:colId xmlns:a16="http://schemas.microsoft.com/office/drawing/2014/main" val="1791917023"/>
                    </a:ext>
                  </a:extLst>
                </a:gridCol>
                <a:gridCol w="2017743">
                  <a:extLst>
                    <a:ext uri="{9D8B030D-6E8A-4147-A177-3AD203B41FA5}">
                      <a16:colId xmlns:a16="http://schemas.microsoft.com/office/drawing/2014/main" val="778085126"/>
                    </a:ext>
                  </a:extLst>
                </a:gridCol>
                <a:gridCol w="1308682">
                  <a:extLst>
                    <a:ext uri="{9D8B030D-6E8A-4147-A177-3AD203B41FA5}">
                      <a16:colId xmlns:a16="http://schemas.microsoft.com/office/drawing/2014/main" val="3808763990"/>
                    </a:ext>
                  </a:extLst>
                </a:gridCol>
                <a:gridCol w="1266738">
                  <a:extLst>
                    <a:ext uri="{9D8B030D-6E8A-4147-A177-3AD203B41FA5}">
                      <a16:colId xmlns:a16="http://schemas.microsoft.com/office/drawing/2014/main" val="2363829853"/>
                    </a:ext>
                  </a:extLst>
                </a:gridCol>
                <a:gridCol w="1795244">
                  <a:extLst>
                    <a:ext uri="{9D8B030D-6E8A-4147-A177-3AD203B41FA5}">
                      <a16:colId xmlns:a16="http://schemas.microsoft.com/office/drawing/2014/main" val="3174711922"/>
                    </a:ext>
                  </a:extLst>
                </a:gridCol>
                <a:gridCol w="1245525">
                  <a:extLst>
                    <a:ext uri="{9D8B030D-6E8A-4147-A177-3AD203B41FA5}">
                      <a16:colId xmlns:a16="http://schemas.microsoft.com/office/drawing/2014/main" val="2946329490"/>
                    </a:ext>
                  </a:extLst>
                </a:gridCol>
              </a:tblGrid>
              <a:tr h="604666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Supervisión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Nombre y apellido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 proyectada 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Resolución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1600" b="1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aplicada</a:t>
                      </a:r>
                      <a:r>
                        <a:rPr lang="es-ES" sz="1600" b="1" u="sng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s-PE" sz="16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Motivo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Complejidad</a:t>
                      </a:r>
                      <a:endParaRPr lang="es-PE" sz="1600" b="1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27267"/>
                  </a:ext>
                </a:extLst>
              </a:tr>
              <a:tr h="589706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Ellsworth Carpio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</a:t>
                      </a:r>
                      <a:endParaRPr lang="es-PE" sz="1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18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90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PRODUCCIÓN POR RESOLUTOR-DCCI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06BF35C-A620-14C5-709B-343B3BA7C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651458"/>
              </p:ext>
            </p:extLst>
          </p:nvPr>
        </p:nvGraphicFramePr>
        <p:xfrm>
          <a:off x="1157969" y="1181294"/>
          <a:ext cx="8226890" cy="5152545"/>
        </p:xfrm>
        <a:graphic>
          <a:graphicData uri="http://schemas.openxmlformats.org/drawingml/2006/table">
            <a:tbl>
              <a:tblPr firstRow="1" firstCol="1" bandRow="1"/>
              <a:tblGrid>
                <a:gridCol w="1401112">
                  <a:extLst>
                    <a:ext uri="{9D8B030D-6E8A-4147-A177-3AD203B41FA5}">
                      <a16:colId xmlns:a16="http://schemas.microsoft.com/office/drawing/2014/main" val="2775420412"/>
                    </a:ext>
                  </a:extLst>
                </a:gridCol>
                <a:gridCol w="1493959">
                  <a:extLst>
                    <a:ext uri="{9D8B030D-6E8A-4147-A177-3AD203B41FA5}">
                      <a16:colId xmlns:a16="http://schemas.microsoft.com/office/drawing/2014/main" val="1302868493"/>
                    </a:ext>
                  </a:extLst>
                </a:gridCol>
                <a:gridCol w="1193749">
                  <a:extLst>
                    <a:ext uri="{9D8B030D-6E8A-4147-A177-3AD203B41FA5}">
                      <a16:colId xmlns:a16="http://schemas.microsoft.com/office/drawing/2014/main" val="2619335631"/>
                    </a:ext>
                  </a:extLst>
                </a:gridCol>
                <a:gridCol w="2253856">
                  <a:extLst>
                    <a:ext uri="{9D8B030D-6E8A-4147-A177-3AD203B41FA5}">
                      <a16:colId xmlns:a16="http://schemas.microsoft.com/office/drawing/2014/main" val="3518194475"/>
                    </a:ext>
                  </a:extLst>
                </a:gridCol>
                <a:gridCol w="942107">
                  <a:extLst>
                    <a:ext uri="{9D8B030D-6E8A-4147-A177-3AD203B41FA5}">
                      <a16:colId xmlns:a16="http://schemas.microsoft.com/office/drawing/2014/main" val="2121101367"/>
                    </a:ext>
                  </a:extLst>
                </a:gridCol>
                <a:gridCol w="942107">
                  <a:extLst>
                    <a:ext uri="{9D8B030D-6E8A-4147-A177-3AD203B41FA5}">
                      <a16:colId xmlns:a16="http://schemas.microsoft.com/office/drawing/2014/main" val="2184007081"/>
                    </a:ext>
                  </a:extLst>
                </a:gridCol>
              </a:tblGrid>
              <a:tr h="667188"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UUOO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SUPERVISIONES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REGISTRO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FUNCIONARIO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CARGO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 PROMEDIO MENSUAL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739676"/>
                  </a:ext>
                </a:extLst>
              </a:tr>
              <a:tr h="208075">
                <a:tc rowSpan="26"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7U7100 DIVISION DE CONTROL CONCURRENTE I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 anchor="ctr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5877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Roberto Vera Tudela Gallesi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78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33111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2900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Carolina Cavero Carrion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28024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4469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Maria Hurtado Custodio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05233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5534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Celso Sanchez Garrido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427210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3284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 Diaz Jurado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9885504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3085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Edgar Cosio Jara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908171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8351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Debra Araoz Laines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649333"/>
                  </a:ext>
                </a:extLst>
              </a:tr>
              <a:tr h="25392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5565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Victoria Santa Cruz Martinez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526119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4644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Cesar Linares Alcantara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3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912357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7580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Vanesa Chavez Silva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79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75679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2968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Maria Chire Tunque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672239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4949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Javier Oyarse Cruz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470116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4504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Hugo Jimenez Suclla 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379770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8319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Carla </a:t>
                      </a:r>
                      <a:r>
                        <a:rPr lang="es-PE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Vilcapaza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Amaro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214071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3977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William Godoy Escalante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332093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5730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Marco Tregear Jimenez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305363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7324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Zaira Carbajal Jara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309015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5569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Gladys Santillan Valdivia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75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749343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7625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Teresita Quezada Villar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612033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7330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Tania Rosales Ochoa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642436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4770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Maritza Mollinedo Catunta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291206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2858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Julio Castañeda Calderon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839985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7611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Azhir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Sandoval Guevara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887700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7661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Luis Cordova Meza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128652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7674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Andres Angulo Farfan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68020"/>
                  </a:ext>
                </a:extLst>
              </a:tr>
              <a:tr h="166797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7U7103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5556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Jorge </a:t>
                      </a:r>
                      <a:r>
                        <a:rPr lang="es-PE" sz="1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Sanchez</a:t>
                      </a:r>
                      <a:r>
                        <a:rPr lang="es-PE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Torres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1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PE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782" marR="57782" marT="0" marB="0">
                    <a:lnL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609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915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PRODUCCIÓN POR RESOLUTOR-DCCII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E864E31-624B-DBA5-F636-0330773E3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525491"/>
              </p:ext>
            </p:extLst>
          </p:nvPr>
        </p:nvGraphicFramePr>
        <p:xfrm>
          <a:off x="1201409" y="1383543"/>
          <a:ext cx="9628517" cy="4569576"/>
        </p:xfrm>
        <a:graphic>
          <a:graphicData uri="http://schemas.openxmlformats.org/drawingml/2006/table">
            <a:tbl>
              <a:tblPr/>
              <a:tblGrid>
                <a:gridCol w="1219790">
                  <a:extLst>
                    <a:ext uri="{9D8B030D-6E8A-4147-A177-3AD203B41FA5}">
                      <a16:colId xmlns:a16="http://schemas.microsoft.com/office/drawing/2014/main" val="2857257721"/>
                    </a:ext>
                  </a:extLst>
                </a:gridCol>
                <a:gridCol w="1219790">
                  <a:extLst>
                    <a:ext uri="{9D8B030D-6E8A-4147-A177-3AD203B41FA5}">
                      <a16:colId xmlns:a16="http://schemas.microsoft.com/office/drawing/2014/main" val="4161489616"/>
                    </a:ext>
                  </a:extLst>
                </a:gridCol>
                <a:gridCol w="1774033">
                  <a:extLst>
                    <a:ext uri="{9D8B030D-6E8A-4147-A177-3AD203B41FA5}">
                      <a16:colId xmlns:a16="http://schemas.microsoft.com/office/drawing/2014/main" val="1630339697"/>
                    </a:ext>
                  </a:extLst>
                </a:gridCol>
                <a:gridCol w="2592172">
                  <a:extLst>
                    <a:ext uri="{9D8B030D-6E8A-4147-A177-3AD203B41FA5}">
                      <a16:colId xmlns:a16="http://schemas.microsoft.com/office/drawing/2014/main" val="1004286328"/>
                    </a:ext>
                  </a:extLst>
                </a:gridCol>
                <a:gridCol w="1350635">
                  <a:extLst>
                    <a:ext uri="{9D8B030D-6E8A-4147-A177-3AD203B41FA5}">
                      <a16:colId xmlns:a16="http://schemas.microsoft.com/office/drawing/2014/main" val="3904268956"/>
                    </a:ext>
                  </a:extLst>
                </a:gridCol>
                <a:gridCol w="1472097">
                  <a:extLst>
                    <a:ext uri="{9D8B030D-6E8A-4147-A177-3AD203B41FA5}">
                      <a16:colId xmlns:a16="http://schemas.microsoft.com/office/drawing/2014/main" val="781816914"/>
                    </a:ext>
                  </a:extLst>
                </a:gridCol>
              </a:tblGrid>
              <a:tr h="779895"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UUOO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SUPERVISIONES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REGISTRO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FUNCIONARIO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CARGO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PRODUCCIÓN PROMEDIO MENSUAL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95547"/>
                  </a:ext>
                </a:extLst>
              </a:tr>
              <a:tr h="219609">
                <a:tc rowSpan="14"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7U7200 DIVISION DE CONTROL CONCURRENTE II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7587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Yessenia Salcedo Diaz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Supervisor 2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105208"/>
                  </a:ext>
                </a:extLst>
              </a:tr>
              <a:tr h="21960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7342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Juan Cuya Velarde 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316586"/>
                  </a:ext>
                </a:extLst>
              </a:tr>
              <a:tr h="36264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4644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Carlos Malaga Portocarrero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784360"/>
                  </a:ext>
                </a:extLst>
              </a:tr>
              <a:tr h="21960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4569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Jose Linarez Amacifuen 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276232"/>
                  </a:ext>
                </a:extLst>
              </a:tr>
              <a:tr h="21960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AO21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Renierd Rios Gomez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CAS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432791"/>
                  </a:ext>
                </a:extLst>
              </a:tr>
              <a:tr h="36264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7211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Roberto Rivarola Hidalgo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2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078045"/>
                  </a:ext>
                </a:extLst>
              </a:tr>
              <a:tr h="21960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7624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Poul Valdivia Charca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2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7867095"/>
                  </a:ext>
                </a:extLst>
              </a:tr>
              <a:tr h="36264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5844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Richard Vela Nuñez 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600010"/>
                  </a:ext>
                </a:extLst>
              </a:tr>
              <a:tr h="21960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7575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Allison Castro 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Supervisor 2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248280"/>
                  </a:ext>
                </a:extLst>
              </a:tr>
              <a:tr h="21960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2423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Cecilia Acosta Salazar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4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725865"/>
                  </a:ext>
                </a:extLst>
              </a:tr>
              <a:tr h="36264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7326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Lydia Arestegui Pereyra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536542"/>
                  </a:ext>
                </a:extLst>
              </a:tr>
              <a:tr h="21960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AT75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Victoria Flores Alvitez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CAS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15262"/>
                  </a:ext>
                </a:extLst>
              </a:tr>
              <a:tr h="36264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7151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Lourdes Pretel Noblecilla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3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490926"/>
                  </a:ext>
                </a:extLst>
              </a:tr>
              <a:tr h="219609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7U7202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5749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Wilder Ulloa Ascencio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Especialista 5</a:t>
                      </a:r>
                    </a:p>
                  </a:txBody>
                  <a:tcPr marL="68580" marR="68580" marT="9525" marB="0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P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996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626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PRODUCCIÓN POR RESOLUTOR-DCP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B7C2AC0-86A4-ABEE-06F2-450F63287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339810"/>
              </p:ext>
            </p:extLst>
          </p:nvPr>
        </p:nvGraphicFramePr>
        <p:xfrm>
          <a:off x="2301715" y="1751700"/>
          <a:ext cx="6911134" cy="4167863"/>
        </p:xfrm>
        <a:graphic>
          <a:graphicData uri="http://schemas.openxmlformats.org/drawingml/2006/table">
            <a:tbl>
              <a:tblPr firstRow="1" firstCol="1" bandRow="1"/>
              <a:tblGrid>
                <a:gridCol w="1185506">
                  <a:extLst>
                    <a:ext uri="{9D8B030D-6E8A-4147-A177-3AD203B41FA5}">
                      <a16:colId xmlns:a16="http://schemas.microsoft.com/office/drawing/2014/main" val="850406056"/>
                    </a:ext>
                  </a:extLst>
                </a:gridCol>
                <a:gridCol w="1075569">
                  <a:extLst>
                    <a:ext uri="{9D8B030D-6E8A-4147-A177-3AD203B41FA5}">
                      <a16:colId xmlns:a16="http://schemas.microsoft.com/office/drawing/2014/main" val="973022981"/>
                    </a:ext>
                  </a:extLst>
                </a:gridCol>
                <a:gridCol w="916110">
                  <a:extLst>
                    <a:ext uri="{9D8B030D-6E8A-4147-A177-3AD203B41FA5}">
                      <a16:colId xmlns:a16="http://schemas.microsoft.com/office/drawing/2014/main" val="2347363923"/>
                    </a:ext>
                  </a:extLst>
                </a:gridCol>
                <a:gridCol w="1802019">
                  <a:extLst>
                    <a:ext uri="{9D8B030D-6E8A-4147-A177-3AD203B41FA5}">
                      <a16:colId xmlns:a16="http://schemas.microsoft.com/office/drawing/2014/main" val="2396742907"/>
                    </a:ext>
                  </a:extLst>
                </a:gridCol>
                <a:gridCol w="1006766">
                  <a:extLst>
                    <a:ext uri="{9D8B030D-6E8A-4147-A177-3AD203B41FA5}">
                      <a16:colId xmlns:a16="http://schemas.microsoft.com/office/drawing/2014/main" val="4024969280"/>
                    </a:ext>
                  </a:extLst>
                </a:gridCol>
                <a:gridCol w="925164">
                  <a:extLst>
                    <a:ext uri="{9D8B030D-6E8A-4147-A177-3AD203B41FA5}">
                      <a16:colId xmlns:a16="http://schemas.microsoft.com/office/drawing/2014/main" val="2141008519"/>
                    </a:ext>
                  </a:extLst>
                </a:gridCol>
              </a:tblGrid>
              <a:tr h="567112">
                <a:tc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UUOO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SUPERVISIONES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REGISTRO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FUNCIONARIO 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CARGO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 PROMEDIO MENSUAL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397411"/>
                  </a:ext>
                </a:extLst>
              </a:tr>
              <a:tr h="347695">
                <a:tc rowSpan="8"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7U7300 DIVISION DE CONTROL POSTERIOR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 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2834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Ellsworth Carpio Charres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70691"/>
                  </a:ext>
                </a:extLst>
              </a:tr>
              <a:tr h="40663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2694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Gustavo Bernuy Nuñez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85655"/>
                  </a:ext>
                </a:extLst>
              </a:tr>
              <a:tr h="40663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4700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Carlos Mauro Sampen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96521"/>
                  </a:ext>
                </a:extLst>
              </a:tr>
              <a:tr h="40663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7660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Marco Fournier Castillo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154502"/>
                  </a:ext>
                </a:extLst>
              </a:tr>
              <a:tr h="40663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5730</a:t>
                      </a:r>
                      <a:endParaRPr lang="es-PE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050" kern="12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Marco Tregear Jimenez</a:t>
                      </a: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kern="12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050" kern="12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s-PE" sz="1050" kern="12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655324"/>
                  </a:ext>
                </a:extLst>
              </a:tr>
              <a:tr h="40663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7148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Jesus Garcia Rodriguez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2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1*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29415"/>
                  </a:ext>
                </a:extLst>
              </a:tr>
              <a:tr h="40663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4594</a:t>
                      </a:r>
                      <a:endParaRPr lang="es-PE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Carlos Lopez Cornelio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5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215880"/>
                  </a:ext>
                </a:extLst>
              </a:tr>
              <a:tr h="406632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7U7301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4990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Cecilia Pantoja Urizar Garfias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Especialista 4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747884"/>
                  </a:ext>
                </a:extLst>
              </a:tr>
              <a:tr h="406632">
                <a:tc gridSpan="4">
                  <a:txBody>
                    <a:bodyPr/>
                    <a:lstStyle/>
                    <a:p>
                      <a:pPr algn="ctr"/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16</a:t>
                      </a:r>
                      <a:endParaRPr lang="es-PE" sz="1100" b="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3022" marR="43022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76743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C781834C-2064-470E-DD0D-BDA132A5EB0C}"/>
              </a:ext>
            </a:extLst>
          </p:cNvPr>
          <p:cNvSpPr txBox="1"/>
          <p:nvPr/>
        </p:nvSpPr>
        <p:spPr>
          <a:xfrm>
            <a:off x="2301715" y="6129452"/>
            <a:ext cx="2790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/>
              <a:t>(*) Informe de DCA</a:t>
            </a:r>
          </a:p>
        </p:txBody>
      </p:sp>
    </p:spTree>
    <p:extLst>
      <p:ext uri="{BB962C8B-B14F-4D97-AF65-F5344CB8AC3E}">
        <p14:creationId xmlns:p14="http://schemas.microsoft.com/office/powerpoint/2010/main" val="563388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STOCK VENCIDOS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4C93D83-6B0B-8FEB-B248-752214186839}"/>
              </a:ext>
            </a:extLst>
          </p:cNvPr>
          <p:cNvSpPr/>
          <p:nvPr/>
        </p:nvSpPr>
        <p:spPr>
          <a:xfrm>
            <a:off x="1285875" y="1397465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</a:t>
            </a:r>
            <a:endParaRPr lang="es-PE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132D901-11E2-23E5-F84C-B50BE13D7D0E}"/>
              </a:ext>
            </a:extLst>
          </p:cNvPr>
          <p:cNvSpPr/>
          <p:nvPr/>
        </p:nvSpPr>
        <p:spPr>
          <a:xfrm>
            <a:off x="1285875" y="3163517"/>
            <a:ext cx="1028700" cy="638174"/>
          </a:xfrm>
          <a:prstGeom prst="rightArrow">
            <a:avLst/>
          </a:prstGeom>
          <a:ln w="28575">
            <a:solidFill>
              <a:srgbClr val="FF99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DCCII</a:t>
            </a:r>
            <a:endParaRPr lang="es-PE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5B46D489-2A56-01B0-EB9C-D57AAAD377E8}"/>
              </a:ext>
            </a:extLst>
          </p:cNvPr>
          <p:cNvSpPr/>
          <p:nvPr/>
        </p:nvSpPr>
        <p:spPr>
          <a:xfrm>
            <a:off x="1285875" y="4929570"/>
            <a:ext cx="1028700" cy="638174"/>
          </a:xfrm>
          <a:prstGeom prst="rightArrow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DCP</a:t>
            </a:r>
            <a:endParaRPr lang="es-P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315DDD-5468-DE29-D6F6-5BBFA86E57E4}"/>
              </a:ext>
            </a:extLst>
          </p:cNvPr>
          <p:cNvSpPr txBox="1"/>
          <p:nvPr/>
        </p:nvSpPr>
        <p:spPr>
          <a:xfrm>
            <a:off x="1285874" y="6238635"/>
            <a:ext cx="31242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b="1" dirty="0">
                <a:latin typeface="Calibri Light" panose="020F0302020204030204" pitchFamily="34" charset="0"/>
                <a:ea typeface="Calibri" panose="020F0502020204030204" pitchFamily="34" charset="0"/>
              </a:rPr>
              <a:t>Fuente</a:t>
            </a:r>
            <a:r>
              <a:rPr lang="es-PE" sz="1200" dirty="0">
                <a:latin typeface="Calibri Light" panose="020F0302020204030204" pitchFamily="34" charset="0"/>
                <a:ea typeface="Calibri" panose="020F0502020204030204" pitchFamily="34" charset="0"/>
              </a:rPr>
              <a:t>: Módulo SIGERI al </a:t>
            </a:r>
            <a:r>
              <a:rPr lang="es-PE" sz="1200" dirty="0">
                <a:highlight>
                  <a:srgbClr val="FFFF00"/>
                </a:highlight>
                <a:latin typeface="Calibri Light" panose="020F0302020204030204" pitchFamily="34" charset="0"/>
                <a:ea typeface="Calibri" panose="020F0502020204030204" pitchFamily="34" charset="0"/>
              </a:rPr>
              <a:t>01.04.2024</a:t>
            </a:r>
          </a:p>
        </p:txBody>
      </p:sp>
      <p:sp>
        <p:nvSpPr>
          <p:cNvPr id="3" name="Bocadillo nube: nube 2">
            <a:extLst>
              <a:ext uri="{FF2B5EF4-FFF2-40B4-BE49-F238E27FC236}">
                <a16:creationId xmlns:a16="http://schemas.microsoft.com/office/drawing/2014/main" id="{2CDF9045-FFEB-A6E3-8A64-92964C7B93F3}"/>
              </a:ext>
            </a:extLst>
          </p:cNvPr>
          <p:cNvSpPr/>
          <p:nvPr/>
        </p:nvSpPr>
        <p:spPr>
          <a:xfrm>
            <a:off x="9321798" y="1034932"/>
            <a:ext cx="2393951" cy="1164424"/>
          </a:xfrm>
          <a:prstGeom prst="cloudCallout">
            <a:avLst>
              <a:gd name="adj1" fmla="val -63383"/>
              <a:gd name="adj2" fmla="val -1903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30 total (13/0/0/13/12/11/17/15/10/12/17/07)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4" name="Bocadillo nube: nube 3">
            <a:extLst>
              <a:ext uri="{FF2B5EF4-FFF2-40B4-BE49-F238E27FC236}">
                <a16:creationId xmlns:a16="http://schemas.microsoft.com/office/drawing/2014/main" id="{30F3CF21-67BC-6869-D144-28C16A383425}"/>
              </a:ext>
            </a:extLst>
          </p:cNvPr>
          <p:cNvSpPr/>
          <p:nvPr/>
        </p:nvSpPr>
        <p:spPr>
          <a:xfrm>
            <a:off x="9321799" y="2833275"/>
            <a:ext cx="2300202" cy="1076003"/>
          </a:xfrm>
          <a:prstGeom prst="cloudCallout">
            <a:avLst>
              <a:gd name="adj1" fmla="val -63383"/>
              <a:gd name="adj2" fmla="val -19035"/>
            </a:avLst>
          </a:prstGeom>
          <a:ln w="28575">
            <a:solidFill>
              <a:srgbClr val="FF99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0 total (0/0/0/0/06/09/08/5/16/17/5/40/15)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5" name="Bocadillo nube: nube 4">
            <a:extLst>
              <a:ext uri="{FF2B5EF4-FFF2-40B4-BE49-F238E27FC236}">
                <a16:creationId xmlns:a16="http://schemas.microsoft.com/office/drawing/2014/main" id="{9E55A7AD-D2BB-78A2-7C74-0EE92587C86C}"/>
              </a:ext>
            </a:extLst>
          </p:cNvPr>
          <p:cNvSpPr/>
          <p:nvPr/>
        </p:nvSpPr>
        <p:spPr>
          <a:xfrm>
            <a:off x="9321799" y="4710655"/>
            <a:ext cx="2193925" cy="1076003"/>
          </a:xfrm>
          <a:prstGeom prst="cloudCallout">
            <a:avLst>
              <a:gd name="adj1" fmla="val -63383"/>
              <a:gd name="adj2" fmla="val -19035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0 total (0/2/0/0/0/1/1/3/3/5/0)</a:t>
            </a:r>
            <a:endParaRPr lang="es-PE" sz="14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A1E3C9B-1922-2F33-DB7C-BE5BC2DDB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849723"/>
              </p:ext>
            </p:extLst>
          </p:nvPr>
        </p:nvGraphicFramePr>
        <p:xfrm>
          <a:off x="2946400" y="1116590"/>
          <a:ext cx="5988049" cy="1164424"/>
        </p:xfrm>
        <a:graphic>
          <a:graphicData uri="http://schemas.openxmlformats.org/drawingml/2006/table">
            <a:tbl>
              <a:tblPr firstRow="1" firstCol="1" bandRow="1"/>
              <a:tblGrid>
                <a:gridCol w="1003584">
                  <a:extLst>
                    <a:ext uri="{9D8B030D-6E8A-4147-A177-3AD203B41FA5}">
                      <a16:colId xmlns:a16="http://schemas.microsoft.com/office/drawing/2014/main" val="3074884351"/>
                    </a:ext>
                  </a:extLst>
                </a:gridCol>
                <a:gridCol w="1321384">
                  <a:extLst>
                    <a:ext uri="{9D8B030D-6E8A-4147-A177-3AD203B41FA5}">
                      <a16:colId xmlns:a16="http://schemas.microsoft.com/office/drawing/2014/main" val="1526047758"/>
                    </a:ext>
                  </a:extLst>
                </a:gridCol>
                <a:gridCol w="1655913">
                  <a:extLst>
                    <a:ext uri="{9D8B030D-6E8A-4147-A177-3AD203B41FA5}">
                      <a16:colId xmlns:a16="http://schemas.microsoft.com/office/drawing/2014/main" val="436782002"/>
                    </a:ext>
                  </a:extLst>
                </a:gridCol>
                <a:gridCol w="1003584">
                  <a:extLst>
                    <a:ext uri="{9D8B030D-6E8A-4147-A177-3AD203B41FA5}">
                      <a16:colId xmlns:a16="http://schemas.microsoft.com/office/drawing/2014/main" val="2134817539"/>
                    </a:ext>
                  </a:extLst>
                </a:gridCol>
                <a:gridCol w="1003584">
                  <a:extLst>
                    <a:ext uri="{9D8B030D-6E8A-4147-A177-3AD203B41FA5}">
                      <a16:colId xmlns:a16="http://schemas.microsoft.com/office/drawing/2014/main" val="3157735613"/>
                    </a:ext>
                  </a:extLst>
                </a:gridCol>
              </a:tblGrid>
              <a:tr h="547964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UUOO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VENCIDO +9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9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8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7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845465"/>
                  </a:ext>
                </a:extLst>
              </a:tr>
              <a:tr h="308230"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DCCI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44557"/>
                  </a:ext>
                </a:extLst>
              </a:tr>
              <a:tr h="308230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DAP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556671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21873085-0F54-8216-09FC-126BB2787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991710"/>
              </p:ext>
            </p:extLst>
          </p:nvPr>
        </p:nvGraphicFramePr>
        <p:xfrm>
          <a:off x="2946402" y="2856991"/>
          <a:ext cx="5988047" cy="1164421"/>
        </p:xfrm>
        <a:graphic>
          <a:graphicData uri="http://schemas.openxmlformats.org/drawingml/2006/table">
            <a:tbl>
              <a:tblPr firstRow="1" firstCol="1" bandRow="1"/>
              <a:tblGrid>
                <a:gridCol w="1003583">
                  <a:extLst>
                    <a:ext uri="{9D8B030D-6E8A-4147-A177-3AD203B41FA5}">
                      <a16:colId xmlns:a16="http://schemas.microsoft.com/office/drawing/2014/main" val="3114367696"/>
                    </a:ext>
                  </a:extLst>
                </a:gridCol>
                <a:gridCol w="1321385">
                  <a:extLst>
                    <a:ext uri="{9D8B030D-6E8A-4147-A177-3AD203B41FA5}">
                      <a16:colId xmlns:a16="http://schemas.microsoft.com/office/drawing/2014/main" val="4084865074"/>
                    </a:ext>
                  </a:extLst>
                </a:gridCol>
                <a:gridCol w="1655913">
                  <a:extLst>
                    <a:ext uri="{9D8B030D-6E8A-4147-A177-3AD203B41FA5}">
                      <a16:colId xmlns:a16="http://schemas.microsoft.com/office/drawing/2014/main" val="1706993894"/>
                    </a:ext>
                  </a:extLst>
                </a:gridCol>
                <a:gridCol w="1003583">
                  <a:extLst>
                    <a:ext uri="{9D8B030D-6E8A-4147-A177-3AD203B41FA5}">
                      <a16:colId xmlns:a16="http://schemas.microsoft.com/office/drawing/2014/main" val="871379910"/>
                    </a:ext>
                  </a:extLst>
                </a:gridCol>
                <a:gridCol w="1003583">
                  <a:extLst>
                    <a:ext uri="{9D8B030D-6E8A-4147-A177-3AD203B41FA5}">
                      <a16:colId xmlns:a16="http://schemas.microsoft.com/office/drawing/2014/main" val="1362448182"/>
                    </a:ext>
                  </a:extLst>
                </a:gridCol>
              </a:tblGrid>
              <a:tr h="527759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UUOO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VENCIDO +9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9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8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7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099436"/>
                  </a:ext>
                </a:extLst>
              </a:tr>
              <a:tr h="318331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DCCII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419138"/>
                  </a:ext>
                </a:extLst>
              </a:tr>
              <a:tr h="318331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DAP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  <a:endParaRPr lang="es-PE" sz="1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642096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7C375469-0EF9-D038-F02C-458E309B4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100519"/>
              </p:ext>
            </p:extLst>
          </p:nvPr>
        </p:nvGraphicFramePr>
        <p:xfrm>
          <a:off x="2946400" y="4622237"/>
          <a:ext cx="5988047" cy="1164421"/>
        </p:xfrm>
        <a:graphic>
          <a:graphicData uri="http://schemas.openxmlformats.org/drawingml/2006/table">
            <a:tbl>
              <a:tblPr firstRow="1" firstCol="1" bandRow="1"/>
              <a:tblGrid>
                <a:gridCol w="1003583">
                  <a:extLst>
                    <a:ext uri="{9D8B030D-6E8A-4147-A177-3AD203B41FA5}">
                      <a16:colId xmlns:a16="http://schemas.microsoft.com/office/drawing/2014/main" val="3114367696"/>
                    </a:ext>
                  </a:extLst>
                </a:gridCol>
                <a:gridCol w="1321385">
                  <a:extLst>
                    <a:ext uri="{9D8B030D-6E8A-4147-A177-3AD203B41FA5}">
                      <a16:colId xmlns:a16="http://schemas.microsoft.com/office/drawing/2014/main" val="4084865074"/>
                    </a:ext>
                  </a:extLst>
                </a:gridCol>
                <a:gridCol w="1655913">
                  <a:extLst>
                    <a:ext uri="{9D8B030D-6E8A-4147-A177-3AD203B41FA5}">
                      <a16:colId xmlns:a16="http://schemas.microsoft.com/office/drawing/2014/main" val="1706993894"/>
                    </a:ext>
                  </a:extLst>
                </a:gridCol>
                <a:gridCol w="1003583">
                  <a:extLst>
                    <a:ext uri="{9D8B030D-6E8A-4147-A177-3AD203B41FA5}">
                      <a16:colId xmlns:a16="http://schemas.microsoft.com/office/drawing/2014/main" val="871379910"/>
                    </a:ext>
                  </a:extLst>
                </a:gridCol>
                <a:gridCol w="1003583">
                  <a:extLst>
                    <a:ext uri="{9D8B030D-6E8A-4147-A177-3AD203B41FA5}">
                      <a16:colId xmlns:a16="http://schemas.microsoft.com/office/drawing/2014/main" val="1362448182"/>
                    </a:ext>
                  </a:extLst>
                </a:gridCol>
              </a:tblGrid>
              <a:tr h="527759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UUOO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VENCIDO +9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9 MESES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8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7 MESES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099436"/>
                  </a:ext>
                </a:extLst>
              </a:tr>
              <a:tr h="318331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DCP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419138"/>
                  </a:ext>
                </a:extLst>
              </a:tr>
              <a:tr h="318331">
                <a:tc>
                  <a:txBody>
                    <a:bodyPr/>
                    <a:lstStyle/>
                    <a:p>
                      <a:pPr algn="ctr"/>
                      <a:r>
                        <a:rPr lang="es-PE" sz="1600" b="1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DAP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800" b="1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libri Light" panose="020F0302020204030204" pitchFamily="34" charset="0"/>
                          <a:ea typeface="Calibri" panose="020F0502020204030204" pitchFamily="34" charset="0"/>
                        </a:rPr>
                        <a:t> 0</a:t>
                      </a:r>
                      <a:endParaRPr lang="es-PE" sz="14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PE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642096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EFF59043-EB5A-0DD0-D3E1-3D34EAF24267}"/>
              </a:ext>
            </a:extLst>
          </p:cNvPr>
          <p:cNvSpPr txBox="1"/>
          <p:nvPr/>
        </p:nvSpPr>
        <p:spPr>
          <a:xfrm>
            <a:off x="2946399" y="2363659"/>
            <a:ext cx="5845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(*) 30 </a:t>
            </a:r>
            <a:r>
              <a:rPr lang="es-ES" sz="1100" dirty="0" err="1"/>
              <a:t>RTFs</a:t>
            </a:r>
            <a:r>
              <a:rPr lang="es-ES" sz="1100" dirty="0"/>
              <a:t> reingresados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1854213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NO GESTIONABLE Y REINGRESADOS 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4C93D83-6B0B-8FEB-B248-752214186839}"/>
              </a:ext>
            </a:extLst>
          </p:cNvPr>
          <p:cNvSpPr/>
          <p:nvPr/>
        </p:nvSpPr>
        <p:spPr>
          <a:xfrm>
            <a:off x="1285875" y="1397465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</a:t>
            </a:r>
            <a:endParaRPr lang="es-PE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132D901-11E2-23E5-F84C-B50BE13D7D0E}"/>
              </a:ext>
            </a:extLst>
          </p:cNvPr>
          <p:cNvSpPr/>
          <p:nvPr/>
        </p:nvSpPr>
        <p:spPr>
          <a:xfrm>
            <a:off x="1285875" y="3163517"/>
            <a:ext cx="1028700" cy="638174"/>
          </a:xfrm>
          <a:prstGeom prst="rightArrow">
            <a:avLst/>
          </a:prstGeom>
          <a:ln w="28575">
            <a:solidFill>
              <a:srgbClr val="FF99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DCCII</a:t>
            </a:r>
            <a:endParaRPr lang="es-PE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D48A263-D39C-6FFA-07AD-924DAA71C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249307"/>
              </p:ext>
            </p:extLst>
          </p:nvPr>
        </p:nvGraphicFramePr>
        <p:xfrm>
          <a:off x="2766026" y="1152524"/>
          <a:ext cx="3190996" cy="1291141"/>
        </p:xfrm>
        <a:graphic>
          <a:graphicData uri="http://schemas.openxmlformats.org/drawingml/2006/table">
            <a:tbl>
              <a:tblPr/>
              <a:tblGrid>
                <a:gridCol w="1626299">
                  <a:extLst>
                    <a:ext uri="{9D8B030D-6E8A-4147-A177-3AD203B41FA5}">
                      <a16:colId xmlns:a16="http://schemas.microsoft.com/office/drawing/2014/main" val="303441847"/>
                    </a:ext>
                  </a:extLst>
                </a:gridCol>
                <a:gridCol w="1564697">
                  <a:extLst>
                    <a:ext uri="{9D8B030D-6E8A-4147-A177-3AD203B41FA5}">
                      <a16:colId xmlns:a16="http://schemas.microsoft.com/office/drawing/2014/main" val="1716151770"/>
                    </a:ext>
                  </a:extLst>
                </a:gridCol>
              </a:tblGrid>
              <a:tr h="34945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DCCI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00985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GESTIONABLE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1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27070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ADMISIBILIDAD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101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716666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EINGRESADOS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32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887893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D8D1F39-161B-98DA-5982-C2CD772C4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206235"/>
              </p:ext>
            </p:extLst>
          </p:nvPr>
        </p:nvGraphicFramePr>
        <p:xfrm>
          <a:off x="2766026" y="2837033"/>
          <a:ext cx="3190996" cy="1291141"/>
        </p:xfrm>
        <a:graphic>
          <a:graphicData uri="http://schemas.openxmlformats.org/drawingml/2006/table">
            <a:tbl>
              <a:tblPr/>
              <a:tblGrid>
                <a:gridCol w="1626299">
                  <a:extLst>
                    <a:ext uri="{9D8B030D-6E8A-4147-A177-3AD203B41FA5}">
                      <a16:colId xmlns:a16="http://schemas.microsoft.com/office/drawing/2014/main" val="303441847"/>
                    </a:ext>
                  </a:extLst>
                </a:gridCol>
                <a:gridCol w="1564697">
                  <a:extLst>
                    <a:ext uri="{9D8B030D-6E8A-4147-A177-3AD203B41FA5}">
                      <a16:colId xmlns:a16="http://schemas.microsoft.com/office/drawing/2014/main" val="1716151770"/>
                    </a:ext>
                  </a:extLst>
                </a:gridCol>
              </a:tblGrid>
              <a:tr h="34945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DCCII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00985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GESTIONABLE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27070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ADMISIBILIDAD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716666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EINGRESADOS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887893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F487CDF-AEF2-6A89-6E62-3C2229D25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083143"/>
              </p:ext>
            </p:extLst>
          </p:nvPr>
        </p:nvGraphicFramePr>
        <p:xfrm>
          <a:off x="2766026" y="4603086"/>
          <a:ext cx="3190996" cy="1291141"/>
        </p:xfrm>
        <a:graphic>
          <a:graphicData uri="http://schemas.openxmlformats.org/drawingml/2006/table">
            <a:tbl>
              <a:tblPr/>
              <a:tblGrid>
                <a:gridCol w="1626299">
                  <a:extLst>
                    <a:ext uri="{9D8B030D-6E8A-4147-A177-3AD203B41FA5}">
                      <a16:colId xmlns:a16="http://schemas.microsoft.com/office/drawing/2014/main" val="303441847"/>
                    </a:ext>
                  </a:extLst>
                </a:gridCol>
                <a:gridCol w="1564697">
                  <a:extLst>
                    <a:ext uri="{9D8B030D-6E8A-4147-A177-3AD203B41FA5}">
                      <a16:colId xmlns:a16="http://schemas.microsoft.com/office/drawing/2014/main" val="1716151770"/>
                    </a:ext>
                  </a:extLst>
                </a:gridCol>
              </a:tblGrid>
              <a:tr h="34945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DCP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00985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 GESTIONABLE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027070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ADMISIBILIDAD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716666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EINGRESADOS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887893"/>
                  </a:ext>
                </a:extLst>
              </a:tr>
            </a:tbl>
          </a:graphicData>
        </a:graphic>
      </p:graphicFrame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A7976BD3-E52B-5499-C044-AC7EC4328524}"/>
              </a:ext>
            </a:extLst>
          </p:cNvPr>
          <p:cNvSpPr/>
          <p:nvPr/>
        </p:nvSpPr>
        <p:spPr>
          <a:xfrm>
            <a:off x="1285875" y="4929569"/>
            <a:ext cx="1028700" cy="638174"/>
          </a:xfrm>
          <a:prstGeom prst="rightArrow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DCP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8625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ITOP REPORTADOS–2023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55D1268-DC29-7290-F4BC-4E91D0CD9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512170"/>
              </p:ext>
            </p:extLst>
          </p:nvPr>
        </p:nvGraphicFramePr>
        <p:xfrm>
          <a:off x="1485901" y="1424085"/>
          <a:ext cx="9058276" cy="4557605"/>
        </p:xfrm>
        <a:graphic>
          <a:graphicData uri="http://schemas.openxmlformats.org/drawingml/2006/table">
            <a:tbl>
              <a:tblPr firstRow="1" firstCol="1" bandRow="1"/>
              <a:tblGrid>
                <a:gridCol w="1552367">
                  <a:extLst>
                    <a:ext uri="{9D8B030D-6E8A-4147-A177-3AD203B41FA5}">
                      <a16:colId xmlns:a16="http://schemas.microsoft.com/office/drawing/2014/main" val="1329933936"/>
                    </a:ext>
                  </a:extLst>
                </a:gridCol>
                <a:gridCol w="2036233">
                  <a:extLst>
                    <a:ext uri="{9D8B030D-6E8A-4147-A177-3AD203B41FA5}">
                      <a16:colId xmlns:a16="http://schemas.microsoft.com/office/drawing/2014/main" val="63170076"/>
                    </a:ext>
                  </a:extLst>
                </a:gridCol>
                <a:gridCol w="5469676">
                  <a:extLst>
                    <a:ext uri="{9D8B030D-6E8A-4147-A177-3AD203B41FA5}">
                      <a16:colId xmlns:a16="http://schemas.microsoft.com/office/drawing/2014/main" val="3005957556"/>
                    </a:ext>
                  </a:extLst>
                </a:gridCol>
              </a:tblGrid>
              <a:tr h="191254">
                <a:tc gridSpan="3">
                  <a:txBody>
                    <a:bodyPr/>
                    <a:lstStyle/>
                    <a:p>
                      <a:pPr algn="ctr"/>
                      <a:r>
                        <a:rPr lang="es-PE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ITOP REPORTADOS</a:t>
                      </a:r>
                      <a:endParaRPr lang="es-PE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85700418"/>
                  </a:ext>
                </a:extLst>
              </a:tr>
              <a:tr h="191254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s-PE" sz="105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ICIEMBRE</a:t>
                      </a:r>
                      <a:endParaRPr lang="es-PE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546492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r>
                        <a:rPr lang="es-PE" sz="105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PE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N°</a:t>
                      </a:r>
                      <a:r>
                        <a:rPr lang="es-PE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ITOP</a:t>
                      </a:r>
                      <a:endParaRPr lang="es-PE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s-PE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ASUNTO</a:t>
                      </a:r>
                      <a:endParaRPr lang="es-PE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s-PE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214133"/>
                  </a:ext>
                </a:extLst>
              </a:tr>
              <a:tr h="355210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DCCI</a:t>
                      </a:r>
                      <a:endParaRPr lang="es-PE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PE" sz="105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050" u="non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R-933011 M</a:t>
                      </a:r>
                      <a:r>
                        <a:rPr lang="es-ES" sz="1050" u="none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odificar</a:t>
                      </a:r>
                      <a:r>
                        <a:rPr lang="es-ES" sz="1050" u="non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el resulta del reclamo en la L/C  </a:t>
                      </a:r>
                      <a:r>
                        <a:rPr lang="es-ES" sz="1050" u="none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N°</a:t>
                      </a:r>
                      <a:r>
                        <a:rPr lang="es-ES" sz="1050" u="non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118-2024-032452</a:t>
                      </a:r>
                      <a:endParaRPr lang="es-PE" sz="1050" u="none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909416"/>
                  </a:ext>
                </a:extLst>
              </a:tr>
              <a:tr h="2012268">
                <a:tc>
                  <a:txBody>
                    <a:bodyPr/>
                    <a:lstStyle/>
                    <a:p>
                      <a:r>
                        <a:rPr lang="es-ES" sz="105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DCCII</a:t>
                      </a:r>
                      <a:endParaRPr lang="es-PE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s-PE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I-928811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I-955388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ACTUALIZACION LC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RD NO MIGRO SINE</a:t>
                      </a:r>
                      <a:endParaRPr lang="pt-BR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347665"/>
                  </a:ext>
                </a:extLst>
              </a:tr>
              <a:tr h="1243235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DCP</a:t>
                      </a:r>
                      <a:endParaRPr lang="es-PE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s-PE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I-902560 </a:t>
                      </a:r>
                    </a:p>
                    <a:p>
                      <a:r>
                        <a:rPr lang="es-PE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I-912624</a:t>
                      </a:r>
                    </a:p>
                    <a:p>
                      <a:r>
                        <a:rPr lang="es-E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 solicita verificar pago anulado en el RSIRAT</a:t>
                      </a:r>
                    </a:p>
                    <a:p>
                      <a:r>
                        <a:rPr lang="es-ES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Actualizar resultado de L/C.</a:t>
                      </a:r>
                      <a:endParaRPr lang="es-PE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787184"/>
                  </a:ext>
                </a:extLst>
              </a:tr>
              <a:tr h="191254">
                <a:tc>
                  <a:txBody>
                    <a:bodyPr/>
                    <a:lstStyle/>
                    <a:p>
                      <a:r>
                        <a:rPr lang="es-PE" sz="105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s-PE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667" marR="36667" marT="7857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s-PE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PE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371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671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12" y="338454"/>
            <a:ext cx="10515600" cy="849097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RESULTADOS DE RECLAMO - 2024</a:t>
            </a:r>
            <a:b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C1F8767-F3D1-FC7C-4DC5-DC221001C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762417"/>
              </p:ext>
            </p:extLst>
          </p:nvPr>
        </p:nvGraphicFramePr>
        <p:xfrm>
          <a:off x="292044" y="1342636"/>
          <a:ext cx="11329964" cy="4713852"/>
        </p:xfrm>
        <a:graphic>
          <a:graphicData uri="http://schemas.openxmlformats.org/drawingml/2006/table">
            <a:tbl>
              <a:tblPr/>
              <a:tblGrid>
                <a:gridCol w="778324">
                  <a:extLst>
                    <a:ext uri="{9D8B030D-6E8A-4147-A177-3AD203B41FA5}">
                      <a16:colId xmlns:a16="http://schemas.microsoft.com/office/drawing/2014/main" val="1830478753"/>
                    </a:ext>
                  </a:extLst>
                </a:gridCol>
                <a:gridCol w="350223">
                  <a:extLst>
                    <a:ext uri="{9D8B030D-6E8A-4147-A177-3AD203B41FA5}">
                      <a16:colId xmlns:a16="http://schemas.microsoft.com/office/drawing/2014/main" val="976110479"/>
                    </a:ext>
                  </a:extLst>
                </a:gridCol>
                <a:gridCol w="407717">
                  <a:extLst>
                    <a:ext uri="{9D8B030D-6E8A-4147-A177-3AD203B41FA5}">
                      <a16:colId xmlns:a16="http://schemas.microsoft.com/office/drawing/2014/main" val="2657161292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2571861186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3123508407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1761037411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4069715718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2827311752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3158204159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1845870146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2669878163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3086343668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607963361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1278804772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1600247373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3939462712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3411044468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1748629549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4080195774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val="345460417"/>
                    </a:ext>
                  </a:extLst>
                </a:gridCol>
              </a:tblGrid>
              <a:tr h="28854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FEBRERO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MARZO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ABRIL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MAYO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952588"/>
                  </a:ext>
                </a:extLst>
              </a:tr>
              <a:tr h="525273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</a:t>
                      </a:r>
                      <a:endParaRPr lang="es-P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DCCII</a:t>
                      </a:r>
                      <a:endParaRPr lang="es-P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DCP</a:t>
                      </a:r>
                      <a:endParaRPr lang="es-P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TOTAL</a:t>
                      </a:r>
                      <a:endParaRPr lang="es-P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435629"/>
                  </a:ext>
                </a:extLst>
              </a:tr>
              <a:tr h="55947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Infundado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236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7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78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206</a:t>
                      </a:r>
                      <a:endParaRPr lang="es-PE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204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83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16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234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88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12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193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104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11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1914</a:t>
                      </a:r>
                      <a:endParaRPr lang="es-PE" sz="14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509009"/>
                  </a:ext>
                </a:extLst>
              </a:tr>
              <a:tr h="71156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Fundado / F.P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es-PE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71</a:t>
                      </a:r>
                      <a:endParaRPr lang="es-PE" sz="14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245537"/>
                  </a:ext>
                </a:extLst>
              </a:tr>
              <a:tr h="36052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Nulidad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9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es-PE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41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21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5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27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7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168</a:t>
                      </a:r>
                      <a:endParaRPr lang="es-PE" sz="14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495558"/>
                  </a:ext>
                </a:extLst>
              </a:tr>
              <a:tr h="835854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Improcedente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s-PE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2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</a:t>
                      </a:r>
                      <a:endParaRPr lang="es-PE" sz="14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323000"/>
                  </a:ext>
                </a:extLst>
              </a:tr>
              <a:tr h="71156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Desistimiento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s-PE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  <a:endParaRPr lang="es-PE" sz="14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965810"/>
                  </a:ext>
                </a:extLst>
              </a:tr>
              <a:tr h="36052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Otros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s-PE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22</a:t>
                      </a:r>
                      <a:endParaRPr lang="es-PE" sz="14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8893"/>
                  </a:ext>
                </a:extLst>
              </a:tr>
              <a:tr h="360526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PE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 19*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262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83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es-PE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236</a:t>
                      </a:r>
                      <a:endParaRPr lang="es-PE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77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20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256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89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18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268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97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12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232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111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</a:rPr>
                        <a:t>15(*)</a:t>
                      </a:r>
                      <a:endParaRPr lang="es-PE" sz="14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833C0C"/>
                          </a:solidFill>
                          <a:effectLst/>
                          <a:latin typeface="Calibri Light" panose="020F0302020204030204" pitchFamily="34" charset="0"/>
                        </a:rPr>
                        <a:t>2178</a:t>
                      </a:r>
                      <a:endParaRPr lang="es-PE" sz="1400" b="1" i="0" u="none" strike="noStrike" dirty="0">
                        <a:solidFill>
                          <a:srgbClr val="833C0C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681814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29376897-04BA-3DE5-BE7D-AD4C19E180FF}"/>
              </a:ext>
            </a:extLst>
          </p:cNvPr>
          <p:cNvSpPr txBox="1"/>
          <p:nvPr/>
        </p:nvSpPr>
        <p:spPr>
          <a:xfrm>
            <a:off x="742949" y="6242547"/>
            <a:ext cx="8258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latin typeface="Calibri Light" panose="020F0302020204030204" pitchFamily="34" charset="0"/>
                <a:ea typeface="Calibri" panose="020F0502020204030204" pitchFamily="34" charset="0"/>
              </a:rPr>
              <a:t>(*) Incluye 5 casos origen DCCI.</a:t>
            </a:r>
            <a:endParaRPr lang="es-PE" sz="1200" dirty="0">
              <a:latin typeface="Calibri Light" panose="020F03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085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12" y="338454"/>
            <a:ext cx="10515600" cy="849097"/>
          </a:xfrm>
        </p:spPr>
        <p:txBody>
          <a:bodyPr>
            <a:no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SUMILLAS DE NULIDADES DECLARADAS POR LA GAFA-DCCI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AE3C4D8-D339-87B8-7F14-16AFB7336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204233"/>
              </p:ext>
            </p:extLst>
          </p:nvPr>
        </p:nvGraphicFramePr>
        <p:xfrm>
          <a:off x="363787" y="1001498"/>
          <a:ext cx="11258215" cy="5593516"/>
        </p:xfrm>
        <a:graphic>
          <a:graphicData uri="http://schemas.openxmlformats.org/drawingml/2006/table">
            <a:tbl>
              <a:tblPr/>
              <a:tblGrid>
                <a:gridCol w="792611">
                  <a:extLst>
                    <a:ext uri="{9D8B030D-6E8A-4147-A177-3AD203B41FA5}">
                      <a16:colId xmlns:a16="http://schemas.microsoft.com/office/drawing/2014/main" val="1655455970"/>
                    </a:ext>
                  </a:extLst>
                </a:gridCol>
                <a:gridCol w="604160">
                  <a:extLst>
                    <a:ext uri="{9D8B030D-6E8A-4147-A177-3AD203B41FA5}">
                      <a16:colId xmlns:a16="http://schemas.microsoft.com/office/drawing/2014/main" val="3354355118"/>
                    </a:ext>
                  </a:extLst>
                </a:gridCol>
                <a:gridCol w="847772">
                  <a:extLst>
                    <a:ext uri="{9D8B030D-6E8A-4147-A177-3AD203B41FA5}">
                      <a16:colId xmlns:a16="http://schemas.microsoft.com/office/drawing/2014/main" val="3165189564"/>
                    </a:ext>
                  </a:extLst>
                </a:gridCol>
                <a:gridCol w="1017989">
                  <a:extLst>
                    <a:ext uri="{9D8B030D-6E8A-4147-A177-3AD203B41FA5}">
                      <a16:colId xmlns:a16="http://schemas.microsoft.com/office/drawing/2014/main" val="689665092"/>
                    </a:ext>
                  </a:extLst>
                </a:gridCol>
                <a:gridCol w="7995683">
                  <a:extLst>
                    <a:ext uri="{9D8B030D-6E8A-4147-A177-3AD203B41FA5}">
                      <a16:colId xmlns:a16="http://schemas.microsoft.com/office/drawing/2014/main" val="3230170296"/>
                    </a:ext>
                  </a:extLst>
                </a:gridCol>
              </a:tblGrid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DEPENDENCIA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RESULTADO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SUMILLA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142469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4090140008783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PARTE. Se ha utilizado referencias que no son idóneas. No corresponde a caracteristicas similares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622931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4090140008607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PARTE: Acredita cancelación de multa con Liquidación de Cobranza tipo 26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241336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4090140008705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PARTE: gramaje excede el margen de tolerancia establecido en la Circular N° INTA-CR-018.2002.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436358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4090140008736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PARTE: Gramaje excede tolerancia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745377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4090140008652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PARTE: Las referencias utilizadas por la Administración se encontraban en evaluación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237974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4090140008467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PARTE: Referencia de valor utilizada en parte de la mercancía, no se encuentra dentro de los límites de tolerancia en cuanto a gramaje y ancho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789062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31/05/2024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4090140008389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 EN PARTE: Referencia incorrecta no cumple con el requisito de tiempo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660163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4090140008669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FUNDADO: El exportador contaba con suspensión del plazo para regularizar la DAM</a:t>
                      </a:r>
                    </a:p>
                  </a:txBody>
                  <a:tcPr marL="2779" marR="2779" marT="2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98371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4090140008811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FUNDADO: La referencia utilizada por SUNAT se encuentra en evaluación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731718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4090140008668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FUNDADO: No se configura la sancion al no existir una compra venta internacional.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397237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4090140008818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FUNDADO: Presentó mensajee swfit acreditando utilización medio de pagoó por escrito el origen al momento de la importación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576737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4090140008791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FUNDADO: Se baso en una RTF que habia declarado NULO el IDV. Cumple medio de pago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535640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4090140008673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Determinación de valor no sustento que se tratara de valor ostensiblemente bajo</a:t>
                      </a:r>
                    </a:p>
                  </a:txBody>
                  <a:tcPr marL="2779" marR="2779" marT="2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379082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4090140008560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En el IDV no se evaluo uno de los expedientes presentados oportunamente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943139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4090140008519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En la resolución del reclamo, no se consideraron dos expedientes que daban respuesta a una Notificación de la Administración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661942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4090140008806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Falta de motivación no se evaluó dpcumentos bancarios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521362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4090140008755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Falta de motivacion. No se evaluó expediente con referencia</a:t>
                      </a:r>
                    </a:p>
                  </a:txBody>
                  <a:tcPr marL="2779" marR="2779" marT="2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189201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31/05/2024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4090140008413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Flta de motivación no fundamenta las razones por la cual la consignación del código 2001 (donación) resuelta erróneo  en la DAM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37532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4090140008479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evaluo documentación contable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42758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4090140008486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evaluo documentación contable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27925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4090140008487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evaluo documentación contable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30994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4090140008491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evaluo documentación contable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830259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4090140008492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evaluo documentación contable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700759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4090140008457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evaluo documentación contable 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9086725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4090140008455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evaluo documentación contable 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179837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4090140008667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hizo ni requirió análisis de idoneidad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244027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4090140008489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RD DEVOLUCION No se evaluó documentación contable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288949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4090140008775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referencias genericas del importador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871789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4090140008620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Se aplico infraccion no vigente al momento de cometido a la infraccion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507703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4090140008752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Se declara NULO el IDV por admitir a evaluación documentos extemporáneos y luego haberlos evaluado deficientemente, se descartaron sin la debida motivación.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29061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4090140008779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Se declara NULO el IDV por falta de MOTIVACION al  NO haberse realizado la evaluación de los documentos CONTABLES  y descartar el primer método sin dicho análisis previo.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04956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4090140008787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Se declara NULO el IDV por haberse emitido el IDV antes que venciera el plazo de tres días para la presentación de referencias de parte.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737487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4090140008453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 en un extremo, No existe orden cronologico fecha manifiesto con declaracion de exportacion.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185601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4090140008563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ante las referencias múltiples presentadas por el importador, no se notificó de acuerdo al criterio del Tribunal Fiscal.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825944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4090140008754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el IDV no analiza la información contable, ni sustento de pago diferido.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608396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4090140008709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consideró expediente de reclamo contra sancion de comiso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151642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4090140008542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evaluaron 02 expedientes presentados.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928092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4090140008621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evaluaron 02 expedientes presentados.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083099"/>
                  </a:ext>
                </a:extLst>
              </a:tr>
              <a:tr h="113944">
                <a:tc>
                  <a:txBody>
                    <a:bodyPr/>
                    <a:lstStyle/>
                    <a:p>
                      <a:pPr algn="ct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IAMC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18/06/2024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4090140008544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Notificacion sustento de multa no fue efectuada.</a:t>
                      </a:r>
                    </a:p>
                  </a:txBody>
                  <a:tcPr marL="2779" marR="2779" marT="27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378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742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12" y="338454"/>
            <a:ext cx="10515600" cy="849097"/>
          </a:xfrm>
        </p:spPr>
        <p:txBody>
          <a:bodyPr>
            <a:no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SUMILLAS DE NULIDADES DECLARADAS POR LA GAFA-DCCII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395CCFC-C8E8-5C28-6A72-F69C0F90C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787673"/>
              </p:ext>
            </p:extLst>
          </p:nvPr>
        </p:nvGraphicFramePr>
        <p:xfrm>
          <a:off x="628650" y="1178437"/>
          <a:ext cx="10306051" cy="5130890"/>
        </p:xfrm>
        <a:graphic>
          <a:graphicData uri="http://schemas.openxmlformats.org/drawingml/2006/table">
            <a:tbl>
              <a:tblPr/>
              <a:tblGrid>
                <a:gridCol w="2107650">
                  <a:extLst>
                    <a:ext uri="{9D8B030D-6E8A-4147-A177-3AD203B41FA5}">
                      <a16:colId xmlns:a16="http://schemas.microsoft.com/office/drawing/2014/main" val="555407263"/>
                    </a:ext>
                  </a:extLst>
                </a:gridCol>
                <a:gridCol w="1553945">
                  <a:extLst>
                    <a:ext uri="{9D8B030D-6E8A-4147-A177-3AD203B41FA5}">
                      <a16:colId xmlns:a16="http://schemas.microsoft.com/office/drawing/2014/main" val="1160768388"/>
                    </a:ext>
                  </a:extLst>
                </a:gridCol>
                <a:gridCol w="1589669">
                  <a:extLst>
                    <a:ext uri="{9D8B030D-6E8A-4147-A177-3AD203B41FA5}">
                      <a16:colId xmlns:a16="http://schemas.microsoft.com/office/drawing/2014/main" val="181419934"/>
                    </a:ext>
                  </a:extLst>
                </a:gridCol>
                <a:gridCol w="5054787">
                  <a:extLst>
                    <a:ext uri="{9D8B030D-6E8A-4147-A177-3AD203B41FA5}">
                      <a16:colId xmlns:a16="http://schemas.microsoft.com/office/drawing/2014/main" val="1563751636"/>
                    </a:ext>
                  </a:extLst>
                </a:gridCol>
              </a:tblGrid>
              <a:tr h="188437">
                <a:tc>
                  <a:txBody>
                    <a:bodyPr/>
                    <a:lstStyle/>
                    <a:p>
                      <a:pPr algn="ctr" fontAlgn="b"/>
                      <a:r>
                        <a:rPr lang="es-P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DEPENDENCIA</a:t>
                      </a:r>
                    </a:p>
                  </a:txBody>
                  <a:tcPr marL="5557" marR="5557" marT="555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</a:t>
                      </a:r>
                    </a:p>
                  </a:txBody>
                  <a:tcPr marL="5557" marR="5557" marT="555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 RD</a:t>
                      </a:r>
                    </a:p>
                  </a:txBody>
                  <a:tcPr marL="5557" marR="5557" marT="555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SUMILLA MOTIVO REVOCA/NULA</a:t>
                      </a:r>
                    </a:p>
                  </a:txBody>
                  <a:tcPr marL="5557" marR="5557" marT="555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744669"/>
                  </a:ext>
                </a:extLst>
              </a:tr>
              <a:tr h="58959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I.A. Tumbes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409014008510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Se rechazó la referencia ofrecida por  el usuario en el proceso de valoración por ser una DAM asignada a  canal de control verde.</a:t>
                      </a:r>
                    </a:p>
                  </a:txBody>
                  <a:tcPr marL="5557" marR="5557" marT="555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241098"/>
                  </a:ext>
                </a:extLst>
              </a:tr>
              <a:tr h="622348">
                <a:tc>
                  <a:txBody>
                    <a:bodyPr/>
                    <a:lstStyle/>
                    <a:p>
                      <a:pPr algn="l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I.A. Tumbes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409014008511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Se rechazó la referencia ofrecida por  el usuario en el proceso de valoración por ser una DAM asignada a  canal de control verde.</a:t>
                      </a:r>
                    </a:p>
                  </a:txBody>
                  <a:tcPr marL="5557" marR="5557" marT="555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112736"/>
                  </a:ext>
                </a:extLst>
              </a:tr>
              <a:tr h="90372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I.A. Tacna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409014008512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ha evaluado si la mercancía materia de reclamo es considerada como maquinaria o equipo para que en virtud de ello, se determine que carece de documentación aduanera y aplicar la sanción de comiso</a:t>
                      </a:r>
                    </a:p>
                  </a:txBody>
                  <a:tcPr marL="5557" marR="5557" marT="555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8113762"/>
                  </a:ext>
                </a:extLst>
              </a:tr>
              <a:tr h="60051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I.A. Aérea y Postal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409014008744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efectuó el proceso de verificación de comprobantes para determinar la procedencia legal de la mercancía y su posterior comiso</a:t>
                      </a:r>
                    </a:p>
                  </a:txBody>
                  <a:tcPr marL="5557" marR="5557" marT="555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727768"/>
                  </a:ext>
                </a:extLst>
              </a:tr>
              <a:tr h="60051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I.A. Aérea y Postal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409014008789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evaluó la condicion de mercancía extranjera a fin de determinar el comiso .</a:t>
                      </a:r>
                    </a:p>
                  </a:txBody>
                  <a:tcPr marL="5557" marR="5557" marT="555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604742"/>
                  </a:ext>
                </a:extLst>
              </a:tr>
              <a:tr h="544417">
                <a:tc>
                  <a:txBody>
                    <a:bodyPr/>
                    <a:lstStyle/>
                    <a:p>
                      <a:pPr algn="l" fontAlgn="b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I.A. Ilo</a:t>
                      </a:r>
                    </a:p>
                  </a:txBody>
                  <a:tcPr marL="5557" marR="5557" marT="555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409014008582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evaluó la documentación presentada por el usuario en la etapa de determinación de las infracciones </a:t>
                      </a:r>
                    </a:p>
                  </a:txBody>
                  <a:tcPr marL="5557" marR="5557" marT="555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017814"/>
                  </a:ext>
                </a:extLst>
              </a:tr>
              <a:tr h="544417">
                <a:tc>
                  <a:txBody>
                    <a:bodyPr/>
                    <a:lstStyle/>
                    <a:p>
                      <a:pPr algn="l" fontAlgn="b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I.A. Ilo</a:t>
                      </a:r>
                    </a:p>
                  </a:txBody>
                  <a:tcPr marL="5557" marR="5557" marT="555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409014008583</a:t>
                      </a:r>
                    </a:p>
                  </a:txBody>
                  <a:tcPr marL="5557" marR="5557" marT="5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Nulidad: No se evaluó la documentación presentada por el usuario en la etapa de determinación de las infracciones </a:t>
                      </a:r>
                    </a:p>
                  </a:txBody>
                  <a:tcPr marL="5557" marR="5557" marT="555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3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70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ítulo 94">
            <a:extLst>
              <a:ext uri="{FF2B5EF4-FFF2-40B4-BE49-F238E27FC236}">
                <a16:creationId xmlns:a16="http://schemas.microsoft.com/office/drawing/2014/main" id="{1EB64A6E-130E-BC7D-B2AF-91C94A288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13" y="338138"/>
            <a:ext cx="10515600" cy="849312"/>
          </a:xfrm>
        </p:spPr>
        <p:txBody>
          <a:bodyPr>
            <a:noAutofit/>
          </a:bodyPr>
          <a:lstStyle/>
          <a:p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SUMILLAS DE NULIDADES DECLARADAS POR LA GAFA-DCP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864368C-2C71-4C50-E0B8-DB1B04496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185247"/>
              </p:ext>
            </p:extLst>
          </p:nvPr>
        </p:nvGraphicFramePr>
        <p:xfrm>
          <a:off x="638319" y="1563422"/>
          <a:ext cx="10983682" cy="3932501"/>
        </p:xfrm>
        <a:graphic>
          <a:graphicData uri="http://schemas.openxmlformats.org/drawingml/2006/table">
            <a:tbl>
              <a:tblPr/>
              <a:tblGrid>
                <a:gridCol w="1470524">
                  <a:extLst>
                    <a:ext uri="{9D8B030D-6E8A-4147-A177-3AD203B41FA5}">
                      <a16:colId xmlns:a16="http://schemas.microsoft.com/office/drawing/2014/main" val="1489868601"/>
                    </a:ext>
                  </a:extLst>
                </a:gridCol>
                <a:gridCol w="723950">
                  <a:extLst>
                    <a:ext uri="{9D8B030D-6E8A-4147-A177-3AD203B41FA5}">
                      <a16:colId xmlns:a16="http://schemas.microsoft.com/office/drawing/2014/main" val="1063002495"/>
                    </a:ext>
                  </a:extLst>
                </a:gridCol>
                <a:gridCol w="1357406">
                  <a:extLst>
                    <a:ext uri="{9D8B030D-6E8A-4147-A177-3AD203B41FA5}">
                      <a16:colId xmlns:a16="http://schemas.microsoft.com/office/drawing/2014/main" val="3294158100"/>
                    </a:ext>
                  </a:extLst>
                </a:gridCol>
                <a:gridCol w="7431802">
                  <a:extLst>
                    <a:ext uri="{9D8B030D-6E8A-4147-A177-3AD203B41FA5}">
                      <a16:colId xmlns:a16="http://schemas.microsoft.com/office/drawing/2014/main" val="878107653"/>
                    </a:ext>
                  </a:extLst>
                </a:gridCol>
              </a:tblGrid>
              <a:tr h="307178">
                <a:tc>
                  <a:txBody>
                    <a:bodyPr/>
                    <a:lstStyle/>
                    <a:p>
                      <a:pPr algn="ctr" fontAlgn="b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DEPENDENCIA</a:t>
                      </a:r>
                    </a:p>
                  </a:txBody>
                  <a:tcPr marL="5415" marR="5415" marT="541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</a:t>
                      </a:r>
                    </a:p>
                  </a:txBody>
                  <a:tcPr marL="5415" marR="5415" marT="541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</a:t>
                      </a:r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RI</a:t>
                      </a:r>
                    </a:p>
                  </a:txBody>
                  <a:tcPr marL="5415" marR="5415" marT="541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SUMILLA MOTIVO REVOCA/NULA</a:t>
                      </a:r>
                    </a:p>
                  </a:txBody>
                  <a:tcPr marL="5415" marR="5415" marT="541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578947"/>
                  </a:ext>
                </a:extLst>
              </a:tr>
              <a:tr h="906330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SEDE CENTRAL - CHUCUITO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4090140008758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 declara fundado en parte el reclamo en el extremo que prescribio la facultad de SUNAT para aplicar multas en relación a los Certificados de Reposición de Mercancía expedidos en el año 2018.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258362"/>
                  </a:ext>
                </a:extLst>
              </a:tr>
              <a:tr h="60675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SEDE CENTRAL - CHUCUITO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4090140008595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 declara fundado en parte al verificarse que empresa se acogió correctamente al régimen de gradualidad para el pago de multas.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098671"/>
                  </a:ext>
                </a:extLst>
              </a:tr>
              <a:tr h="150548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SEDE CENTRAL - CHUCUITO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4090140008504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 declara nula la sanción impuesta considerando que se sanción por el mismo hecho a la empresa; la primera sanción fue aplicada con Resolución de Multa </a:t>
                      </a:r>
                      <a:r>
                        <a:rPr lang="es-E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8720020003969 de fecha 18.04.2024 notificada el 19.04.2024 (emitida por la IAT); y la segunda sanción fue impuesta con  Resolución de Multa </a:t>
                      </a:r>
                      <a:r>
                        <a:rPr lang="es-E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N°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8000020021378 de fecha 24.04.2024, notificada el 25.04.2024. (emitida por la INCA).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016531"/>
                  </a:ext>
                </a:extLst>
              </a:tr>
              <a:tr h="606755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SEDE CENTRAL - CHUCUITO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4090140008794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 declara fundado en parte el reclamo al </a:t>
                      </a:r>
                      <a:r>
                        <a:rPr lang="es-E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veificarse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que facultad para </a:t>
                      </a:r>
                      <a:r>
                        <a:rPr lang="es-E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solictar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la devolución de lo pagado indebidamente no ha prescrito. </a:t>
                      </a:r>
                    </a:p>
                  </a:txBody>
                  <a:tcPr marL="5415" marR="5415" marT="54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6647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603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12" y="338454"/>
            <a:ext cx="10515600" cy="849097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OPORTUNIDAD DE MEJORA</a:t>
            </a:r>
            <a:b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B31EA813-B8F6-C57D-8F96-0686A481EB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7856105"/>
              </p:ext>
            </p:extLst>
          </p:nvPr>
        </p:nvGraphicFramePr>
        <p:xfrm>
          <a:off x="567336" y="1187962"/>
          <a:ext cx="10239375" cy="3243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45F0F7F-91F6-E1DE-93C2-205FAFF61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467996"/>
              </p:ext>
            </p:extLst>
          </p:nvPr>
        </p:nvGraphicFramePr>
        <p:xfrm>
          <a:off x="4163023" y="4618231"/>
          <a:ext cx="3048000" cy="192775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94356">
                  <a:extLst>
                    <a:ext uri="{9D8B030D-6E8A-4147-A177-3AD203B41FA5}">
                      <a16:colId xmlns:a16="http://schemas.microsoft.com/office/drawing/2014/main" val="4122274139"/>
                    </a:ext>
                  </a:extLst>
                </a:gridCol>
                <a:gridCol w="876822">
                  <a:extLst>
                    <a:ext uri="{9D8B030D-6E8A-4147-A177-3AD203B41FA5}">
                      <a16:colId xmlns:a16="http://schemas.microsoft.com/office/drawing/2014/main" val="1382003201"/>
                    </a:ext>
                  </a:extLst>
                </a:gridCol>
                <a:gridCol w="876822">
                  <a:extLst>
                    <a:ext uri="{9D8B030D-6E8A-4147-A177-3AD203B41FA5}">
                      <a16:colId xmlns:a16="http://schemas.microsoft.com/office/drawing/2014/main" val="587845490"/>
                    </a:ext>
                  </a:extLst>
                </a:gridCol>
              </a:tblGrid>
              <a:tr h="18960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ESTADO</a:t>
                      </a:r>
                      <a:endParaRPr lang="es-PE" sz="14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Total</a:t>
                      </a:r>
                      <a:endParaRPr lang="es-PE" sz="14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Porcentaje</a:t>
                      </a:r>
                      <a:endParaRPr lang="es-PE" sz="14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498888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Infundado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4740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87.24%</a:t>
                      </a:r>
                      <a:endParaRPr lang="es-P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27574320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Fundado/F.P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211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3.88%</a:t>
                      </a:r>
                      <a:endParaRPr lang="es-P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17111707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Nulidad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404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7.44%</a:t>
                      </a:r>
                      <a:endParaRPr lang="es-P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59762901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Improcedente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0.15%</a:t>
                      </a:r>
                      <a:endParaRPr lang="es-P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319216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Desistimiento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0.07%</a:t>
                      </a:r>
                      <a:endParaRPr lang="es-P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6137711"/>
                  </a:ext>
                </a:extLst>
              </a:tr>
              <a:tr h="250173">
                <a:tc>
                  <a:txBody>
                    <a:bodyPr/>
                    <a:lstStyle/>
                    <a:p>
                      <a:pPr algn="l" fontAlgn="ctr"/>
                      <a:r>
                        <a:rPr lang="es-PE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Otros</a:t>
                      </a:r>
                      <a:endParaRPr lang="es-PE" sz="16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66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1.21%</a:t>
                      </a:r>
                      <a:endParaRPr lang="es-P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72302321"/>
                  </a:ext>
                </a:extLst>
              </a:tr>
              <a:tr h="210672">
                <a:tc>
                  <a:txBody>
                    <a:bodyPr/>
                    <a:lstStyle/>
                    <a:p>
                      <a:pPr algn="l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Total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5433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PE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100.00%</a:t>
                      </a:r>
                      <a:endParaRPr lang="es-P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1610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800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12" y="338454"/>
            <a:ext cx="10515600" cy="849097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OPORTUNIDAD DE MEJORA</a:t>
            </a:r>
            <a:b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3324CF6-22F2-DDF0-1806-8EAD87496C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636800"/>
              </p:ext>
            </p:extLst>
          </p:nvPr>
        </p:nvGraphicFramePr>
        <p:xfrm>
          <a:off x="904875" y="1001498"/>
          <a:ext cx="9677400" cy="3075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5AB715A-E84A-09A4-BD96-0944D8A1E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955210"/>
              </p:ext>
            </p:extLst>
          </p:nvPr>
        </p:nvGraphicFramePr>
        <p:xfrm>
          <a:off x="4254182" y="4384041"/>
          <a:ext cx="2803843" cy="1910080"/>
        </p:xfrm>
        <a:graphic>
          <a:graphicData uri="http://schemas.openxmlformats.org/drawingml/2006/table">
            <a:tbl>
              <a:tblPr firstRow="1" firstCol="1" bandRow="1"/>
              <a:tblGrid>
                <a:gridCol w="940309">
                  <a:extLst>
                    <a:ext uri="{9D8B030D-6E8A-4147-A177-3AD203B41FA5}">
                      <a16:colId xmlns:a16="http://schemas.microsoft.com/office/drawing/2014/main" val="1788384070"/>
                    </a:ext>
                  </a:extLst>
                </a:gridCol>
                <a:gridCol w="931767">
                  <a:extLst>
                    <a:ext uri="{9D8B030D-6E8A-4147-A177-3AD203B41FA5}">
                      <a16:colId xmlns:a16="http://schemas.microsoft.com/office/drawing/2014/main" val="3563303945"/>
                    </a:ext>
                  </a:extLst>
                </a:gridCol>
                <a:gridCol w="931767">
                  <a:extLst>
                    <a:ext uri="{9D8B030D-6E8A-4147-A177-3AD203B41FA5}">
                      <a16:colId xmlns:a16="http://schemas.microsoft.com/office/drawing/2014/main" val="95820324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ESTADO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Porcentaje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7937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Infundado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1914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87.88%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94801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Fundado / F.P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3.26%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7392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Nulidad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168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7.71%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20629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Improcedente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0.09%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91420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Desistimiento 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0.05%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9408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Otros 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1.01%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395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/>
                      <a:r>
                        <a:rPr lang="es-PE" sz="105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2178</a:t>
                      </a:r>
                      <a:endParaRPr lang="es-P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100.00%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445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690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772892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DESAFIOS/PROPUESTAS 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24E81CA-E15C-F5EE-DC7A-2237FDCAE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32822"/>
              </p:ext>
            </p:extLst>
          </p:nvPr>
        </p:nvGraphicFramePr>
        <p:xfrm>
          <a:off x="338927" y="788611"/>
          <a:ext cx="11514146" cy="6341469"/>
        </p:xfrm>
        <a:graphic>
          <a:graphicData uri="http://schemas.openxmlformats.org/drawingml/2006/table">
            <a:tbl>
              <a:tblPr firstRow="1" firstCol="1" bandRow="1"/>
              <a:tblGrid>
                <a:gridCol w="3028182">
                  <a:extLst>
                    <a:ext uri="{9D8B030D-6E8A-4147-A177-3AD203B41FA5}">
                      <a16:colId xmlns:a16="http://schemas.microsoft.com/office/drawing/2014/main" val="4249395483"/>
                    </a:ext>
                  </a:extLst>
                </a:gridCol>
                <a:gridCol w="4460839">
                  <a:extLst>
                    <a:ext uri="{9D8B030D-6E8A-4147-A177-3AD203B41FA5}">
                      <a16:colId xmlns:a16="http://schemas.microsoft.com/office/drawing/2014/main" val="972088636"/>
                    </a:ext>
                  </a:extLst>
                </a:gridCol>
                <a:gridCol w="4025125">
                  <a:extLst>
                    <a:ext uri="{9D8B030D-6E8A-4147-A177-3AD203B41FA5}">
                      <a16:colId xmlns:a16="http://schemas.microsoft.com/office/drawing/2014/main" val="2022867340"/>
                    </a:ext>
                  </a:extLst>
                </a:gridCol>
              </a:tblGrid>
              <a:tr h="327125"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PROBLEMAS/DESAFIO.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SOLUCIONES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PROPUESTA</a:t>
                      </a:r>
                      <a:endParaRPr lang="es-P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55915"/>
                  </a:ext>
                </a:extLst>
              </a:tr>
              <a:tr h="1006344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INDICADOR PNC - TLT 6 MESES – META 98%. Revisión de ficha 2024 e Indicadores internos complementarios.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Reunión semanal de coordinación y control de gestión GAFA-DAP-GENGI </a:t>
                      </a:r>
                      <a:r>
                        <a:rPr lang="es-ES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ica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).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Tiempo de atención: TLT 125 días y TLT 58 </a:t>
                      </a:r>
                      <a:r>
                        <a:rPr lang="es-ES" sz="1200" b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OEAs</a:t>
                      </a: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. </a:t>
                      </a:r>
                    </a:p>
                    <a:p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Vencimiento </a:t>
                      </a:r>
                      <a:r>
                        <a:rPr lang="es-ES" sz="1200" b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OEAs</a:t>
                      </a: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 reclamo (30 días hábiles), bandejas CERO y apelaciones (15 días calendarios para pedir actuados). Excluir el OEA de la ficha si lo monitorea PNGCA.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051180"/>
                  </a:ext>
                </a:extLst>
              </a:tr>
              <a:tr h="1006344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Propuesta de mejora DCCI RD y RTF. Registro, Criterios, Instructivos y otros. DCCII Registro manual de data de reclamos, LC actualización y remisión de actuados. DCP retroalimentación INCA.  PASIVO TF  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Marzo </a:t>
                      </a:r>
                    </a:p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DCCI-DCCII-DCP: retroalimentación </a:t>
                      </a:r>
                      <a:r>
                        <a:rPr lang="es-ES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one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to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one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. (F/N)</a:t>
                      </a:r>
                    </a:p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Abril</a:t>
                      </a:r>
                    </a:p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DCCI – oportunidad de mejora 11 personas.</a:t>
                      </a:r>
                    </a:p>
                    <a:p>
                      <a:endParaRPr lang="es-E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Mejorar resultados y retroalimentación interna en fondo y en  Admisibilidad, a la IAMC, a las IAAP y Aduanas de provincia, y la INCA.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781516"/>
                  </a:ext>
                </a:extLst>
              </a:tr>
              <a:tr h="1006344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Control de Gestión para mejora del proceso de recursos impugnatorios: </a:t>
                      </a:r>
                    </a:p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Reunión con supervisores – Trimestral </a:t>
                      </a:r>
                    </a:p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Reunión con jefaturas – mensual </a:t>
                      </a:r>
                    </a:p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Reunión con S5 – semanal</a:t>
                      </a:r>
                    </a:p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MAPEO DE PROCESO Y CAPACITACIÓN.  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2024 </a:t>
                      </a: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Tiempo de atención: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en todas las actividades del flujo de los recursos impugnatorios (reclamos y apelaciones). </a:t>
                      </a:r>
                    </a:p>
                    <a:p>
                      <a:r>
                        <a:rPr lang="es-ES" sz="1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PROPUESTA: 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Diseño del flujo de información. Control de gestión de la información del proceso.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611657"/>
                  </a:ext>
                </a:extLst>
              </a:tr>
              <a:tr h="605712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BANDEJA CERO: </a:t>
                      </a:r>
                    </a:p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Pasivo admisibilidad  13 casos del 2023 (77). DCCI 25 y DCCII 8. </a:t>
                      </a:r>
                    </a:p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BANDEJA DE INGRESADOS 5 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Revisión diaria a cargo de las asistentes y maratones.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BANDEJA CERO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de admisibilidad (E-</a:t>
                      </a:r>
                      <a:r>
                        <a:rPr lang="es-ES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chaski</a:t>
                      </a: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, SIGERI ingresado y no asignado y físico, SIGED y Memo interno. </a:t>
                      </a:r>
                      <a:endParaRPr lang="es-PE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611654"/>
                  </a:ext>
                </a:extLst>
              </a:tr>
              <a:tr h="1150116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Admisibilidad: devolución por evaluación incorrecta y remisión de </a:t>
                      </a:r>
                      <a:r>
                        <a:rPr lang="es-PE" sz="12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exp</a:t>
                      </a:r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.  (RD </a:t>
                      </a:r>
                      <a:r>
                        <a:rPr lang="es-PE" sz="12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complem</a:t>
                      </a:r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) 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Primera etapa </a:t>
                      </a:r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Coordinación previa con la DAP para reconfirmar la devolución del SIGERI, y remisión de correo electrónico para seguimiento y atención inmediata (límite del vencimiento). </a:t>
                      </a:r>
                    </a:p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Validación con GENGI ( </a:t>
                      </a:r>
                      <a:r>
                        <a:rPr lang="es-PE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CPf</a:t>
                      </a:r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Segunda etapa: revisión de GENGI. Unificar criterio.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478686"/>
                  </a:ext>
                </a:extLst>
              </a:tr>
              <a:tr h="806028"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Actuados físicos reclamos: falta flujo, falta de remisión oportuna y derivación tardía de expedientes.  </a:t>
                      </a:r>
                    </a:p>
                    <a:p>
                      <a:r>
                        <a:rPr lang="es-PE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Actuados físicos apelaciones: pasivo por coordinar FONDO-ADM. Conformación</a:t>
                      </a:r>
                      <a:endParaRPr lang="es-PE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Apoyo de Sara búsqueda de actuados y generar </a:t>
                      </a:r>
                      <a:r>
                        <a:rPr lang="es-PE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Chasky</a:t>
                      </a:r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(indicador).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- Divisiones de Fondo apoyan a la DAP en revisión de admisibilidad de reclamo y apelaciones.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r>
                        <a:rPr lang="es-419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- Se solicitó la implementación de alertas TLT 6 m. a fondo y DAP.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Coordinación con IAMC. </a:t>
                      </a:r>
                      <a:r>
                        <a:rPr lang="es-PE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Conformar equipo y atender oportunamente. Permitirá mejorar el control de las áreas de origen y las áreas de reclamo fondo. </a:t>
                      </a:r>
                      <a:endParaRPr lang="es-PE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1325" marR="31325" marT="4351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48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00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07" y="250034"/>
            <a:ext cx="10515600" cy="63637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REQUERIMIENTO</a:t>
            </a:r>
            <a:r>
              <a:rPr lang="es-ES" sz="3600" b="1" dirty="0"/>
              <a:t>: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REPORTES DE GESTIÓN</a:t>
            </a:r>
            <a:endParaRPr lang="es-PE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6DFF1E-FD88-4ACA-93F2-AF985B10E39F}"/>
              </a:ext>
            </a:extLst>
          </p:cNvPr>
          <p:cNvSpPr txBox="1"/>
          <p:nvPr/>
        </p:nvSpPr>
        <p:spPr>
          <a:xfrm>
            <a:off x="56284" y="1001498"/>
            <a:ext cx="12040466" cy="5706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Reporte de gestión – NETO TLT (125) OEA (3 meses) y fictas (2 meses). BRUTO – reportado o contrastado por fondo). Reporte NETO: 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ondo y Admisibilidad. 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Registro de montos de los reclamos y resultado de los reclamos (infundado, fundado, nulos </a:t>
            </a:r>
            <a:r>
              <a:rPr lang="es-ES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etc</a:t>
            </a:r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y montos. Pendiente vinculación modulo LC. </a:t>
            </a:r>
            <a:endParaRPr lang="es-PE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Resultados de apelaciones – RTF(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Dependencia /</a:t>
            </a:r>
            <a:r>
              <a:rPr lang="es-PE" sz="2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/fecha de ingreso/ usuario/resolución vinculada/ </a:t>
            </a:r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 /DAM vinculada/Liquidación de Cobranza - montos). 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Pendiente </a:t>
            </a:r>
            <a:r>
              <a:rPr lang="es-E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informe (periodicidad).</a:t>
            </a:r>
            <a:endParaRPr lang="es-PE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SIGERI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Vinculaciones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actualiza el resultado de reclamo en el módulo de LC – DCCII.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Distribución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Copia a las </a:t>
            </a:r>
            <a:r>
              <a:rPr lang="es-PE" sz="2000" dirty="0">
                <a:latin typeface="Arial" panose="020B0604020202020204" pitchFamily="34" charset="0"/>
                <a:cs typeface="Arial" panose="020B0604020202020204" pitchFamily="34" charset="0"/>
              </a:rPr>
              <a:t>partes involucradas cuando ha sido revertido, admisibilidad errada, baja de expedientes y no permite derivar a las áreas generadoras (control manual). 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Reportes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inconsistencia entre reporte de consulta y el reporte manual.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Acumulación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no te permite acumular expedientes de reclamo. IMPLEMENTADO.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Alertas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requerimientos pendiente cuando ya están atendidos y se solicita alerta de reporte de vencimiento de expedientes a cada resolutor. IMPLEMENTADO CON ERROR (resolvió y sigue)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PE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Estandarización</a:t>
            </a:r>
            <a:r>
              <a:rPr lang="es-PE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carga de </a:t>
            </a:r>
            <a:r>
              <a:rPr lang="es-PE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documentos digitalizados.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284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Archivo:SUNAT.svg">
            <a:extLst>
              <a:ext uri="{FF2B5EF4-FFF2-40B4-BE49-F238E27FC236}">
                <a16:creationId xmlns:a16="http://schemas.microsoft.com/office/drawing/2014/main" id="{BCA30440-B015-4048-BCEC-E2D3949F1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6966" y="338454"/>
            <a:ext cx="1653907" cy="4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1596EF42-AA6F-4EF2-941F-F8E3F06C3FA1}"/>
              </a:ext>
            </a:extLst>
          </p:cNvPr>
          <p:cNvCxnSpPr/>
          <p:nvPr/>
        </p:nvCxnSpPr>
        <p:spPr>
          <a:xfrm>
            <a:off x="292044" y="1001498"/>
            <a:ext cx="1132995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ítulo 94">
            <a:extLst>
              <a:ext uri="{FF2B5EF4-FFF2-40B4-BE49-F238E27FC236}">
                <a16:creationId xmlns:a16="http://schemas.microsoft.com/office/drawing/2014/main" id="{507D4995-A2FE-41D7-817D-6EBF72D5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01" y="3287432"/>
            <a:ext cx="10515600" cy="636373"/>
          </a:xfrm>
        </p:spPr>
        <p:txBody>
          <a:bodyPr>
            <a:noAutofit/>
          </a:bodyPr>
          <a:lstStyle/>
          <a:p>
            <a:pPr algn="ctr"/>
            <a:r>
              <a:rPr lang="es-ES" sz="3800" b="1" dirty="0"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endParaRPr lang="es-PE" sz="3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77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3A6AE8B7E4A2449C903AFD2456BD74" ma:contentTypeVersion="4" ma:contentTypeDescription="Crear nuevo documento." ma:contentTypeScope="" ma:versionID="ddec260070336827ee8c328f02272273">
  <xsd:schema xmlns:xsd="http://www.w3.org/2001/XMLSchema" xmlns:xs="http://www.w3.org/2001/XMLSchema" xmlns:p="http://schemas.microsoft.com/office/2006/metadata/properties" xmlns:ns2="c4795172-acc8-41fc-abdb-af5ed44f61af" targetNamespace="http://schemas.microsoft.com/office/2006/metadata/properties" ma:root="true" ma:fieldsID="590a657cbc5fcb450edb0ba38c295f5b" ns2:_="">
    <xsd:import namespace="c4795172-acc8-41fc-abdb-af5ed44f6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795172-acc8-41fc-abdb-af5ed44f6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FF3535-359C-467E-983F-0BB630AAE13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718AF05-C189-4CCE-BAE8-A2CB0B46FC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45C2A6-719A-4F25-86F6-22B692AC38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795172-acc8-41fc-abdb-af5ed44f6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25637</TotalTime>
  <Words>3727</Words>
  <Application>Microsoft Office PowerPoint</Application>
  <PresentationFormat>Panorámica</PresentationFormat>
  <Paragraphs>1594</Paragraphs>
  <Slides>23</Slides>
  <Notes>23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Tema de Office</vt:lpstr>
      <vt:lpstr>Presentación de PowerPoint</vt:lpstr>
      <vt:lpstr>INGRESOS Y SALIDAS DE RECLAMACIONES 2019-2024*</vt:lpstr>
      <vt:lpstr>STOCK DE DOCUMENTOS– 2024</vt:lpstr>
      <vt:lpstr>PRODUCTIVIDAD RECLAMOS – 2022 - 2024</vt:lpstr>
      <vt:lpstr>PRODUCTIVIDAD MARZO 2024</vt:lpstr>
      <vt:lpstr>PROGRAMACIÓN Y PRODUCCIÓN–2023-2024</vt:lpstr>
      <vt:lpstr>PRODUCTIVIDAD POR SUPERVISIÓN</vt:lpstr>
      <vt:lpstr>PROYECTADO Y NO APLICADO </vt:lpstr>
      <vt:lpstr>PRODUCCIÓN POR RESOLUTOR-DCCI</vt:lpstr>
      <vt:lpstr>PRODUCCIÓN POR RESOLUTOR-DCCII</vt:lpstr>
      <vt:lpstr>PRODUCCIÓN POR RESOLUTOR-DCP</vt:lpstr>
      <vt:lpstr>STOCK VENCIDOS</vt:lpstr>
      <vt:lpstr>NO GESTIONABLE Y REINGRESADOS </vt:lpstr>
      <vt:lpstr>ITOP REPORTADOS–2023</vt:lpstr>
      <vt:lpstr>RESULTADOS DE RECLAMO - 2024 </vt:lpstr>
      <vt:lpstr>SUMILLAS DE NULIDADES DECLARADAS POR LA GAFA-DCCI</vt:lpstr>
      <vt:lpstr>SUMILLAS DE NULIDADES DECLARADAS POR LA GAFA-DCCII</vt:lpstr>
      <vt:lpstr>SUMILLAS DE NULIDADES DECLARADAS POR LA GAFA-DCP</vt:lpstr>
      <vt:lpstr>OPORTUNIDAD DE MEJORA </vt:lpstr>
      <vt:lpstr>OPORTUNIDAD DE MEJORA </vt:lpstr>
      <vt:lpstr>DESAFIOS/PROPUESTAS </vt:lpstr>
      <vt:lpstr>REQUERIMIENTO: REPORTES DE GESTIÓN</vt:lpstr>
      <vt:lpstr>GRACIAS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Rondon Malaga Johanna Karelle</dc:creator>
  <cp:lastModifiedBy>Gonzales Estrada Sara Stephany</cp:lastModifiedBy>
  <cp:revision>696</cp:revision>
  <cp:lastPrinted>2023-01-10T23:55:26Z</cp:lastPrinted>
  <dcterms:created xsi:type="dcterms:W3CDTF">2022-11-02T14:55:38Z</dcterms:created>
  <dcterms:modified xsi:type="dcterms:W3CDTF">2024-08-07T20:30:36Z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0x010100863A6AE8B7E4A2449C903AFD2456BD74</vt:lpwstr>
  </property>
</Properties>
</file>