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rts/style1.xml" ContentType="application/vnd.ms-office.chartstyle+xml"/>
  <Override PartName="/ppt/charts/chart1.xml" ContentType="application/vnd.openxmlformats-officedocument.drawingml.char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Override3.xml" ContentType="application/vnd.openxmlformats-officedocument.themeOverride+xml"/>
  <Override PartName="/ppt/charts/chart3.xml" ContentType="application/vnd.openxmlformats-officedocument.drawingml.chart+xml"/>
  <Override PartName="/ppt/charts/colors3.xml" ContentType="application/vnd.ms-office.chartcolorstyle+xml"/>
  <Override PartName="/ppt/theme/themeOverride2.xml" ContentType="application/vnd.openxmlformats-officedocument.themeOverrid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charts/style3.xml" ContentType="application/vnd.ms-office.chartstyle+xml"/>
  <Override PartName="/ppt/theme/themeOverride1.xml" ContentType="application/vnd.openxmlformats-officedocument.themeOverride+xml"/>
  <Override PartName="/ppt/charts/colors1.xml" ContentType="application/vnd.ms-office.chartcolor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744" r:id="rId2"/>
    <p:sldId id="5395" r:id="rId3"/>
    <p:sldId id="5762" r:id="rId4"/>
    <p:sldId id="5746" r:id="rId5"/>
    <p:sldId id="5782" r:id="rId6"/>
    <p:sldId id="5761" r:id="rId7"/>
    <p:sldId id="5777" r:id="rId8"/>
    <p:sldId id="5778" r:id="rId9"/>
    <p:sldId id="5787" r:id="rId10"/>
    <p:sldId id="5785" r:id="rId11"/>
    <p:sldId id="5786" r:id="rId12"/>
    <p:sldId id="5764" r:id="rId13"/>
    <p:sldId id="5774" r:id="rId14"/>
    <p:sldId id="5780" r:id="rId15"/>
    <p:sldId id="5788" r:id="rId16"/>
    <p:sldId id="5790" r:id="rId17"/>
    <p:sldId id="5794" r:id="rId18"/>
    <p:sldId id="5789" r:id="rId19"/>
    <p:sldId id="5784" r:id="rId20"/>
    <p:sldId id="5792" r:id="rId21"/>
    <p:sldId id="5767" r:id="rId22"/>
    <p:sldId id="5752" r:id="rId23"/>
    <p:sldId id="5757" r:id="rId24"/>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99FF"/>
    <a:srgbClr val="CCFF99"/>
    <a:srgbClr val="CCFFCC"/>
    <a:srgbClr val="99CC00"/>
    <a:srgbClr val="2FBF85"/>
    <a:srgbClr val="FFCCFF"/>
    <a:srgbClr val="FFCCCC"/>
    <a:srgbClr val="99FFCC"/>
    <a:srgbClr val="586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67" d="100"/>
          <a:sy n="67" d="100"/>
        </p:scale>
        <p:origin x="6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ES" b="1"/>
              <a:t>EVOLUCION DE INGRESOS Y SALIDAS EXPEDIENTES DE RECLAMO 2019-2024*</a:t>
            </a:r>
            <a:endParaRPr lang="es-PE" b="1"/>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tx>
            <c:v>INGRESOS</c:v>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SALIDAS'!$B$4:$G$4</c:f>
              <c:numCache>
                <c:formatCode>#,##0</c:formatCode>
                <c:ptCount val="6"/>
                <c:pt idx="0">
                  <c:v>4409</c:v>
                </c:pt>
                <c:pt idx="1">
                  <c:v>3249</c:v>
                </c:pt>
                <c:pt idx="2">
                  <c:v>5860</c:v>
                </c:pt>
                <c:pt idx="3">
                  <c:v>5970</c:v>
                </c:pt>
                <c:pt idx="4">
                  <c:v>4678</c:v>
                </c:pt>
                <c:pt idx="5">
                  <c:v>1206</c:v>
                </c:pt>
              </c:numCache>
            </c:numRef>
          </c:val>
          <c:extLst>
            <c:ext xmlns:c16="http://schemas.microsoft.com/office/drawing/2014/chart" uri="{C3380CC4-5D6E-409C-BE32-E72D297353CC}">
              <c16:uniqueId val="{00000000-C8F4-4155-9220-8B88C1197F0D}"/>
            </c:ext>
          </c:extLst>
        </c:ser>
        <c:ser>
          <c:idx val="1"/>
          <c:order val="1"/>
          <c:tx>
            <c:v>SALIDAS</c:v>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SALIDAS'!$B$5:$G$5</c:f>
              <c:numCache>
                <c:formatCode>#,##0</c:formatCode>
                <c:ptCount val="6"/>
                <c:pt idx="0">
                  <c:v>3435</c:v>
                </c:pt>
                <c:pt idx="1">
                  <c:v>2981</c:v>
                </c:pt>
                <c:pt idx="2">
                  <c:v>3455</c:v>
                </c:pt>
                <c:pt idx="3">
                  <c:v>5581</c:v>
                </c:pt>
                <c:pt idx="4">
                  <c:v>6248</c:v>
                </c:pt>
                <c:pt idx="5">
                  <c:v>1318</c:v>
                </c:pt>
              </c:numCache>
            </c:numRef>
          </c:val>
          <c:extLst>
            <c:ext xmlns:c16="http://schemas.microsoft.com/office/drawing/2014/chart" uri="{C3380CC4-5D6E-409C-BE32-E72D297353CC}">
              <c16:uniqueId val="{00000001-C8F4-4155-9220-8B88C1197F0D}"/>
            </c:ext>
          </c:extLst>
        </c:ser>
        <c:dLbls>
          <c:dLblPos val="outEnd"/>
          <c:showLegendKey val="0"/>
          <c:showVal val="1"/>
          <c:showCatName val="0"/>
          <c:showSerName val="0"/>
          <c:showPercent val="0"/>
          <c:showBubbleSize val="0"/>
        </c:dLbls>
        <c:gapWidth val="219"/>
        <c:overlap val="-27"/>
        <c:axId val="2117999904"/>
        <c:axId val="2117996576"/>
      </c:barChart>
      <c:catAx>
        <c:axId val="211799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6576"/>
        <c:crosses val="autoZero"/>
        <c:auto val="1"/>
        <c:lblAlgn val="ctr"/>
        <c:lblOffset val="100"/>
        <c:noMultiLvlLbl val="0"/>
      </c:catAx>
      <c:valAx>
        <c:axId val="2117996576"/>
        <c:scaling>
          <c:orientation val="minMax"/>
        </c:scaling>
        <c:delete val="0"/>
        <c:axPos val="l"/>
        <c:majorGridlines>
          <c:spPr>
            <a:ln w="6350" cap="flat" cmpd="sng" algn="ctr">
              <a:solidFill>
                <a:srgbClr val="ED7D31"/>
              </a:solidFill>
              <a:prstDash val="solid"/>
              <a:miter lim="800000"/>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crossAx val="2117999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legend>
    <c:plotVisOnly val="1"/>
    <c:dispBlanksAs val="gap"/>
    <c:showDLblsOverMax val="0"/>
  </c:chart>
  <c:spPr>
    <a:solidFill>
      <a:sysClr val="window" lastClr="FFFFFF"/>
    </a:solidFill>
    <a:ln w="12700" cap="flat" cmpd="sng" algn="ctr">
      <a:solidFill>
        <a:srgbClr val="ED7D31"/>
      </a:solidFill>
      <a:prstDash val="solid"/>
      <a:miter lim="800000"/>
    </a:ln>
    <a:effectLst/>
  </c:spPr>
  <c:txPr>
    <a:bodyPr/>
    <a:lstStyle/>
    <a:p>
      <a:pPr>
        <a:defRPr sz="1200">
          <a:solidFill>
            <a:sysClr val="windowText" lastClr="000000"/>
          </a:solidFill>
          <a:latin typeface="+mn-lt"/>
          <a:ea typeface="+mn-ea"/>
          <a:cs typeface="+mn-cs"/>
        </a:defRPr>
      </a:pPr>
      <a:endParaRPr lang="es-P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PE"/>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r>
              <a:rPr lang="es-PE" b="1"/>
              <a:t>Resultados de Reclamos de Aduanas</a:t>
            </a:r>
          </a:p>
          <a:p>
            <a:pPr>
              <a:defRPr b="1"/>
            </a:pPr>
            <a:r>
              <a:rPr lang="es-PE" b="1"/>
              <a:t>Ene-Jul 2024</a:t>
            </a:r>
          </a:p>
        </c:rich>
      </c:tx>
      <c:overlay val="0"/>
      <c:spPr>
        <a:noFill/>
        <a:ln>
          <a:noFill/>
        </a:ln>
        <a:effectLst/>
      </c:spPr>
      <c:txPr>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a:scene3d>
              <a:camera prst="orthographicFront"/>
              <a:lightRig rig="threePt" dir="t"/>
            </a:scene3d>
            <a:sp3d prstMaterial="matte"/>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RESULTADOS!$D$23:$D$29</c:f>
              <c:numCache>
                <c:formatCode>General</c:formatCode>
                <c:ptCount val="7"/>
                <c:pt idx="0">
                  <c:v>2234</c:v>
                </c:pt>
                <c:pt idx="1">
                  <c:v>85</c:v>
                </c:pt>
                <c:pt idx="2">
                  <c:v>182</c:v>
                </c:pt>
                <c:pt idx="3">
                  <c:v>2</c:v>
                </c:pt>
                <c:pt idx="4">
                  <c:v>1</c:v>
                </c:pt>
                <c:pt idx="5">
                  <c:v>24</c:v>
                </c:pt>
                <c:pt idx="6">
                  <c:v>2528</c:v>
                </c:pt>
              </c:numCache>
            </c:numRef>
          </c:val>
          <c:extLst>
            <c:ext xmlns:c16="http://schemas.microsoft.com/office/drawing/2014/chart" uri="{C3380CC4-5D6E-409C-BE32-E72D297353CC}">
              <c16:uniqueId val="{00000000-F7D2-4233-9D09-6FBCCB703643}"/>
            </c:ext>
          </c:extLst>
        </c:ser>
        <c:ser>
          <c:idx val="1"/>
          <c:order val="1"/>
          <c:spPr>
            <a:solidFill>
              <a:schemeClr val="accent5"/>
            </a:solidFill>
            <a:ln>
              <a:noFill/>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RESULTADOS!$E$23:$E$29</c:f>
              <c:numCache>
                <c:formatCode>0.00%</c:formatCode>
                <c:ptCount val="7"/>
                <c:pt idx="0">
                  <c:v>0.88370253164556967</c:v>
                </c:pt>
                <c:pt idx="1">
                  <c:v>3.3623417721518986E-2</c:v>
                </c:pt>
                <c:pt idx="2">
                  <c:v>7.1993670886075944E-2</c:v>
                </c:pt>
                <c:pt idx="3">
                  <c:v>7.911392405063291E-4</c:v>
                </c:pt>
                <c:pt idx="4">
                  <c:v>3.9556962025316455E-4</c:v>
                </c:pt>
                <c:pt idx="5">
                  <c:v>9.4936708860759497E-3</c:v>
                </c:pt>
                <c:pt idx="6">
                  <c:v>1</c:v>
                </c:pt>
              </c:numCache>
            </c:numRef>
          </c:val>
          <c:extLst>
            <c:ext xmlns:c16="http://schemas.microsoft.com/office/drawing/2014/chart" uri="{C3380CC4-5D6E-409C-BE32-E72D297353CC}">
              <c16:uniqueId val="{00000001-F7D2-4233-9D09-6FBCCB703643}"/>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PE"/>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chemeClr val="accent6"/>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PE"/>
          </a:p>
        </c:txPr>
        <c:crossAx val="592604288"/>
        <c:crosses val="autoZero"/>
        <c:crossBetween val="between"/>
      </c:valAx>
      <c:dTable>
        <c:showHorzBorder val="1"/>
        <c:showVertBorder val="1"/>
        <c:showOutline val="1"/>
        <c:showKeys val="1"/>
        <c:spPr>
          <a:noFill/>
          <a:ln w="6350" cap="flat" cmpd="sng" algn="ctr">
            <a:solidFill>
              <a:schemeClr val="accent6"/>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6"/>
      </a:solidFill>
      <a:prstDash val="solid"/>
      <a:miter lim="800000"/>
    </a:ln>
    <a:effectLst/>
  </c:spPr>
  <c:txPr>
    <a:bodyPr/>
    <a:lstStyle/>
    <a:p>
      <a:pPr>
        <a:defRPr sz="1400">
          <a:solidFill>
            <a:sysClr val="windowText" lastClr="000000"/>
          </a:solidFill>
          <a:latin typeface="+mn-lt"/>
          <a:ea typeface="+mn-ea"/>
          <a:cs typeface="+mn-cs"/>
        </a:defRPr>
      </a:pPr>
      <a:endParaRPr lang="es-P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7/8/2024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4122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893865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7/8/2024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INGRESOS Y SALIDAS DE RECLAMACIONES 2019-2024*</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DA8136A2-0473-ED01-6C0D-CE6FCF440D43}"/>
              </a:ext>
            </a:extLst>
          </p:cNvPr>
          <p:cNvSpPr txBox="1"/>
          <p:nvPr/>
        </p:nvSpPr>
        <p:spPr>
          <a:xfrm>
            <a:off x="1677271" y="1307978"/>
            <a:ext cx="7562850" cy="707886"/>
          </a:xfrm>
          <a:prstGeom prst="rect">
            <a:avLst/>
          </a:prstGeom>
          <a:noFill/>
        </p:spPr>
        <p:txBody>
          <a:bodyPr wrap="square" rtlCol="0">
            <a:spAutoFit/>
          </a:bodyPr>
          <a:lstStyle/>
          <a:p>
            <a:pPr algn="ctr"/>
            <a:r>
              <a:rPr lang="es-ES" sz="2000" b="1" dirty="0"/>
              <a:t>EVOLUCIÓN DE INGRESOS Y SALIDAS EXPEDIENTES DE RECLAMO 2019-2024*</a:t>
            </a:r>
            <a:endParaRPr lang="es-PE" sz="2000" b="1" dirty="0"/>
          </a:p>
        </p:txBody>
      </p:sp>
      <p:graphicFrame>
        <p:nvGraphicFramePr>
          <p:cNvPr id="3" name="Tabla 2">
            <a:extLst>
              <a:ext uri="{FF2B5EF4-FFF2-40B4-BE49-F238E27FC236}">
                <a16:creationId xmlns:a16="http://schemas.microsoft.com/office/drawing/2014/main" id="{92D20683-F364-E956-9C4F-D440AA5ED83A}"/>
              </a:ext>
            </a:extLst>
          </p:cNvPr>
          <p:cNvGraphicFramePr>
            <a:graphicFrameLocks noGrp="1"/>
          </p:cNvGraphicFramePr>
          <p:nvPr>
            <p:extLst>
              <p:ext uri="{D42A27DB-BD31-4B8C-83A1-F6EECF244321}">
                <p14:modId xmlns:p14="http://schemas.microsoft.com/office/powerpoint/2010/main" val="4043599928"/>
              </p:ext>
            </p:extLst>
          </p:nvPr>
        </p:nvGraphicFramePr>
        <p:xfrm>
          <a:off x="1104899" y="2180484"/>
          <a:ext cx="8707594" cy="963978"/>
        </p:xfrm>
        <a:graphic>
          <a:graphicData uri="http://schemas.openxmlformats.org/drawingml/2006/table">
            <a:tbl>
              <a:tblPr firstRow="1" firstCol="1" bandRow="1"/>
              <a:tblGrid>
                <a:gridCol w="1243942">
                  <a:extLst>
                    <a:ext uri="{9D8B030D-6E8A-4147-A177-3AD203B41FA5}">
                      <a16:colId xmlns:a16="http://schemas.microsoft.com/office/drawing/2014/main" val="4093851502"/>
                    </a:ext>
                  </a:extLst>
                </a:gridCol>
                <a:gridCol w="1243942">
                  <a:extLst>
                    <a:ext uri="{9D8B030D-6E8A-4147-A177-3AD203B41FA5}">
                      <a16:colId xmlns:a16="http://schemas.microsoft.com/office/drawing/2014/main" val="3969460617"/>
                    </a:ext>
                  </a:extLst>
                </a:gridCol>
                <a:gridCol w="1243942">
                  <a:extLst>
                    <a:ext uri="{9D8B030D-6E8A-4147-A177-3AD203B41FA5}">
                      <a16:colId xmlns:a16="http://schemas.microsoft.com/office/drawing/2014/main" val="198342931"/>
                    </a:ext>
                  </a:extLst>
                </a:gridCol>
                <a:gridCol w="1243942">
                  <a:extLst>
                    <a:ext uri="{9D8B030D-6E8A-4147-A177-3AD203B41FA5}">
                      <a16:colId xmlns:a16="http://schemas.microsoft.com/office/drawing/2014/main" val="2370426896"/>
                    </a:ext>
                  </a:extLst>
                </a:gridCol>
                <a:gridCol w="1243942">
                  <a:extLst>
                    <a:ext uri="{9D8B030D-6E8A-4147-A177-3AD203B41FA5}">
                      <a16:colId xmlns:a16="http://schemas.microsoft.com/office/drawing/2014/main" val="1469780919"/>
                    </a:ext>
                  </a:extLst>
                </a:gridCol>
                <a:gridCol w="1243942">
                  <a:extLst>
                    <a:ext uri="{9D8B030D-6E8A-4147-A177-3AD203B41FA5}">
                      <a16:colId xmlns:a16="http://schemas.microsoft.com/office/drawing/2014/main" val="2591977041"/>
                    </a:ext>
                  </a:extLst>
                </a:gridCol>
                <a:gridCol w="1243942">
                  <a:extLst>
                    <a:ext uri="{9D8B030D-6E8A-4147-A177-3AD203B41FA5}">
                      <a16:colId xmlns:a16="http://schemas.microsoft.com/office/drawing/2014/main" val="3152186309"/>
                    </a:ext>
                  </a:extLst>
                </a:gridCol>
              </a:tblGrid>
              <a:tr h="321326">
                <a:tc>
                  <a:txBody>
                    <a:bodyPr/>
                    <a:lstStyle/>
                    <a:p>
                      <a:pPr algn="l" rtl="0" fontAlgn="ctr"/>
                      <a:r>
                        <a:rPr lang="es-PE" sz="2000" b="1" i="0" u="none" strike="noStrike">
                          <a:solidFill>
                            <a:srgbClr val="000000"/>
                          </a:solidFill>
                          <a:effectLst/>
                          <a:latin typeface="Calibri" panose="020F0502020204030204" pitchFamily="34" charset="0"/>
                        </a:rPr>
                        <a:t>DETALLE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dirty="0">
                          <a:solidFill>
                            <a:srgbClr val="000000"/>
                          </a:solidFill>
                          <a:effectLst/>
                          <a:latin typeface="Calibri" panose="020F0502020204030204" pitchFamily="34" charset="0"/>
                        </a:rPr>
                        <a:t>2019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125101519"/>
                  </a:ext>
                </a:extLst>
              </a:tr>
              <a:tr h="321326">
                <a:tc>
                  <a:txBody>
                    <a:bodyPr/>
                    <a:lstStyle/>
                    <a:p>
                      <a:pPr algn="l" rtl="0" fontAlgn="ctr"/>
                      <a:r>
                        <a:rPr lang="es-PE" sz="2000" b="1" i="0" u="none" strike="noStrike">
                          <a:solidFill>
                            <a:srgbClr val="000000"/>
                          </a:solidFill>
                          <a:effectLst/>
                          <a:latin typeface="Calibri" panose="020F0502020204030204" pitchFamily="34" charset="0"/>
                        </a:rPr>
                        <a:t>INGRESOS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4,409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3,249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5,860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5,970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4,678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1,206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908671636"/>
                  </a:ext>
                </a:extLst>
              </a:tr>
              <a:tr h="321326">
                <a:tc>
                  <a:txBody>
                    <a:bodyPr/>
                    <a:lstStyle/>
                    <a:p>
                      <a:pPr algn="l" rtl="0" fontAlgn="ctr"/>
                      <a:r>
                        <a:rPr lang="es-PE" sz="2000" b="1" i="0" u="none" strike="noStrike">
                          <a:solidFill>
                            <a:srgbClr val="000000"/>
                          </a:solidFill>
                          <a:effectLst/>
                          <a:latin typeface="Calibri" panose="020F0502020204030204" pitchFamily="34" charset="0"/>
                        </a:rPr>
                        <a:t>SALIDAS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3,435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2,981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3,455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5,581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6,248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1,318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58584415"/>
                  </a:ext>
                </a:extLst>
              </a:tr>
            </a:tbl>
          </a:graphicData>
        </a:graphic>
      </p:graphicFrame>
      <p:graphicFrame>
        <p:nvGraphicFramePr>
          <p:cNvPr id="4" name="Gráfico 3">
            <a:extLst>
              <a:ext uri="{FF2B5EF4-FFF2-40B4-BE49-F238E27FC236}">
                <a16:creationId xmlns:a16="http://schemas.microsoft.com/office/drawing/2014/main" id="{4FE17D7D-2799-58B1-C4FA-F339EFEFFD46}"/>
              </a:ext>
            </a:extLst>
          </p:cNvPr>
          <p:cNvGraphicFramePr>
            <a:graphicFrameLocks/>
          </p:cNvGraphicFramePr>
          <p:nvPr>
            <p:extLst>
              <p:ext uri="{D42A27DB-BD31-4B8C-83A1-F6EECF244321}">
                <p14:modId xmlns:p14="http://schemas.microsoft.com/office/powerpoint/2010/main" val="3790308350"/>
              </p:ext>
            </p:extLst>
          </p:nvPr>
        </p:nvGraphicFramePr>
        <p:xfrm>
          <a:off x="1104899" y="3496989"/>
          <a:ext cx="8707595" cy="2962250"/>
        </p:xfrm>
        <a:graphic>
          <a:graphicData uri="http://schemas.openxmlformats.org/drawingml/2006/chart">
            <c:chart xmlns:c="http://schemas.openxmlformats.org/drawingml/2006/chart" xmlns:r="http://schemas.openxmlformats.org/officeDocument/2006/relationships" r:id="rId4"/>
          </a:graphicData>
        </a:graphic>
      </p:graphicFrame>
      <p:sp>
        <p:nvSpPr>
          <p:cNvPr id="7" name="CuadroTexto 6">
            <a:extLst>
              <a:ext uri="{FF2B5EF4-FFF2-40B4-BE49-F238E27FC236}">
                <a16:creationId xmlns:a16="http://schemas.microsoft.com/office/drawing/2014/main" id="{B61CC4B4-FE39-48D4-90AB-3AA1280F5B02}"/>
              </a:ext>
            </a:extLst>
          </p:cNvPr>
          <p:cNvSpPr txBox="1"/>
          <p:nvPr/>
        </p:nvSpPr>
        <p:spPr>
          <a:xfrm>
            <a:off x="1104900" y="6459239"/>
            <a:ext cx="2611595" cy="261610"/>
          </a:xfrm>
          <a:prstGeom prst="rect">
            <a:avLst/>
          </a:prstGeom>
          <a:noFill/>
        </p:spPr>
        <p:txBody>
          <a:bodyPr wrap="square" rtlCol="0">
            <a:spAutoFit/>
          </a:bodyPr>
          <a:lstStyle/>
          <a:p>
            <a:r>
              <a:rPr lang="es-ES" sz="1100" b="1" dirty="0"/>
              <a:t>*Primer trimestre 2024</a:t>
            </a:r>
            <a:endParaRPr lang="es-PE" sz="1100" b="1" dirty="0"/>
          </a:p>
        </p:txBody>
      </p:sp>
    </p:spTree>
    <p:extLst>
      <p:ext uri="{BB962C8B-B14F-4D97-AF65-F5344CB8AC3E}">
        <p14:creationId xmlns:p14="http://schemas.microsoft.com/office/powerpoint/2010/main" val="3333353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200117" y="3176728"/>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745679834"/>
              </p:ext>
            </p:extLst>
          </p:nvPr>
        </p:nvGraphicFramePr>
        <p:xfrm>
          <a:off x="900593" y="1353466"/>
          <a:ext cx="2518882" cy="1422430"/>
        </p:xfrm>
        <a:graphic>
          <a:graphicData uri="http://schemas.openxmlformats.org/drawingml/2006/table">
            <a:tbl>
              <a:tblPr/>
              <a:tblGrid>
                <a:gridCol w="1529820">
                  <a:extLst>
                    <a:ext uri="{9D8B030D-6E8A-4147-A177-3AD203B41FA5}">
                      <a16:colId xmlns:a16="http://schemas.microsoft.com/office/drawing/2014/main" val="303441847"/>
                    </a:ext>
                  </a:extLst>
                </a:gridCol>
                <a:gridCol w="347184">
                  <a:extLst>
                    <a:ext uri="{9D8B030D-6E8A-4147-A177-3AD203B41FA5}">
                      <a16:colId xmlns:a16="http://schemas.microsoft.com/office/drawing/2014/main" val="1716151770"/>
                    </a:ext>
                  </a:extLst>
                </a:gridCol>
                <a:gridCol w="641878">
                  <a:extLst>
                    <a:ext uri="{9D8B030D-6E8A-4147-A177-3AD203B41FA5}">
                      <a16:colId xmlns:a16="http://schemas.microsoft.com/office/drawing/2014/main" val="757411442"/>
                    </a:ext>
                  </a:extLst>
                </a:gridCol>
              </a:tblGrid>
              <a:tr h="350941">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a:txBody>
                    <a:bodyPr/>
                    <a:lstStyle/>
                    <a:p>
                      <a:pPr algn="ctr" fontAlgn="ctr"/>
                      <a:r>
                        <a:rPr lang="es-ES" sz="1400" b="1" i="0" u="none" strike="noStrike" dirty="0">
                          <a:solidFill>
                            <a:srgbClr val="000000"/>
                          </a:solidFill>
                          <a:effectLst/>
                          <a:latin typeface="+mn-lt"/>
                        </a:rPr>
                        <a:t>            </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15230">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407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extLst>
                  <a:ext uri="{0D108BD9-81ED-4DB2-BD59-A6C34878D82A}">
                    <a16:rowId xmlns:a16="http://schemas.microsoft.com/office/drawing/2014/main" val="2944027070"/>
                  </a:ext>
                </a:extLst>
              </a:tr>
              <a:tr h="441029">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ES" sz="1400" b="1" i="0" u="none" strike="noStrike" dirty="0">
                          <a:solidFill>
                            <a:schemeClr val="tx1"/>
                          </a:solidFill>
                          <a:effectLst/>
                          <a:latin typeface="+mn-lt"/>
                        </a:rPr>
                        <a:t>121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extLst>
                  <a:ext uri="{0D108BD9-81ED-4DB2-BD59-A6C34878D82A}">
                    <a16:rowId xmlns:a16="http://schemas.microsoft.com/office/drawing/2014/main" val="3217716666"/>
                  </a:ext>
                </a:extLst>
              </a:tr>
              <a:tr h="315230">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528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3001162520"/>
              </p:ext>
            </p:extLst>
          </p:nvPr>
        </p:nvGraphicFramePr>
        <p:xfrm>
          <a:off x="900592" y="2876867"/>
          <a:ext cx="2518881" cy="1367509"/>
        </p:xfrm>
        <a:graphic>
          <a:graphicData uri="http://schemas.openxmlformats.org/drawingml/2006/table">
            <a:tbl>
              <a:tblPr/>
              <a:tblGrid>
                <a:gridCol w="1527944">
                  <a:extLst>
                    <a:ext uri="{9D8B030D-6E8A-4147-A177-3AD203B41FA5}">
                      <a16:colId xmlns:a16="http://schemas.microsoft.com/office/drawing/2014/main" val="2925254002"/>
                    </a:ext>
                  </a:extLst>
                </a:gridCol>
                <a:gridCol w="990937">
                  <a:extLst>
                    <a:ext uri="{9D8B030D-6E8A-4147-A177-3AD203B41FA5}">
                      <a16:colId xmlns:a16="http://schemas.microsoft.com/office/drawing/2014/main" val="867454367"/>
                    </a:ext>
                  </a:extLst>
                </a:gridCol>
              </a:tblGrid>
              <a:tr h="30194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a:t>
                      </a:r>
                      <a:endParaRPr lang="es-PE" dirty="0"/>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16687">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298</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46932">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88</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30194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386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1494414412"/>
              </p:ext>
            </p:extLst>
          </p:nvPr>
        </p:nvGraphicFramePr>
        <p:xfrm>
          <a:off x="900592" y="4399960"/>
          <a:ext cx="2518880" cy="1456539"/>
        </p:xfrm>
        <a:graphic>
          <a:graphicData uri="http://schemas.openxmlformats.org/drawingml/2006/table">
            <a:tbl>
              <a:tblPr/>
              <a:tblGrid>
                <a:gridCol w="1483230">
                  <a:extLst>
                    <a:ext uri="{9D8B030D-6E8A-4147-A177-3AD203B41FA5}">
                      <a16:colId xmlns:a16="http://schemas.microsoft.com/office/drawing/2014/main" val="33698083"/>
                    </a:ext>
                  </a:extLst>
                </a:gridCol>
                <a:gridCol w="1035650">
                  <a:extLst>
                    <a:ext uri="{9D8B030D-6E8A-4147-A177-3AD203B41FA5}">
                      <a16:colId xmlns:a16="http://schemas.microsoft.com/office/drawing/2014/main" val="1249015919"/>
                    </a:ext>
                  </a:extLst>
                </a:gridCol>
              </a:tblGrid>
              <a:tr h="28987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a:t>
                      </a:r>
                      <a:endParaRPr lang="es-PE" dirty="0"/>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438144">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 (INCA+IAMC)</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42</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8645">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987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56</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3476354944"/>
              </p:ext>
            </p:extLst>
          </p:nvPr>
        </p:nvGraphicFramePr>
        <p:xfrm>
          <a:off x="7268874" y="5224551"/>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latin typeface="Calibri" panose="020F0502020204030204" pitchFamily="34" charset="0"/>
                        </a:rPr>
                        <a:t>18</a:t>
                      </a:r>
                      <a:endParaRPr lang="es-PE" sz="1400" b="0" i="0" u="none" strike="noStrike" dirty="0">
                        <a:solidFill>
                          <a:schemeClr val="tx1"/>
                        </a:solidFill>
                        <a:effectLs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latin typeface="Calibri" panose="020F0502020204030204" pitchFamily="34" charset="0"/>
                        </a:rPr>
                        <a:t>5</a:t>
                      </a:r>
                    </a:p>
                  </a:txBody>
                  <a:tcPr marL="0" marR="0" marT="0" marB="0" anchor="b"/>
                </a:tc>
                <a:tc>
                  <a:txBody>
                    <a:bodyPr/>
                    <a:lstStyle/>
                    <a:p>
                      <a:pPr algn="ctr" fontAlgn="ctr"/>
                      <a:r>
                        <a:rPr lang="es-ES" sz="1400" b="0" i="0" u="none" strike="noStrike" dirty="0">
                          <a:solidFill>
                            <a:schemeClr val="tx1"/>
                          </a:solidFill>
                          <a:effectLst/>
                          <a:latin typeface="Calibri" panose="020F0502020204030204" pitchFamily="34" charset="0"/>
                        </a:rPr>
                        <a:t>4</a:t>
                      </a:r>
                      <a:endParaRPr lang="es-PE" sz="1400" b="0" i="0" u="none" strike="noStrike" dirty="0">
                        <a:solidFill>
                          <a:schemeClr val="tx1"/>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539037" y="3067096"/>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3607584" y="1513887"/>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 name="Tabla 1">
            <a:extLst>
              <a:ext uri="{FF2B5EF4-FFF2-40B4-BE49-F238E27FC236}">
                <a16:creationId xmlns:a16="http://schemas.microsoft.com/office/drawing/2014/main" id="{3629695C-2A70-2448-59F5-EF50943DF9DC}"/>
              </a:ext>
            </a:extLst>
          </p:cNvPr>
          <p:cNvGraphicFramePr>
            <a:graphicFrameLocks noGrp="1"/>
          </p:cNvGraphicFramePr>
          <p:nvPr>
            <p:extLst>
              <p:ext uri="{D42A27DB-BD31-4B8C-83A1-F6EECF244321}">
                <p14:modId xmlns:p14="http://schemas.microsoft.com/office/powerpoint/2010/main" val="2769929117"/>
              </p:ext>
            </p:extLst>
          </p:nvPr>
        </p:nvGraphicFramePr>
        <p:xfrm>
          <a:off x="4481272" y="1406283"/>
          <a:ext cx="7209221" cy="664142"/>
        </p:xfrm>
        <a:graphic>
          <a:graphicData uri="http://schemas.openxmlformats.org/drawingml/2006/table">
            <a:tbl>
              <a:tblPr/>
              <a:tblGrid>
                <a:gridCol w="510998">
                  <a:extLst>
                    <a:ext uri="{9D8B030D-6E8A-4147-A177-3AD203B41FA5}">
                      <a16:colId xmlns:a16="http://schemas.microsoft.com/office/drawing/2014/main" val="1074764036"/>
                    </a:ext>
                  </a:extLst>
                </a:gridCol>
                <a:gridCol w="704349">
                  <a:extLst>
                    <a:ext uri="{9D8B030D-6E8A-4147-A177-3AD203B41FA5}">
                      <a16:colId xmlns:a16="http://schemas.microsoft.com/office/drawing/2014/main" val="3258104317"/>
                    </a:ext>
                  </a:extLst>
                </a:gridCol>
                <a:gridCol w="593863">
                  <a:extLst>
                    <a:ext uri="{9D8B030D-6E8A-4147-A177-3AD203B41FA5}">
                      <a16:colId xmlns:a16="http://schemas.microsoft.com/office/drawing/2014/main" val="3572637511"/>
                    </a:ext>
                  </a:extLst>
                </a:gridCol>
                <a:gridCol w="510998">
                  <a:extLst>
                    <a:ext uri="{9D8B030D-6E8A-4147-A177-3AD203B41FA5}">
                      <a16:colId xmlns:a16="http://schemas.microsoft.com/office/drawing/2014/main" val="3857808528"/>
                    </a:ext>
                  </a:extLst>
                </a:gridCol>
                <a:gridCol w="524809">
                  <a:extLst>
                    <a:ext uri="{9D8B030D-6E8A-4147-A177-3AD203B41FA5}">
                      <a16:colId xmlns:a16="http://schemas.microsoft.com/office/drawing/2014/main" val="1503528122"/>
                    </a:ext>
                  </a:extLst>
                </a:gridCol>
                <a:gridCol w="455755">
                  <a:extLst>
                    <a:ext uri="{9D8B030D-6E8A-4147-A177-3AD203B41FA5}">
                      <a16:colId xmlns:a16="http://schemas.microsoft.com/office/drawing/2014/main" val="534461439"/>
                    </a:ext>
                  </a:extLst>
                </a:gridCol>
                <a:gridCol w="441945">
                  <a:extLst>
                    <a:ext uri="{9D8B030D-6E8A-4147-A177-3AD203B41FA5}">
                      <a16:colId xmlns:a16="http://schemas.microsoft.com/office/drawing/2014/main" val="1464611740"/>
                    </a:ext>
                  </a:extLst>
                </a:gridCol>
                <a:gridCol w="607674">
                  <a:extLst>
                    <a:ext uri="{9D8B030D-6E8A-4147-A177-3AD203B41FA5}">
                      <a16:colId xmlns:a16="http://schemas.microsoft.com/office/drawing/2014/main" val="983088506"/>
                    </a:ext>
                  </a:extLst>
                </a:gridCol>
                <a:gridCol w="718160">
                  <a:extLst>
                    <a:ext uri="{9D8B030D-6E8A-4147-A177-3AD203B41FA5}">
                      <a16:colId xmlns:a16="http://schemas.microsoft.com/office/drawing/2014/main" val="1149158738"/>
                    </a:ext>
                  </a:extLst>
                </a:gridCol>
                <a:gridCol w="621485">
                  <a:extLst>
                    <a:ext uri="{9D8B030D-6E8A-4147-A177-3AD203B41FA5}">
                      <a16:colId xmlns:a16="http://schemas.microsoft.com/office/drawing/2014/main" val="3128830786"/>
                    </a:ext>
                  </a:extLst>
                </a:gridCol>
                <a:gridCol w="828646">
                  <a:extLst>
                    <a:ext uri="{9D8B030D-6E8A-4147-A177-3AD203B41FA5}">
                      <a16:colId xmlns:a16="http://schemas.microsoft.com/office/drawing/2014/main" val="3835212946"/>
                    </a:ext>
                  </a:extLst>
                </a:gridCol>
                <a:gridCol w="690539">
                  <a:extLst>
                    <a:ext uri="{9D8B030D-6E8A-4147-A177-3AD203B41FA5}">
                      <a16:colId xmlns:a16="http://schemas.microsoft.com/office/drawing/2014/main" val="1709949566"/>
                    </a:ext>
                  </a:extLst>
                </a:gridCol>
              </a:tblGrid>
              <a:tr h="176321">
                <a:tc gridSpan="12">
                  <a:txBody>
                    <a:bodyPr/>
                    <a:lstStyle/>
                    <a:p>
                      <a:pPr algn="ctr" rtl="0" fontAlgn="ctr"/>
                      <a:r>
                        <a:rPr lang="es-PE" sz="105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159146899"/>
                  </a:ext>
                </a:extLst>
              </a:tr>
              <a:tr h="311500">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AGOSTO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SETIEMBRE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844435292"/>
                  </a:ext>
                </a:extLst>
              </a:tr>
              <a:tr h="176321">
                <a:tc>
                  <a:txBody>
                    <a:bodyPr/>
                    <a:lstStyle/>
                    <a:p>
                      <a:pPr algn="ctr" rtl="0" fontAlgn="ctr"/>
                      <a:r>
                        <a:rPr lang="es-PE" sz="1050" b="0" i="0" u="none" strike="noStrike">
                          <a:solidFill>
                            <a:srgbClr val="000000"/>
                          </a:solidFill>
                          <a:effectLst/>
                          <a:latin typeface="Calibri" panose="020F0502020204030204" pitchFamily="34" charset="0"/>
                        </a:rPr>
                        <a:t>1072</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1849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1199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1187</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878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878</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 640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801</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dirty="0">
                          <a:solidFill>
                            <a:srgbClr val="000000"/>
                          </a:solidFill>
                          <a:effectLst/>
                          <a:latin typeface="Calibri" panose="020F0502020204030204" pitchFamily="34" charset="0"/>
                        </a:rPr>
                        <a:t>633</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092472469"/>
                  </a:ext>
                </a:extLst>
              </a:tr>
            </a:tbl>
          </a:graphicData>
        </a:graphic>
      </p:graphicFrame>
      <p:graphicFrame>
        <p:nvGraphicFramePr>
          <p:cNvPr id="3" name="Tabla 2">
            <a:extLst>
              <a:ext uri="{FF2B5EF4-FFF2-40B4-BE49-F238E27FC236}">
                <a16:creationId xmlns:a16="http://schemas.microsoft.com/office/drawing/2014/main" id="{5806AB0E-3F85-9087-9ED5-45EE0E593B7F}"/>
              </a:ext>
            </a:extLst>
          </p:cNvPr>
          <p:cNvGraphicFramePr>
            <a:graphicFrameLocks noGrp="1"/>
          </p:cNvGraphicFramePr>
          <p:nvPr>
            <p:extLst>
              <p:ext uri="{D42A27DB-BD31-4B8C-83A1-F6EECF244321}">
                <p14:modId xmlns:p14="http://schemas.microsoft.com/office/powerpoint/2010/main" val="2543455476"/>
              </p:ext>
            </p:extLst>
          </p:nvPr>
        </p:nvGraphicFramePr>
        <p:xfrm>
          <a:off x="4481271" y="2241377"/>
          <a:ext cx="7209220" cy="717199"/>
        </p:xfrm>
        <a:graphic>
          <a:graphicData uri="http://schemas.openxmlformats.org/drawingml/2006/table">
            <a:tbl>
              <a:tblPr/>
              <a:tblGrid>
                <a:gridCol w="510998">
                  <a:extLst>
                    <a:ext uri="{9D8B030D-6E8A-4147-A177-3AD203B41FA5}">
                      <a16:colId xmlns:a16="http://schemas.microsoft.com/office/drawing/2014/main" val="2311963422"/>
                    </a:ext>
                  </a:extLst>
                </a:gridCol>
                <a:gridCol w="704349">
                  <a:extLst>
                    <a:ext uri="{9D8B030D-6E8A-4147-A177-3AD203B41FA5}">
                      <a16:colId xmlns:a16="http://schemas.microsoft.com/office/drawing/2014/main" val="1516187338"/>
                    </a:ext>
                  </a:extLst>
                </a:gridCol>
                <a:gridCol w="593863">
                  <a:extLst>
                    <a:ext uri="{9D8B030D-6E8A-4147-A177-3AD203B41FA5}">
                      <a16:colId xmlns:a16="http://schemas.microsoft.com/office/drawing/2014/main" val="3647570914"/>
                    </a:ext>
                  </a:extLst>
                </a:gridCol>
                <a:gridCol w="510998">
                  <a:extLst>
                    <a:ext uri="{9D8B030D-6E8A-4147-A177-3AD203B41FA5}">
                      <a16:colId xmlns:a16="http://schemas.microsoft.com/office/drawing/2014/main" val="1400445797"/>
                    </a:ext>
                  </a:extLst>
                </a:gridCol>
                <a:gridCol w="524809">
                  <a:extLst>
                    <a:ext uri="{9D8B030D-6E8A-4147-A177-3AD203B41FA5}">
                      <a16:colId xmlns:a16="http://schemas.microsoft.com/office/drawing/2014/main" val="3198969946"/>
                    </a:ext>
                  </a:extLst>
                </a:gridCol>
                <a:gridCol w="455755">
                  <a:extLst>
                    <a:ext uri="{9D8B030D-6E8A-4147-A177-3AD203B41FA5}">
                      <a16:colId xmlns:a16="http://schemas.microsoft.com/office/drawing/2014/main" val="2228440488"/>
                    </a:ext>
                  </a:extLst>
                </a:gridCol>
                <a:gridCol w="441945">
                  <a:extLst>
                    <a:ext uri="{9D8B030D-6E8A-4147-A177-3AD203B41FA5}">
                      <a16:colId xmlns:a16="http://schemas.microsoft.com/office/drawing/2014/main" val="795327759"/>
                    </a:ext>
                  </a:extLst>
                </a:gridCol>
                <a:gridCol w="607674">
                  <a:extLst>
                    <a:ext uri="{9D8B030D-6E8A-4147-A177-3AD203B41FA5}">
                      <a16:colId xmlns:a16="http://schemas.microsoft.com/office/drawing/2014/main" val="2178664864"/>
                    </a:ext>
                  </a:extLst>
                </a:gridCol>
                <a:gridCol w="718160">
                  <a:extLst>
                    <a:ext uri="{9D8B030D-6E8A-4147-A177-3AD203B41FA5}">
                      <a16:colId xmlns:a16="http://schemas.microsoft.com/office/drawing/2014/main" val="3907391050"/>
                    </a:ext>
                  </a:extLst>
                </a:gridCol>
                <a:gridCol w="621485">
                  <a:extLst>
                    <a:ext uri="{9D8B030D-6E8A-4147-A177-3AD203B41FA5}">
                      <a16:colId xmlns:a16="http://schemas.microsoft.com/office/drawing/2014/main" val="2424771591"/>
                    </a:ext>
                  </a:extLst>
                </a:gridCol>
                <a:gridCol w="828646">
                  <a:extLst>
                    <a:ext uri="{9D8B030D-6E8A-4147-A177-3AD203B41FA5}">
                      <a16:colId xmlns:a16="http://schemas.microsoft.com/office/drawing/2014/main" val="3910783422"/>
                    </a:ext>
                  </a:extLst>
                </a:gridCol>
                <a:gridCol w="690538">
                  <a:extLst>
                    <a:ext uri="{9D8B030D-6E8A-4147-A177-3AD203B41FA5}">
                      <a16:colId xmlns:a16="http://schemas.microsoft.com/office/drawing/2014/main" val="4013679102"/>
                    </a:ext>
                  </a:extLst>
                </a:gridCol>
              </a:tblGrid>
              <a:tr h="190407">
                <a:tc gridSpan="12">
                  <a:txBody>
                    <a:bodyPr/>
                    <a:lstStyle/>
                    <a:p>
                      <a:pPr algn="ctr" rtl="0" fontAlgn="ctr"/>
                      <a:r>
                        <a:rPr lang="es-PE" sz="105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093217592"/>
                  </a:ext>
                </a:extLst>
              </a:tr>
              <a:tr h="336385">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AGOSTO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SETIEMBRE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1865571487"/>
                  </a:ext>
                </a:extLst>
              </a:tr>
              <a:tr h="190407">
                <a:tc>
                  <a:txBody>
                    <a:bodyPr/>
                    <a:lstStyle/>
                    <a:p>
                      <a:pPr algn="ctr" rtl="0" fontAlgn="ctr"/>
                      <a:r>
                        <a:rPr lang="es-PE" sz="1050" b="0" i="0" u="none" strike="noStrike">
                          <a:solidFill>
                            <a:srgbClr val="000000"/>
                          </a:solidFill>
                          <a:effectLst/>
                          <a:latin typeface="Calibri" panose="020F0502020204030204" pitchFamily="34" charset="0"/>
                        </a:rPr>
                        <a:t>1900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1853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1334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808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448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327</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 368</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435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493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dirty="0">
                          <a:solidFill>
                            <a:srgbClr val="000000"/>
                          </a:solidFill>
                          <a:effectLst/>
                          <a:latin typeface="Calibri" panose="020F0502020204030204" pitchFamily="34" charset="0"/>
                        </a:rPr>
                        <a:t>511</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2937835668"/>
                  </a:ext>
                </a:extLst>
              </a:tr>
            </a:tbl>
          </a:graphicData>
        </a:graphic>
      </p:graphicFrame>
      <p:graphicFrame>
        <p:nvGraphicFramePr>
          <p:cNvPr id="16" name="Tabla 15">
            <a:extLst>
              <a:ext uri="{FF2B5EF4-FFF2-40B4-BE49-F238E27FC236}">
                <a16:creationId xmlns:a16="http://schemas.microsoft.com/office/drawing/2014/main" id="{55C31B5B-B9FD-7A3C-712D-BFA36F022CF0}"/>
              </a:ext>
            </a:extLst>
          </p:cNvPr>
          <p:cNvGraphicFramePr>
            <a:graphicFrameLocks noGrp="1"/>
          </p:cNvGraphicFramePr>
          <p:nvPr>
            <p:extLst>
              <p:ext uri="{D42A27DB-BD31-4B8C-83A1-F6EECF244321}">
                <p14:modId xmlns:p14="http://schemas.microsoft.com/office/powerpoint/2010/main" val="3820492061"/>
              </p:ext>
            </p:extLst>
          </p:nvPr>
        </p:nvGraphicFramePr>
        <p:xfrm>
          <a:off x="6914860" y="3479413"/>
          <a:ext cx="3581690" cy="655223"/>
        </p:xfrm>
        <a:graphic>
          <a:graphicData uri="http://schemas.openxmlformats.org/drawingml/2006/table">
            <a:tbl>
              <a:tblPr/>
              <a:tblGrid>
                <a:gridCol w="645462">
                  <a:extLst>
                    <a:ext uri="{9D8B030D-6E8A-4147-A177-3AD203B41FA5}">
                      <a16:colId xmlns:a16="http://schemas.microsoft.com/office/drawing/2014/main" val="2608954436"/>
                    </a:ext>
                  </a:extLst>
                </a:gridCol>
                <a:gridCol w="544212">
                  <a:extLst>
                    <a:ext uri="{9D8B030D-6E8A-4147-A177-3AD203B41FA5}">
                      <a16:colId xmlns:a16="http://schemas.microsoft.com/office/drawing/2014/main" val="3702516282"/>
                    </a:ext>
                  </a:extLst>
                </a:gridCol>
                <a:gridCol w="468276">
                  <a:extLst>
                    <a:ext uri="{9D8B030D-6E8A-4147-A177-3AD203B41FA5}">
                      <a16:colId xmlns:a16="http://schemas.microsoft.com/office/drawing/2014/main" val="3202347375"/>
                    </a:ext>
                  </a:extLst>
                </a:gridCol>
                <a:gridCol w="480935">
                  <a:extLst>
                    <a:ext uri="{9D8B030D-6E8A-4147-A177-3AD203B41FA5}">
                      <a16:colId xmlns:a16="http://schemas.microsoft.com/office/drawing/2014/main" val="66548466"/>
                    </a:ext>
                  </a:extLst>
                </a:gridCol>
                <a:gridCol w="480935">
                  <a:extLst>
                    <a:ext uri="{9D8B030D-6E8A-4147-A177-3AD203B41FA5}">
                      <a16:colId xmlns:a16="http://schemas.microsoft.com/office/drawing/2014/main" val="520983657"/>
                    </a:ext>
                  </a:extLst>
                </a:gridCol>
                <a:gridCol w="480935">
                  <a:extLst>
                    <a:ext uri="{9D8B030D-6E8A-4147-A177-3AD203B41FA5}">
                      <a16:colId xmlns:a16="http://schemas.microsoft.com/office/drawing/2014/main" val="2948232374"/>
                    </a:ext>
                  </a:extLst>
                </a:gridCol>
                <a:gridCol w="480935">
                  <a:extLst>
                    <a:ext uri="{9D8B030D-6E8A-4147-A177-3AD203B41FA5}">
                      <a16:colId xmlns:a16="http://schemas.microsoft.com/office/drawing/2014/main" val="3778976007"/>
                    </a:ext>
                  </a:extLst>
                </a:gridCol>
              </a:tblGrid>
              <a:tr h="159971">
                <a:tc gridSpan="7">
                  <a:txBody>
                    <a:bodyPr/>
                    <a:lstStyle/>
                    <a:p>
                      <a:pPr algn="ctr" rtl="0" fontAlgn="ctr"/>
                      <a:r>
                        <a:rPr lang="es-PE" sz="110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84967146"/>
                  </a:ext>
                </a:extLst>
              </a:tr>
              <a:tr h="319943">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JUNIO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JULIO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3902174"/>
                  </a:ext>
                </a:extLst>
              </a:tr>
              <a:tr h="159971">
                <a:tc>
                  <a:txBody>
                    <a:bodyPr/>
                    <a:lstStyle/>
                    <a:p>
                      <a:pPr algn="ctr" rtl="0" fontAlgn="b"/>
                      <a:r>
                        <a:rPr lang="es-PE" sz="1100" b="0" i="0" u="none" strike="noStrike">
                          <a:solidFill>
                            <a:srgbClr val="000000"/>
                          </a:solidFill>
                          <a:effectLst/>
                          <a:latin typeface="Calibri" panose="020F0502020204030204" pitchFamily="34" charset="0"/>
                        </a:rPr>
                        <a:t>799</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a:solidFill>
                            <a:srgbClr val="000000"/>
                          </a:solidFill>
                          <a:effectLst/>
                          <a:latin typeface="Calibri" panose="020F0502020204030204" pitchFamily="34" charset="0"/>
                        </a:rPr>
                        <a:t>607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767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824 </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773</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822</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747</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986586754"/>
                  </a:ext>
                </a:extLst>
              </a:tr>
            </a:tbl>
          </a:graphicData>
        </a:graphic>
      </p:graphicFrame>
      <p:graphicFrame>
        <p:nvGraphicFramePr>
          <p:cNvPr id="18" name="Tabla 17">
            <a:extLst>
              <a:ext uri="{FF2B5EF4-FFF2-40B4-BE49-F238E27FC236}">
                <a16:creationId xmlns:a16="http://schemas.microsoft.com/office/drawing/2014/main" id="{B46C2B3E-E31E-3FFD-A4B2-083C609EF423}"/>
              </a:ext>
            </a:extLst>
          </p:cNvPr>
          <p:cNvGraphicFramePr>
            <a:graphicFrameLocks noGrp="1"/>
          </p:cNvGraphicFramePr>
          <p:nvPr>
            <p:extLst>
              <p:ext uri="{D42A27DB-BD31-4B8C-83A1-F6EECF244321}">
                <p14:modId xmlns:p14="http://schemas.microsoft.com/office/powerpoint/2010/main" val="976628720"/>
              </p:ext>
            </p:extLst>
          </p:nvPr>
        </p:nvGraphicFramePr>
        <p:xfrm>
          <a:off x="6914860" y="4283598"/>
          <a:ext cx="3581690" cy="639885"/>
        </p:xfrm>
        <a:graphic>
          <a:graphicData uri="http://schemas.openxmlformats.org/drawingml/2006/table">
            <a:tbl>
              <a:tblPr/>
              <a:tblGrid>
                <a:gridCol w="645463">
                  <a:extLst>
                    <a:ext uri="{9D8B030D-6E8A-4147-A177-3AD203B41FA5}">
                      <a16:colId xmlns:a16="http://schemas.microsoft.com/office/drawing/2014/main" val="4160914120"/>
                    </a:ext>
                  </a:extLst>
                </a:gridCol>
                <a:gridCol w="544213">
                  <a:extLst>
                    <a:ext uri="{9D8B030D-6E8A-4147-A177-3AD203B41FA5}">
                      <a16:colId xmlns:a16="http://schemas.microsoft.com/office/drawing/2014/main" val="394916733"/>
                    </a:ext>
                  </a:extLst>
                </a:gridCol>
                <a:gridCol w="468278">
                  <a:extLst>
                    <a:ext uri="{9D8B030D-6E8A-4147-A177-3AD203B41FA5}">
                      <a16:colId xmlns:a16="http://schemas.microsoft.com/office/drawing/2014/main" val="2531847754"/>
                    </a:ext>
                  </a:extLst>
                </a:gridCol>
                <a:gridCol w="480934">
                  <a:extLst>
                    <a:ext uri="{9D8B030D-6E8A-4147-A177-3AD203B41FA5}">
                      <a16:colId xmlns:a16="http://schemas.microsoft.com/office/drawing/2014/main" val="4039369803"/>
                    </a:ext>
                  </a:extLst>
                </a:gridCol>
                <a:gridCol w="480934">
                  <a:extLst>
                    <a:ext uri="{9D8B030D-6E8A-4147-A177-3AD203B41FA5}">
                      <a16:colId xmlns:a16="http://schemas.microsoft.com/office/drawing/2014/main" val="4279191836"/>
                    </a:ext>
                  </a:extLst>
                </a:gridCol>
                <a:gridCol w="480934">
                  <a:extLst>
                    <a:ext uri="{9D8B030D-6E8A-4147-A177-3AD203B41FA5}">
                      <a16:colId xmlns:a16="http://schemas.microsoft.com/office/drawing/2014/main" val="3497754010"/>
                    </a:ext>
                  </a:extLst>
                </a:gridCol>
                <a:gridCol w="480934">
                  <a:extLst>
                    <a:ext uri="{9D8B030D-6E8A-4147-A177-3AD203B41FA5}">
                      <a16:colId xmlns:a16="http://schemas.microsoft.com/office/drawing/2014/main" val="728024581"/>
                    </a:ext>
                  </a:extLst>
                </a:gridCol>
              </a:tblGrid>
              <a:tr h="158881">
                <a:tc gridSpan="7">
                  <a:txBody>
                    <a:bodyPr/>
                    <a:lstStyle/>
                    <a:p>
                      <a:pPr algn="ctr" rtl="0" fontAlgn="ctr"/>
                      <a:r>
                        <a:rPr lang="es-PE" sz="110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287884749"/>
                  </a:ext>
                </a:extLst>
              </a:tr>
              <a:tr h="304605">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JUNIO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JULIO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177795587"/>
                  </a:ext>
                </a:extLst>
              </a:tr>
              <a:tr h="158881">
                <a:tc>
                  <a:txBody>
                    <a:bodyPr/>
                    <a:lstStyle/>
                    <a:p>
                      <a:pPr algn="ctr" rtl="0" fontAlgn="b"/>
                      <a:r>
                        <a:rPr lang="es-PE" sz="1100" b="0" i="0" u="none" strike="noStrike">
                          <a:solidFill>
                            <a:srgbClr val="000000"/>
                          </a:solidFill>
                          <a:effectLst/>
                          <a:latin typeface="Calibri" panose="020F0502020204030204" pitchFamily="34" charset="0"/>
                        </a:rPr>
                        <a:t>573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550</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285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165 </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180</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198</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223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586056141"/>
                  </a:ext>
                </a:extLst>
              </a:tr>
            </a:tbl>
          </a:graphicData>
        </a:graphic>
      </p:graphicFrame>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2022 - 2024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292044" y="6280638"/>
            <a:ext cx="8509056" cy="276999"/>
          </a:xfrm>
          <a:prstGeom prst="rect">
            <a:avLst/>
          </a:prstGeom>
          <a:noFill/>
        </p:spPr>
        <p:txBody>
          <a:bodyPr wrap="square">
            <a:spAutoFit/>
          </a:bodyPr>
          <a:lstStyle/>
          <a:p>
            <a:r>
              <a:rPr lang="es-PE" sz="1200" dirty="0">
                <a:effectLst/>
                <a:latin typeface="+mj-lt"/>
                <a:ea typeface="Calibri" panose="020F0502020204030204" pitchFamily="34" charset="0"/>
              </a:rPr>
              <a:t> (*) </a:t>
            </a:r>
            <a:r>
              <a:rPr lang="es-ES" sz="1200" dirty="0">
                <a:effectLst/>
                <a:latin typeface="+mj-lt"/>
                <a:ea typeface="Calibri" panose="020F0502020204030204" pitchFamily="34" charset="0"/>
              </a:rPr>
              <a:t>Se resolvieron reclamos de origen INCA (10 casos)  por un monto de 915 mil soles y 14 casos de DCCI</a:t>
            </a:r>
            <a:r>
              <a:rPr lang="es-PE" sz="1200" dirty="0">
                <a:effectLst/>
                <a:latin typeface="+mj-lt"/>
                <a:ea typeface="Calibri" panose="020F0502020204030204" pitchFamily="34" charset="0"/>
              </a:rPr>
              <a:t>	</a:t>
            </a:r>
          </a:p>
        </p:txBody>
      </p:sp>
      <p:graphicFrame>
        <p:nvGraphicFramePr>
          <p:cNvPr id="4" name="Tabla 3">
            <a:extLst>
              <a:ext uri="{FF2B5EF4-FFF2-40B4-BE49-F238E27FC236}">
                <a16:creationId xmlns:a16="http://schemas.microsoft.com/office/drawing/2014/main" id="{64F8C81C-2666-B65E-9EEE-9E42E376ADEE}"/>
              </a:ext>
            </a:extLst>
          </p:cNvPr>
          <p:cNvGraphicFramePr>
            <a:graphicFrameLocks noGrp="1"/>
          </p:cNvGraphicFramePr>
          <p:nvPr>
            <p:extLst>
              <p:ext uri="{D42A27DB-BD31-4B8C-83A1-F6EECF244321}">
                <p14:modId xmlns:p14="http://schemas.microsoft.com/office/powerpoint/2010/main" val="2805986867"/>
              </p:ext>
            </p:extLst>
          </p:nvPr>
        </p:nvGraphicFramePr>
        <p:xfrm>
          <a:off x="292042" y="1075150"/>
          <a:ext cx="11157007" cy="5104650"/>
        </p:xfrm>
        <a:graphic>
          <a:graphicData uri="http://schemas.openxmlformats.org/drawingml/2006/table">
            <a:tbl>
              <a:tblPr/>
              <a:tblGrid>
                <a:gridCol w="1448962">
                  <a:extLst>
                    <a:ext uri="{9D8B030D-6E8A-4147-A177-3AD203B41FA5}">
                      <a16:colId xmlns:a16="http://schemas.microsoft.com/office/drawing/2014/main" val="3492535676"/>
                    </a:ext>
                  </a:extLst>
                </a:gridCol>
                <a:gridCol w="313942">
                  <a:extLst>
                    <a:ext uri="{9D8B030D-6E8A-4147-A177-3AD203B41FA5}">
                      <a16:colId xmlns:a16="http://schemas.microsoft.com/office/drawing/2014/main" val="76689572"/>
                    </a:ext>
                  </a:extLst>
                </a:gridCol>
                <a:gridCol w="313942">
                  <a:extLst>
                    <a:ext uri="{9D8B030D-6E8A-4147-A177-3AD203B41FA5}">
                      <a16:colId xmlns:a16="http://schemas.microsoft.com/office/drawing/2014/main" val="2153248672"/>
                    </a:ext>
                  </a:extLst>
                </a:gridCol>
                <a:gridCol w="313942">
                  <a:extLst>
                    <a:ext uri="{9D8B030D-6E8A-4147-A177-3AD203B41FA5}">
                      <a16:colId xmlns:a16="http://schemas.microsoft.com/office/drawing/2014/main" val="1796686116"/>
                    </a:ext>
                  </a:extLst>
                </a:gridCol>
                <a:gridCol w="313942">
                  <a:extLst>
                    <a:ext uri="{9D8B030D-6E8A-4147-A177-3AD203B41FA5}">
                      <a16:colId xmlns:a16="http://schemas.microsoft.com/office/drawing/2014/main" val="815055748"/>
                    </a:ext>
                  </a:extLst>
                </a:gridCol>
                <a:gridCol w="313942">
                  <a:extLst>
                    <a:ext uri="{9D8B030D-6E8A-4147-A177-3AD203B41FA5}">
                      <a16:colId xmlns:a16="http://schemas.microsoft.com/office/drawing/2014/main" val="4121344099"/>
                    </a:ext>
                  </a:extLst>
                </a:gridCol>
                <a:gridCol w="386389">
                  <a:extLst>
                    <a:ext uri="{9D8B030D-6E8A-4147-A177-3AD203B41FA5}">
                      <a16:colId xmlns:a16="http://schemas.microsoft.com/office/drawing/2014/main" val="3943723764"/>
                    </a:ext>
                  </a:extLst>
                </a:gridCol>
                <a:gridCol w="350166">
                  <a:extLst>
                    <a:ext uri="{9D8B030D-6E8A-4147-A177-3AD203B41FA5}">
                      <a16:colId xmlns:a16="http://schemas.microsoft.com/office/drawing/2014/main" val="3143106854"/>
                    </a:ext>
                  </a:extLst>
                </a:gridCol>
                <a:gridCol w="374315">
                  <a:extLst>
                    <a:ext uri="{9D8B030D-6E8A-4147-A177-3AD203B41FA5}">
                      <a16:colId xmlns:a16="http://schemas.microsoft.com/office/drawing/2014/main" val="840413810"/>
                    </a:ext>
                  </a:extLst>
                </a:gridCol>
                <a:gridCol w="422615">
                  <a:extLst>
                    <a:ext uri="{9D8B030D-6E8A-4147-A177-3AD203B41FA5}">
                      <a16:colId xmlns:a16="http://schemas.microsoft.com/office/drawing/2014/main" val="1588019462"/>
                    </a:ext>
                  </a:extLst>
                </a:gridCol>
                <a:gridCol w="386389">
                  <a:extLst>
                    <a:ext uri="{9D8B030D-6E8A-4147-A177-3AD203B41FA5}">
                      <a16:colId xmlns:a16="http://schemas.microsoft.com/office/drawing/2014/main" val="3380776616"/>
                    </a:ext>
                  </a:extLst>
                </a:gridCol>
                <a:gridCol w="350166">
                  <a:extLst>
                    <a:ext uri="{9D8B030D-6E8A-4147-A177-3AD203B41FA5}">
                      <a16:colId xmlns:a16="http://schemas.microsoft.com/office/drawing/2014/main" val="3065826786"/>
                    </a:ext>
                  </a:extLst>
                </a:gridCol>
                <a:gridCol w="338092">
                  <a:extLst>
                    <a:ext uri="{9D8B030D-6E8A-4147-A177-3AD203B41FA5}">
                      <a16:colId xmlns:a16="http://schemas.microsoft.com/office/drawing/2014/main" val="1086211501"/>
                    </a:ext>
                  </a:extLst>
                </a:gridCol>
                <a:gridCol w="386389">
                  <a:extLst>
                    <a:ext uri="{9D8B030D-6E8A-4147-A177-3AD203B41FA5}">
                      <a16:colId xmlns:a16="http://schemas.microsoft.com/office/drawing/2014/main" val="2199999393"/>
                    </a:ext>
                  </a:extLst>
                </a:gridCol>
                <a:gridCol w="410539">
                  <a:extLst>
                    <a:ext uri="{9D8B030D-6E8A-4147-A177-3AD203B41FA5}">
                      <a16:colId xmlns:a16="http://schemas.microsoft.com/office/drawing/2014/main" val="426754131"/>
                    </a:ext>
                  </a:extLst>
                </a:gridCol>
                <a:gridCol w="422615">
                  <a:extLst>
                    <a:ext uri="{9D8B030D-6E8A-4147-A177-3AD203B41FA5}">
                      <a16:colId xmlns:a16="http://schemas.microsoft.com/office/drawing/2014/main" val="1012459040"/>
                    </a:ext>
                  </a:extLst>
                </a:gridCol>
                <a:gridCol w="386389">
                  <a:extLst>
                    <a:ext uri="{9D8B030D-6E8A-4147-A177-3AD203B41FA5}">
                      <a16:colId xmlns:a16="http://schemas.microsoft.com/office/drawing/2014/main" val="1781910412"/>
                    </a:ext>
                  </a:extLst>
                </a:gridCol>
                <a:gridCol w="446763">
                  <a:extLst>
                    <a:ext uri="{9D8B030D-6E8A-4147-A177-3AD203B41FA5}">
                      <a16:colId xmlns:a16="http://schemas.microsoft.com/office/drawing/2014/main" val="2994845384"/>
                    </a:ext>
                  </a:extLst>
                </a:gridCol>
                <a:gridCol w="470912">
                  <a:extLst>
                    <a:ext uri="{9D8B030D-6E8A-4147-A177-3AD203B41FA5}">
                      <a16:colId xmlns:a16="http://schemas.microsoft.com/office/drawing/2014/main" val="4256857358"/>
                    </a:ext>
                  </a:extLst>
                </a:gridCol>
                <a:gridCol w="531286">
                  <a:extLst>
                    <a:ext uri="{9D8B030D-6E8A-4147-A177-3AD203B41FA5}">
                      <a16:colId xmlns:a16="http://schemas.microsoft.com/office/drawing/2014/main" val="99379560"/>
                    </a:ext>
                  </a:extLst>
                </a:gridCol>
                <a:gridCol w="495062">
                  <a:extLst>
                    <a:ext uri="{9D8B030D-6E8A-4147-A177-3AD203B41FA5}">
                      <a16:colId xmlns:a16="http://schemas.microsoft.com/office/drawing/2014/main" val="2462006788"/>
                    </a:ext>
                  </a:extLst>
                </a:gridCol>
                <a:gridCol w="495062">
                  <a:extLst>
                    <a:ext uri="{9D8B030D-6E8A-4147-A177-3AD203B41FA5}">
                      <a16:colId xmlns:a16="http://schemas.microsoft.com/office/drawing/2014/main" val="1875944976"/>
                    </a:ext>
                  </a:extLst>
                </a:gridCol>
                <a:gridCol w="495062">
                  <a:extLst>
                    <a:ext uri="{9D8B030D-6E8A-4147-A177-3AD203B41FA5}">
                      <a16:colId xmlns:a16="http://schemas.microsoft.com/office/drawing/2014/main" val="3053228018"/>
                    </a:ext>
                  </a:extLst>
                </a:gridCol>
                <a:gridCol w="495062">
                  <a:extLst>
                    <a:ext uri="{9D8B030D-6E8A-4147-A177-3AD203B41FA5}">
                      <a16:colId xmlns:a16="http://schemas.microsoft.com/office/drawing/2014/main" val="1660915840"/>
                    </a:ext>
                  </a:extLst>
                </a:gridCol>
                <a:gridCol w="495062">
                  <a:extLst>
                    <a:ext uri="{9D8B030D-6E8A-4147-A177-3AD203B41FA5}">
                      <a16:colId xmlns:a16="http://schemas.microsoft.com/office/drawing/2014/main" val="1362664461"/>
                    </a:ext>
                  </a:extLst>
                </a:gridCol>
              </a:tblGrid>
              <a:tr h="273320">
                <a:tc gridSpan="6">
                  <a:txBody>
                    <a:bodyPr/>
                    <a:lstStyle/>
                    <a:p>
                      <a:pPr algn="ctr" fontAlgn="b"/>
                      <a:r>
                        <a:rPr lang="es-PE" sz="1200" b="1" i="0" u="none" strike="noStrike">
                          <a:solidFill>
                            <a:srgbClr val="000000"/>
                          </a:solidFill>
                          <a:effectLst/>
                          <a:latin typeface="Calibri" panose="020F0502020204030204" pitchFamily="34" charset="0"/>
                        </a:rPr>
                        <a:t>2022</a:t>
                      </a:r>
                    </a:p>
                  </a:txBody>
                  <a:tcPr marL="0" marR="0" marT="0" marB="0" anchor="b">
                    <a:lnL w="12700" cap="flat" cmpd="sng" algn="ctr">
                      <a:solidFill>
                        <a:srgbClr val="99CCFF"/>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12">
                  <a:txBody>
                    <a:bodyPr/>
                    <a:lstStyle/>
                    <a:p>
                      <a:pPr algn="ctr" fontAlgn="b"/>
                      <a:r>
                        <a:rPr lang="es-PE" sz="1200" b="1" i="0" u="none" strike="noStrike">
                          <a:solidFill>
                            <a:srgbClr val="000000"/>
                          </a:solidFill>
                          <a:effectLst/>
                          <a:latin typeface="Calibri" panose="020F0502020204030204" pitchFamily="34" charset="0"/>
                        </a:rPr>
                        <a:t>2023</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5">
                  <a:txBody>
                    <a:bodyPr/>
                    <a:lstStyle/>
                    <a:p>
                      <a:pPr algn="ctr" rtl="0" fontAlgn="b"/>
                      <a:r>
                        <a:rPr lang="es-PE" sz="1200" b="1" i="0" u="none" strike="noStrike" dirty="0">
                          <a:solidFill>
                            <a:srgbClr val="000000"/>
                          </a:solidFill>
                          <a:effectLst/>
                          <a:latin typeface="Calibri" panose="020F0502020204030204" pitchFamily="34" charset="0"/>
                        </a:rPr>
                        <a:t>2024</a:t>
                      </a: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a:txBody>
                    <a:bodyPr/>
                    <a:lstStyle/>
                    <a:p>
                      <a:pPr algn="ctr" rtl="0"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a:txBody>
                    <a:bodyPr/>
                    <a:lstStyle/>
                    <a:p>
                      <a:pPr algn="ctr" rtl="0"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extLst>
                  <a:ext uri="{0D108BD9-81ED-4DB2-BD59-A6C34878D82A}">
                    <a16:rowId xmlns:a16="http://schemas.microsoft.com/office/drawing/2014/main" val="2356040257"/>
                  </a:ext>
                </a:extLst>
              </a:tr>
              <a:tr h="819964">
                <a:tc>
                  <a:txBody>
                    <a:bodyPr/>
                    <a:lstStyle/>
                    <a:p>
                      <a:pPr algn="l" fontAlgn="ctr"/>
                      <a:r>
                        <a:rPr lang="es-PE" sz="12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2822500624"/>
                  </a:ext>
                </a:extLst>
              </a:tr>
              <a:tr h="273320">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401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363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383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371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324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309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242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285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264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236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256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268(*)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highlight>
                            <a:srgbClr val="FFFF00"/>
                          </a:highlight>
                          <a:latin typeface="Calibri Light" panose="020F0302020204030204" pitchFamily="34" charset="0"/>
                        </a:rPr>
                        <a:t>232</a:t>
                      </a:r>
                      <a:endParaRPr lang="es-PE" sz="1200" b="0"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251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826670124"/>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16.7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19.2</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17.8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highlight>
                            <a:srgbClr val="FFFF00"/>
                          </a:highlight>
                          <a:latin typeface="Calibri Light" panose="020F0302020204030204" pitchFamily="34" charset="0"/>
                        </a:rPr>
                        <a:t>22</a:t>
                      </a:r>
                      <a:endParaRPr lang="es-PE" sz="1200" b="0"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18.4</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1360260857"/>
                  </a:ext>
                </a:extLst>
              </a:tr>
              <a:tr h="27332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14.24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17.07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12.29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highlight>
                            <a:srgbClr val="FFFF00"/>
                          </a:highlight>
                          <a:latin typeface="Calibri Light" panose="020F0302020204030204" pitchFamily="34" charset="0"/>
                        </a:rPr>
                        <a:t>10.54</a:t>
                      </a:r>
                      <a:endParaRPr lang="es-PE" sz="1200" b="1"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13.64</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312465785"/>
                  </a:ext>
                </a:extLst>
              </a:tr>
              <a:tr h="819964">
                <a:tc>
                  <a:txBody>
                    <a:bodyPr/>
                    <a:lstStyle/>
                    <a:p>
                      <a:pPr algn="l" fontAlgn="ctr"/>
                      <a:r>
                        <a:rPr lang="es-PE" sz="12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1734159817"/>
                  </a:ext>
                </a:extLst>
              </a:tr>
              <a:tr h="365760">
                <a:tc>
                  <a:txBody>
                    <a:bodyPr/>
                    <a:lstStyle/>
                    <a:p>
                      <a:pPr algn="l" fontAlgn="ctr"/>
                      <a:r>
                        <a:rPr lang="es-PE" sz="1200" b="1" i="0" u="none" strike="noStrike" dirty="0">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139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121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104 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  77*</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89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104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111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62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2444434921"/>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12.5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7.8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8.8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10.7</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10.5</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855644288"/>
                  </a:ext>
                </a:extLst>
              </a:tr>
              <a:tr h="27332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4.5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7.2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dirty="0">
                          <a:solidFill>
                            <a:srgbClr val="000000"/>
                          </a:solidFill>
                          <a:effectLst/>
                          <a:latin typeface="Calibri Light" panose="020F0302020204030204" pitchFamily="34" charset="0"/>
                        </a:rPr>
                        <a:t>9.74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10.13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9.72</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10.57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5.17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886371244"/>
                  </a:ext>
                </a:extLst>
              </a:tr>
              <a:tr h="546642">
                <a:tc>
                  <a:txBody>
                    <a:bodyPr/>
                    <a:lstStyle/>
                    <a:p>
                      <a:pPr algn="l" fontAlgn="ctr"/>
                      <a:r>
                        <a:rPr lang="es-PE" sz="12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450108723"/>
                  </a:ext>
                </a:extLst>
              </a:tr>
              <a:tr h="358633">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48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66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21</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13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23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4007070957"/>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3.4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5.11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6.36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4.95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4.89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5.32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6.23</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5.37</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6.1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130602570"/>
                  </a:ext>
                </a:extLst>
              </a:tr>
              <a:tr h="273320">
                <a:tc>
                  <a:txBody>
                    <a:bodyPr/>
                    <a:lstStyle/>
                    <a:p>
                      <a:pPr algn="l" fontAlgn="ctr"/>
                      <a:r>
                        <a:rPr lang="es-PE" sz="1200" b="1" i="0" u="none" strike="noStrike" dirty="0">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dirty="0">
                          <a:solidFill>
                            <a:srgbClr val="000000"/>
                          </a:solidFill>
                          <a:effectLst/>
                          <a:latin typeface="Calibri Light" panose="020F0302020204030204" pitchFamily="34" charset="0"/>
                        </a:rPr>
                        <a:t>3.72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2.99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3.84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4.29*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2.09</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2.98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3.77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573925206"/>
                  </a:ext>
                </a:extLst>
              </a:tr>
            </a:tbl>
          </a:graphicData>
        </a:graphic>
      </p:graphicFrame>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MARZO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1462179841"/>
              </p:ext>
            </p:extLst>
          </p:nvPr>
        </p:nvGraphicFramePr>
        <p:xfrm>
          <a:off x="292043" y="1040573"/>
          <a:ext cx="11688829" cy="5087946"/>
        </p:xfrm>
        <a:graphic>
          <a:graphicData uri="http://schemas.openxmlformats.org/drawingml/2006/table">
            <a:tbl>
              <a:tblPr firstRow="1" firstCol="1" bandRow="1"/>
              <a:tblGrid>
                <a:gridCol w="1547558">
                  <a:extLst>
                    <a:ext uri="{9D8B030D-6E8A-4147-A177-3AD203B41FA5}">
                      <a16:colId xmlns:a16="http://schemas.microsoft.com/office/drawing/2014/main" val="925094151"/>
                    </a:ext>
                  </a:extLst>
                </a:gridCol>
                <a:gridCol w="845457">
                  <a:extLst>
                    <a:ext uri="{9D8B030D-6E8A-4147-A177-3AD203B41FA5}">
                      <a16:colId xmlns:a16="http://schemas.microsoft.com/office/drawing/2014/main" val="477222435"/>
                    </a:ext>
                  </a:extLst>
                </a:gridCol>
                <a:gridCol w="1308047">
                  <a:extLst>
                    <a:ext uri="{9D8B030D-6E8A-4147-A177-3AD203B41FA5}">
                      <a16:colId xmlns:a16="http://schemas.microsoft.com/office/drawing/2014/main" val="2282184332"/>
                    </a:ext>
                  </a:extLst>
                </a:gridCol>
                <a:gridCol w="1328326">
                  <a:extLst>
                    <a:ext uri="{9D8B030D-6E8A-4147-A177-3AD203B41FA5}">
                      <a16:colId xmlns:a16="http://schemas.microsoft.com/office/drawing/2014/main" val="889253127"/>
                    </a:ext>
                  </a:extLst>
                </a:gridCol>
                <a:gridCol w="932871">
                  <a:extLst>
                    <a:ext uri="{9D8B030D-6E8A-4147-A177-3AD203B41FA5}">
                      <a16:colId xmlns:a16="http://schemas.microsoft.com/office/drawing/2014/main" val="3618495769"/>
                    </a:ext>
                  </a:extLst>
                </a:gridCol>
                <a:gridCol w="1176230">
                  <a:extLst>
                    <a:ext uri="{9D8B030D-6E8A-4147-A177-3AD203B41FA5}">
                      <a16:colId xmlns:a16="http://schemas.microsoft.com/office/drawing/2014/main" val="3676107308"/>
                    </a:ext>
                  </a:extLst>
                </a:gridCol>
                <a:gridCol w="1308047">
                  <a:extLst>
                    <a:ext uri="{9D8B030D-6E8A-4147-A177-3AD203B41FA5}">
                      <a16:colId xmlns:a16="http://schemas.microsoft.com/office/drawing/2014/main" val="343955240"/>
                    </a:ext>
                  </a:extLst>
                </a:gridCol>
                <a:gridCol w="1107182">
                  <a:extLst>
                    <a:ext uri="{9D8B030D-6E8A-4147-A177-3AD203B41FA5}">
                      <a16:colId xmlns:a16="http://schemas.microsoft.com/office/drawing/2014/main" val="1609030641"/>
                    </a:ext>
                  </a:extLst>
                </a:gridCol>
                <a:gridCol w="1163323">
                  <a:extLst>
                    <a:ext uri="{9D8B030D-6E8A-4147-A177-3AD203B41FA5}">
                      <a16:colId xmlns:a16="http://schemas.microsoft.com/office/drawing/2014/main" val="1343854734"/>
                    </a:ext>
                  </a:extLst>
                </a:gridCol>
                <a:gridCol w="971788">
                  <a:extLst>
                    <a:ext uri="{9D8B030D-6E8A-4147-A177-3AD203B41FA5}">
                      <a16:colId xmlns:a16="http://schemas.microsoft.com/office/drawing/2014/main" val="2417700680"/>
                    </a:ext>
                  </a:extLst>
                </a:gridCol>
              </a:tblGrid>
              <a:tr h="191386">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191386">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68550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2944389">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251</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62</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23</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3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3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11301">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18.4</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12</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6.1</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65051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13.64</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5.17</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3.77</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PRODUCCIÓN–2023-2024</a:t>
            </a:r>
            <a:endParaRPr lang="es-PE" sz="28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3101778684"/>
              </p:ext>
            </p:extLst>
          </p:nvPr>
        </p:nvGraphicFramePr>
        <p:xfrm>
          <a:off x="292044" y="1293178"/>
          <a:ext cx="11595142" cy="3288345"/>
        </p:xfrm>
        <a:graphic>
          <a:graphicData uri="http://schemas.openxmlformats.org/drawingml/2006/table">
            <a:tbl>
              <a:tblPr/>
              <a:tblGrid>
                <a:gridCol w="487353">
                  <a:extLst>
                    <a:ext uri="{9D8B030D-6E8A-4147-A177-3AD203B41FA5}">
                      <a16:colId xmlns:a16="http://schemas.microsoft.com/office/drawing/2014/main" val="1618482016"/>
                    </a:ext>
                  </a:extLst>
                </a:gridCol>
                <a:gridCol w="460282">
                  <a:extLst>
                    <a:ext uri="{9D8B030D-6E8A-4147-A177-3AD203B41FA5}">
                      <a16:colId xmlns:a16="http://schemas.microsoft.com/office/drawing/2014/main" val="1856879478"/>
                    </a:ext>
                  </a:extLst>
                </a:gridCol>
                <a:gridCol w="388077">
                  <a:extLst>
                    <a:ext uri="{9D8B030D-6E8A-4147-A177-3AD203B41FA5}">
                      <a16:colId xmlns:a16="http://schemas.microsoft.com/office/drawing/2014/main" val="3149995394"/>
                    </a:ext>
                  </a:extLst>
                </a:gridCol>
                <a:gridCol w="478333">
                  <a:extLst>
                    <a:ext uri="{9D8B030D-6E8A-4147-A177-3AD203B41FA5}">
                      <a16:colId xmlns:a16="http://schemas.microsoft.com/office/drawing/2014/main" val="814693575"/>
                    </a:ext>
                  </a:extLst>
                </a:gridCol>
                <a:gridCol w="350086">
                  <a:extLst>
                    <a:ext uri="{9D8B030D-6E8A-4147-A177-3AD203B41FA5}">
                      <a16:colId xmlns:a16="http://schemas.microsoft.com/office/drawing/2014/main" val="1074761190"/>
                    </a:ext>
                  </a:extLst>
                </a:gridCol>
                <a:gridCol w="489247">
                  <a:extLst>
                    <a:ext uri="{9D8B030D-6E8A-4147-A177-3AD203B41FA5}">
                      <a16:colId xmlns:a16="http://schemas.microsoft.com/office/drawing/2014/main" val="3692527559"/>
                    </a:ext>
                  </a:extLst>
                </a:gridCol>
                <a:gridCol w="388077">
                  <a:extLst>
                    <a:ext uri="{9D8B030D-6E8A-4147-A177-3AD203B41FA5}">
                      <a16:colId xmlns:a16="http://schemas.microsoft.com/office/drawing/2014/main" val="4061206135"/>
                    </a:ext>
                  </a:extLst>
                </a:gridCol>
                <a:gridCol w="469303">
                  <a:extLst>
                    <a:ext uri="{9D8B030D-6E8A-4147-A177-3AD203B41FA5}">
                      <a16:colId xmlns:a16="http://schemas.microsoft.com/office/drawing/2014/main" val="693005033"/>
                    </a:ext>
                  </a:extLst>
                </a:gridCol>
                <a:gridCol w="577456">
                  <a:extLst>
                    <a:ext uri="{9D8B030D-6E8A-4147-A177-3AD203B41FA5}">
                      <a16:colId xmlns:a16="http://schemas.microsoft.com/office/drawing/2014/main" val="2232056816"/>
                    </a:ext>
                  </a:extLst>
                </a:gridCol>
                <a:gridCol w="577456">
                  <a:extLst>
                    <a:ext uri="{9D8B030D-6E8A-4147-A177-3AD203B41FA5}">
                      <a16:colId xmlns:a16="http://schemas.microsoft.com/office/drawing/2014/main" val="2387940828"/>
                    </a:ext>
                  </a:extLst>
                </a:gridCol>
                <a:gridCol w="577456">
                  <a:extLst>
                    <a:ext uri="{9D8B030D-6E8A-4147-A177-3AD203B41FA5}">
                      <a16:colId xmlns:a16="http://schemas.microsoft.com/office/drawing/2014/main" val="2569707495"/>
                    </a:ext>
                  </a:extLst>
                </a:gridCol>
                <a:gridCol w="577456">
                  <a:extLst>
                    <a:ext uri="{9D8B030D-6E8A-4147-A177-3AD203B41FA5}">
                      <a16:colId xmlns:a16="http://schemas.microsoft.com/office/drawing/2014/main" val="3784964087"/>
                    </a:ext>
                  </a:extLst>
                </a:gridCol>
                <a:gridCol w="577456">
                  <a:extLst>
                    <a:ext uri="{9D8B030D-6E8A-4147-A177-3AD203B41FA5}">
                      <a16:colId xmlns:a16="http://schemas.microsoft.com/office/drawing/2014/main" val="1713751460"/>
                    </a:ext>
                  </a:extLst>
                </a:gridCol>
                <a:gridCol w="577456">
                  <a:extLst>
                    <a:ext uri="{9D8B030D-6E8A-4147-A177-3AD203B41FA5}">
                      <a16:colId xmlns:a16="http://schemas.microsoft.com/office/drawing/2014/main" val="2001209396"/>
                    </a:ext>
                  </a:extLst>
                </a:gridCol>
                <a:gridCol w="577456">
                  <a:extLst>
                    <a:ext uri="{9D8B030D-6E8A-4147-A177-3AD203B41FA5}">
                      <a16:colId xmlns:a16="http://schemas.microsoft.com/office/drawing/2014/main" val="2545075867"/>
                    </a:ext>
                  </a:extLst>
                </a:gridCol>
                <a:gridCol w="577456">
                  <a:extLst>
                    <a:ext uri="{9D8B030D-6E8A-4147-A177-3AD203B41FA5}">
                      <a16:colId xmlns:a16="http://schemas.microsoft.com/office/drawing/2014/main" val="3560294591"/>
                    </a:ext>
                  </a:extLst>
                </a:gridCol>
                <a:gridCol w="577456">
                  <a:extLst>
                    <a:ext uri="{9D8B030D-6E8A-4147-A177-3AD203B41FA5}">
                      <a16:colId xmlns:a16="http://schemas.microsoft.com/office/drawing/2014/main" val="853417601"/>
                    </a:ext>
                  </a:extLst>
                </a:gridCol>
                <a:gridCol w="577456">
                  <a:extLst>
                    <a:ext uri="{9D8B030D-6E8A-4147-A177-3AD203B41FA5}">
                      <a16:colId xmlns:a16="http://schemas.microsoft.com/office/drawing/2014/main" val="2028932761"/>
                    </a:ext>
                  </a:extLst>
                </a:gridCol>
                <a:gridCol w="577456">
                  <a:extLst>
                    <a:ext uri="{9D8B030D-6E8A-4147-A177-3AD203B41FA5}">
                      <a16:colId xmlns:a16="http://schemas.microsoft.com/office/drawing/2014/main" val="2799554528"/>
                    </a:ext>
                  </a:extLst>
                </a:gridCol>
                <a:gridCol w="577456">
                  <a:extLst>
                    <a:ext uri="{9D8B030D-6E8A-4147-A177-3AD203B41FA5}">
                      <a16:colId xmlns:a16="http://schemas.microsoft.com/office/drawing/2014/main" val="3675684831"/>
                    </a:ext>
                  </a:extLst>
                </a:gridCol>
                <a:gridCol w="577456">
                  <a:extLst>
                    <a:ext uri="{9D8B030D-6E8A-4147-A177-3AD203B41FA5}">
                      <a16:colId xmlns:a16="http://schemas.microsoft.com/office/drawing/2014/main" val="1097752032"/>
                    </a:ext>
                  </a:extLst>
                </a:gridCol>
                <a:gridCol w="577456">
                  <a:extLst>
                    <a:ext uri="{9D8B030D-6E8A-4147-A177-3AD203B41FA5}">
                      <a16:colId xmlns:a16="http://schemas.microsoft.com/office/drawing/2014/main" val="3106367616"/>
                    </a:ext>
                  </a:extLst>
                </a:gridCol>
              </a:tblGrid>
              <a:tr h="328328">
                <a:tc rowSpan="2">
                  <a:txBody>
                    <a:bodyPr/>
                    <a:lstStyle/>
                    <a:p>
                      <a:pPr algn="ctr" fontAlgn="b"/>
                      <a:endParaRPr lang="es-PE" sz="120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200" b="1" i="0" u="none" strike="noStrike" dirty="0">
                          <a:solidFill>
                            <a:srgbClr val="FFFFFF"/>
                          </a:solidFill>
                          <a:effectLst/>
                          <a:latin typeface="Calibri Light" panose="020F0302020204030204" pitchFamily="34" charset="0"/>
                        </a:rPr>
                        <a:t>2023</a:t>
                      </a:r>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13">
                  <a:txBody>
                    <a:bodyPr/>
                    <a:lstStyle/>
                    <a:p>
                      <a:pPr algn="ctr" fontAlgn="b"/>
                      <a:r>
                        <a:rPr lang="es-PE" sz="120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31253">
                <a:tc vMerge="1">
                  <a:txBody>
                    <a:bodyPr/>
                    <a:lstStyle/>
                    <a:p>
                      <a:endParaRPr lang="es-PE"/>
                    </a:p>
                  </a:txBody>
                  <a:tcPr/>
                </a:tc>
                <a:tc gridSpan="2">
                  <a:txBody>
                    <a:bodyPr/>
                    <a:lstStyle/>
                    <a:p>
                      <a:pPr algn="ctr" fontAlgn="ctr"/>
                      <a:r>
                        <a:rPr lang="es-PE" sz="120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20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200" b="1" i="0" u="none" strike="noStrike" dirty="0">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20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FEBRERO</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MARZO</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ABRIL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ABRIL</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MAYO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JUNIO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200" b="1" i="0" u="none" strike="noStrike" dirty="0">
                          <a:solidFill>
                            <a:srgbClr val="FFFFFF"/>
                          </a:solidFill>
                          <a:effectLst/>
                          <a:latin typeface="Calibri Light" panose="020F0302020204030204" pitchFamily="34" charset="0"/>
                        </a:rPr>
                        <a:t>JULIO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AGOSTO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37930">
                <a:tc>
                  <a:txBody>
                    <a:bodyPr/>
                    <a:lstStyle/>
                    <a:p>
                      <a:pPr algn="ctr" fontAlgn="ctr"/>
                      <a:r>
                        <a:rPr lang="es-PE" sz="120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2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PROD</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200" b="1" i="0" u="none" strike="noStrike" dirty="0">
                          <a:solidFill>
                            <a:srgbClr val="FFFFFF"/>
                          </a:solidFill>
                          <a:effectLst/>
                          <a:latin typeface="Calibri Light" panose="020F0302020204030204" pitchFamily="34" charset="0"/>
                        </a:rPr>
                        <a:t>PROG</a:t>
                      </a:r>
                      <a:endParaRPr lang="es-PE"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31253">
                <a:tc>
                  <a:txBody>
                    <a:bodyPr/>
                    <a:lstStyle/>
                    <a:p>
                      <a:pPr algn="ctr" fontAlgn="ctr"/>
                      <a:r>
                        <a:rPr lang="es-PE" sz="120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20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chemeClr val="tx1"/>
                          </a:solidFill>
                          <a:effectLst/>
                          <a:latin typeface="Calibri Light" panose="020F0302020204030204" pitchFamily="34" charset="0"/>
                        </a:rPr>
                        <a:t>285</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rgbClr val="833C0C"/>
                          </a:solidFill>
                          <a:effectLst/>
                          <a:latin typeface="Calibri Light" panose="020F0302020204030204" pitchFamily="34" charset="0"/>
                        </a:rPr>
                        <a:t>300</a:t>
                      </a:r>
                      <a:endParaRPr lang="es-PE" sz="120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chemeClr val="tx1"/>
                          </a:solidFill>
                          <a:effectLst/>
                          <a:latin typeface="Calibri Light" panose="020F0302020204030204" pitchFamily="34" charset="0"/>
                        </a:rPr>
                        <a:t>264</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250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236</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250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256</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280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268</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240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232</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highlight>
                            <a:srgbClr val="FFFF00"/>
                          </a:highlight>
                          <a:latin typeface="Calibri Light" panose="020F0302020204030204" pitchFamily="34" charset="0"/>
                          <a:ea typeface="+mn-ea"/>
                          <a:cs typeface="+mn-cs"/>
                        </a:rPr>
                        <a:t>XX</a:t>
                      </a:r>
                      <a:endParaRPr lang="es-PE" sz="1200" b="1" i="0" u="none" strike="noStrike" kern="1200" dirty="0">
                        <a:solidFill>
                          <a:srgbClr val="833C0C"/>
                        </a:solidFill>
                        <a:effectLst/>
                        <a:highlight>
                          <a:srgbClr val="FFFF00"/>
                        </a:highligh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251</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250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28328">
                <a:tc>
                  <a:txBody>
                    <a:bodyPr/>
                    <a:lstStyle/>
                    <a:p>
                      <a:pPr algn="ctr" fontAlgn="ctr"/>
                      <a:r>
                        <a:rPr lang="es-PE" sz="120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200" b="1" i="0" u="none" strike="noStrike">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200" b="1" i="0" u="none" strike="noStrike" dirty="0">
                          <a:solidFill>
                            <a:schemeClr val="tx1"/>
                          </a:solidFill>
                          <a:effectLst/>
                          <a:latin typeface="Calibri Light" panose="020F0302020204030204" pitchFamily="34" charset="0"/>
                        </a:rPr>
                        <a:t>79</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200" b="1" i="0" u="none" strike="noStrike" dirty="0">
                          <a:solidFill>
                            <a:srgbClr val="833C0C"/>
                          </a:solidFill>
                          <a:effectLst/>
                          <a:latin typeface="Calibri Light" panose="020F0302020204030204" pitchFamily="34" charset="0"/>
                        </a:rPr>
                        <a:t>8</a:t>
                      </a:r>
                      <a:r>
                        <a:rPr lang="es-PE" sz="120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200" b="1" i="0" u="none" strike="noStrike" dirty="0">
                          <a:solidFill>
                            <a:schemeClr val="tx1"/>
                          </a:solidFill>
                          <a:effectLst/>
                          <a:latin typeface="Calibri Light" panose="020F0302020204030204" pitchFamily="34" charset="0"/>
                        </a:rPr>
                        <a:t>83</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81</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77</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90</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89</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112</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104</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102</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111</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101</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62</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101</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31253">
                <a:tc>
                  <a:txBody>
                    <a:bodyPr/>
                    <a:lstStyle/>
                    <a:p>
                      <a:pPr algn="ctr" fontAlgn="ctr"/>
                      <a:r>
                        <a:rPr lang="es-PE" sz="120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20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20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chemeClr val="tx1"/>
                          </a:solidFill>
                          <a:effectLst/>
                          <a:latin typeface="Calibri Light" panose="020F0302020204030204" pitchFamily="34" charset="0"/>
                        </a:rPr>
                        <a:t>19</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rgbClr val="833C0C"/>
                          </a:solidFill>
                          <a:effectLst/>
                          <a:latin typeface="Calibri Light" panose="020F0302020204030204" pitchFamily="34" charset="0"/>
                        </a:rPr>
                        <a:t>17</a:t>
                      </a:r>
                      <a:endParaRPr lang="es-PE" sz="120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200" b="1" i="0" u="none" strike="noStrike" dirty="0">
                          <a:solidFill>
                            <a:schemeClr val="tx1"/>
                          </a:solidFill>
                          <a:effectLst/>
                          <a:latin typeface="Calibri Light" panose="020F0302020204030204" pitchFamily="34" charset="0"/>
                        </a:rPr>
                        <a:t>19</a:t>
                      </a:r>
                      <a:endParaRPr lang="es-PE" sz="12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18</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21</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18</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18</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15</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13</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19</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16</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18</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23</a:t>
                      </a:r>
                      <a:endParaRPr lang="es-PE" sz="12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200" b="1" i="0" u="none" strike="noStrike" kern="1200" dirty="0">
                          <a:solidFill>
                            <a:srgbClr val="833C0C"/>
                          </a:solidFill>
                          <a:effectLst/>
                          <a:latin typeface="Calibri Light" panose="020F0302020204030204" pitchFamily="34" charset="0"/>
                          <a:ea typeface="+mn-ea"/>
                          <a:cs typeface="+mn-cs"/>
                        </a:rPr>
                        <a:t>18</a:t>
                      </a:r>
                      <a:endParaRPr lang="es-PE" sz="12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graphicFrame>
        <p:nvGraphicFramePr>
          <p:cNvPr id="4" name="Tabla 3">
            <a:extLst>
              <a:ext uri="{FF2B5EF4-FFF2-40B4-BE49-F238E27FC236}">
                <a16:creationId xmlns:a16="http://schemas.microsoft.com/office/drawing/2014/main" id="{D87AF17A-BFED-46AC-919E-84361237190B}"/>
              </a:ext>
            </a:extLst>
          </p:cNvPr>
          <p:cNvGraphicFramePr>
            <a:graphicFrameLocks noGrp="1"/>
          </p:cNvGraphicFramePr>
          <p:nvPr>
            <p:extLst>
              <p:ext uri="{D42A27DB-BD31-4B8C-83A1-F6EECF244321}">
                <p14:modId xmlns:p14="http://schemas.microsoft.com/office/powerpoint/2010/main" val="3176615438"/>
              </p:ext>
            </p:extLst>
          </p:nvPr>
        </p:nvGraphicFramePr>
        <p:xfrm>
          <a:off x="1049103" y="5500375"/>
          <a:ext cx="1916285" cy="960250"/>
        </p:xfrm>
        <a:graphic>
          <a:graphicData uri="http://schemas.openxmlformats.org/drawingml/2006/table">
            <a:tbl>
              <a:tblPr firstRow="1" firstCol="1" bandRow="1">
                <a:tableStyleId>{5C22544A-7EE6-4342-B048-85BDC9FD1C3A}</a:tableStyleId>
              </a:tblPr>
              <a:tblGrid>
                <a:gridCol w="573455">
                  <a:extLst>
                    <a:ext uri="{9D8B030D-6E8A-4147-A177-3AD203B41FA5}">
                      <a16:colId xmlns:a16="http://schemas.microsoft.com/office/drawing/2014/main" val="400669114"/>
                    </a:ext>
                  </a:extLst>
                </a:gridCol>
                <a:gridCol w="621363">
                  <a:extLst>
                    <a:ext uri="{9D8B030D-6E8A-4147-A177-3AD203B41FA5}">
                      <a16:colId xmlns:a16="http://schemas.microsoft.com/office/drawing/2014/main" val="47251755"/>
                    </a:ext>
                  </a:extLst>
                </a:gridCol>
                <a:gridCol w="721467">
                  <a:extLst>
                    <a:ext uri="{9D8B030D-6E8A-4147-A177-3AD203B41FA5}">
                      <a16:colId xmlns:a16="http://schemas.microsoft.com/office/drawing/2014/main" val="53380357"/>
                    </a:ext>
                  </a:extLst>
                </a:gridCol>
              </a:tblGrid>
              <a:tr h="245664">
                <a:tc>
                  <a:txBody>
                    <a:bodyPr/>
                    <a:lstStyle/>
                    <a:p>
                      <a:r>
                        <a:rPr lang="es-PE" sz="1100" dirty="0">
                          <a:effectLst/>
                        </a:rPr>
                        <a:t>UUOO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2022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2024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51491"/>
                  </a:ext>
                </a:extLst>
              </a:tr>
              <a:tr h="234461">
                <a:tc>
                  <a:txBody>
                    <a:bodyPr/>
                    <a:lstStyle/>
                    <a:p>
                      <a:r>
                        <a:rPr lang="es-PE" sz="1100">
                          <a:effectLst/>
                        </a:rPr>
                        <a:t>DCCI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503170"/>
                  </a:ext>
                </a:extLst>
              </a:tr>
              <a:tr h="245664">
                <a:tc>
                  <a:txBody>
                    <a:bodyPr/>
                    <a:lstStyle/>
                    <a:p>
                      <a:r>
                        <a:rPr lang="es-PE" sz="1100">
                          <a:effectLst/>
                        </a:rPr>
                        <a:t>DCCII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6236002"/>
                  </a:ext>
                </a:extLst>
              </a:tr>
              <a:tr h="234461">
                <a:tc>
                  <a:txBody>
                    <a:bodyPr/>
                    <a:lstStyle/>
                    <a:p>
                      <a:r>
                        <a:rPr lang="es-PE" sz="1100" dirty="0">
                          <a:effectLst/>
                        </a:rPr>
                        <a:t>DCP</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2.2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4.29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7154280"/>
                  </a:ext>
                </a:extLst>
              </a:tr>
            </a:tbl>
          </a:graphicData>
        </a:graphic>
      </p:graphicFrame>
      <p:sp>
        <p:nvSpPr>
          <p:cNvPr id="10" name="Título 94">
            <a:extLst>
              <a:ext uri="{FF2B5EF4-FFF2-40B4-BE49-F238E27FC236}">
                <a16:creationId xmlns:a16="http://schemas.microsoft.com/office/drawing/2014/main" id="{5E639BFF-C474-4303-B9F1-6A675CBE0E77}"/>
              </a:ext>
            </a:extLst>
          </p:cNvPr>
          <p:cNvSpPr txBox="1">
            <a:spLocks/>
          </p:cNvSpPr>
          <p:nvPr/>
        </p:nvSpPr>
        <p:spPr>
          <a:xfrm>
            <a:off x="394707" y="4820616"/>
            <a:ext cx="3040702" cy="594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Antecedente </a:t>
            </a:r>
            <a:endParaRPr lang="es-PE"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47701" y="548664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3996634433"/>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35</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endParaRPr lang="es-PE" sz="1800" b="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5.8</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Alberto Munive</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27</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endParaRPr lang="es-PE" sz="1800" b="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4.5</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980152719"/>
              </p:ext>
            </p:extLst>
          </p:nvPr>
        </p:nvGraphicFramePr>
        <p:xfrm>
          <a:off x="2393298" y="5091920"/>
          <a:ext cx="8636651" cy="87898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Cynthia Sánchez</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kern="1200" dirty="0">
                          <a:solidFill>
                            <a:schemeClr val="tx1"/>
                          </a:solidFill>
                          <a:effectLst/>
                          <a:latin typeface="+mn-lt"/>
                          <a:ea typeface="+mn-ea"/>
                          <a:cs typeface="+mn-cs"/>
                        </a:rPr>
                        <a:t>23 RD(*)</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dirty="0">
                          <a:effectLst/>
                          <a:latin typeface="Calibri" panose="020F0502020204030204" pitchFamily="34" charset="0"/>
                          <a:ea typeface="Calibri" panose="020F0502020204030204" pitchFamily="34" charset="0"/>
                          <a:cs typeface="Times New Roman" panose="02020603050405020304" pitchFamily="18" charset="0"/>
                        </a:rPr>
                        <a:t>6.1</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3.77 (*)</a:t>
                      </a:r>
                      <a:endParaRPr lang="es-PE" sz="1800" b="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1463840505"/>
              </p:ext>
            </p:extLst>
          </p:nvPr>
        </p:nvGraphicFramePr>
        <p:xfrm>
          <a:off x="2393295" y="1035366"/>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102</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14.37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Teresita Quezada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64</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13.06</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85</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6.4</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13.28</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
        <p:nvSpPr>
          <p:cNvPr id="2" name="CuadroTexto 1">
            <a:extLst>
              <a:ext uri="{FF2B5EF4-FFF2-40B4-BE49-F238E27FC236}">
                <a16:creationId xmlns:a16="http://schemas.microsoft.com/office/drawing/2014/main" id="{F696C2A2-DD36-69DE-704F-6AC1CB2E48BD}"/>
              </a:ext>
            </a:extLst>
          </p:cNvPr>
          <p:cNvSpPr txBox="1"/>
          <p:nvPr/>
        </p:nvSpPr>
        <p:spPr>
          <a:xfrm>
            <a:off x="2307571" y="4846364"/>
            <a:ext cx="8636651" cy="261610"/>
          </a:xfrm>
          <a:prstGeom prst="rect">
            <a:avLst/>
          </a:prstGeom>
          <a:noFill/>
        </p:spPr>
        <p:txBody>
          <a:bodyPr wrap="square" rtlCol="0">
            <a:spAutoFit/>
          </a:bodyPr>
          <a:lstStyle/>
          <a:p>
            <a:r>
              <a:rPr lang="es-ES" sz="1100" dirty="0"/>
              <a:t>(*) </a:t>
            </a:r>
            <a:r>
              <a:rPr lang="es-ES" sz="1050" dirty="0"/>
              <a:t>Incluye 07 </a:t>
            </a:r>
            <a:r>
              <a:rPr lang="es-ES" sz="1050" dirty="0" err="1"/>
              <a:t>RDs</a:t>
            </a:r>
            <a:r>
              <a:rPr lang="es-ES" sz="1050" dirty="0"/>
              <a:t> que no pudieron aplicarse por falla del sistema - SIGERI (aplicadas 3 de junio</a:t>
            </a:r>
            <a:r>
              <a:rPr lang="es-ES" sz="1100" dirty="0"/>
              <a:t>)</a:t>
            </a:r>
            <a:endParaRPr lang="es-PE" sz="1100" dirty="0"/>
          </a:p>
        </p:txBody>
      </p:sp>
      <p:sp>
        <p:nvSpPr>
          <p:cNvPr id="6" name="CuadroTexto 5">
            <a:extLst>
              <a:ext uri="{FF2B5EF4-FFF2-40B4-BE49-F238E27FC236}">
                <a16:creationId xmlns:a16="http://schemas.microsoft.com/office/drawing/2014/main" id="{8904C80E-FCD8-F48D-53FB-9E90B144A774}"/>
              </a:ext>
            </a:extLst>
          </p:cNvPr>
          <p:cNvSpPr txBox="1"/>
          <p:nvPr/>
        </p:nvSpPr>
        <p:spPr>
          <a:xfrm>
            <a:off x="2393297" y="6310006"/>
            <a:ext cx="3245503" cy="261610"/>
          </a:xfrm>
          <a:prstGeom prst="rect">
            <a:avLst/>
          </a:prstGeom>
          <a:noFill/>
        </p:spPr>
        <p:txBody>
          <a:bodyPr wrap="square" rtlCol="0">
            <a:spAutoFit/>
          </a:bodyPr>
          <a:lstStyle/>
          <a:p>
            <a:r>
              <a:rPr lang="es-ES" sz="1100" dirty="0"/>
              <a:t>(*) Incluye 14 casos origen DCCI.</a:t>
            </a:r>
            <a:endParaRPr lang="es-PE" sz="1100" dirty="0"/>
          </a:p>
        </p:txBody>
      </p:sp>
      <p:sp>
        <p:nvSpPr>
          <p:cNvPr id="7" name="CuadroTexto 6">
            <a:extLst>
              <a:ext uri="{FF2B5EF4-FFF2-40B4-BE49-F238E27FC236}">
                <a16:creationId xmlns:a16="http://schemas.microsoft.com/office/drawing/2014/main" id="{0AA650FB-D454-02CE-DB19-F659CFA837AB}"/>
              </a:ext>
            </a:extLst>
          </p:cNvPr>
          <p:cNvSpPr txBox="1"/>
          <p:nvPr/>
        </p:nvSpPr>
        <p:spPr>
          <a:xfrm>
            <a:off x="2307572" y="2980141"/>
            <a:ext cx="8636651" cy="261610"/>
          </a:xfrm>
          <a:prstGeom prst="rect">
            <a:avLst/>
          </a:prstGeom>
          <a:noFill/>
        </p:spPr>
        <p:txBody>
          <a:bodyPr wrap="square" rtlCol="0">
            <a:spAutoFit/>
          </a:bodyPr>
          <a:lstStyle/>
          <a:p>
            <a:r>
              <a:rPr lang="es-ES" sz="1100" dirty="0"/>
              <a:t>(*) Labores adicionales.</a:t>
            </a:r>
            <a:endParaRPr lang="es-PE" sz="1100" dirty="0"/>
          </a:p>
        </p:txBody>
      </p:sp>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3976453"/>
            <a:ext cx="1028700" cy="638174"/>
          </a:xfrm>
          <a:prstGeom prst="rightArrow">
            <a:avLst/>
          </a:prstGeom>
          <a:ln w="28575">
            <a:solidFill>
              <a:srgbClr val="FF66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23902" y="5793585"/>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1373424027"/>
              </p:ext>
            </p:extLst>
          </p:nvPr>
        </p:nvGraphicFramePr>
        <p:xfrm>
          <a:off x="2349855" y="1022525"/>
          <a:ext cx="9012794" cy="2355771"/>
        </p:xfrm>
        <a:graphic>
          <a:graphicData uri="http://schemas.openxmlformats.org/drawingml/2006/table">
            <a:tbl>
              <a:tblPr firstRow="1" firstCol="1" bandRow="1"/>
              <a:tblGrid>
                <a:gridCol w="1363960">
                  <a:extLst>
                    <a:ext uri="{9D8B030D-6E8A-4147-A177-3AD203B41FA5}">
                      <a16:colId xmlns:a16="http://schemas.microsoft.com/office/drawing/2014/main" val="2785956031"/>
                    </a:ext>
                  </a:extLst>
                </a:gridCol>
                <a:gridCol w="1946617">
                  <a:extLst>
                    <a:ext uri="{9D8B030D-6E8A-4147-A177-3AD203B41FA5}">
                      <a16:colId xmlns:a16="http://schemas.microsoft.com/office/drawing/2014/main" val="1033099074"/>
                    </a:ext>
                  </a:extLst>
                </a:gridCol>
                <a:gridCol w="1403098">
                  <a:extLst>
                    <a:ext uri="{9D8B030D-6E8A-4147-A177-3AD203B41FA5}">
                      <a16:colId xmlns:a16="http://schemas.microsoft.com/office/drawing/2014/main" val="1980848825"/>
                    </a:ext>
                  </a:extLst>
                </a:gridCol>
                <a:gridCol w="1249960">
                  <a:extLst>
                    <a:ext uri="{9D8B030D-6E8A-4147-A177-3AD203B41FA5}">
                      <a16:colId xmlns:a16="http://schemas.microsoft.com/office/drawing/2014/main" val="176937328"/>
                    </a:ext>
                  </a:extLst>
                </a:gridCol>
                <a:gridCol w="1837189">
                  <a:extLst>
                    <a:ext uri="{9D8B030D-6E8A-4147-A177-3AD203B41FA5}">
                      <a16:colId xmlns:a16="http://schemas.microsoft.com/office/drawing/2014/main" val="1870332436"/>
                    </a:ext>
                  </a:extLst>
                </a:gridCol>
                <a:gridCol w="1211970">
                  <a:extLst>
                    <a:ext uri="{9D8B030D-6E8A-4147-A177-3AD203B41FA5}">
                      <a16:colId xmlns:a16="http://schemas.microsoft.com/office/drawing/2014/main" val="617388905"/>
                    </a:ext>
                  </a:extLst>
                </a:gridCol>
              </a:tblGrid>
              <a:tr h="432943">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78825">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104</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02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PE" sz="1400" b="0" dirty="0">
                          <a:effectLst/>
                          <a:latin typeface="Calibri" panose="020F0502020204030204" pitchFamily="34" charset="0"/>
                          <a:ea typeface="Calibri" panose="020F0502020204030204" pitchFamily="34" charset="0"/>
                          <a:cs typeface="Times New Roman" panose="02020603050405020304" pitchFamily="18" charset="0"/>
                        </a:rPr>
                        <a:t>Coordinación con el área.</a:t>
                      </a:r>
                      <a:endParaRPr lang="es-PE" sz="1400" b="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568237">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Teresita Quezada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75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11</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l"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Proyectos observados/ coordinación con el área.</a:t>
                      </a:r>
                      <a:endParaRPr lang="es-ES" sz="1400" b="0" kern="1200" dirty="0">
                        <a:solidFill>
                          <a:schemeClr val="tx1"/>
                        </a:solidFill>
                        <a:effectLst/>
                        <a:highlight>
                          <a:srgbClr val="FFFF00"/>
                        </a:highligh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Complejo</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801291">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4</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200" kern="1200" dirty="0">
                          <a:solidFill>
                            <a:schemeClr val="tx1"/>
                          </a:solidFill>
                          <a:effectLst/>
                          <a:latin typeface="+mn-lt"/>
                          <a:ea typeface="+mn-ea"/>
                          <a:cs typeface="+mn-cs"/>
                        </a:rPr>
                        <a:t>Dentro de plazo de pruebas/ proyectos observados</a:t>
                      </a:r>
                      <a:endParaRPr lang="es-PE" sz="12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1033705220"/>
              </p:ext>
            </p:extLst>
          </p:nvPr>
        </p:nvGraphicFramePr>
        <p:xfrm>
          <a:off x="2345422" y="3318913"/>
          <a:ext cx="9017226" cy="1953255"/>
        </p:xfrm>
        <a:graphic>
          <a:graphicData uri="http://schemas.openxmlformats.org/drawingml/2006/table">
            <a:tbl>
              <a:tblPr firstRow="1" firstCol="1" bandRow="1"/>
              <a:tblGrid>
                <a:gridCol w="1372640">
                  <a:extLst>
                    <a:ext uri="{9D8B030D-6E8A-4147-A177-3AD203B41FA5}">
                      <a16:colId xmlns:a16="http://schemas.microsoft.com/office/drawing/2014/main" val="3257801786"/>
                    </a:ext>
                  </a:extLst>
                </a:gridCol>
                <a:gridCol w="1978063">
                  <a:extLst>
                    <a:ext uri="{9D8B030D-6E8A-4147-A177-3AD203B41FA5}">
                      <a16:colId xmlns:a16="http://schemas.microsoft.com/office/drawing/2014/main" val="1776142972"/>
                    </a:ext>
                  </a:extLst>
                </a:gridCol>
                <a:gridCol w="1350627">
                  <a:extLst>
                    <a:ext uri="{9D8B030D-6E8A-4147-A177-3AD203B41FA5}">
                      <a16:colId xmlns:a16="http://schemas.microsoft.com/office/drawing/2014/main" val="153233266"/>
                    </a:ext>
                  </a:extLst>
                </a:gridCol>
                <a:gridCol w="1291905">
                  <a:extLst>
                    <a:ext uri="{9D8B030D-6E8A-4147-A177-3AD203B41FA5}">
                      <a16:colId xmlns:a16="http://schemas.microsoft.com/office/drawing/2014/main" val="1566383420"/>
                    </a:ext>
                  </a:extLst>
                </a:gridCol>
                <a:gridCol w="1786855">
                  <a:extLst>
                    <a:ext uri="{9D8B030D-6E8A-4147-A177-3AD203B41FA5}">
                      <a16:colId xmlns:a16="http://schemas.microsoft.com/office/drawing/2014/main" val="2536285859"/>
                    </a:ext>
                  </a:extLst>
                </a:gridCol>
                <a:gridCol w="1237136">
                  <a:extLst>
                    <a:ext uri="{9D8B030D-6E8A-4147-A177-3AD203B41FA5}">
                      <a16:colId xmlns:a16="http://schemas.microsoft.com/office/drawing/2014/main" val="2628142879"/>
                    </a:ext>
                  </a:extLst>
                </a:gridCol>
              </a:tblGrid>
              <a:tr h="509317">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95496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36</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35</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Observado por supervisión</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 </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88970">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ES" sz="1400" kern="1200" dirty="0">
                          <a:solidFill>
                            <a:schemeClr val="tx1"/>
                          </a:solidFill>
                          <a:effectLst/>
                          <a:latin typeface="+mn-lt"/>
                          <a:ea typeface="+mn-ea"/>
                          <a:cs typeface="+mn-cs"/>
                        </a:rPr>
                        <a:t>A</a:t>
                      </a:r>
                      <a:r>
                        <a:rPr lang="es-PE" sz="1400" kern="1200" dirty="0" err="1">
                          <a:solidFill>
                            <a:schemeClr val="tx1"/>
                          </a:solidFill>
                          <a:effectLst/>
                          <a:latin typeface="+mn-lt"/>
                          <a:ea typeface="+mn-ea"/>
                          <a:cs typeface="+mn-cs"/>
                        </a:rPr>
                        <a:t>lberto</a:t>
                      </a:r>
                      <a:r>
                        <a:rPr lang="es-PE" sz="1400" kern="1200" dirty="0">
                          <a:solidFill>
                            <a:schemeClr val="tx1"/>
                          </a:solidFill>
                          <a:effectLst/>
                          <a:latin typeface="+mn-lt"/>
                          <a:ea typeface="+mn-ea"/>
                          <a:cs typeface="+mn-cs"/>
                        </a:rPr>
                        <a:t> Munive</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37</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27</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En revisión de supervisión, </a:t>
                      </a:r>
                      <a:r>
                        <a:rPr lang="es-ES" sz="12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adecución</a:t>
                      </a: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al cargo</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Medio/Alta</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3129643167"/>
              </p:ext>
            </p:extLst>
          </p:nvPr>
        </p:nvGraphicFramePr>
        <p:xfrm>
          <a:off x="2345422" y="5538659"/>
          <a:ext cx="9017226" cy="1194372"/>
        </p:xfrm>
        <a:graphic>
          <a:graphicData uri="http://schemas.openxmlformats.org/drawingml/2006/table">
            <a:tbl>
              <a:tblPr firstRow="1" firstCol="1" bandRow="1"/>
              <a:tblGrid>
                <a:gridCol w="1383294">
                  <a:extLst>
                    <a:ext uri="{9D8B030D-6E8A-4147-A177-3AD203B41FA5}">
                      <a16:colId xmlns:a16="http://schemas.microsoft.com/office/drawing/2014/main" val="1791917023"/>
                    </a:ext>
                  </a:extLst>
                </a:gridCol>
                <a:gridCol w="2017743">
                  <a:extLst>
                    <a:ext uri="{9D8B030D-6E8A-4147-A177-3AD203B41FA5}">
                      <a16:colId xmlns:a16="http://schemas.microsoft.com/office/drawing/2014/main" val="778085126"/>
                    </a:ext>
                  </a:extLst>
                </a:gridCol>
                <a:gridCol w="1308682">
                  <a:extLst>
                    <a:ext uri="{9D8B030D-6E8A-4147-A177-3AD203B41FA5}">
                      <a16:colId xmlns:a16="http://schemas.microsoft.com/office/drawing/2014/main" val="3808763990"/>
                    </a:ext>
                  </a:extLst>
                </a:gridCol>
                <a:gridCol w="1266738">
                  <a:extLst>
                    <a:ext uri="{9D8B030D-6E8A-4147-A177-3AD203B41FA5}">
                      <a16:colId xmlns:a16="http://schemas.microsoft.com/office/drawing/2014/main" val="2363829853"/>
                    </a:ext>
                  </a:extLst>
                </a:gridCol>
                <a:gridCol w="1795244">
                  <a:extLst>
                    <a:ext uri="{9D8B030D-6E8A-4147-A177-3AD203B41FA5}">
                      <a16:colId xmlns:a16="http://schemas.microsoft.com/office/drawing/2014/main" val="3174711922"/>
                    </a:ext>
                  </a:extLst>
                </a:gridCol>
                <a:gridCol w="1245525">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Cynthia Sánchez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kern="1200" dirty="0">
                          <a:solidFill>
                            <a:schemeClr val="tx1"/>
                          </a:solidFill>
                          <a:effectLst/>
                          <a:latin typeface="+mn-lt"/>
                          <a:ea typeface="+mn-ea"/>
                          <a:cs typeface="+mn-cs"/>
                        </a:rPr>
                        <a:t>1</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0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I-980806 </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actualiza los intereses de los expedientes</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3063712800"/>
              </p:ext>
            </p:extLst>
          </p:nvPr>
        </p:nvGraphicFramePr>
        <p:xfrm>
          <a:off x="1157969" y="1181294"/>
          <a:ext cx="8226890" cy="5152545"/>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208075">
                <a:tc rowSpan="26">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ES" sz="1100" b="1" dirty="0">
                          <a:solidFill>
                            <a:srgbClr val="000000"/>
                          </a:solidFill>
                          <a:effectLst/>
                          <a:latin typeface="+mn-lt"/>
                          <a:ea typeface="Calibri" panose="020F0502020204030204" pitchFamily="34" charset="0"/>
                          <a:cs typeface="Times New Roman" panose="02020603050405020304" pitchFamily="18" charset="0"/>
                        </a:rPr>
                        <a:t>7</a:t>
                      </a:r>
                      <a:r>
                        <a:rPr lang="es-PE" sz="1100" b="1" dirty="0">
                          <a:solidFill>
                            <a:srgbClr val="000000"/>
                          </a:solidFill>
                          <a:effectLst/>
                          <a:latin typeface="+mn-lt"/>
                          <a:ea typeface="Calibri" panose="020F0502020204030204" pitchFamily="34" charset="0"/>
                          <a:cs typeface="Times New Roman" panose="02020603050405020304" pitchFamily="18" charset="0"/>
                        </a:rPr>
                        <a:t>649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ES" sz="1100" b="1" dirty="0">
                          <a:solidFill>
                            <a:srgbClr val="000000"/>
                          </a:solidFill>
                          <a:effectLst/>
                          <a:latin typeface="+mn-lt"/>
                          <a:ea typeface="Calibri" panose="020F0502020204030204" pitchFamily="34" charset="0"/>
                          <a:cs typeface="Times New Roman" panose="02020603050405020304" pitchFamily="18" charset="0"/>
                        </a:rPr>
                        <a:t>A</a:t>
                      </a:r>
                      <a:r>
                        <a:rPr lang="es-PE" sz="1100" b="1" dirty="0" err="1">
                          <a:solidFill>
                            <a:srgbClr val="000000"/>
                          </a:solidFill>
                          <a:effectLst/>
                          <a:latin typeface="+mn-lt"/>
                          <a:ea typeface="Calibri" panose="020F0502020204030204" pitchFamily="34" charset="0"/>
                          <a:cs typeface="Times New Roman" panose="02020603050405020304" pitchFamily="18" charset="0"/>
                        </a:rPr>
                        <a:t>llison</a:t>
                      </a:r>
                      <a:r>
                        <a:rPr lang="es-PE" sz="1100" b="1" dirty="0">
                          <a:solidFill>
                            <a:srgbClr val="000000"/>
                          </a:solidFill>
                          <a:effectLst/>
                          <a:latin typeface="+mn-lt"/>
                          <a:ea typeface="Calibri" panose="020F0502020204030204" pitchFamily="34" charset="0"/>
                          <a:cs typeface="Times New Roman" panose="02020603050405020304" pitchFamily="18" charset="0"/>
                        </a:rPr>
                        <a:t> Castro Lagos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102 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09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ES" sz="1100" b="1" dirty="0">
                          <a:solidFill>
                            <a:srgbClr val="000000"/>
                          </a:solidFill>
                          <a:effectLst/>
                          <a:latin typeface="+mn-lt"/>
                          <a:ea typeface="Calibri" panose="020F0502020204030204" pitchFamily="34" charset="0"/>
                          <a:cs typeface="Times New Roman" panose="02020603050405020304" pitchFamily="18" charset="0"/>
                        </a:rPr>
                        <a:t>7625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78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3977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5730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ES" sz="1100" dirty="0">
                          <a:effectLst/>
                          <a:latin typeface="+mn-lt"/>
                          <a:ea typeface="Calibri" panose="020F0502020204030204" pitchFamily="34" charset="0"/>
                          <a:cs typeface="Times New Roman" panose="02020603050405020304" pitchFamily="18" charset="0"/>
                        </a:rPr>
                        <a:t>Marco Tregear Jimenez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ES" sz="1100" dirty="0">
                          <a:effectLst/>
                          <a:latin typeface="+mn-lt"/>
                          <a:ea typeface="Calibri" panose="020F0502020204030204" pitchFamily="34"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989305363"/>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85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7625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03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676120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Cordova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Andres Angulo 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
        <p:nvSpPr>
          <p:cNvPr id="3" name="CuadroTexto 2">
            <a:extLst>
              <a:ext uri="{FF2B5EF4-FFF2-40B4-BE49-F238E27FC236}">
                <a16:creationId xmlns:a16="http://schemas.microsoft.com/office/drawing/2014/main" id="{5776B889-47F3-80EE-04A7-27E08CD48ECB}"/>
              </a:ext>
            </a:extLst>
          </p:cNvPr>
          <p:cNvSpPr txBox="1"/>
          <p:nvPr/>
        </p:nvSpPr>
        <p:spPr>
          <a:xfrm>
            <a:off x="9384860" y="4423051"/>
            <a:ext cx="1464116" cy="307777"/>
          </a:xfrm>
          <a:prstGeom prst="rect">
            <a:avLst/>
          </a:prstGeom>
          <a:noFill/>
          <a:ln>
            <a:noFill/>
          </a:ln>
        </p:spPr>
        <p:txBody>
          <a:bodyPr wrap="square" rtlCol="0">
            <a:spAutoFit/>
          </a:bodyPr>
          <a:lstStyle/>
          <a:p>
            <a:r>
              <a:rPr lang="es-ES" sz="1400" b="1" dirty="0"/>
              <a:t>Producción DCP</a:t>
            </a:r>
            <a:endParaRPr lang="es-PE" sz="1400" b="1" dirty="0"/>
          </a:p>
        </p:txBody>
      </p:sp>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788037415"/>
              </p:ext>
            </p:extLst>
          </p:nvPr>
        </p:nvGraphicFramePr>
        <p:xfrm>
          <a:off x="1201409" y="1383543"/>
          <a:ext cx="9628517" cy="4569576"/>
        </p:xfrm>
        <a:graphic>
          <a:graphicData uri="http://schemas.openxmlformats.org/drawingml/2006/table">
            <a:tbl>
              <a:tblPr/>
              <a:tblGrid>
                <a:gridCol w="1219790">
                  <a:extLst>
                    <a:ext uri="{9D8B030D-6E8A-4147-A177-3AD203B41FA5}">
                      <a16:colId xmlns:a16="http://schemas.microsoft.com/office/drawing/2014/main" val="2857257721"/>
                    </a:ext>
                  </a:extLst>
                </a:gridCol>
                <a:gridCol w="1219790">
                  <a:extLst>
                    <a:ext uri="{9D8B030D-6E8A-4147-A177-3AD203B41FA5}">
                      <a16:colId xmlns:a16="http://schemas.microsoft.com/office/drawing/2014/main" val="4161489616"/>
                    </a:ext>
                  </a:extLst>
                </a:gridCol>
                <a:gridCol w="1774033">
                  <a:extLst>
                    <a:ext uri="{9D8B030D-6E8A-4147-A177-3AD203B41FA5}">
                      <a16:colId xmlns:a16="http://schemas.microsoft.com/office/drawing/2014/main" val="1630339697"/>
                    </a:ext>
                  </a:extLst>
                </a:gridCol>
                <a:gridCol w="2592172">
                  <a:extLst>
                    <a:ext uri="{9D8B030D-6E8A-4147-A177-3AD203B41FA5}">
                      <a16:colId xmlns:a16="http://schemas.microsoft.com/office/drawing/2014/main" val="1004286328"/>
                    </a:ext>
                  </a:extLst>
                </a:gridCol>
                <a:gridCol w="1350635">
                  <a:extLst>
                    <a:ext uri="{9D8B030D-6E8A-4147-A177-3AD203B41FA5}">
                      <a16:colId xmlns:a16="http://schemas.microsoft.com/office/drawing/2014/main" val="3904268956"/>
                    </a:ext>
                  </a:extLst>
                </a:gridCol>
                <a:gridCol w="1472097">
                  <a:extLst>
                    <a:ext uri="{9D8B030D-6E8A-4147-A177-3AD203B41FA5}">
                      <a16:colId xmlns:a16="http://schemas.microsoft.com/office/drawing/2014/main" val="781816914"/>
                    </a:ext>
                  </a:extLst>
                </a:gridCol>
              </a:tblGrid>
              <a:tr h="779895">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UUOO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219609">
                <a:tc rowSpan="14">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7342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4644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4569</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001276232"/>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Renierd Rios Gomez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62640">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219609">
                <a:tc vMerge="1">
                  <a:txBody>
                    <a:bodyPr/>
                    <a:lstStyle/>
                    <a:p>
                      <a:endParaRPr lang="es-PE"/>
                    </a:p>
                  </a:txBody>
                  <a:tcPr/>
                </a:tc>
                <a:tc>
                  <a:txBody>
                    <a:bodyPr/>
                    <a:lstStyle/>
                    <a:p>
                      <a:pPr algn="ctr"/>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endParaRPr lang="es-PE" sz="12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62640">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7326</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62640">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219609">
                <a:tc vMerge="1">
                  <a:txBody>
                    <a:bodyPr/>
                    <a:lstStyle/>
                    <a:p>
                      <a:endParaRPr lang="es-PE"/>
                    </a:p>
                  </a:txBody>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bl>
          </a:graphicData>
        </a:graphic>
      </p:graphicFrame>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272173324"/>
              </p:ext>
            </p:extLst>
          </p:nvPr>
        </p:nvGraphicFramePr>
        <p:xfrm>
          <a:off x="2301715" y="1751700"/>
          <a:ext cx="6911134" cy="4167863"/>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8">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5730</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algn="l" defTabSz="914400" rtl="0" eaLnBrk="1" latinLnBrk="0" hangingPunct="1"/>
                      <a:r>
                        <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rPr>
                        <a:t>Marco Tregear Jimenez</a:t>
                      </a: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kern="120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p>
                      <a:pPr algn="ct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6</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819655324"/>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05.08.2024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8" y="1034932"/>
            <a:ext cx="2393951" cy="1164424"/>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407 total (0/13/0/0/13/12/11/17/15/10/12/17/07)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(0/0/0/0/06/09/08/5/16/17/5/40/15)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(0/2/0/0/0/1/1/3/3/5/0)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1079784013"/>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18 (*)</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1</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1</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387</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954403555"/>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highlight>
                            <a:srgbClr val="FFFF00"/>
                          </a:highlight>
                          <a:latin typeface="+mj-lt"/>
                          <a:ea typeface="Calibri" panose="020F0502020204030204" pitchFamily="34" charset="0"/>
                        </a:rPr>
                        <a:t>0</a:t>
                      </a:r>
                      <a:endParaRPr lang="es-PE" sz="1800" b="1" dirty="0">
                        <a:solidFill>
                          <a:schemeClr val="tx1"/>
                        </a:solidFill>
                        <a:effectLst/>
                        <a:highlight>
                          <a:srgbClr val="FFFF00"/>
                        </a:highligh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1680100519"/>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highlight>
                            <a:srgbClr val="FFFF00"/>
                          </a:highlight>
                          <a:latin typeface="Calibri" panose="020F0502020204030204" pitchFamily="34" charset="0"/>
                          <a:ea typeface="Calibri" panose="020F0502020204030204" pitchFamily="34" charset="0"/>
                        </a:rPr>
                        <a:t>0</a:t>
                      </a:r>
                      <a:endParaRPr lang="es-PE" sz="1800" dirty="0">
                        <a:solidFill>
                          <a:schemeClr val="tx1"/>
                        </a:solidFill>
                        <a:effectLst/>
                        <a:highlight>
                          <a:srgbClr val="FFFF00"/>
                        </a:highligh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highlight>
                            <a:srgbClr val="FFFF00"/>
                          </a:highlight>
                          <a:latin typeface="Calibri Light" panose="020F0302020204030204" pitchFamily="34" charset="0"/>
                          <a:ea typeface="Calibri" panose="020F0502020204030204" pitchFamily="34" charset="0"/>
                        </a:rPr>
                        <a:t> 0</a:t>
                      </a:r>
                      <a:endParaRPr lang="es-PE" sz="1400" dirty="0">
                        <a:solidFill>
                          <a:schemeClr val="tx1"/>
                        </a:solidFill>
                        <a:effectLst/>
                        <a:highlight>
                          <a:srgbClr val="FFFF00"/>
                        </a:highligh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highlight>
                            <a:srgbClr val="FFFF00"/>
                          </a:highlight>
                          <a:latin typeface="Calibri" panose="020F0502020204030204" pitchFamily="34" charset="0"/>
                          <a:ea typeface="Calibri" panose="020F0502020204030204" pitchFamily="34" charset="0"/>
                        </a:rPr>
                        <a:t>0</a:t>
                      </a:r>
                      <a:endParaRPr lang="es-PE" sz="1800" dirty="0">
                        <a:solidFill>
                          <a:schemeClr val="tx1"/>
                        </a:solidFill>
                        <a:effectLst/>
                        <a:highlight>
                          <a:srgbClr val="FFFF00"/>
                        </a:highligh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highlight>
                            <a:srgbClr val="FFFF00"/>
                          </a:highlight>
                          <a:latin typeface="Calibri" panose="020F0502020204030204" pitchFamily="34" charset="0"/>
                          <a:ea typeface="Calibri" panose="020F0502020204030204" pitchFamily="34" charset="0"/>
                        </a:rPr>
                        <a:t>0</a:t>
                      </a:r>
                      <a:endParaRPr lang="es-PE" sz="1800" dirty="0">
                        <a:solidFill>
                          <a:schemeClr val="tx1"/>
                        </a:solidFill>
                        <a:effectLst/>
                        <a:highlight>
                          <a:srgbClr val="FFFF00"/>
                        </a:highligh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
        <p:nvSpPr>
          <p:cNvPr id="7" name="CuadroTexto 6">
            <a:extLst>
              <a:ext uri="{FF2B5EF4-FFF2-40B4-BE49-F238E27FC236}">
                <a16:creationId xmlns:a16="http://schemas.microsoft.com/office/drawing/2014/main" id="{EFF59043-EB5A-0DD0-D3E1-3D34EAF24267}"/>
              </a:ext>
            </a:extLst>
          </p:cNvPr>
          <p:cNvSpPr txBox="1"/>
          <p:nvPr/>
        </p:nvSpPr>
        <p:spPr>
          <a:xfrm>
            <a:off x="2946399" y="2363659"/>
            <a:ext cx="5845175" cy="261610"/>
          </a:xfrm>
          <a:prstGeom prst="rect">
            <a:avLst/>
          </a:prstGeom>
          <a:noFill/>
        </p:spPr>
        <p:txBody>
          <a:bodyPr wrap="square" rtlCol="0">
            <a:spAutoFit/>
          </a:bodyPr>
          <a:lstStyle/>
          <a:p>
            <a:r>
              <a:rPr lang="es-ES" sz="1100" dirty="0"/>
              <a:t>(*) reingresados</a:t>
            </a:r>
            <a:endParaRPr lang="es-PE" sz="1100" dirty="0"/>
          </a:p>
        </p:txBody>
      </p:sp>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1229709223"/>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121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3223531118"/>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highlight>
                            <a:srgbClr val="FFFF00"/>
                          </a:highlight>
                          <a:latin typeface="+mn-lt"/>
                        </a:rPr>
                        <a:t>0</a:t>
                      </a:r>
                      <a:endParaRPr lang="es-PE" sz="1400" b="1" i="0" u="none" strike="noStrike" dirty="0">
                        <a:solidFill>
                          <a:schemeClr val="tx1"/>
                        </a:solidFill>
                        <a:effectLst/>
                        <a:highlight>
                          <a:srgbClr val="FFFF00"/>
                        </a:highligh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1573523799"/>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highlight>
                            <a:srgbClr val="FFFF00"/>
                          </a:highlight>
                          <a:latin typeface="+mn-lt"/>
                        </a:rPr>
                        <a:t>0</a:t>
                      </a:r>
                      <a:endParaRPr lang="es-PE" sz="1400" b="1" i="0" u="none" strike="noStrike" dirty="0">
                        <a:solidFill>
                          <a:schemeClr val="tx1"/>
                        </a:solidFill>
                        <a:effectLst/>
                        <a:highlight>
                          <a:srgbClr val="FFFF00"/>
                        </a:highligh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4 (*)</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
        <p:nvSpPr>
          <p:cNvPr id="3" name="Flecha: a la derecha 2">
            <a:extLst>
              <a:ext uri="{FF2B5EF4-FFF2-40B4-BE49-F238E27FC236}">
                <a16:creationId xmlns:a16="http://schemas.microsoft.com/office/drawing/2014/main" id="{A7976BD3-E52B-5499-C044-AC7EC4328524}"/>
              </a:ext>
            </a:extLst>
          </p:cNvPr>
          <p:cNvSpPr/>
          <p:nvPr/>
        </p:nvSpPr>
        <p:spPr>
          <a:xfrm>
            <a:off x="1285875" y="4929569"/>
            <a:ext cx="1028700" cy="638174"/>
          </a:xfrm>
          <a:prstGeom prst="rightArrow">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DCP</a:t>
            </a:r>
            <a:endParaRPr lang="es-PE" dirty="0"/>
          </a:p>
        </p:txBody>
      </p:sp>
      <p:sp>
        <p:nvSpPr>
          <p:cNvPr id="4" name="CuadroTexto 3">
            <a:extLst>
              <a:ext uri="{FF2B5EF4-FFF2-40B4-BE49-F238E27FC236}">
                <a16:creationId xmlns:a16="http://schemas.microsoft.com/office/drawing/2014/main" id="{56E8FE5E-A49B-EEC5-AA4E-EAD2849F4E9F}"/>
              </a:ext>
            </a:extLst>
          </p:cNvPr>
          <p:cNvSpPr txBox="1"/>
          <p:nvPr/>
        </p:nvSpPr>
        <p:spPr>
          <a:xfrm>
            <a:off x="1285874" y="6238635"/>
            <a:ext cx="3124201" cy="276999"/>
          </a:xfrm>
          <a:prstGeom prst="rect">
            <a:avLst/>
          </a:prstGeom>
          <a:noFill/>
        </p:spPr>
        <p:txBody>
          <a:bodyPr wrap="square">
            <a:spAutoFit/>
          </a:bodyPr>
          <a:lstStyle/>
          <a:p>
            <a:r>
              <a:rPr lang="es-ES" sz="1200" dirty="0">
                <a:latin typeface="Calibri Light" panose="020F0302020204030204" pitchFamily="34" charset="0"/>
                <a:ea typeface="Calibri" panose="020F0502020204030204" pitchFamily="34" charset="0"/>
              </a:rPr>
              <a:t>(*) Incluye dos casos origen DCCI.</a:t>
            </a:r>
            <a:endParaRPr lang="es-PE" sz="1200" dirty="0">
              <a:latin typeface="Calibri Light" panose="020F0302020204030204" pitchFamily="34" charset="0"/>
              <a:ea typeface="Calibri" panose="020F0502020204030204" pitchFamily="34" charset="0"/>
            </a:endParaRPr>
          </a:p>
        </p:txBody>
      </p:sp>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REPORTADOS–2024</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680717716"/>
              </p:ext>
            </p:extLst>
          </p:nvPr>
        </p:nvGraphicFramePr>
        <p:xfrm>
          <a:off x="1485901" y="1424085"/>
          <a:ext cx="9058276" cy="4557605"/>
        </p:xfrm>
        <a:graphic>
          <a:graphicData uri="http://schemas.openxmlformats.org/drawingml/2006/table">
            <a:tbl>
              <a:tblPr firstRow="1" firstCol="1" bandRow="1"/>
              <a:tblGrid>
                <a:gridCol w="1552367">
                  <a:extLst>
                    <a:ext uri="{9D8B030D-6E8A-4147-A177-3AD203B41FA5}">
                      <a16:colId xmlns:a16="http://schemas.microsoft.com/office/drawing/2014/main" val="1329933936"/>
                    </a:ext>
                  </a:extLst>
                </a:gridCol>
                <a:gridCol w="2036233">
                  <a:extLst>
                    <a:ext uri="{9D8B030D-6E8A-4147-A177-3AD203B41FA5}">
                      <a16:colId xmlns:a16="http://schemas.microsoft.com/office/drawing/2014/main" val="63170076"/>
                    </a:ext>
                  </a:extLst>
                </a:gridCol>
                <a:gridCol w="5469676">
                  <a:extLst>
                    <a:ext uri="{9D8B030D-6E8A-4147-A177-3AD203B41FA5}">
                      <a16:colId xmlns:a16="http://schemas.microsoft.com/office/drawing/2014/main" val="3005957556"/>
                    </a:ext>
                  </a:extLst>
                </a:gridCol>
              </a:tblGrid>
              <a:tr h="191254">
                <a:tc gridSpan="3">
                  <a:txBody>
                    <a:bodyPr/>
                    <a:lstStyle/>
                    <a:p>
                      <a:pPr algn="ctr"/>
                      <a:r>
                        <a:rPr lang="es-PE" sz="105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191254">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05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373130">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 </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05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355210">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l"/>
                      <a:endParaRPr lang="es-PE" sz="1050" u="none" kern="12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2012268">
                <a:tc>
                  <a:txBody>
                    <a:bodyPr/>
                    <a:lstStyle/>
                    <a:p>
                      <a:r>
                        <a:rPr lang="es-ES" sz="105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lang="es-PE"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I-981801 SIGERI no </a:t>
                      </a:r>
                      <a:r>
                        <a:rPr lang="pt-BR"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genera</a:t>
                      </a: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pedido SINE </a:t>
                      </a:r>
                      <a:r>
                        <a:rPr lang="pt-BR"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Exp</a:t>
                      </a: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4090340008487</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I-978014 SIGERI no </a:t>
                      </a:r>
                      <a:r>
                        <a:rPr lang="pt-BR"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genera</a:t>
                      </a: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pedido SINE </a:t>
                      </a:r>
                      <a:r>
                        <a:rPr lang="pt-BR" sz="105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Exp</a:t>
                      </a: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4090340008568</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I-984976 S</a:t>
                      </a:r>
                      <a:r>
                        <a:rPr lang="es-ES" sz="105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IGERI no ha generado pedido SINE para la RD 4090140009258 - Expediente de Reclamación</a:t>
                      </a:r>
                      <a:endParaRPr lang="pt-BR" sz="105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243235">
                <a:tc>
                  <a:txBody>
                    <a:bodyPr/>
                    <a:lstStyle/>
                    <a:p>
                      <a:r>
                        <a:rPr lang="es-PE" sz="105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PE" sz="1050" b="1" dirty="0">
                          <a:effectLst/>
                          <a:latin typeface="Calibri" panose="020F0502020204030204" pitchFamily="34" charset="0"/>
                          <a:ea typeface="Calibri" panose="020F0502020204030204" pitchFamily="34" charset="0"/>
                          <a:cs typeface="Times New Roman" panose="02020603050405020304" pitchFamily="18" charset="0"/>
                        </a:rPr>
                        <a:t>3</a:t>
                      </a:r>
                    </a:p>
                    <a:p>
                      <a:pPr algn="ct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050" b="0" dirty="0">
                          <a:effectLst/>
                          <a:latin typeface="Calibri" panose="020F0502020204030204" pitchFamily="34" charset="0"/>
                          <a:ea typeface="Calibri" panose="020F0502020204030204" pitchFamily="34" charset="0"/>
                          <a:cs typeface="Times New Roman" panose="02020603050405020304" pitchFamily="18" charset="0"/>
                        </a:rPr>
                        <a:t>I-980806 </a:t>
                      </a:r>
                      <a:r>
                        <a:rPr lang="es-PE" sz="1050" dirty="0">
                          <a:effectLst/>
                          <a:latin typeface="Calibri" panose="020F0502020204030204" pitchFamily="34" charset="0"/>
                          <a:ea typeface="Calibri" panose="020F0502020204030204" pitchFamily="34" charset="0"/>
                          <a:cs typeface="Times New Roman" panose="02020603050405020304" pitchFamily="18" charset="0"/>
                        </a:rPr>
                        <a:t>Acumulación de expedientes.</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PE" sz="1050" b="0" dirty="0">
                          <a:effectLst/>
                          <a:latin typeface="Calibri" panose="020F0502020204030204" pitchFamily="34" charset="0"/>
                          <a:ea typeface="Calibri" panose="020F0502020204030204" pitchFamily="34" charset="0"/>
                          <a:cs typeface="Times New Roman" panose="02020603050405020304" pitchFamily="18" charset="0"/>
                        </a:rPr>
                        <a:t>I-985541 </a:t>
                      </a:r>
                      <a:r>
                        <a:rPr lang="es-ES" sz="1050" dirty="0">
                          <a:effectLst/>
                          <a:latin typeface="Calibri" panose="020F0502020204030204" pitchFamily="34" charset="0"/>
                          <a:ea typeface="Calibri" panose="020F0502020204030204" pitchFamily="34" charset="0"/>
                          <a:cs typeface="Times New Roman" panose="02020603050405020304" pitchFamily="18" charset="0"/>
                        </a:rPr>
                        <a:t>Actualización de resultados de L/Cs.</a:t>
                      </a:r>
                    </a:p>
                    <a:p>
                      <a:pPr algn="l"/>
                      <a:r>
                        <a:rPr lang="es-PE" sz="1050" b="0" dirty="0">
                          <a:effectLst/>
                          <a:latin typeface="Calibri" panose="020F0502020204030204" pitchFamily="34" charset="0"/>
                          <a:ea typeface="Calibri" panose="020F0502020204030204" pitchFamily="34" charset="0"/>
                          <a:cs typeface="Times New Roman" panose="02020603050405020304" pitchFamily="18" charset="0"/>
                        </a:rPr>
                        <a:t>I-902560 </a:t>
                      </a:r>
                      <a:r>
                        <a:rPr lang="es-ES" sz="1050" dirty="0">
                          <a:effectLst/>
                          <a:latin typeface="Calibri" panose="020F0502020204030204" pitchFamily="34" charset="0"/>
                          <a:ea typeface="Calibri" panose="020F0502020204030204" pitchFamily="34" charset="0"/>
                          <a:cs typeface="Times New Roman" panose="02020603050405020304" pitchFamily="18" charset="0"/>
                        </a:rPr>
                        <a:t>Se solicitó verificar pago anulado en el RSIRAT al momento de calificar valor.</a:t>
                      </a:r>
                      <a:r>
                        <a:rPr lang="es-PE" sz="1050" dirty="0">
                          <a:effectLst/>
                          <a:latin typeface="Calibri" panose="020F0502020204030204" pitchFamily="34" charset="0"/>
                          <a:ea typeface="Calibri" panose="020F0502020204030204" pitchFamily="34" charset="0"/>
                          <a:cs typeface="Times New Roman" panose="02020603050405020304" pitchFamily="18" charset="0"/>
                        </a:rPr>
                        <a:t> </a:t>
                      </a:r>
                      <a:endParaRPr lang="es-PE" sz="1050" b="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191254">
                <a:tc>
                  <a:txBody>
                    <a:bodyPr/>
                    <a:lstStyle/>
                    <a:p>
                      <a:r>
                        <a:rPr lang="es-PE" sz="1050" b="1">
                          <a:effectLst/>
                          <a:latin typeface="Calibri" panose="020F0502020204030204" pitchFamily="34" charset="0"/>
                          <a:ea typeface="Calibri" panose="020F0502020204030204" pitchFamily="34" charset="0"/>
                          <a:cs typeface="Times New Roman" panose="02020603050405020304" pitchFamily="18" charset="0"/>
                        </a:rPr>
                        <a:t>TOTAL</a:t>
                      </a:r>
                      <a:endParaRPr lang="es-PE" sz="105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5</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1556815094"/>
              </p:ext>
            </p:extLst>
          </p:nvPr>
        </p:nvGraphicFramePr>
        <p:xfrm>
          <a:off x="292044" y="1342636"/>
          <a:ext cx="11329955" cy="4713852"/>
        </p:xfrm>
        <a:graphic>
          <a:graphicData uri="http://schemas.openxmlformats.org/drawingml/2006/table">
            <a:tbl>
              <a:tblPr/>
              <a:tblGrid>
                <a:gridCol w="675311">
                  <a:extLst>
                    <a:ext uri="{9D8B030D-6E8A-4147-A177-3AD203B41FA5}">
                      <a16:colId xmlns:a16="http://schemas.microsoft.com/office/drawing/2014/main" val="1830478753"/>
                    </a:ext>
                  </a:extLst>
                </a:gridCol>
                <a:gridCol w="303870">
                  <a:extLst>
                    <a:ext uri="{9D8B030D-6E8A-4147-A177-3AD203B41FA5}">
                      <a16:colId xmlns:a16="http://schemas.microsoft.com/office/drawing/2014/main" val="976110479"/>
                    </a:ext>
                  </a:extLst>
                </a:gridCol>
                <a:gridCol w="353754">
                  <a:extLst>
                    <a:ext uri="{9D8B030D-6E8A-4147-A177-3AD203B41FA5}">
                      <a16:colId xmlns:a16="http://schemas.microsoft.com/office/drawing/2014/main" val="2657161292"/>
                    </a:ext>
                  </a:extLst>
                </a:gridCol>
                <a:gridCol w="499851">
                  <a:extLst>
                    <a:ext uri="{9D8B030D-6E8A-4147-A177-3AD203B41FA5}">
                      <a16:colId xmlns:a16="http://schemas.microsoft.com/office/drawing/2014/main" val="2571861186"/>
                    </a:ext>
                  </a:extLst>
                </a:gridCol>
                <a:gridCol w="499851">
                  <a:extLst>
                    <a:ext uri="{9D8B030D-6E8A-4147-A177-3AD203B41FA5}">
                      <a16:colId xmlns:a16="http://schemas.microsoft.com/office/drawing/2014/main" val="3123508407"/>
                    </a:ext>
                  </a:extLst>
                </a:gridCol>
                <a:gridCol w="499851">
                  <a:extLst>
                    <a:ext uri="{9D8B030D-6E8A-4147-A177-3AD203B41FA5}">
                      <a16:colId xmlns:a16="http://schemas.microsoft.com/office/drawing/2014/main" val="1761037411"/>
                    </a:ext>
                  </a:extLst>
                </a:gridCol>
                <a:gridCol w="499851">
                  <a:extLst>
                    <a:ext uri="{9D8B030D-6E8A-4147-A177-3AD203B41FA5}">
                      <a16:colId xmlns:a16="http://schemas.microsoft.com/office/drawing/2014/main" val="4069715718"/>
                    </a:ext>
                  </a:extLst>
                </a:gridCol>
                <a:gridCol w="499851">
                  <a:extLst>
                    <a:ext uri="{9D8B030D-6E8A-4147-A177-3AD203B41FA5}">
                      <a16:colId xmlns:a16="http://schemas.microsoft.com/office/drawing/2014/main" val="2827311752"/>
                    </a:ext>
                  </a:extLst>
                </a:gridCol>
                <a:gridCol w="499851">
                  <a:extLst>
                    <a:ext uri="{9D8B030D-6E8A-4147-A177-3AD203B41FA5}">
                      <a16:colId xmlns:a16="http://schemas.microsoft.com/office/drawing/2014/main" val="3158204159"/>
                    </a:ext>
                  </a:extLst>
                </a:gridCol>
                <a:gridCol w="499851">
                  <a:extLst>
                    <a:ext uri="{9D8B030D-6E8A-4147-A177-3AD203B41FA5}">
                      <a16:colId xmlns:a16="http://schemas.microsoft.com/office/drawing/2014/main" val="1845870146"/>
                    </a:ext>
                  </a:extLst>
                </a:gridCol>
                <a:gridCol w="499851">
                  <a:extLst>
                    <a:ext uri="{9D8B030D-6E8A-4147-A177-3AD203B41FA5}">
                      <a16:colId xmlns:a16="http://schemas.microsoft.com/office/drawing/2014/main" val="2669878163"/>
                    </a:ext>
                  </a:extLst>
                </a:gridCol>
                <a:gridCol w="499851">
                  <a:extLst>
                    <a:ext uri="{9D8B030D-6E8A-4147-A177-3AD203B41FA5}">
                      <a16:colId xmlns:a16="http://schemas.microsoft.com/office/drawing/2014/main" val="3086343668"/>
                    </a:ext>
                  </a:extLst>
                </a:gridCol>
                <a:gridCol w="499851">
                  <a:extLst>
                    <a:ext uri="{9D8B030D-6E8A-4147-A177-3AD203B41FA5}">
                      <a16:colId xmlns:a16="http://schemas.microsoft.com/office/drawing/2014/main" val="607963361"/>
                    </a:ext>
                  </a:extLst>
                </a:gridCol>
                <a:gridCol w="499851">
                  <a:extLst>
                    <a:ext uri="{9D8B030D-6E8A-4147-A177-3AD203B41FA5}">
                      <a16:colId xmlns:a16="http://schemas.microsoft.com/office/drawing/2014/main" val="1278804772"/>
                    </a:ext>
                  </a:extLst>
                </a:gridCol>
                <a:gridCol w="499851">
                  <a:extLst>
                    <a:ext uri="{9D8B030D-6E8A-4147-A177-3AD203B41FA5}">
                      <a16:colId xmlns:a16="http://schemas.microsoft.com/office/drawing/2014/main" val="1600247373"/>
                    </a:ext>
                  </a:extLst>
                </a:gridCol>
                <a:gridCol w="499851">
                  <a:extLst>
                    <a:ext uri="{9D8B030D-6E8A-4147-A177-3AD203B41FA5}">
                      <a16:colId xmlns:a16="http://schemas.microsoft.com/office/drawing/2014/main" val="3939462712"/>
                    </a:ext>
                  </a:extLst>
                </a:gridCol>
                <a:gridCol w="499851">
                  <a:extLst>
                    <a:ext uri="{9D8B030D-6E8A-4147-A177-3AD203B41FA5}">
                      <a16:colId xmlns:a16="http://schemas.microsoft.com/office/drawing/2014/main" val="3411044468"/>
                    </a:ext>
                  </a:extLst>
                </a:gridCol>
                <a:gridCol w="499851">
                  <a:extLst>
                    <a:ext uri="{9D8B030D-6E8A-4147-A177-3AD203B41FA5}">
                      <a16:colId xmlns:a16="http://schemas.microsoft.com/office/drawing/2014/main" val="1748629549"/>
                    </a:ext>
                  </a:extLst>
                </a:gridCol>
                <a:gridCol w="499851">
                  <a:extLst>
                    <a:ext uri="{9D8B030D-6E8A-4147-A177-3AD203B41FA5}">
                      <a16:colId xmlns:a16="http://schemas.microsoft.com/office/drawing/2014/main" val="4080195774"/>
                    </a:ext>
                  </a:extLst>
                </a:gridCol>
                <a:gridCol w="499851">
                  <a:extLst>
                    <a:ext uri="{9D8B030D-6E8A-4147-A177-3AD203B41FA5}">
                      <a16:colId xmlns:a16="http://schemas.microsoft.com/office/drawing/2014/main" val="1084681730"/>
                    </a:ext>
                  </a:extLst>
                </a:gridCol>
                <a:gridCol w="499851">
                  <a:extLst>
                    <a:ext uri="{9D8B030D-6E8A-4147-A177-3AD203B41FA5}">
                      <a16:colId xmlns:a16="http://schemas.microsoft.com/office/drawing/2014/main" val="3831191514"/>
                    </a:ext>
                  </a:extLst>
                </a:gridCol>
                <a:gridCol w="499851">
                  <a:extLst>
                    <a:ext uri="{9D8B030D-6E8A-4147-A177-3AD203B41FA5}">
                      <a16:colId xmlns:a16="http://schemas.microsoft.com/office/drawing/2014/main" val="4158780859"/>
                    </a:ext>
                  </a:extLst>
                </a:gridCol>
                <a:gridCol w="499851">
                  <a:extLst>
                    <a:ext uri="{9D8B030D-6E8A-4147-A177-3AD203B41FA5}">
                      <a16:colId xmlns:a16="http://schemas.microsoft.com/office/drawing/2014/main" val="345460417"/>
                    </a:ext>
                  </a:extLst>
                </a:gridCol>
              </a:tblGrid>
              <a:tr h="288544">
                <a:tc rowSpan="2">
                  <a:txBody>
                    <a:bodyPr/>
                    <a:lstStyle/>
                    <a:p>
                      <a:pPr algn="ctr" fontAlgn="b"/>
                      <a:r>
                        <a:rPr lang="es-PE" sz="14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4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400" b="0" i="0" u="none" strike="noStrike" dirty="0">
                          <a:solidFill>
                            <a:srgbClr val="000000"/>
                          </a:solidFill>
                          <a:effectLst/>
                          <a:latin typeface="Calibri" panose="020F0502020204030204" pitchFamily="34" charset="0"/>
                        </a:rPr>
                        <a:t>FEBRERO</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400" b="0" i="0" u="none" strike="noStrike" dirty="0">
                          <a:solidFill>
                            <a:srgbClr val="000000"/>
                          </a:solidFill>
                          <a:effectLst/>
                          <a:latin typeface="Calibri" panose="020F0502020204030204" pitchFamily="34" charset="0"/>
                        </a:rPr>
                        <a:t>MARZO</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400" b="0" i="0" u="none" strike="noStrike" dirty="0">
                          <a:solidFill>
                            <a:srgbClr val="000000"/>
                          </a:solidFill>
                          <a:effectLst/>
                          <a:latin typeface="Calibri" panose="020F0502020204030204" pitchFamily="34" charset="0"/>
                        </a:rPr>
                        <a:t>ABRIL</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400" b="0" i="0" u="none" strike="noStrike" dirty="0">
                          <a:solidFill>
                            <a:srgbClr val="000000"/>
                          </a:solidFill>
                          <a:effectLst/>
                          <a:latin typeface="Calibri" panose="020F0502020204030204" pitchFamily="34" charset="0"/>
                        </a:rPr>
                        <a:t>MAYO</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400" b="0" i="0" u="none" strike="noStrike" dirty="0">
                          <a:solidFill>
                            <a:srgbClr val="000000"/>
                          </a:solidFill>
                          <a:effectLst/>
                          <a:latin typeface="Calibri" panose="020F0502020204030204" pitchFamily="34" charset="0"/>
                        </a:rPr>
                        <a:t>JUNIO</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400" b="0" i="0" u="none" strike="noStrike" dirty="0">
                          <a:solidFill>
                            <a:srgbClr val="000000"/>
                          </a:solidFill>
                          <a:effectLst/>
                          <a:latin typeface="Calibri" panose="020F0502020204030204" pitchFamily="34" charset="0"/>
                        </a:rPr>
                        <a:t>JULIO</a:t>
                      </a: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525273">
                <a:tc vMerge="1">
                  <a:txBody>
                    <a:bodyPr/>
                    <a:lstStyle/>
                    <a:p>
                      <a:endParaRPr lang="es-PE"/>
                    </a:p>
                  </a:txBody>
                  <a:tcPr/>
                </a:tc>
                <a:tc>
                  <a:txBody>
                    <a:bodyPr/>
                    <a:lstStyle/>
                    <a:p>
                      <a:pPr algn="ctr" fontAlgn="ctr"/>
                      <a:r>
                        <a:rPr lang="es-PE" sz="14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DCCI</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DCCII</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DCP</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DCCI</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DCCII</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DCP</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400" b="1" i="0" u="none" strike="noStrike" dirty="0">
                          <a:solidFill>
                            <a:srgbClr val="FFFFFF"/>
                          </a:solidFill>
                          <a:effectLst/>
                          <a:latin typeface="Calibri Light" panose="020F0302020204030204" pitchFamily="34" charset="0"/>
                        </a:rPr>
                        <a:t>TOTAL</a:t>
                      </a:r>
                      <a:endParaRPr lang="es-PE" sz="14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59473">
                <a:tc>
                  <a:txBody>
                    <a:bodyPr/>
                    <a:lstStyle/>
                    <a:p>
                      <a:pPr algn="ctr" fontAlgn="ctr"/>
                      <a:r>
                        <a:rPr lang="es-PE" sz="14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236</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7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78</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17</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206</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70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18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204</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83</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16</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234</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88</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12</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193</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104</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240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58</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22</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2234</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11565">
                <a:tc>
                  <a:txBody>
                    <a:bodyPr/>
                    <a:lstStyle/>
                    <a:p>
                      <a:pPr algn="ctr" fontAlgn="ctr"/>
                      <a:r>
                        <a:rPr lang="es-PE" sz="14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16</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2</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4</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11</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13</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12</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3</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14</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s-ES" sz="1400" b="1" i="0" u="none" strike="noStrike" dirty="0">
                          <a:solidFill>
                            <a:srgbClr val="833C0C"/>
                          </a:solidFill>
                          <a:effectLst/>
                          <a:latin typeface="Calibri Light" panose="020F0302020204030204" pitchFamily="34" charset="0"/>
                        </a:rPr>
                        <a:t>85</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23245537"/>
                  </a:ext>
                </a:extLst>
              </a:tr>
              <a:tr h="360526">
                <a:tc>
                  <a:txBody>
                    <a:bodyPr/>
                    <a:lstStyle/>
                    <a:p>
                      <a:pPr algn="ctr" fontAlgn="ctr"/>
                      <a:r>
                        <a:rPr lang="es-PE" sz="14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9</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25</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41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5</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5</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27</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7</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3</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182</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35854">
                <a:tc>
                  <a:txBody>
                    <a:bodyPr/>
                    <a:lstStyle/>
                    <a:p>
                      <a:pPr algn="ctr" fontAlgn="ctr"/>
                      <a:r>
                        <a:rPr lang="es-PE" sz="14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0</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0</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0</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2</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2</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11565">
                <a:tc>
                  <a:txBody>
                    <a:bodyPr/>
                    <a:lstStyle/>
                    <a:p>
                      <a:pPr algn="ctr" fontAlgn="ctr"/>
                      <a:r>
                        <a:rPr lang="es-PE" sz="14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0</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0</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1</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60526">
                <a:tc>
                  <a:txBody>
                    <a:bodyPr/>
                    <a:lstStyle/>
                    <a:p>
                      <a:pPr algn="ctr" fontAlgn="ctr"/>
                      <a:r>
                        <a:rPr lang="es-PE" sz="14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0</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1</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1</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400" b="1" i="0" u="none" strike="noStrike" dirty="0">
                          <a:solidFill>
                            <a:srgbClr val="000000"/>
                          </a:solidFill>
                          <a:effectLst/>
                          <a:latin typeface="Calibri Light" panose="020F0302020204030204" pitchFamily="34" charset="0"/>
                        </a:rPr>
                        <a:t>0</a:t>
                      </a:r>
                      <a:endParaRPr lang="es-PE" sz="14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24</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60526">
                <a:tc>
                  <a:txBody>
                    <a:bodyPr/>
                    <a:lstStyle/>
                    <a:p>
                      <a:pPr algn="ctr" fontAlgn="ctr"/>
                      <a:r>
                        <a:rPr lang="es-PE" sz="14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400" b="1" i="0" u="none" strike="noStrike" kern="1200" dirty="0">
                          <a:solidFill>
                            <a:schemeClr val="tx1"/>
                          </a:solidFill>
                          <a:effectLst/>
                          <a:latin typeface="Calibri Light" panose="020F0302020204030204" pitchFamily="34" charset="0"/>
                          <a:ea typeface="+mn-ea"/>
                          <a:cs typeface="+mn-cs"/>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262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83</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400" b="1" i="0" u="none" strike="noStrike" kern="1200" dirty="0">
                          <a:solidFill>
                            <a:schemeClr val="tx1"/>
                          </a:solidFill>
                          <a:effectLst/>
                          <a:latin typeface="Calibri Light" panose="020F0302020204030204" pitchFamily="34" charset="0"/>
                          <a:ea typeface="+mn-ea"/>
                          <a:cs typeface="+mn-cs"/>
                        </a:rPr>
                        <a:t>19</a:t>
                      </a:r>
                      <a:endParaRPr lang="es-PE" sz="14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400" b="1" i="0" u="none" strike="noStrike" kern="1200" dirty="0">
                          <a:solidFill>
                            <a:srgbClr val="000000"/>
                          </a:solidFill>
                          <a:effectLst/>
                          <a:latin typeface="Calibri Light" panose="020F0302020204030204" pitchFamily="34" charset="0"/>
                          <a:ea typeface="+mn-ea"/>
                          <a:cs typeface="+mn-cs"/>
                        </a:rPr>
                        <a:t>236</a:t>
                      </a:r>
                      <a:endParaRPr lang="es-PE" sz="14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77</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20</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256</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89</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18</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268</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97</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232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111</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15(*)</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265</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62</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Calibri Light" panose="020F0302020204030204" pitchFamily="34" charset="0"/>
                        </a:rPr>
                        <a:t>23</a:t>
                      </a:r>
                      <a:endParaRPr lang="es-PE" sz="14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rgbClr val="833C0C"/>
                          </a:solidFill>
                          <a:effectLst/>
                          <a:latin typeface="Calibri Light" panose="020F0302020204030204" pitchFamily="34" charset="0"/>
                        </a:rPr>
                        <a:t>2528</a:t>
                      </a:r>
                      <a:endParaRPr lang="es-PE" sz="14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
        <p:nvSpPr>
          <p:cNvPr id="2" name="CuadroTexto 1">
            <a:extLst>
              <a:ext uri="{FF2B5EF4-FFF2-40B4-BE49-F238E27FC236}">
                <a16:creationId xmlns:a16="http://schemas.microsoft.com/office/drawing/2014/main" id="{29376897-04BA-3DE5-BE7D-AD4C19E180FF}"/>
              </a:ext>
            </a:extLst>
          </p:cNvPr>
          <p:cNvSpPr txBox="1"/>
          <p:nvPr/>
        </p:nvSpPr>
        <p:spPr>
          <a:xfrm>
            <a:off x="742949" y="6242547"/>
            <a:ext cx="8258176" cy="276999"/>
          </a:xfrm>
          <a:prstGeom prst="rect">
            <a:avLst/>
          </a:prstGeom>
          <a:noFill/>
        </p:spPr>
        <p:txBody>
          <a:bodyPr wrap="square">
            <a:spAutoFit/>
          </a:bodyPr>
          <a:lstStyle/>
          <a:p>
            <a:r>
              <a:rPr lang="es-ES" sz="1200" dirty="0">
                <a:latin typeface="Calibri Light" panose="020F0302020204030204" pitchFamily="34" charset="0"/>
                <a:ea typeface="Calibri" panose="020F0502020204030204" pitchFamily="34" charset="0"/>
              </a:rPr>
              <a:t>(*) Incluye 5 casos origen DCCI.</a:t>
            </a:r>
            <a:endParaRPr lang="es-PE" sz="1200" dirty="0">
              <a:latin typeface="Calibri Light" panose="020F0302020204030204" pitchFamily="34" charset="0"/>
              <a:ea typeface="Calibri" panose="020F0502020204030204" pitchFamily="34" charset="0"/>
            </a:endParaRPr>
          </a:p>
        </p:txBody>
      </p:sp>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a:t>
            </a:r>
            <a:endParaRPr lang="es-PE" sz="20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37DB2688-6524-C98A-9B62-6F58AC03B878}"/>
              </a:ext>
            </a:extLst>
          </p:cNvPr>
          <p:cNvGraphicFramePr>
            <a:graphicFrameLocks noGrp="1"/>
          </p:cNvGraphicFramePr>
          <p:nvPr>
            <p:extLst>
              <p:ext uri="{D42A27DB-BD31-4B8C-83A1-F6EECF244321}">
                <p14:modId xmlns:p14="http://schemas.microsoft.com/office/powerpoint/2010/main" val="3813937151"/>
              </p:ext>
            </p:extLst>
          </p:nvPr>
        </p:nvGraphicFramePr>
        <p:xfrm>
          <a:off x="400050" y="1119283"/>
          <a:ext cx="11221951" cy="5543388"/>
        </p:xfrm>
        <a:graphic>
          <a:graphicData uri="http://schemas.openxmlformats.org/drawingml/2006/table">
            <a:tbl>
              <a:tblPr/>
              <a:tblGrid>
                <a:gridCol w="1146768">
                  <a:extLst>
                    <a:ext uri="{9D8B030D-6E8A-4147-A177-3AD203B41FA5}">
                      <a16:colId xmlns:a16="http://schemas.microsoft.com/office/drawing/2014/main" val="3400960625"/>
                    </a:ext>
                  </a:extLst>
                </a:gridCol>
                <a:gridCol w="1146768">
                  <a:extLst>
                    <a:ext uri="{9D8B030D-6E8A-4147-A177-3AD203B41FA5}">
                      <a16:colId xmlns:a16="http://schemas.microsoft.com/office/drawing/2014/main" val="3194572227"/>
                    </a:ext>
                  </a:extLst>
                </a:gridCol>
                <a:gridCol w="1720152">
                  <a:extLst>
                    <a:ext uri="{9D8B030D-6E8A-4147-A177-3AD203B41FA5}">
                      <a16:colId xmlns:a16="http://schemas.microsoft.com/office/drawing/2014/main" val="1243446838"/>
                    </a:ext>
                  </a:extLst>
                </a:gridCol>
                <a:gridCol w="1682262">
                  <a:extLst>
                    <a:ext uri="{9D8B030D-6E8A-4147-A177-3AD203B41FA5}">
                      <a16:colId xmlns:a16="http://schemas.microsoft.com/office/drawing/2014/main" val="2638841407"/>
                    </a:ext>
                  </a:extLst>
                </a:gridCol>
                <a:gridCol w="5526001">
                  <a:extLst>
                    <a:ext uri="{9D8B030D-6E8A-4147-A177-3AD203B41FA5}">
                      <a16:colId xmlns:a16="http://schemas.microsoft.com/office/drawing/2014/main" val="982931562"/>
                    </a:ext>
                  </a:extLst>
                </a:gridCol>
              </a:tblGrid>
              <a:tr h="150248">
                <a:tc>
                  <a:txBody>
                    <a:bodyPr/>
                    <a:lstStyle/>
                    <a:p>
                      <a:pPr algn="ctr" fontAlgn="b"/>
                      <a:r>
                        <a:rPr lang="es-PE" sz="1000" b="1" i="0" u="none" strike="noStrike">
                          <a:solidFill>
                            <a:srgbClr val="FFFFFF"/>
                          </a:solidFill>
                          <a:effectLst/>
                          <a:latin typeface="Calibri" panose="020F0502020204030204" pitchFamily="34" charset="0"/>
                        </a:rPr>
                        <a:t>DEPENDENCIA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b"/>
                      <a:r>
                        <a:rPr lang="es-PE" sz="1000" b="1" i="0" u="none" strike="noStrike">
                          <a:solidFill>
                            <a:srgbClr val="FFFFFF"/>
                          </a:solidFill>
                          <a:effectLst/>
                          <a:latin typeface="Calibri" panose="020F0502020204030204" pitchFamily="34" charset="0"/>
                        </a:rPr>
                        <a:t>FECHA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s-PE" sz="1000" b="1" i="0" u="none" strike="noStrike">
                          <a:solidFill>
                            <a:srgbClr val="FFFFFF"/>
                          </a:solidFill>
                          <a:effectLst/>
                          <a:latin typeface="Calibri" panose="020F0502020204030204" pitchFamily="34" charset="0"/>
                        </a:rPr>
                        <a:t>RD</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b"/>
                      <a:r>
                        <a:rPr lang="es-PE" sz="1000" b="1" i="0" u="none" strike="noStrike">
                          <a:solidFill>
                            <a:srgbClr val="FFFFFF"/>
                          </a:solidFill>
                          <a:effectLst/>
                          <a:latin typeface="Calibri" panose="020F0502020204030204" pitchFamily="34" charset="0"/>
                        </a:rPr>
                        <a:t>Resultado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b"/>
                      <a:r>
                        <a:rPr lang="es-PE" sz="1000" b="1" i="0" u="none" strike="noStrike">
                          <a:solidFill>
                            <a:srgbClr val="FFFFFF"/>
                          </a:solidFill>
                          <a:effectLst/>
                          <a:latin typeface="Calibri" panose="020F0502020204030204" pitchFamily="34" charset="0"/>
                        </a:rPr>
                        <a:t>Sumilla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extLst>
                  <a:ext uri="{0D108BD9-81ED-4DB2-BD59-A6C34878D82A}">
                    <a16:rowId xmlns:a16="http://schemas.microsoft.com/office/drawing/2014/main" val="2890788885"/>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4090340009848</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NULO: no se analizó  referencias</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263719"/>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4090340010189</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NULO: no se analizó  referencias</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7373773"/>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4090340009751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EN PARTE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EN PARTE: presentó mejores referencias</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6890395"/>
                  </a:ext>
                </a:extLst>
              </a:tr>
              <a:tr h="297132">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4090340009871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Referencia utilizada por la Administración no se encuentra en límite de tolerancia respecto a gramaje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0307391"/>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4090340009991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EN PARTE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Referencia ofrecida es idéntica a la mercancía valorada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6998678"/>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4090340010200</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FUNDADO:Se utiliza como referencia valores en evaluación.</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8503079"/>
                  </a:ext>
                </a:extLst>
              </a:tr>
              <a:tr h="32021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4090340009632</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Presento en etapa de reclamo mensaje Swift que consigna numero de la factura. Ademas requerimos al banco que confirme información, y este la ratificóanco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636550"/>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4090340009667</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Si declaró oportunamente manifestación de acogerse al TPI 805</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0392456"/>
                  </a:ext>
                </a:extLst>
              </a:tr>
              <a:tr h="32021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4090340010071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NULO: IDV no sustenta rechazo de doc contable, asimismo no requirió analisis de idoneidad ni fundamenta rechazo de las referencias del importador.</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8046199"/>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4090340008912</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NULO:el IDV no analiza si la 2da factura corresponde o no a muestras sin valor comercial</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6400012"/>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4090340009710</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NULO: Duplicidad de resolución por el mismo hechoDUPLICIDAD DE RESOLUCIÓN</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4371811"/>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4090340008431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NULO: Notificación incorrecta </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331676"/>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4090340008461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NULO: Notificación incorrecta </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985836"/>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4090340009176</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Se suspendio el plazo para regularar exportación</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9493453"/>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4090340009042</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EN PARTE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EN PARTE: No declarar regimen precedente en la DAM de reembarque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5010571"/>
                  </a:ext>
                </a:extLst>
              </a:tr>
              <a:tr h="444017">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4090340009345</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NULO:Las referencias presentadas por la recurrente dentro del plazo legal con el Expediente N° 118-URD999-2024-179514, no fueron merituadas al momento de emitirse el Informe de Determinación de Valor N.º 118-2024-2618</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939191"/>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4090340010038</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ANULESE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NULO:No se habría incluido en el IDV, la evaluación de expediente presentado en el plazo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210338"/>
                  </a:ext>
                </a:extLst>
              </a:tr>
              <a:tr h="297132">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4090340010345</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DAM legajada por no arribar la mercancía, por tanto no correspondía requeriri acreditar medios de pago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6266869"/>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4090340008400</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Suspensión del plazo por fuerza mayor (bloqueo de carretera)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0112485"/>
                  </a:ext>
                </a:extLst>
              </a:tr>
              <a:tr h="297132">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4090340010264</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El ancho de la referencia utilizado por la Administración se encuentra fuera del margen de tolerancia legal permitido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6435361"/>
                  </a:ext>
                </a:extLst>
              </a:tr>
              <a:tr h="213476">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4090340010101</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Mercancía destinada no era restringuida al momento de númerar DAM</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5212441"/>
                  </a:ext>
                </a:extLst>
              </a:tr>
              <a:tr h="297132">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4090340010102</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FUNDADO: Presenta en el reclamo Acta de Inspección de Senasa que señala que mercancia no es restringuida.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2025110"/>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4090340008528</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NULIDAD</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a:solidFill>
                            <a:srgbClr val="000000"/>
                          </a:solidFill>
                          <a:effectLst/>
                          <a:latin typeface="Calibri" panose="020F0502020204030204" pitchFamily="34" charset="0"/>
                        </a:rPr>
                        <a:t>NULO:No se analizó la totalidad de las series objeto de duda.</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3448202"/>
                  </a:ext>
                </a:extLst>
              </a:tr>
              <a:tr h="150248">
                <a:tc>
                  <a:txBody>
                    <a:bodyPr/>
                    <a:lstStyle/>
                    <a:p>
                      <a:pPr algn="ctr" fontAlgn="ctr"/>
                      <a:r>
                        <a:rPr lang="es-PE" sz="1000" b="0" i="0" u="none" strike="noStrike">
                          <a:solidFill>
                            <a:srgbClr val="000000"/>
                          </a:solidFill>
                          <a:effectLst/>
                          <a:latin typeface="Calibri" panose="020F0502020204030204" pitchFamily="34" charset="0"/>
                        </a:rPr>
                        <a:t>IAMC</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JULIO</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4090340010386</a:t>
                      </a:r>
                    </a:p>
                  </a:txBody>
                  <a:tcPr marL="3489" marR="3489" marT="3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1000" b="0" i="0" u="none" strike="noStrike">
                          <a:solidFill>
                            <a:srgbClr val="000000"/>
                          </a:solidFill>
                          <a:effectLst/>
                          <a:latin typeface="Calibri" panose="020F0502020204030204" pitchFamily="34" charset="0"/>
                        </a:rPr>
                        <a:t>FUNDADO EN PARTE</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000" b="0" i="0" u="none" strike="noStrike" dirty="0">
                          <a:solidFill>
                            <a:srgbClr val="000000"/>
                          </a:solidFill>
                          <a:effectLst/>
                          <a:latin typeface="Calibri" panose="020F0502020204030204" pitchFamily="34" charset="0"/>
                        </a:rPr>
                        <a:t>FUNDADO EN PARTE: presentó mejores referencias</a:t>
                      </a:r>
                    </a:p>
                  </a:txBody>
                  <a:tcPr marL="3489" marR="3489" marT="34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3657785"/>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GAFA-DCCII</a:t>
            </a:r>
            <a:endParaRPr lang="es-PE" sz="20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4E7AF1F1-1DE3-493A-C9E9-2861D3B82581}"/>
              </a:ext>
            </a:extLst>
          </p:cNvPr>
          <p:cNvGraphicFramePr>
            <a:graphicFrameLocks noGrp="1"/>
          </p:cNvGraphicFramePr>
          <p:nvPr>
            <p:extLst>
              <p:ext uri="{D42A27DB-BD31-4B8C-83A1-F6EECF244321}">
                <p14:modId xmlns:p14="http://schemas.microsoft.com/office/powerpoint/2010/main" val="1974154689"/>
              </p:ext>
            </p:extLst>
          </p:nvPr>
        </p:nvGraphicFramePr>
        <p:xfrm>
          <a:off x="1241424" y="1373441"/>
          <a:ext cx="8721725" cy="3944515"/>
        </p:xfrm>
        <a:graphic>
          <a:graphicData uri="http://schemas.openxmlformats.org/drawingml/2006/table">
            <a:tbl>
              <a:tblPr/>
              <a:tblGrid>
                <a:gridCol w="1783646">
                  <a:extLst>
                    <a:ext uri="{9D8B030D-6E8A-4147-A177-3AD203B41FA5}">
                      <a16:colId xmlns:a16="http://schemas.microsoft.com/office/drawing/2014/main" val="872580895"/>
                    </a:ext>
                  </a:extLst>
                </a:gridCol>
                <a:gridCol w="1315061">
                  <a:extLst>
                    <a:ext uri="{9D8B030D-6E8A-4147-A177-3AD203B41FA5}">
                      <a16:colId xmlns:a16="http://schemas.microsoft.com/office/drawing/2014/main" val="51210921"/>
                    </a:ext>
                  </a:extLst>
                </a:gridCol>
                <a:gridCol w="1345292">
                  <a:extLst>
                    <a:ext uri="{9D8B030D-6E8A-4147-A177-3AD203B41FA5}">
                      <a16:colId xmlns:a16="http://schemas.microsoft.com/office/drawing/2014/main" val="3043704446"/>
                    </a:ext>
                  </a:extLst>
                </a:gridCol>
                <a:gridCol w="4277726">
                  <a:extLst>
                    <a:ext uri="{9D8B030D-6E8A-4147-A177-3AD203B41FA5}">
                      <a16:colId xmlns:a16="http://schemas.microsoft.com/office/drawing/2014/main" val="3562103962"/>
                    </a:ext>
                  </a:extLst>
                </a:gridCol>
              </a:tblGrid>
              <a:tr h="217113">
                <a:tc>
                  <a:txBody>
                    <a:bodyPr/>
                    <a:lstStyle/>
                    <a:p>
                      <a:pPr algn="ctr" fontAlgn="b"/>
                      <a:r>
                        <a:rPr lang="es-PE" sz="1400" b="1" i="0" u="none" strike="noStrike">
                          <a:solidFill>
                            <a:srgbClr val="000000"/>
                          </a:solidFill>
                          <a:effectLst/>
                          <a:latin typeface="Calibri" panose="020F0502020204030204" pitchFamily="34" charset="0"/>
                        </a:rPr>
                        <a:t>DEPENDENCIA</a:t>
                      </a:r>
                    </a:p>
                  </a:txBody>
                  <a:tcPr marL="6350" marR="6350" marT="635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MES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N° RD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SUMILLA MOTIVO REVOCA/NULA</a:t>
                      </a:r>
                    </a:p>
                  </a:txBody>
                  <a:tcPr marL="6350" marR="6350" marT="635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3336568665"/>
                  </a:ext>
                </a:extLst>
              </a:tr>
              <a:tr h="677694">
                <a:tc>
                  <a:txBody>
                    <a:bodyPr/>
                    <a:lstStyle/>
                    <a:p>
                      <a:pPr algn="l" fontAlgn="ctr"/>
                      <a:r>
                        <a:rPr lang="es-ES" sz="1400" b="0" i="0" u="none" strike="noStrike">
                          <a:solidFill>
                            <a:srgbClr val="000000"/>
                          </a:solidFill>
                          <a:effectLst/>
                          <a:latin typeface="Calibri" panose="020F0502020204030204" pitchFamily="34" charset="0"/>
                        </a:rPr>
                        <a:t>I.A. Aérea y Postal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Julio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409014008883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Carece de Objeto: Acto materia de impugnación fue revocado de oficio por la UU.OO. emisora.</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8537878"/>
                  </a:ext>
                </a:extLst>
              </a:tr>
              <a:tr h="715343">
                <a:tc>
                  <a:txBody>
                    <a:bodyPr/>
                    <a:lstStyle/>
                    <a:p>
                      <a:pPr algn="l" fontAlgn="ctr"/>
                      <a:r>
                        <a:rPr lang="es-ES" sz="1400" b="0" i="0" u="none" strike="noStrike">
                          <a:solidFill>
                            <a:srgbClr val="000000"/>
                          </a:solidFill>
                          <a:effectLst/>
                          <a:latin typeface="Calibri" panose="020F0502020204030204" pitchFamily="34" charset="0"/>
                        </a:rPr>
                        <a:t>I.A. Aérea y Postal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Julio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40901400896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Nulidad:No se evaluó la totalidad de los documentos ofrecidos, a fin de sustentar la utilización de medios de pago.</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5622248"/>
                  </a:ext>
                </a:extLst>
              </a:tr>
              <a:tr h="1482141">
                <a:tc>
                  <a:txBody>
                    <a:bodyPr/>
                    <a:lstStyle/>
                    <a:p>
                      <a:pPr algn="l" fontAlgn="ctr"/>
                      <a:r>
                        <a:rPr lang="es-PE" sz="1400" b="0" i="0" u="none" strike="noStrike">
                          <a:solidFill>
                            <a:srgbClr val="000000"/>
                          </a:solidFill>
                          <a:effectLst/>
                          <a:latin typeface="Calibri" panose="020F0502020204030204" pitchFamily="34" charset="0"/>
                        </a:rPr>
                        <a:t>I.A. Tacna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Julio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409014008996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No se evidencia que la medida preventiva de  Inmovilización haya sido efectuado producto de una ACE si no del reconocimiento físico no siendo de aplicación el último párrafo del artículo 226 del RLGA; no se advierte una debida motivación que explique por qué consideraron estar frente a una ACE.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7662537"/>
                  </a:ext>
                </a:extLst>
              </a:tr>
              <a:tr h="849627">
                <a:tc>
                  <a:txBody>
                    <a:bodyPr/>
                    <a:lstStyle/>
                    <a:p>
                      <a:pPr algn="l" fontAlgn="ctr"/>
                      <a:r>
                        <a:rPr lang="es-PE" sz="1400" b="0" i="0" u="none" strike="noStrike">
                          <a:solidFill>
                            <a:srgbClr val="000000"/>
                          </a:solidFill>
                          <a:effectLst/>
                          <a:latin typeface="Calibri" panose="020F0502020204030204" pitchFamily="34" charset="0"/>
                        </a:rPr>
                        <a:t>I.A. Paita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Julio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409014009065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400" b="0" i="0" u="none" strike="noStrike" dirty="0">
                          <a:solidFill>
                            <a:srgbClr val="000000"/>
                          </a:solidFill>
                          <a:effectLst/>
                          <a:latin typeface="Calibri" panose="020F0502020204030204" pitchFamily="34" charset="0"/>
                        </a:rPr>
                        <a:t>Nulidad: no se advierte que se haya efectuado un análisis integral de todos los medios de prueba presentados a fin de sustentar la solicitud de devolución.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365603"/>
                  </a:ext>
                </a:extLst>
              </a:tr>
            </a:tbl>
          </a:graphicData>
        </a:graphic>
      </p:graphicFrame>
    </p:spTree>
    <p:extLst>
      <p:ext uri="{BB962C8B-B14F-4D97-AF65-F5344CB8AC3E}">
        <p14:creationId xmlns:p14="http://schemas.microsoft.com/office/powerpoint/2010/main" val="105170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GAFA-DCP</a:t>
            </a:r>
            <a:endParaRPr lang="es-PE" sz="24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E864368C-2C71-4C50-E0B8-DB1B04496AC3}"/>
              </a:ext>
            </a:extLst>
          </p:cNvPr>
          <p:cNvGraphicFramePr>
            <a:graphicFrameLocks noGrp="1"/>
          </p:cNvGraphicFramePr>
          <p:nvPr>
            <p:extLst>
              <p:ext uri="{D42A27DB-BD31-4B8C-83A1-F6EECF244321}">
                <p14:modId xmlns:p14="http://schemas.microsoft.com/office/powerpoint/2010/main" val="3025185247"/>
              </p:ext>
            </p:extLst>
          </p:nvPr>
        </p:nvGraphicFramePr>
        <p:xfrm>
          <a:off x="638319" y="1563422"/>
          <a:ext cx="10983682" cy="3932501"/>
        </p:xfrm>
        <a:graphic>
          <a:graphicData uri="http://schemas.openxmlformats.org/drawingml/2006/table">
            <a:tbl>
              <a:tblPr/>
              <a:tblGrid>
                <a:gridCol w="1470524">
                  <a:extLst>
                    <a:ext uri="{9D8B030D-6E8A-4147-A177-3AD203B41FA5}">
                      <a16:colId xmlns:a16="http://schemas.microsoft.com/office/drawing/2014/main" val="1489868601"/>
                    </a:ext>
                  </a:extLst>
                </a:gridCol>
                <a:gridCol w="723950">
                  <a:extLst>
                    <a:ext uri="{9D8B030D-6E8A-4147-A177-3AD203B41FA5}">
                      <a16:colId xmlns:a16="http://schemas.microsoft.com/office/drawing/2014/main" val="1063002495"/>
                    </a:ext>
                  </a:extLst>
                </a:gridCol>
                <a:gridCol w="1357406">
                  <a:extLst>
                    <a:ext uri="{9D8B030D-6E8A-4147-A177-3AD203B41FA5}">
                      <a16:colId xmlns:a16="http://schemas.microsoft.com/office/drawing/2014/main" val="3294158100"/>
                    </a:ext>
                  </a:extLst>
                </a:gridCol>
                <a:gridCol w="7431802">
                  <a:extLst>
                    <a:ext uri="{9D8B030D-6E8A-4147-A177-3AD203B41FA5}">
                      <a16:colId xmlns:a16="http://schemas.microsoft.com/office/drawing/2014/main" val="878107653"/>
                    </a:ext>
                  </a:extLst>
                </a:gridCol>
              </a:tblGrid>
              <a:tr h="307178">
                <a:tc>
                  <a:txBody>
                    <a:bodyPr/>
                    <a:lstStyle/>
                    <a:p>
                      <a:pPr algn="ctr" fontAlgn="b"/>
                      <a:r>
                        <a:rPr lang="es-PE" sz="1400" b="1" i="0" u="none" strike="noStrike" dirty="0">
                          <a:solidFill>
                            <a:srgbClr val="000000"/>
                          </a:solidFill>
                          <a:effectLst/>
                          <a:latin typeface="Calibri" panose="020F0502020204030204" pitchFamily="34" charset="0"/>
                        </a:rPr>
                        <a:t>DEPENDENCIA</a:t>
                      </a:r>
                    </a:p>
                  </a:txBody>
                  <a:tcPr marL="5415" marR="5415" marT="54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s-PE" sz="1400" b="1" i="0" u="none" strike="noStrike">
                          <a:solidFill>
                            <a:srgbClr val="000000"/>
                          </a:solidFill>
                          <a:effectLst/>
                          <a:latin typeface="Calibri" panose="020F0502020204030204" pitchFamily="34" charset="0"/>
                        </a:rPr>
                        <a:t>MES</a:t>
                      </a:r>
                    </a:p>
                  </a:txBody>
                  <a:tcPr marL="5415" marR="5415" marT="54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s-PE" sz="1400" b="1" i="0" u="none" strike="noStrike" dirty="0" err="1">
                          <a:solidFill>
                            <a:srgbClr val="000000"/>
                          </a:solidFill>
                          <a:effectLst/>
                          <a:latin typeface="Calibri" panose="020F0502020204030204" pitchFamily="34" charset="0"/>
                        </a:rPr>
                        <a:t>N°</a:t>
                      </a:r>
                      <a:r>
                        <a:rPr lang="es-PE" sz="1400" b="1" i="0" u="none" strike="noStrike" dirty="0">
                          <a:solidFill>
                            <a:srgbClr val="000000"/>
                          </a:solidFill>
                          <a:effectLst/>
                          <a:latin typeface="Calibri" panose="020F0502020204030204" pitchFamily="34" charset="0"/>
                        </a:rPr>
                        <a:t> RI</a:t>
                      </a:r>
                    </a:p>
                  </a:txBody>
                  <a:tcPr marL="5415" marR="5415" marT="541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s-PE" sz="1400" b="1" i="0" u="none" strike="noStrike" dirty="0">
                          <a:solidFill>
                            <a:srgbClr val="000000"/>
                          </a:solidFill>
                          <a:effectLst/>
                          <a:latin typeface="Calibri" panose="020F0502020204030204" pitchFamily="34" charset="0"/>
                        </a:rPr>
                        <a:t>SUMILLA MOTIVO REVOCA/NULA</a:t>
                      </a:r>
                    </a:p>
                  </a:txBody>
                  <a:tcPr marL="5415" marR="5415" marT="54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615578947"/>
                  </a:ext>
                </a:extLst>
              </a:tr>
              <a:tr h="906330">
                <a:tc>
                  <a:txBody>
                    <a:bodyPr/>
                    <a:lstStyle/>
                    <a:p>
                      <a:pPr algn="l" fontAlgn="ctr"/>
                      <a:r>
                        <a:rPr lang="es-PE" sz="1400" b="0" i="0" u="none" strike="noStrike" dirty="0">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Junio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4090140008758</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400" b="0" i="0" u="none" strike="noStrike">
                          <a:solidFill>
                            <a:srgbClr val="000000"/>
                          </a:solidFill>
                          <a:effectLst/>
                          <a:latin typeface="Calibri" panose="020F0502020204030204" pitchFamily="34" charset="0"/>
                        </a:rPr>
                        <a:t>Se declara fundado en parte el reclamo en el extremo que prescribio la facultad de SUNAT para aplicar multas en relación a los Certificados de Reposición de Mercancía expedidos en el año 2018.</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258362"/>
                  </a:ext>
                </a:extLst>
              </a:tr>
              <a:tr h="606755">
                <a:tc>
                  <a:txBody>
                    <a:bodyPr/>
                    <a:lstStyle/>
                    <a:p>
                      <a:pPr algn="l" fontAlgn="ctr"/>
                      <a:r>
                        <a:rPr lang="es-PE" sz="1400" b="0" i="0" u="none" strike="noStrike">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Junio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4090140008595</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1400" b="0" i="0" u="none" strike="noStrike" dirty="0">
                          <a:solidFill>
                            <a:srgbClr val="000000"/>
                          </a:solidFill>
                          <a:effectLst/>
                          <a:latin typeface="Calibri" panose="020F0502020204030204" pitchFamily="34" charset="0"/>
                        </a:rPr>
                        <a:t>Se declara fundado en parte al verificarse que empresa se acogió correctamente al régimen de gradualidad para el pago de multas.</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7098671"/>
                  </a:ext>
                </a:extLst>
              </a:tr>
              <a:tr h="1505483">
                <a:tc>
                  <a:txBody>
                    <a:bodyPr/>
                    <a:lstStyle/>
                    <a:p>
                      <a:pPr algn="l" fontAlgn="ctr"/>
                      <a:r>
                        <a:rPr lang="es-PE" sz="1400" b="0" i="0" u="none" strike="noStrike">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Junio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1400" b="0" i="0" u="none" strike="noStrike">
                          <a:solidFill>
                            <a:srgbClr val="000000"/>
                          </a:solidFill>
                          <a:effectLst/>
                          <a:latin typeface="Calibri" panose="020F0502020204030204" pitchFamily="34" charset="0"/>
                        </a:rPr>
                        <a:t>4090140008504</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400" b="0" i="0" u="none" strike="noStrike" dirty="0">
                          <a:solidFill>
                            <a:srgbClr val="000000"/>
                          </a:solidFill>
                          <a:effectLst/>
                          <a:latin typeface="Calibri" panose="020F0502020204030204" pitchFamily="34" charset="0"/>
                        </a:rPr>
                        <a:t>Se declara nula la sanción impuesta considerando que se sanción por el mismo hecho a la empresa; la primera sanción fue aplicada con Resolución de Multa </a:t>
                      </a:r>
                      <a:r>
                        <a:rPr lang="es-ES" sz="1400" b="0" i="0" u="none" strike="noStrike" dirty="0" err="1">
                          <a:solidFill>
                            <a:srgbClr val="000000"/>
                          </a:solidFill>
                          <a:effectLst/>
                          <a:latin typeface="Calibri" panose="020F0502020204030204" pitchFamily="34" charset="0"/>
                        </a:rPr>
                        <a:t>N°</a:t>
                      </a:r>
                      <a:r>
                        <a:rPr lang="es-ES" sz="1400" b="0" i="0" u="none" strike="noStrike" dirty="0">
                          <a:solidFill>
                            <a:srgbClr val="000000"/>
                          </a:solidFill>
                          <a:effectLst/>
                          <a:latin typeface="Calibri" panose="020F0502020204030204" pitchFamily="34" charset="0"/>
                        </a:rPr>
                        <a:t> 8720020003969 de fecha 18.04.2024 notificada el 19.04.2024 (emitida por la IAT); y la segunda sanción fue impuesta con  Resolución de Multa </a:t>
                      </a:r>
                      <a:r>
                        <a:rPr lang="es-ES" sz="1400" b="0" i="0" u="none" strike="noStrike" dirty="0" err="1">
                          <a:solidFill>
                            <a:srgbClr val="000000"/>
                          </a:solidFill>
                          <a:effectLst/>
                          <a:latin typeface="Calibri" panose="020F0502020204030204" pitchFamily="34" charset="0"/>
                        </a:rPr>
                        <a:t>N°</a:t>
                      </a:r>
                      <a:r>
                        <a:rPr lang="es-ES" sz="1400" b="0" i="0" u="none" strike="noStrike" dirty="0">
                          <a:solidFill>
                            <a:srgbClr val="000000"/>
                          </a:solidFill>
                          <a:effectLst/>
                          <a:latin typeface="Calibri" panose="020F0502020204030204" pitchFamily="34" charset="0"/>
                        </a:rPr>
                        <a:t> 8000020021378 de fecha 24.04.2024, notificada el 25.04.2024. (emitida por la INCA).</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8016531"/>
                  </a:ext>
                </a:extLst>
              </a:tr>
              <a:tr h="606755">
                <a:tc>
                  <a:txBody>
                    <a:bodyPr/>
                    <a:lstStyle/>
                    <a:p>
                      <a:pPr algn="l" fontAlgn="ctr"/>
                      <a:r>
                        <a:rPr lang="es-PE" sz="1400" b="0" i="0" u="none" strike="noStrike">
                          <a:solidFill>
                            <a:srgbClr val="000000"/>
                          </a:solidFill>
                          <a:effectLst/>
                          <a:latin typeface="Calibri" panose="020F0502020204030204" pitchFamily="34" charset="0"/>
                        </a:rPr>
                        <a:t>SEDE CENTRAL - CHUCUITO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Junio</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1400" b="0" i="0" u="none" strike="noStrike">
                          <a:solidFill>
                            <a:srgbClr val="000000"/>
                          </a:solidFill>
                          <a:effectLst/>
                          <a:latin typeface="Calibri" panose="020F0502020204030204" pitchFamily="34" charset="0"/>
                        </a:rPr>
                        <a:t>4090140008794</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1400" b="0" i="0" u="none" strike="noStrike" dirty="0">
                          <a:solidFill>
                            <a:srgbClr val="000000"/>
                          </a:solidFill>
                          <a:effectLst/>
                          <a:latin typeface="Calibri" panose="020F0502020204030204" pitchFamily="34" charset="0"/>
                        </a:rPr>
                        <a:t>Se declara fundado en parte el reclamo al </a:t>
                      </a:r>
                      <a:r>
                        <a:rPr lang="es-ES" sz="1400" b="0" i="0" u="none" strike="noStrike" dirty="0" err="1">
                          <a:solidFill>
                            <a:srgbClr val="000000"/>
                          </a:solidFill>
                          <a:effectLst/>
                          <a:latin typeface="Calibri" panose="020F0502020204030204" pitchFamily="34" charset="0"/>
                        </a:rPr>
                        <a:t>veificarse</a:t>
                      </a:r>
                      <a:r>
                        <a:rPr lang="es-ES" sz="1400" b="0" i="0" u="none" strike="noStrike" dirty="0">
                          <a:solidFill>
                            <a:srgbClr val="000000"/>
                          </a:solidFill>
                          <a:effectLst/>
                          <a:latin typeface="Calibri" panose="020F0502020204030204" pitchFamily="34" charset="0"/>
                        </a:rPr>
                        <a:t> que facultad para </a:t>
                      </a:r>
                      <a:r>
                        <a:rPr lang="es-ES" sz="1400" b="0" i="0" u="none" strike="noStrike" dirty="0" err="1">
                          <a:solidFill>
                            <a:srgbClr val="000000"/>
                          </a:solidFill>
                          <a:effectLst/>
                          <a:latin typeface="Calibri" panose="020F0502020204030204" pitchFamily="34" charset="0"/>
                        </a:rPr>
                        <a:t>solictar</a:t>
                      </a:r>
                      <a:r>
                        <a:rPr lang="es-ES" sz="1400" b="0" i="0" u="none" strike="noStrike" dirty="0">
                          <a:solidFill>
                            <a:srgbClr val="000000"/>
                          </a:solidFill>
                          <a:effectLst/>
                          <a:latin typeface="Calibri" panose="020F0502020204030204" pitchFamily="34" charset="0"/>
                        </a:rPr>
                        <a:t> la devolución de lo pagado indebidamente no ha prescrito. </a:t>
                      </a:r>
                    </a:p>
                  </a:txBody>
                  <a:tcPr marL="5415" marR="5415" marT="54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6647488"/>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1473467996"/>
              </p:ext>
            </p:extLst>
          </p:nvPr>
        </p:nvGraphicFramePr>
        <p:xfrm>
          <a:off x="4163023" y="4618231"/>
          <a:ext cx="3048000" cy="1927758"/>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400" b="1" u="none" strike="noStrike" dirty="0">
                          <a:solidFill>
                            <a:sysClr val="windowText" lastClr="000000"/>
                          </a:solidFill>
                          <a:effectLst/>
                        </a:rPr>
                        <a:t>ESTADO</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Total</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Porcentaje</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600" b="1" u="none" strike="noStrike">
                          <a:solidFill>
                            <a:srgbClr val="000000"/>
                          </a:solidFill>
                          <a:effectLst/>
                        </a:rPr>
                        <a:t>Infundado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4740</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87.24%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600" b="1" u="none" strike="noStrike">
                          <a:solidFill>
                            <a:srgbClr val="000000"/>
                          </a:solidFill>
                          <a:effectLst/>
                        </a:rPr>
                        <a:t>Fundado/F.P</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211</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3.88%</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600" b="1" u="none" strike="noStrike">
                          <a:solidFill>
                            <a:srgbClr val="000000"/>
                          </a:solidFill>
                          <a:effectLst/>
                        </a:rPr>
                        <a:t>Nulidad</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404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7.44%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600" b="1" u="none" strike="noStrike">
                          <a:solidFill>
                            <a:srgbClr val="000000"/>
                          </a:solidFill>
                          <a:effectLst/>
                        </a:rPr>
                        <a:t>Improcedente</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dirty="0">
                          <a:solidFill>
                            <a:srgbClr val="000000"/>
                          </a:solidFill>
                          <a:effectLst/>
                        </a:rPr>
                        <a:t>8</a:t>
                      </a:r>
                      <a:endParaRPr lang="es-PE" sz="1400" b="1" i="0" u="none" strike="noStrike" dirty="0">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0.15%</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600" b="1" u="none" strike="noStrike">
                          <a:solidFill>
                            <a:srgbClr val="000000"/>
                          </a:solidFill>
                          <a:effectLst/>
                        </a:rPr>
                        <a:t>Desistimiento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0.07%</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600" b="1" u="none" strike="noStrike">
                          <a:solidFill>
                            <a:srgbClr val="000000"/>
                          </a:solidFill>
                          <a:effectLst/>
                        </a:rPr>
                        <a:t>Otros</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66</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1.21%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400" b="1" u="none" strike="noStrike">
                          <a:solidFill>
                            <a:srgbClr val="000000"/>
                          </a:solidFill>
                          <a:effectLst/>
                        </a:rPr>
                        <a:t>Total</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5433</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dirty="0">
                          <a:solidFill>
                            <a:srgbClr val="000000"/>
                          </a:solidFill>
                          <a:effectLst/>
                        </a:rPr>
                        <a:t>100.00%</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3" name="Gráfico 2">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3065671661"/>
              </p:ext>
            </p:extLst>
          </p:nvPr>
        </p:nvGraphicFramePr>
        <p:xfrm>
          <a:off x="355440" y="1073254"/>
          <a:ext cx="10601325" cy="312473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Tabla 3">
            <a:extLst>
              <a:ext uri="{FF2B5EF4-FFF2-40B4-BE49-F238E27FC236}">
                <a16:creationId xmlns:a16="http://schemas.microsoft.com/office/drawing/2014/main" id="{761B3353-E849-8C1C-C8DD-49B95E33F69F}"/>
              </a:ext>
            </a:extLst>
          </p:cNvPr>
          <p:cNvGraphicFramePr>
            <a:graphicFrameLocks noGrp="1"/>
          </p:cNvGraphicFramePr>
          <p:nvPr>
            <p:extLst>
              <p:ext uri="{D42A27DB-BD31-4B8C-83A1-F6EECF244321}">
                <p14:modId xmlns:p14="http://schemas.microsoft.com/office/powerpoint/2010/main" val="3341512568"/>
              </p:ext>
            </p:extLst>
          </p:nvPr>
        </p:nvGraphicFramePr>
        <p:xfrm>
          <a:off x="4387530" y="4388643"/>
          <a:ext cx="2537143" cy="2045179"/>
        </p:xfrm>
        <a:graphic>
          <a:graphicData uri="http://schemas.openxmlformats.org/drawingml/2006/table">
            <a:tbl>
              <a:tblPr firstRow="1" firstCol="1" bandRow="1"/>
              <a:tblGrid>
                <a:gridCol w="850867">
                  <a:extLst>
                    <a:ext uri="{9D8B030D-6E8A-4147-A177-3AD203B41FA5}">
                      <a16:colId xmlns:a16="http://schemas.microsoft.com/office/drawing/2014/main" val="1533243338"/>
                    </a:ext>
                  </a:extLst>
                </a:gridCol>
                <a:gridCol w="843138">
                  <a:extLst>
                    <a:ext uri="{9D8B030D-6E8A-4147-A177-3AD203B41FA5}">
                      <a16:colId xmlns:a16="http://schemas.microsoft.com/office/drawing/2014/main" val="2569006899"/>
                    </a:ext>
                  </a:extLst>
                </a:gridCol>
                <a:gridCol w="843138">
                  <a:extLst>
                    <a:ext uri="{9D8B030D-6E8A-4147-A177-3AD203B41FA5}">
                      <a16:colId xmlns:a16="http://schemas.microsoft.com/office/drawing/2014/main" val="4003768705"/>
                    </a:ext>
                  </a:extLst>
                </a:gridCol>
              </a:tblGrid>
              <a:tr h="370914">
                <a:tc>
                  <a:txBody>
                    <a:bodyPr/>
                    <a:lstStyle/>
                    <a:p>
                      <a:pPr algn="ctr"/>
                      <a:r>
                        <a:rPr lang="es-PE" sz="1050" b="1" dirty="0">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Porcentaje</a:t>
                      </a:r>
                      <a:endParaRPr lang="es-PE"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3298141179"/>
                  </a:ext>
                </a:extLst>
              </a:tr>
              <a:tr h="18674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2234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88.37%</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243294969"/>
                  </a:ext>
                </a:extLst>
              </a:tr>
              <a:tr h="30909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85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3.36%</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949489926"/>
                  </a:ext>
                </a:extLst>
              </a:tr>
              <a:tr h="18674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182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7.20%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988059167"/>
                  </a:ext>
                </a:extLst>
              </a:tr>
              <a:tr h="30909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0.08%</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35124132"/>
                  </a:ext>
                </a:extLst>
              </a:tr>
              <a:tr h="30909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390263882"/>
                  </a:ext>
                </a:extLst>
              </a:tr>
              <a:tr h="18674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0.95%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212300212"/>
                  </a:ext>
                </a:extLst>
              </a:tr>
              <a:tr h="186745">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2528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100.00%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614385390"/>
                  </a:ext>
                </a:extLst>
              </a:tr>
            </a:tbl>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DESAFIOS/PROPUESTAS </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231332822"/>
              </p:ext>
            </p:extLst>
          </p:nvPr>
        </p:nvGraphicFramePr>
        <p:xfrm>
          <a:off x="338927" y="788611"/>
          <a:ext cx="11514146" cy="6341469"/>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32712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INDICADOR PNC - TLT 6 MESES – META 98%. Revisión de ficha 2024 e Indicadores internos complementarios.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Reunión semanal de coordinación y control de gestión GAFA-DAP-GENGI </a:t>
                      </a:r>
                      <a:r>
                        <a:rPr lang="es-ES" sz="1200" dirty="0" err="1">
                          <a:solidFill>
                            <a:srgbClr val="000000"/>
                          </a:solidFill>
                          <a:effectLst/>
                          <a:latin typeface="Calibri" panose="020F0502020204030204" pitchFamily="34" charset="0"/>
                          <a:ea typeface="Calibri" panose="020F0502020204030204" pitchFamily="34" charset="0"/>
                        </a:rPr>
                        <a:t>ica</a:t>
                      </a:r>
                      <a:r>
                        <a:rPr lang="es-ES"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TLT 125 días y TLT 58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p>
                    <a:p>
                      <a:r>
                        <a:rPr lang="es-ES" sz="1200" b="1" dirty="0">
                          <a:solidFill>
                            <a:srgbClr val="000000"/>
                          </a:solidFill>
                          <a:effectLst/>
                          <a:latin typeface="Calibri" panose="020F0502020204030204" pitchFamily="34" charset="0"/>
                          <a:ea typeface="Calibri" panose="020F0502020204030204" pitchFamily="34" charset="0"/>
                        </a:rPr>
                        <a:t>Vencimiento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r>
                        <a:rPr lang="es-ES" sz="1200" dirty="0">
                          <a:solidFill>
                            <a:srgbClr val="000000"/>
                          </a:solidFill>
                          <a:effectLst/>
                          <a:latin typeface="Calibri" panose="020F0502020204030204" pitchFamily="34" charset="0"/>
                          <a:ea typeface="Calibri" panose="020F0502020204030204" pitchFamily="34" charset="0"/>
                        </a:rPr>
                        <a:t>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Registro manual de data de reclamos, LC actualización y remisión de actuados. DCP retroalimentación INCA.  PASIVO TF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Marzo </a:t>
                      </a:r>
                    </a:p>
                    <a:p>
                      <a:r>
                        <a:rPr lang="es-ES" sz="1200" dirty="0">
                          <a:solidFill>
                            <a:srgbClr val="000000"/>
                          </a:solidFill>
                          <a:effectLst/>
                          <a:latin typeface="Calibri" panose="020F0502020204030204" pitchFamily="34" charset="0"/>
                          <a:ea typeface="Calibri" panose="020F0502020204030204" pitchFamily="34" charset="0"/>
                        </a:rPr>
                        <a:t>DCCI-DCCII-DCP: retroalimentación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to</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(F/N)</a:t>
                      </a:r>
                    </a:p>
                    <a:p>
                      <a:r>
                        <a:rPr lang="es-ES" sz="1200" dirty="0">
                          <a:solidFill>
                            <a:srgbClr val="000000"/>
                          </a:solidFill>
                          <a:effectLst/>
                          <a:latin typeface="Calibri" panose="020F0502020204030204" pitchFamily="34" charset="0"/>
                          <a:ea typeface="Calibri" panose="020F0502020204030204" pitchFamily="34" charset="0"/>
                        </a:rPr>
                        <a:t>Abril</a:t>
                      </a:r>
                    </a:p>
                    <a:p>
                      <a:r>
                        <a:rPr lang="es-ES" sz="1200" dirty="0">
                          <a:solidFill>
                            <a:srgbClr val="000000"/>
                          </a:solidFill>
                          <a:effectLst/>
                          <a:latin typeface="Calibri" panose="020F0502020204030204" pitchFamily="34" charset="0"/>
                          <a:ea typeface="Calibri" panose="020F0502020204030204" pitchFamily="34" charset="0"/>
                        </a:rPr>
                        <a:t>DCCI – oportunidad de mejora 11 personas.</a:t>
                      </a:r>
                    </a:p>
                    <a:p>
                      <a:endParaRPr lang="es-ES" sz="1200" dirty="0">
                        <a:solidFill>
                          <a:srgbClr val="000000"/>
                        </a:solidFill>
                        <a:effectLst/>
                        <a:latin typeface="Calibri" panose="020F0502020204030204" pitchFamily="34" charset="0"/>
                        <a:ea typeface="Calibri" panose="020F0502020204030204" pitchFamily="34" charset="0"/>
                      </a:endParaRPr>
                    </a:p>
                    <a:p>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Mejorar resultados y retroalimentación interna en fondo y en  Admisibilidad, a la IAMC, a las IAAP y Aduanas de provincia, y la INCA.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Control de Gestión para mejora del proceso de recursos impugnatorios: </a:t>
                      </a:r>
                    </a:p>
                    <a:p>
                      <a:r>
                        <a:rPr lang="es-PE" sz="1200" b="1" dirty="0">
                          <a:solidFill>
                            <a:schemeClr val="bg1"/>
                          </a:solidFill>
                          <a:effectLst/>
                          <a:latin typeface="Calibri" panose="020F0502020204030204" pitchFamily="34" charset="0"/>
                          <a:ea typeface="Calibri" panose="020F0502020204030204" pitchFamily="34" charset="0"/>
                        </a:rPr>
                        <a:t>Reunión con supervisores – Trimestral </a:t>
                      </a:r>
                    </a:p>
                    <a:p>
                      <a:r>
                        <a:rPr lang="es-PE" sz="1200" b="1" dirty="0">
                          <a:solidFill>
                            <a:schemeClr val="bg1"/>
                          </a:solidFill>
                          <a:effectLst/>
                          <a:latin typeface="Calibri" panose="020F0502020204030204" pitchFamily="34" charset="0"/>
                          <a:ea typeface="Calibri" panose="020F0502020204030204" pitchFamily="34" charset="0"/>
                        </a:rPr>
                        <a:t>Reunión con jefaturas – mensual </a:t>
                      </a:r>
                    </a:p>
                    <a:p>
                      <a:r>
                        <a:rPr lang="es-PE" sz="1200" b="1" dirty="0">
                          <a:solidFill>
                            <a:schemeClr val="bg1"/>
                          </a:solidFill>
                          <a:effectLst/>
                          <a:latin typeface="Calibri" panose="020F0502020204030204" pitchFamily="34" charset="0"/>
                          <a:ea typeface="Calibri" panose="020F0502020204030204" pitchFamily="34" charset="0"/>
                        </a:rPr>
                        <a:t>Reunión con S5 – semanal</a:t>
                      </a:r>
                    </a:p>
                    <a:p>
                      <a:r>
                        <a:rPr lang="es-PE" sz="1200" b="1" dirty="0">
                          <a:solidFill>
                            <a:schemeClr val="bg1"/>
                          </a:solidFill>
                          <a:effectLst/>
                          <a:latin typeface="Calibri" panose="020F0502020204030204" pitchFamily="34" charset="0"/>
                          <a:ea typeface="Calibri" panose="020F0502020204030204" pitchFamily="34" charset="0"/>
                        </a:rPr>
                        <a:t>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2024 </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del flujo de los recursos impugnatorios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605712">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a:t>
                      </a:r>
                    </a:p>
                    <a:p>
                      <a:r>
                        <a:rPr lang="es-PE" sz="1200" b="1" dirty="0">
                          <a:solidFill>
                            <a:schemeClr val="bg1"/>
                          </a:solidFill>
                          <a:effectLst/>
                          <a:latin typeface="Calibri" panose="020F0502020204030204" pitchFamily="34" charset="0"/>
                          <a:ea typeface="Calibri" panose="020F0502020204030204" pitchFamily="34" charset="0"/>
                        </a:rPr>
                        <a:t>Pasivo admisibilidad  13 casos del 2023 (77). DCCI 25 y DCCII 8. </a:t>
                      </a:r>
                    </a:p>
                    <a:p>
                      <a:r>
                        <a:rPr lang="es-PE" sz="1200" b="1" dirty="0">
                          <a:solidFill>
                            <a:schemeClr val="bg1"/>
                          </a:solidFill>
                          <a:effectLst/>
                          <a:latin typeface="Calibri" panose="020F0502020204030204" pitchFamily="34" charset="0"/>
                          <a:ea typeface="Calibri" panose="020F0502020204030204" pitchFamily="34" charset="0"/>
                        </a:rPr>
                        <a:t>BANDEJA DE INGRESADOS 5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SIGED y Memo interno.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150116">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Primera etapa </a:t>
                      </a:r>
                      <a:r>
                        <a:rPr lang="es-PE" sz="1200" dirty="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p>
                    <a:p>
                      <a:r>
                        <a:rPr lang="es-PE" sz="1200" dirty="0">
                          <a:solidFill>
                            <a:srgbClr val="000000"/>
                          </a:solidFill>
                          <a:effectLst/>
                          <a:latin typeface="Calibri" panose="020F0502020204030204" pitchFamily="34" charset="0"/>
                          <a:ea typeface="Calibri" panose="020F0502020204030204" pitchFamily="34" charset="0"/>
                        </a:rPr>
                        <a:t>Validación con GENGI ( </a:t>
                      </a:r>
                      <a:r>
                        <a:rPr lang="es-PE" sz="1200" dirty="0" err="1">
                          <a:solidFill>
                            <a:srgbClr val="000000"/>
                          </a:solidFill>
                          <a:effectLst/>
                          <a:latin typeface="Calibri" panose="020F0502020204030204" pitchFamily="34" charset="0"/>
                          <a:ea typeface="Calibri" panose="020F0502020204030204" pitchFamily="34" charset="0"/>
                        </a:rPr>
                        <a:t>CPf</a:t>
                      </a:r>
                      <a:r>
                        <a:rPr lang="es-PE" sz="1200" dirty="0">
                          <a:solidFill>
                            <a:srgbClr val="000000"/>
                          </a:solidFill>
                          <a:effectLst/>
                          <a:latin typeface="Calibri" panose="020F0502020204030204" pitchFamily="34" charset="0"/>
                          <a:ea typeface="Calibri" panose="020F0502020204030204" pitchFamily="34" charset="0"/>
                        </a:rPr>
                        <a:t>)</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revisión de GENGI. Unificar criterio.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806028">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reclamos: falta flujo, falta de remisión oportuna y derivación tardía de expedientes.  </a:t>
                      </a:r>
                    </a:p>
                    <a:p>
                      <a:r>
                        <a:rPr lang="es-PE" sz="1200" b="1" dirty="0">
                          <a:solidFill>
                            <a:schemeClr val="bg1"/>
                          </a:solidFill>
                          <a:effectLst/>
                          <a:latin typeface="Calibri" panose="020F0502020204030204" pitchFamily="34" charset="0"/>
                          <a:ea typeface="Calibri" panose="020F0502020204030204" pitchFamily="34" charset="0"/>
                        </a:rPr>
                        <a:t>Actuados físicos apelaciones: pasivo por coordinar FONDO-ADM. Conformación</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Coordinación con IAMC. </a:t>
                      </a:r>
                      <a:r>
                        <a:rPr lang="es-PE" sz="1200" dirty="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706883"/>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gestión – NETO TLT (125) OEA (3 meses) y fictas (2 meses). BRUTO – reportado o contrastado por fondo). Reporte NETO: </a:t>
            </a:r>
            <a:r>
              <a:rPr lang="es-PE" sz="2000" dirty="0">
                <a:latin typeface="Arial" panose="020B0604020202020204" pitchFamily="34" charset="0"/>
                <a:ea typeface="Calibri" panose="020F0502020204030204" pitchFamily="34" charset="0"/>
                <a:cs typeface="Arial" panose="020B0604020202020204" pitchFamily="34" charset="0"/>
              </a:rPr>
              <a:t>F</a:t>
            </a:r>
            <a:r>
              <a:rPr lang="es-PE" sz="2000" dirty="0">
                <a:effectLst/>
                <a:latin typeface="Arial" panose="020B0604020202020204" pitchFamily="34" charset="0"/>
                <a:ea typeface="Calibri" panose="020F0502020204030204" pitchFamily="34" charset="0"/>
                <a:cs typeface="Arial" panose="020B0604020202020204" pitchFamily="34" charset="0"/>
              </a:rPr>
              <a:t>ondo y Admisibilidad.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Registro de montos de los reclamos y resultado de los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el resultado de reclamo en el módulo de LC – DCCII.</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Distribución</a:t>
            </a:r>
            <a:r>
              <a:rPr lang="es-PE" sz="2000" dirty="0">
                <a:latin typeface="Arial" panose="020B0604020202020204" pitchFamily="34" charset="0"/>
                <a:ea typeface="Calibri" panose="020F0502020204030204" pitchFamily="34" charset="0"/>
                <a:cs typeface="Arial" panose="020B0604020202020204" pitchFamily="34" charset="0"/>
              </a:rPr>
              <a:t>. Copia a las </a:t>
            </a:r>
            <a:r>
              <a:rPr lang="es-PE" sz="2000" dirty="0">
                <a:latin typeface="Arial" panose="020B0604020202020204" pitchFamily="34" charset="0"/>
                <a:cs typeface="Arial" panose="020B0604020202020204" pitchFamily="34" charset="0"/>
              </a:rPr>
              <a:t>partes involucradas cuando ha sido revertido, admisibilidad errada, baja de expedientes y no permite derivar a las áreas generadoras (control manual). </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 IMPLEMENTADO.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 IMPLEMENTADO CON ERROR (resolvió y sigue)</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6FCF348-1995-4AB2-8EA6-F7891B3F4BF8}"/>
</file>

<file path=customXml/itemProps2.xml><?xml version="1.0" encoding="utf-8"?>
<ds:datastoreItem xmlns:ds="http://schemas.openxmlformats.org/officeDocument/2006/customXml" ds:itemID="{FD26FEB6-54A7-4652-8E0D-0E4740CF66C0}"/>
</file>

<file path=customXml/itemProps3.xml><?xml version="1.0" encoding="utf-8"?>
<ds:datastoreItem xmlns:ds="http://schemas.openxmlformats.org/officeDocument/2006/customXml" ds:itemID="{50C09B13-C906-4DA9-8348-F47E1CD1FE0C}"/>
</file>

<file path=docProps/app.xml><?xml version="1.0" encoding="utf-8"?>
<Properties xmlns="http://schemas.openxmlformats.org/officeDocument/2006/extended-properties" xmlns:vt="http://schemas.openxmlformats.org/officeDocument/2006/docPropsVTypes">
  <TotalTime>25725</TotalTime>
  <Words>3421</Words>
  <Application>Microsoft Office PowerPoint</Application>
  <PresentationFormat>Panorámica</PresentationFormat>
  <Paragraphs>1557</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Calibri Light</vt:lpstr>
      <vt:lpstr>Times New Roman</vt:lpstr>
      <vt:lpstr>Tema de Office</vt:lpstr>
      <vt:lpstr>Presentación de PowerPoint</vt:lpstr>
      <vt:lpstr>INGRESOS Y SALIDAS DE RECLAMACIONES 2019-2024*</vt:lpstr>
      <vt:lpstr>STOCK DE DOCUMENTOS– 2024</vt:lpstr>
      <vt:lpstr>PRODUCTIVIDAD RECLAMOS – 2022 - 2024</vt:lpstr>
      <vt:lpstr>PRODUCTIVIDAD MARZO 2024</vt:lpstr>
      <vt:lpstr>PROGRAMACIÓN Y PRODUCCIÓN–2023-2024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REPORTADOS–2024</vt:lpstr>
      <vt:lpstr>RESULTADOS DE RECLAMO - 2024 </vt:lpstr>
      <vt:lpstr>SUMILLAS DE NULIDADES DECLARADAS POR LA GAFA-DCCI</vt:lpstr>
      <vt:lpstr>SUMILLAS DE NULIDADES DECLARADAS POR LA GAFA-DCCII</vt:lpstr>
      <vt:lpstr>SUMILLAS DE NULIDADES DECLARADAS POR LA GAFA-DCP</vt:lpstr>
      <vt:lpstr>OPORTUNIDAD DE MEJORA </vt:lpstr>
      <vt:lpstr>OPORTUNIDAD DE MEJORA </vt:lpstr>
      <vt:lpstr>DESAFIOS/PROPUESTAS </vt:lpstr>
      <vt:lpstr>REQUERIMIENTO: REPORTES DE GESTIÓN</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730</cp:revision>
  <cp:lastPrinted>2023-01-10T23:55:26Z</cp:lastPrinted>
  <dcterms:created xsi:type="dcterms:W3CDTF">2022-11-02T14:55:38Z</dcterms:created>
  <dcterms:modified xsi:type="dcterms:W3CDTF">2024-08-07T22:14:42Z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