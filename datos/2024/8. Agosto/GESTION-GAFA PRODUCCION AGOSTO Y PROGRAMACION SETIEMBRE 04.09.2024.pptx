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20.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8"/>
  </p:notesMasterIdLst>
  <p:sldIdLst>
    <p:sldId id="5744" r:id="rId5"/>
    <p:sldId id="5395" r:id="rId6"/>
    <p:sldId id="5762" r:id="rId7"/>
    <p:sldId id="5746" r:id="rId8"/>
    <p:sldId id="5782" r:id="rId9"/>
    <p:sldId id="5761" r:id="rId10"/>
    <p:sldId id="5777" r:id="rId11"/>
    <p:sldId id="5778" r:id="rId12"/>
    <p:sldId id="5787" r:id="rId13"/>
    <p:sldId id="5785" r:id="rId14"/>
    <p:sldId id="5786" r:id="rId15"/>
    <p:sldId id="5764" r:id="rId16"/>
    <p:sldId id="5774" r:id="rId17"/>
    <p:sldId id="5780" r:id="rId18"/>
    <p:sldId id="5788" r:id="rId19"/>
    <p:sldId id="5790" r:id="rId20"/>
    <p:sldId id="5794" r:id="rId21"/>
    <p:sldId id="5789" r:id="rId22"/>
    <p:sldId id="5784" r:id="rId23"/>
    <p:sldId id="5792" r:id="rId24"/>
    <p:sldId id="5767" r:id="rId25"/>
    <p:sldId id="5752" r:id="rId26"/>
    <p:sldId id="5757" r:id="rId27"/>
  </p:sldIdLst>
  <p:sldSz cx="12192000" cy="6858000"/>
  <p:notesSz cx="6797675" cy="9926638"/>
  <p:defaultText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a:srgbClr val="FF99FF"/>
    <a:srgbClr val="CCFF99"/>
    <a:srgbClr val="CCFFCC"/>
    <a:srgbClr val="99CC00"/>
    <a:srgbClr val="2FBF85"/>
    <a:srgbClr val="FFCCFF"/>
    <a:srgbClr val="FFCCCC"/>
    <a:srgbClr val="99FFCC"/>
    <a:srgbClr val="5869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08B34B-4AB6-5714-C902-D1FEFD55C951}" v="1" dt="2024-09-04T19:39:28.24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E171933-4619-4E11-9A3F-F7608DF75F80}" styleName="Estilo medio 1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2838BEF-8BB2-4498-84A7-C5851F593DF1}" styleName="Estilo medio 4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27F97BB-C833-4FB7-BDE5-3F7075034690}" styleName="Estilo temático 2 - Énfasis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Estilo temático 2 - Énfasis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Estilo temático 2 - Énfasis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Estilo temático 2 - Énfasis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C4B1156A-380E-4F78-BDF5-A606A8083BF9}" styleName="Estilo medio 4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Estilo medio 4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D083AE6-46FA-4A59-8FB0-9F97EB10719F}" styleName="Estilo claro 3 - Acento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E8B1032C-EA38-4F05-BA0D-38AFFFC7BED3}" styleName="Estilo claro 3 - Acento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929F9F4-4A8F-4326-A1B4-22849713DDAB}" styleName="Estilo oscuro 1 - Énfasis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Estilo oscuro 1 - Énfasis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AF606853-7671-496A-8E4F-DF71F8EC918B}" styleName="Estilo oscuro 1 - Énfasis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660"/>
  </p:normalViewPr>
  <p:slideViewPr>
    <p:cSldViewPr snapToGrid="0">
      <p:cViewPr varScale="1">
        <p:scale>
          <a:sx n="67" d="100"/>
          <a:sy n="67" d="100"/>
        </p:scale>
        <p:origin x="63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pio Charres Ellsworth Elder" userId="S::ecarpioc@sunat.gob.pe::7cc83af6-a8d5-4997-9cbf-f8fb6fca3400" providerId="AD" clId="Web-{9A08B34B-4AB6-5714-C902-D1FEFD55C951}"/>
    <pc:docChg chg="modSld">
      <pc:chgData name="Carpio Charres Ellsworth Elder" userId="S::ecarpioc@sunat.gob.pe::7cc83af6-a8d5-4997-9cbf-f8fb6fca3400" providerId="AD" clId="Web-{9A08B34B-4AB6-5714-C902-D1FEFD55C951}" dt="2024-09-04T19:39:28.248" v="0"/>
      <pc:docMkLst>
        <pc:docMk/>
      </pc:docMkLst>
      <pc:sldChg chg="modSp">
        <pc:chgData name="Carpio Charres Ellsworth Elder" userId="S::ecarpioc@sunat.gob.pe::7cc83af6-a8d5-4997-9cbf-f8fb6fca3400" providerId="AD" clId="Web-{9A08B34B-4AB6-5714-C902-D1FEFD55C951}" dt="2024-09-04T19:39:28.248" v="0"/>
        <pc:sldMkLst>
          <pc:docMk/>
          <pc:sldMk cId="3333353468" sldId="5395"/>
        </pc:sldMkLst>
        <pc:graphicFrameChg chg="mod modGraphic">
          <ac:chgData name="Carpio Charres Ellsworth Elder" userId="S::ecarpioc@sunat.gob.pe::7cc83af6-a8d5-4997-9cbf-f8fb6fca3400" providerId="AD" clId="Web-{9A08B34B-4AB6-5714-C902-D1FEFD55C951}" dt="2024-09-04T19:39:28.248" v="0"/>
          <ac:graphicFrameMkLst>
            <pc:docMk/>
            <pc:sldMk cId="3333353468" sldId="5395"/>
            <ac:graphicFrameMk id="3" creationId="{92D20683-F364-E956-9C4F-D440AA5ED83A}"/>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1" i="0" u="none" strike="noStrike" kern="1200" spc="0" baseline="0">
                <a:solidFill>
                  <a:sysClr val="windowText" lastClr="000000"/>
                </a:solidFill>
                <a:latin typeface="+mn-lt"/>
                <a:ea typeface="+mn-ea"/>
                <a:cs typeface="+mn-cs"/>
              </a:defRPr>
            </a:pPr>
            <a:r>
              <a:rPr lang="es-ES" b="1"/>
              <a:t>EVOLUCION DE INGRESOS Y SALIDAS EXPEDIENTES DE RECLAMO 2019-2024*</a:t>
            </a:r>
            <a:endParaRPr lang="es-PE" b="1"/>
          </a:p>
        </c:rich>
      </c:tx>
      <c:overlay val="0"/>
      <c:spPr>
        <a:noFill/>
        <a:ln>
          <a:noFill/>
        </a:ln>
        <a:effectLst/>
      </c:spPr>
      <c:txPr>
        <a:bodyPr rot="0" spcFirstLastPara="1" vertOverflow="ellipsis" vert="horz" wrap="square" anchor="ctr" anchorCtr="1"/>
        <a:lstStyle/>
        <a:p>
          <a:pPr>
            <a:defRPr sz="1440" b="1" i="0" u="none" strike="noStrike" kern="1200" spc="0" baseline="0">
              <a:solidFill>
                <a:sysClr val="windowText" lastClr="000000"/>
              </a:solidFill>
              <a:latin typeface="+mn-lt"/>
              <a:ea typeface="+mn-ea"/>
              <a:cs typeface="+mn-cs"/>
            </a:defRPr>
          </a:pPr>
          <a:endParaRPr lang="es-ES"/>
        </a:p>
      </c:txPr>
    </c:title>
    <c:autoTitleDeleted val="0"/>
    <c:plotArea>
      <c:layout/>
      <c:barChart>
        <c:barDir val="col"/>
        <c:grouping val="clustered"/>
        <c:varyColors val="0"/>
        <c:ser>
          <c:idx val="0"/>
          <c:order val="0"/>
          <c:tx>
            <c:v>INGRESOS</c:v>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'INGRESOS Y SALIDAS'!$B$3:$G$3</c:f>
              <c:numCache>
                <c:formatCode>General</c:formatCode>
                <c:ptCount val="6"/>
                <c:pt idx="0">
                  <c:v>2019</c:v>
                </c:pt>
                <c:pt idx="1">
                  <c:v>2020</c:v>
                </c:pt>
                <c:pt idx="2">
                  <c:v>2021</c:v>
                </c:pt>
                <c:pt idx="3">
                  <c:v>2022</c:v>
                </c:pt>
                <c:pt idx="4">
                  <c:v>2023</c:v>
                </c:pt>
                <c:pt idx="5">
                  <c:v>2024</c:v>
                </c:pt>
              </c:numCache>
            </c:numRef>
          </c:cat>
          <c:val>
            <c:numRef>
              <c:f>'INGRESOS Y SALIDAS'!$B$4:$G$4</c:f>
              <c:numCache>
                <c:formatCode>#,##0</c:formatCode>
                <c:ptCount val="6"/>
                <c:pt idx="0">
                  <c:v>4409</c:v>
                </c:pt>
                <c:pt idx="1">
                  <c:v>3249</c:v>
                </c:pt>
                <c:pt idx="2">
                  <c:v>5860</c:v>
                </c:pt>
                <c:pt idx="3">
                  <c:v>5970</c:v>
                </c:pt>
                <c:pt idx="4">
                  <c:v>4678</c:v>
                </c:pt>
                <c:pt idx="5">
                  <c:v>1206</c:v>
                </c:pt>
              </c:numCache>
            </c:numRef>
          </c:val>
          <c:extLst>
            <c:ext xmlns:c16="http://schemas.microsoft.com/office/drawing/2014/chart" uri="{C3380CC4-5D6E-409C-BE32-E72D297353CC}">
              <c16:uniqueId val="{00000000-C8F4-4155-9220-8B88C1197F0D}"/>
            </c:ext>
          </c:extLst>
        </c:ser>
        <c:ser>
          <c:idx val="1"/>
          <c:order val="1"/>
          <c:tx>
            <c:v>SALIDAS</c:v>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'INGRESOS Y SALIDAS'!$B$3:$G$3</c:f>
              <c:numCache>
                <c:formatCode>General</c:formatCode>
                <c:ptCount val="6"/>
                <c:pt idx="0">
                  <c:v>2019</c:v>
                </c:pt>
                <c:pt idx="1">
                  <c:v>2020</c:v>
                </c:pt>
                <c:pt idx="2">
                  <c:v>2021</c:v>
                </c:pt>
                <c:pt idx="3">
                  <c:v>2022</c:v>
                </c:pt>
                <c:pt idx="4">
                  <c:v>2023</c:v>
                </c:pt>
                <c:pt idx="5">
                  <c:v>2024</c:v>
                </c:pt>
              </c:numCache>
            </c:numRef>
          </c:cat>
          <c:val>
            <c:numRef>
              <c:f>'INGRESOS Y SALIDAS'!$B$5:$G$5</c:f>
              <c:numCache>
                <c:formatCode>#,##0</c:formatCode>
                <c:ptCount val="6"/>
                <c:pt idx="0">
                  <c:v>3435</c:v>
                </c:pt>
                <c:pt idx="1">
                  <c:v>2981</c:v>
                </c:pt>
                <c:pt idx="2">
                  <c:v>3455</c:v>
                </c:pt>
                <c:pt idx="3">
                  <c:v>5581</c:v>
                </c:pt>
                <c:pt idx="4">
                  <c:v>6248</c:v>
                </c:pt>
                <c:pt idx="5">
                  <c:v>1318</c:v>
                </c:pt>
              </c:numCache>
            </c:numRef>
          </c:val>
          <c:extLst>
            <c:ext xmlns:c16="http://schemas.microsoft.com/office/drawing/2014/chart" uri="{C3380CC4-5D6E-409C-BE32-E72D297353CC}">
              <c16:uniqueId val="{00000001-C8F4-4155-9220-8B88C1197F0D}"/>
            </c:ext>
          </c:extLst>
        </c:ser>
        <c:dLbls>
          <c:dLblPos val="outEnd"/>
          <c:showLegendKey val="0"/>
          <c:showVal val="1"/>
          <c:showCatName val="0"/>
          <c:showSerName val="0"/>
          <c:showPercent val="0"/>
          <c:showBubbleSize val="0"/>
        </c:dLbls>
        <c:gapWidth val="219"/>
        <c:overlap val="-27"/>
        <c:axId val="2117999904"/>
        <c:axId val="2117996576"/>
      </c:barChart>
      <c:catAx>
        <c:axId val="2117999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ES"/>
          </a:p>
        </c:txPr>
        <c:crossAx val="2117996576"/>
        <c:crosses val="autoZero"/>
        <c:auto val="1"/>
        <c:lblAlgn val="ctr"/>
        <c:lblOffset val="100"/>
        <c:noMultiLvlLbl val="0"/>
      </c:catAx>
      <c:valAx>
        <c:axId val="2117996576"/>
        <c:scaling>
          <c:orientation val="minMax"/>
        </c:scaling>
        <c:delete val="0"/>
        <c:axPos val="l"/>
        <c:majorGridlines>
          <c:spPr>
            <a:ln w="6350" cap="flat" cmpd="sng" algn="ctr">
              <a:solidFill>
                <a:srgbClr val="ED7D31"/>
              </a:solidFill>
              <a:prstDash val="solid"/>
              <a:miter lim="800000"/>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ES"/>
          </a:p>
        </c:txPr>
        <c:crossAx val="21179999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ES"/>
        </a:p>
      </c:txPr>
    </c:legend>
    <c:plotVisOnly val="1"/>
    <c:dispBlanksAs val="gap"/>
    <c:showDLblsOverMax val="0"/>
  </c:chart>
  <c:spPr>
    <a:solidFill>
      <a:sysClr val="window" lastClr="FFFFFF"/>
    </a:solidFill>
    <a:ln w="12700" cap="flat" cmpd="sng" algn="ctr">
      <a:solidFill>
        <a:srgbClr val="ED7D31"/>
      </a:solidFill>
      <a:prstDash val="solid"/>
      <a:miter lim="800000"/>
    </a:ln>
    <a:effectLst/>
  </c:spPr>
  <c:txPr>
    <a:bodyPr/>
    <a:lstStyle/>
    <a:p>
      <a:pPr>
        <a:defRPr sz="1200">
          <a:solidFill>
            <a:sysClr val="windowText" lastClr="000000"/>
          </a:solidFill>
          <a:latin typeface="+mn-lt"/>
          <a:ea typeface="+mn-ea"/>
          <a:cs typeface="+mn-cs"/>
        </a:defRPr>
      </a:pPr>
      <a:endParaRPr lang="es-E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80" b="1" i="0" u="none" strike="noStrike" kern="1200" spc="0" baseline="0">
                <a:solidFill>
                  <a:schemeClr val="dk1"/>
                </a:solidFill>
                <a:latin typeface="+mn-lt"/>
                <a:ea typeface="+mn-ea"/>
                <a:cs typeface="+mn-cs"/>
              </a:defRPr>
            </a:pPr>
            <a:r>
              <a:rPr lang="es-PE" b="1"/>
              <a:t>Resultados de Reclamos de Aduanas</a:t>
            </a:r>
          </a:p>
          <a:p>
            <a:pPr>
              <a:defRPr b="1"/>
            </a:pPr>
            <a:r>
              <a:rPr lang="es-PE" b="1"/>
              <a:t>Ene-Dic 2023</a:t>
            </a:r>
          </a:p>
        </c:rich>
      </c:tx>
      <c:layout>
        <c:manualLayout>
          <c:xMode val="edge"/>
          <c:yMode val="edge"/>
          <c:x val="0.35653306494582915"/>
          <c:y val="3.7888351669385606E-3"/>
        </c:manualLayout>
      </c:layout>
      <c:overlay val="0"/>
      <c:spPr>
        <a:noFill/>
        <a:ln>
          <a:noFill/>
        </a:ln>
        <a:effectLst/>
      </c:spPr>
      <c:txPr>
        <a:bodyPr rot="0" spcFirstLastPara="1" vertOverflow="ellipsis" vert="horz" wrap="square" anchor="ctr" anchorCtr="1"/>
        <a:lstStyle/>
        <a:p>
          <a:pPr>
            <a:defRPr sz="1680" b="1" i="0" u="none" strike="noStrike" kern="1200" spc="0" baseline="0">
              <a:solidFill>
                <a:schemeClr val="dk1"/>
              </a:solidFill>
              <a:latin typeface="+mn-lt"/>
              <a:ea typeface="+mn-ea"/>
              <a:cs typeface="+mn-cs"/>
            </a:defRPr>
          </a:pPr>
          <a:endParaRPr lang="es-ES"/>
        </a:p>
      </c:txPr>
    </c:title>
    <c:autoTitleDeleted val="0"/>
    <c:plotArea>
      <c:layout/>
      <c:barChart>
        <c:barDir val="col"/>
        <c:grouping val="clustered"/>
        <c:varyColors val="0"/>
        <c:ser>
          <c:idx val="0"/>
          <c:order val="0"/>
          <c:spPr>
            <a:solidFill>
              <a:schemeClr val="accent2">
                <a:lumMod val="60000"/>
                <a:lumOff val="40000"/>
              </a:schemeClr>
            </a:solidFill>
            <a:ln>
              <a:noFill/>
            </a:ln>
            <a:effectLst/>
          </c:spPr>
          <c:invertIfNegative val="0"/>
          <c:dPt>
            <c:idx val="6"/>
            <c:invertIfNegative val="0"/>
            <c:bubble3D val="0"/>
            <c:spPr>
              <a:gradFill flip="none" rotWithShape="1">
                <a:gsLst>
                  <a:gs pos="0">
                    <a:schemeClr val="accent6">
                      <a:lumMod val="20000"/>
                      <a:lumOff val="80000"/>
                      <a:shade val="30000"/>
                      <a:satMod val="115000"/>
                    </a:schemeClr>
                  </a:gs>
                  <a:gs pos="50000">
                    <a:schemeClr val="accent6">
                      <a:lumMod val="20000"/>
                      <a:lumOff val="80000"/>
                      <a:shade val="67500"/>
                      <a:satMod val="115000"/>
                    </a:schemeClr>
                  </a:gs>
                  <a:gs pos="100000">
                    <a:schemeClr val="accent6">
                      <a:lumMod val="20000"/>
                      <a:lumOff val="80000"/>
                      <a:shade val="100000"/>
                      <a:satMod val="115000"/>
                    </a:schemeClr>
                  </a:gs>
                </a:gsLst>
                <a:path path="circle">
                  <a:fillToRect t="100000" r="100000"/>
                </a:path>
                <a:tileRect l="-100000" b="-100000"/>
              </a:gradFill>
              <a:ln w="6350" cap="flat" cmpd="sng" algn="ctr">
                <a:solidFill>
                  <a:schemeClr val="accent6"/>
                </a:solidFill>
                <a:prstDash val="solid"/>
                <a:miter lim="800000"/>
              </a:ln>
              <a:effectLst/>
            </c:spPr>
            <c:extLst>
              <c:ext xmlns:c16="http://schemas.microsoft.com/office/drawing/2014/chart" uri="{C3380CC4-5D6E-409C-BE32-E72D297353CC}">
                <c16:uniqueId val="{00000001-3CCD-453E-ABA9-FF0DB7543258}"/>
              </c:ext>
            </c:extLst>
          </c:dPt>
          <c:cat>
            <c:strRef>
              <c:f>'RECLAMOS-RTF'!$A$5:$A$11</c:f>
              <c:strCache>
                <c:ptCount val="7"/>
                <c:pt idx="0">
                  <c:v>Infundado</c:v>
                </c:pt>
                <c:pt idx="1">
                  <c:v>Fundado/F.P</c:v>
                </c:pt>
                <c:pt idx="2">
                  <c:v>Nulidad</c:v>
                </c:pt>
                <c:pt idx="3">
                  <c:v>Improcedente</c:v>
                </c:pt>
                <c:pt idx="4">
                  <c:v>Desistimiento</c:v>
                </c:pt>
                <c:pt idx="5">
                  <c:v>Otros</c:v>
                </c:pt>
                <c:pt idx="6">
                  <c:v>Total</c:v>
                </c:pt>
              </c:strCache>
            </c:strRef>
          </c:cat>
          <c:val>
            <c:numRef>
              <c:f>'RECLAMOS-RTF'!$B$5:$B$11</c:f>
              <c:numCache>
                <c:formatCode>General</c:formatCode>
                <c:ptCount val="7"/>
                <c:pt idx="0">
                  <c:v>4740</c:v>
                </c:pt>
                <c:pt idx="1">
                  <c:v>211</c:v>
                </c:pt>
                <c:pt idx="2">
                  <c:v>404</c:v>
                </c:pt>
                <c:pt idx="3">
                  <c:v>8</c:v>
                </c:pt>
                <c:pt idx="4">
                  <c:v>4</c:v>
                </c:pt>
                <c:pt idx="5">
                  <c:v>66</c:v>
                </c:pt>
                <c:pt idx="6">
                  <c:v>5433</c:v>
                </c:pt>
              </c:numCache>
            </c:numRef>
          </c:val>
          <c:extLst>
            <c:ext xmlns:c16="http://schemas.microsoft.com/office/drawing/2014/chart" uri="{C3380CC4-5D6E-409C-BE32-E72D297353CC}">
              <c16:uniqueId val="{00000002-3CCD-453E-ABA9-FF0DB7543258}"/>
            </c:ext>
          </c:extLst>
        </c:ser>
        <c:ser>
          <c:idx val="1"/>
          <c:order val="1"/>
          <c:spPr>
            <a:solidFill>
              <a:schemeClr val="accent2"/>
            </a:solidFill>
            <a:ln>
              <a:noFill/>
            </a:ln>
            <a:effectLst/>
          </c:spPr>
          <c:invertIfNegative val="0"/>
          <c:cat>
            <c:strRef>
              <c:f>'RECLAMOS-RTF'!$A$5:$A$11</c:f>
              <c:strCache>
                <c:ptCount val="7"/>
                <c:pt idx="0">
                  <c:v>Infundado</c:v>
                </c:pt>
                <c:pt idx="1">
                  <c:v>Fundado/F.P</c:v>
                </c:pt>
                <c:pt idx="2">
                  <c:v>Nulidad</c:v>
                </c:pt>
                <c:pt idx="3">
                  <c:v>Improcedente</c:v>
                </c:pt>
                <c:pt idx="4">
                  <c:v>Desistimiento</c:v>
                </c:pt>
                <c:pt idx="5">
                  <c:v>Otros</c:v>
                </c:pt>
                <c:pt idx="6">
                  <c:v>Total</c:v>
                </c:pt>
              </c:strCache>
            </c:strRef>
          </c:cat>
          <c:val>
            <c:numRef>
              <c:f>'RECLAMOS-RTF'!$C$5:$C$11</c:f>
              <c:numCache>
                <c:formatCode>0.00%</c:formatCode>
                <c:ptCount val="7"/>
                <c:pt idx="0">
                  <c:v>0.87244616234124794</c:v>
                </c:pt>
                <c:pt idx="1">
                  <c:v>3.8836738450211669E-2</c:v>
                </c:pt>
                <c:pt idx="2">
                  <c:v>7.4360390207988222E-2</c:v>
                </c:pt>
                <c:pt idx="3">
                  <c:v>1.4724829744156083E-3</c:v>
                </c:pt>
                <c:pt idx="4">
                  <c:v>7.3624148720780416E-4</c:v>
                </c:pt>
                <c:pt idx="5">
                  <c:v>1.2147984538928768E-2</c:v>
                </c:pt>
                <c:pt idx="6">
                  <c:v>1</c:v>
                </c:pt>
              </c:numCache>
            </c:numRef>
          </c:val>
          <c:extLst>
            <c:ext xmlns:c16="http://schemas.microsoft.com/office/drawing/2014/chart" uri="{C3380CC4-5D6E-409C-BE32-E72D297353CC}">
              <c16:uniqueId val="{00000003-3CCD-453E-ABA9-FF0DB7543258}"/>
            </c:ext>
          </c:extLst>
        </c:ser>
        <c:dLbls>
          <c:showLegendKey val="0"/>
          <c:showVal val="0"/>
          <c:showCatName val="0"/>
          <c:showSerName val="0"/>
          <c:showPercent val="0"/>
          <c:showBubbleSize val="0"/>
        </c:dLbls>
        <c:gapWidth val="150"/>
        <c:axId val="1422598640"/>
        <c:axId val="1422580752"/>
      </c:barChart>
      <c:catAx>
        <c:axId val="1422598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dk1"/>
                </a:solidFill>
                <a:latin typeface="+mn-lt"/>
                <a:ea typeface="+mn-ea"/>
                <a:cs typeface="+mn-cs"/>
              </a:defRPr>
            </a:pPr>
            <a:endParaRPr lang="es-ES"/>
          </a:p>
        </c:txPr>
        <c:crossAx val="1422580752"/>
        <c:crosses val="autoZero"/>
        <c:auto val="1"/>
        <c:lblAlgn val="ctr"/>
        <c:lblOffset val="100"/>
        <c:noMultiLvlLbl val="0"/>
      </c:catAx>
      <c:valAx>
        <c:axId val="1422580752"/>
        <c:scaling>
          <c:orientation val="minMax"/>
        </c:scaling>
        <c:delete val="0"/>
        <c:axPos val="l"/>
        <c:majorGridlines>
          <c:spPr>
            <a:ln w="6350" cap="flat" cmpd="sng" algn="ctr">
              <a:solidFill>
                <a:schemeClr val="accent2"/>
              </a:solidFill>
              <a:prstDash val="solid"/>
              <a:miter lim="800000"/>
            </a:ln>
            <a:effectLst/>
          </c:spPr>
        </c:majorGridlines>
        <c:title>
          <c:tx>
            <c:rich>
              <a:bodyPr rot="-5400000" spcFirstLastPara="1" vertOverflow="ellipsis" vert="horz" wrap="square" anchor="ctr" anchorCtr="1"/>
              <a:lstStyle/>
              <a:p>
                <a:pPr>
                  <a:defRPr sz="1400" b="0" i="0" u="none" strike="noStrike" kern="1200" baseline="0">
                    <a:solidFill>
                      <a:schemeClr val="dk1"/>
                    </a:solidFill>
                    <a:latin typeface="+mn-lt"/>
                    <a:ea typeface="+mn-ea"/>
                    <a:cs typeface="+mn-cs"/>
                  </a:defRPr>
                </a:pPr>
                <a:r>
                  <a:rPr lang="es-PE"/>
                  <a:t>TOTALES</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dk1"/>
                  </a:solidFill>
                  <a:latin typeface="+mn-lt"/>
                  <a:ea typeface="+mn-ea"/>
                  <a:cs typeface="+mn-cs"/>
                </a:defRPr>
              </a:pPr>
              <a:endParaRPr lang="es-E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dk1"/>
                </a:solidFill>
                <a:latin typeface="+mn-lt"/>
                <a:ea typeface="+mn-ea"/>
                <a:cs typeface="+mn-cs"/>
              </a:defRPr>
            </a:pPr>
            <a:endParaRPr lang="es-ES"/>
          </a:p>
        </c:txPr>
        <c:crossAx val="1422598640"/>
        <c:crosses val="autoZero"/>
        <c:crossBetween val="between"/>
      </c:valAx>
      <c:dTable>
        <c:showHorzBorder val="1"/>
        <c:showVertBorder val="1"/>
        <c:showOutline val="1"/>
        <c:showKeys val="1"/>
        <c:spPr>
          <a:noFill/>
          <a:ln w="6350" cap="flat" cmpd="sng" algn="ctr">
            <a:solidFill>
              <a:srgbClr val="ED7D31"/>
            </a:solidFill>
            <a:prstDash val="solid"/>
            <a:miter lim="800000"/>
          </a:ln>
          <a:effectLst/>
        </c:spPr>
        <c:txPr>
          <a:bodyPr rot="0" spcFirstLastPara="1" vertOverflow="ellipsis" vert="horz" wrap="square" anchor="ctr" anchorCtr="1"/>
          <a:lstStyle/>
          <a:p>
            <a:pPr rtl="0">
              <a:defRPr sz="1400" b="1" i="0" u="none" strike="noStrike" kern="1200" baseline="0">
                <a:solidFill>
                  <a:sysClr val="windowText" lastClr="000000"/>
                </a:solidFill>
                <a:latin typeface="+mn-lt"/>
                <a:ea typeface="+mn-ea"/>
                <a:cs typeface="+mn-cs"/>
              </a:defRPr>
            </a:pPr>
            <a:endParaRPr lang="es-ES"/>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12700" cap="flat" cmpd="sng" algn="ctr">
      <a:solidFill>
        <a:schemeClr val="accent2"/>
      </a:solidFill>
      <a:prstDash val="solid"/>
      <a:miter lim="800000"/>
    </a:ln>
    <a:effectLst/>
  </c:spPr>
  <c:txPr>
    <a:bodyPr/>
    <a:lstStyle/>
    <a:p>
      <a:pPr>
        <a:defRPr sz="1400">
          <a:solidFill>
            <a:schemeClr val="dk1"/>
          </a:solidFill>
          <a:latin typeface="+mn-lt"/>
          <a:ea typeface="+mn-ea"/>
          <a:cs typeface="+mn-cs"/>
        </a:defRPr>
      </a:pPr>
      <a:endParaRPr lang="es-E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80" b="1" i="0" u="none" strike="noStrike" kern="1200" spc="0" baseline="0">
                <a:solidFill>
                  <a:sysClr val="windowText" lastClr="000000"/>
                </a:solidFill>
                <a:latin typeface="+mn-lt"/>
                <a:ea typeface="+mn-ea"/>
                <a:cs typeface="+mn-cs"/>
              </a:defRPr>
            </a:pPr>
            <a:r>
              <a:rPr lang="es-PE" b="1"/>
              <a:t>Resultados de Reclamos de Aduanas</a:t>
            </a:r>
          </a:p>
          <a:p>
            <a:pPr>
              <a:defRPr b="1"/>
            </a:pPr>
            <a:r>
              <a:rPr lang="es-PE" b="1"/>
              <a:t>Ene-Ago 2024</a:t>
            </a:r>
          </a:p>
        </c:rich>
      </c:tx>
      <c:overlay val="0"/>
      <c:spPr>
        <a:noFill/>
        <a:ln>
          <a:noFill/>
        </a:ln>
        <a:effectLst/>
      </c:spPr>
      <c:txPr>
        <a:bodyPr rot="0" spcFirstLastPara="1" vertOverflow="ellipsis" vert="horz" wrap="square" anchor="ctr" anchorCtr="1"/>
        <a:lstStyle/>
        <a:p>
          <a:pPr>
            <a:defRPr sz="1680" b="1" i="0" u="none" strike="noStrike" kern="1200" spc="0" baseline="0">
              <a:solidFill>
                <a:sysClr val="windowText" lastClr="000000"/>
              </a:solidFill>
              <a:latin typeface="+mn-lt"/>
              <a:ea typeface="+mn-ea"/>
              <a:cs typeface="+mn-cs"/>
            </a:defRPr>
          </a:pPr>
          <a:endParaRPr lang="es-ES"/>
        </a:p>
      </c:txPr>
    </c:title>
    <c:autoTitleDeleted val="0"/>
    <c:plotArea>
      <c:layout/>
      <c:barChart>
        <c:barDir val="col"/>
        <c:grouping val="clustered"/>
        <c:varyColors val="0"/>
        <c:ser>
          <c:idx val="0"/>
          <c:order val="0"/>
          <c:spPr>
            <a:solidFill>
              <a:schemeClr val="accent6"/>
            </a:solidFill>
            <a:ln w="19050" cap="flat" cmpd="sng" algn="ctr">
              <a:solidFill>
                <a:schemeClr val="lt1"/>
              </a:solidFill>
              <a:prstDash val="solid"/>
              <a:miter lim="800000"/>
            </a:ln>
            <a:effectLst/>
            <a:scene3d>
              <a:camera prst="orthographicFront"/>
              <a:lightRig rig="threePt" dir="t"/>
            </a:scene3d>
            <a:sp3d prstMaterial="matte"/>
          </c:spPr>
          <c:invertIfNegative val="0"/>
          <c:cat>
            <c:strRef>
              <c:f>RESULTADOS!$C$23:$C$29</c:f>
              <c:strCache>
                <c:ptCount val="7"/>
                <c:pt idx="0">
                  <c:v>Infundado</c:v>
                </c:pt>
                <c:pt idx="1">
                  <c:v>Fundado / F.P</c:v>
                </c:pt>
                <c:pt idx="2">
                  <c:v>Nulidad</c:v>
                </c:pt>
                <c:pt idx="3">
                  <c:v>Improcedente</c:v>
                </c:pt>
                <c:pt idx="4">
                  <c:v>Desistimiento </c:v>
                </c:pt>
                <c:pt idx="5">
                  <c:v>Otros </c:v>
                </c:pt>
                <c:pt idx="6">
                  <c:v>TOTAL</c:v>
                </c:pt>
              </c:strCache>
            </c:strRef>
          </c:cat>
          <c:val>
            <c:numRef>
              <c:f>RESULTADOS!$D$23:$D$29</c:f>
              <c:numCache>
                <c:formatCode>General</c:formatCode>
                <c:ptCount val="7"/>
                <c:pt idx="0">
                  <c:v>2548</c:v>
                </c:pt>
                <c:pt idx="1">
                  <c:v>108</c:v>
                </c:pt>
                <c:pt idx="2">
                  <c:v>223</c:v>
                </c:pt>
                <c:pt idx="3">
                  <c:v>2</c:v>
                </c:pt>
                <c:pt idx="4">
                  <c:v>1</c:v>
                </c:pt>
                <c:pt idx="5">
                  <c:v>24</c:v>
                </c:pt>
                <c:pt idx="6">
                  <c:v>2906</c:v>
                </c:pt>
              </c:numCache>
            </c:numRef>
          </c:val>
          <c:extLst>
            <c:ext xmlns:c16="http://schemas.microsoft.com/office/drawing/2014/chart" uri="{C3380CC4-5D6E-409C-BE32-E72D297353CC}">
              <c16:uniqueId val="{00000000-4D98-4B4E-9D3E-E92423C73216}"/>
            </c:ext>
          </c:extLst>
        </c:ser>
        <c:ser>
          <c:idx val="1"/>
          <c:order val="1"/>
          <c:spPr>
            <a:solidFill>
              <a:schemeClr val="accent5"/>
            </a:solidFill>
            <a:ln>
              <a:noFill/>
            </a:ln>
            <a:effectLst/>
          </c:spPr>
          <c:invertIfNegative val="0"/>
          <c:cat>
            <c:strRef>
              <c:f>RESULTADOS!$C$23:$C$29</c:f>
              <c:strCache>
                <c:ptCount val="7"/>
                <c:pt idx="0">
                  <c:v>Infundado</c:v>
                </c:pt>
                <c:pt idx="1">
                  <c:v>Fundado / F.P</c:v>
                </c:pt>
                <c:pt idx="2">
                  <c:v>Nulidad</c:v>
                </c:pt>
                <c:pt idx="3">
                  <c:v>Improcedente</c:v>
                </c:pt>
                <c:pt idx="4">
                  <c:v>Desistimiento </c:v>
                </c:pt>
                <c:pt idx="5">
                  <c:v>Otros </c:v>
                </c:pt>
                <c:pt idx="6">
                  <c:v>TOTAL</c:v>
                </c:pt>
              </c:strCache>
            </c:strRef>
          </c:cat>
          <c:val>
            <c:numRef>
              <c:f>RESULTADOS!$E$23:$E$29</c:f>
              <c:numCache>
                <c:formatCode>0.00%</c:formatCode>
                <c:ptCount val="7"/>
                <c:pt idx="0">
                  <c:v>0.87680660701995872</c:v>
                </c:pt>
                <c:pt idx="1">
                  <c:v>3.7164487267721952E-2</c:v>
                </c:pt>
                <c:pt idx="2">
                  <c:v>7.673778389538885E-2</c:v>
                </c:pt>
                <c:pt idx="3">
                  <c:v>6.8823124569855469E-4</c:v>
                </c:pt>
                <c:pt idx="4">
                  <c:v>3.4411562284927734E-4</c:v>
                </c:pt>
                <c:pt idx="5">
                  <c:v>8.2587749483826571E-3</c:v>
                </c:pt>
                <c:pt idx="6">
                  <c:v>1</c:v>
                </c:pt>
              </c:numCache>
            </c:numRef>
          </c:val>
          <c:extLst>
            <c:ext xmlns:c16="http://schemas.microsoft.com/office/drawing/2014/chart" uri="{C3380CC4-5D6E-409C-BE32-E72D297353CC}">
              <c16:uniqueId val="{00000001-4D98-4B4E-9D3E-E92423C73216}"/>
            </c:ext>
          </c:extLst>
        </c:ser>
        <c:dLbls>
          <c:showLegendKey val="0"/>
          <c:showVal val="0"/>
          <c:showCatName val="0"/>
          <c:showSerName val="0"/>
          <c:showPercent val="0"/>
          <c:showBubbleSize val="0"/>
        </c:dLbls>
        <c:gapWidth val="150"/>
        <c:axId val="592604288"/>
        <c:axId val="592581824"/>
      </c:barChart>
      <c:catAx>
        <c:axId val="592604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s-ES"/>
          </a:p>
        </c:txPr>
        <c:crossAx val="592581824"/>
        <c:crosses val="autoZero"/>
        <c:auto val="1"/>
        <c:lblAlgn val="ctr"/>
        <c:lblOffset val="100"/>
        <c:noMultiLvlLbl val="0"/>
      </c:catAx>
      <c:valAx>
        <c:axId val="592581824"/>
        <c:scaling>
          <c:orientation val="minMax"/>
        </c:scaling>
        <c:delete val="0"/>
        <c:axPos val="l"/>
        <c:majorGridlines>
          <c:spPr>
            <a:ln w="6350" cap="flat" cmpd="sng" algn="ctr">
              <a:solidFill>
                <a:schemeClr val="accent6"/>
              </a:solidFill>
              <a:prstDash val="solid"/>
              <a:miter lim="800000"/>
            </a:ln>
            <a:effectLst/>
          </c:spPr>
        </c:majorGridlines>
        <c:title>
          <c:tx>
            <c:rich>
              <a:bodyPr rot="-54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r>
                  <a:rPr lang="es-PE"/>
                  <a:t>TOTALES</a:t>
                </a:r>
              </a:p>
            </c:rich>
          </c:tx>
          <c:overlay val="0"/>
          <c:spPr>
            <a:noFill/>
            <a:ln>
              <a:noFill/>
            </a:ln>
            <a:effectLst/>
          </c:spPr>
          <c:txPr>
            <a:bodyPr rot="-54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s-E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ysClr val="windowText" lastClr="000000"/>
                </a:solidFill>
                <a:latin typeface="+mn-lt"/>
                <a:ea typeface="+mn-ea"/>
                <a:cs typeface="+mn-cs"/>
              </a:defRPr>
            </a:pPr>
            <a:endParaRPr lang="es-ES"/>
          </a:p>
        </c:txPr>
        <c:crossAx val="592604288"/>
        <c:crosses val="autoZero"/>
        <c:crossBetween val="between"/>
      </c:valAx>
      <c:dTable>
        <c:showHorzBorder val="1"/>
        <c:showVertBorder val="1"/>
        <c:showOutline val="1"/>
        <c:showKeys val="1"/>
        <c:spPr>
          <a:noFill/>
          <a:ln w="6350" cap="flat" cmpd="sng" algn="ctr">
            <a:solidFill>
              <a:schemeClr val="accent6"/>
            </a:solidFill>
            <a:prstDash val="solid"/>
            <a:miter lim="800000"/>
          </a:ln>
          <a:effectLst/>
        </c:spPr>
        <c:txPr>
          <a:bodyPr rot="0" spcFirstLastPara="1" vertOverflow="ellipsis" vert="horz" wrap="square" anchor="ctr" anchorCtr="1"/>
          <a:lstStyle/>
          <a:p>
            <a:pPr rtl="0">
              <a:defRPr sz="1400" b="1" i="0" u="none" strike="noStrike" kern="1200" baseline="0">
                <a:solidFill>
                  <a:sysClr val="windowText" lastClr="000000"/>
                </a:solidFill>
                <a:latin typeface="+mn-lt"/>
                <a:ea typeface="+mn-ea"/>
                <a:cs typeface="+mn-cs"/>
              </a:defRPr>
            </a:pPr>
            <a:endParaRPr lang="es-ES"/>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12700" cap="flat" cmpd="sng" algn="ctr">
      <a:solidFill>
        <a:schemeClr val="accent6"/>
      </a:solidFill>
      <a:prstDash val="solid"/>
      <a:miter lim="800000"/>
    </a:ln>
    <a:effectLst/>
  </c:spPr>
  <c:txPr>
    <a:bodyPr/>
    <a:lstStyle/>
    <a:p>
      <a:pPr>
        <a:defRPr sz="1400">
          <a:solidFill>
            <a:sysClr val="windowText" lastClr="000000"/>
          </a:solidFill>
          <a:latin typeface="+mn-lt"/>
          <a:ea typeface="+mn-ea"/>
          <a:cs typeface="+mn-cs"/>
        </a:defRPr>
      </a:pPr>
      <a:endParaRPr lang="es-E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404CA8B4-C47F-4E03-8EAA-AEC2E933409F}" type="datetimeFigureOut">
              <a:rPr lang="es-419" smtClean="0"/>
              <a:t>4/9/2024</a:t>
            </a:fld>
            <a:endParaRPr lang="es-419"/>
          </a:p>
        </p:txBody>
      </p:sp>
      <p:sp>
        <p:nvSpPr>
          <p:cNvPr id="4" name="Marcador de imagen de diapositiva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E516A85C-24F3-4956-8CAF-0400FEF1FA9B}" type="slidenum">
              <a:rPr lang="es-419" smtClean="0"/>
              <a:t>‹Nº›</a:t>
            </a:fld>
            <a:endParaRPr lang="es-419"/>
          </a:p>
        </p:txBody>
      </p:sp>
    </p:spTree>
    <p:extLst>
      <p:ext uri="{BB962C8B-B14F-4D97-AF65-F5344CB8AC3E}">
        <p14:creationId xmlns:p14="http://schemas.microsoft.com/office/powerpoint/2010/main" val="3198014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Tree>
    <p:extLst>
      <p:ext uri="{BB962C8B-B14F-4D97-AF65-F5344CB8AC3E}">
        <p14:creationId xmlns:p14="http://schemas.microsoft.com/office/powerpoint/2010/main" val="538018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441225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463742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5720458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8608844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184599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9981753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674116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79325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7969637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5171086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1002357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4392610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8160639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7836410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728859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8938656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163905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0517524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4137821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3536721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059744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507177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A2E7F3-3903-4E1D-8084-0DC05C8375E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209DFAA0-BBEA-496B-B217-FE1EC3FC6F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54098F06-736E-46C7-AC7E-A0DD35FB243F}"/>
              </a:ext>
            </a:extLst>
          </p:cNvPr>
          <p:cNvSpPr>
            <a:spLocks noGrp="1"/>
          </p:cNvSpPr>
          <p:nvPr>
            <p:ph type="dt" sz="half" idx="10"/>
          </p:nvPr>
        </p:nvSpPr>
        <p:spPr/>
        <p:txBody>
          <a:bodyPr/>
          <a:lstStyle/>
          <a:p>
            <a:fld id="{8F29FD26-0981-4205-871D-895179B88314}" type="datetimeFigureOut">
              <a:rPr lang="es-419" smtClean="0"/>
              <a:t>4/9/2024</a:t>
            </a:fld>
            <a:endParaRPr lang="es-419"/>
          </a:p>
        </p:txBody>
      </p:sp>
      <p:sp>
        <p:nvSpPr>
          <p:cNvPr id="5" name="Marcador de pie de página 4">
            <a:extLst>
              <a:ext uri="{FF2B5EF4-FFF2-40B4-BE49-F238E27FC236}">
                <a16:creationId xmlns:a16="http://schemas.microsoft.com/office/drawing/2014/main" id="{481D53AD-021E-420D-A45A-5DE972D76032}"/>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D7DC73AE-0F49-420F-9711-F965FF344AE1}"/>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29678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DCD202-F60F-418F-B356-03CA7D8770D6}"/>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0177AA28-DEE3-4FC1-BAE1-E6AFA62A67F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CE078544-1F2E-444D-B8E8-0B5B534EB17A}"/>
              </a:ext>
            </a:extLst>
          </p:cNvPr>
          <p:cNvSpPr>
            <a:spLocks noGrp="1"/>
          </p:cNvSpPr>
          <p:nvPr>
            <p:ph type="dt" sz="half" idx="10"/>
          </p:nvPr>
        </p:nvSpPr>
        <p:spPr/>
        <p:txBody>
          <a:bodyPr/>
          <a:lstStyle/>
          <a:p>
            <a:fld id="{8F29FD26-0981-4205-871D-895179B88314}" type="datetimeFigureOut">
              <a:rPr lang="es-419" smtClean="0"/>
              <a:t>4/9/2024</a:t>
            </a:fld>
            <a:endParaRPr lang="es-419"/>
          </a:p>
        </p:txBody>
      </p:sp>
      <p:sp>
        <p:nvSpPr>
          <p:cNvPr id="5" name="Marcador de pie de página 4">
            <a:extLst>
              <a:ext uri="{FF2B5EF4-FFF2-40B4-BE49-F238E27FC236}">
                <a16:creationId xmlns:a16="http://schemas.microsoft.com/office/drawing/2014/main" id="{9D1F83FC-A60B-49E6-9E1C-9B1D745BCAC6}"/>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24E286A2-7561-4B7D-870F-6CB2A62559DC}"/>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514938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A48F86-2D3F-45D5-85FF-32D590E8B45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94BDD57E-75F5-4414-AE43-24ACDFE27C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EF39EB2-DC1A-4B76-A607-540E2AFB0DA1}"/>
              </a:ext>
            </a:extLst>
          </p:cNvPr>
          <p:cNvSpPr>
            <a:spLocks noGrp="1"/>
          </p:cNvSpPr>
          <p:nvPr>
            <p:ph type="dt" sz="half" idx="10"/>
          </p:nvPr>
        </p:nvSpPr>
        <p:spPr/>
        <p:txBody>
          <a:bodyPr/>
          <a:lstStyle/>
          <a:p>
            <a:fld id="{8F29FD26-0981-4205-871D-895179B88314}" type="datetimeFigureOut">
              <a:rPr lang="es-419" smtClean="0"/>
              <a:t>4/9/2024</a:t>
            </a:fld>
            <a:endParaRPr lang="es-419"/>
          </a:p>
        </p:txBody>
      </p:sp>
      <p:sp>
        <p:nvSpPr>
          <p:cNvPr id="5" name="Marcador de pie de página 4">
            <a:extLst>
              <a:ext uri="{FF2B5EF4-FFF2-40B4-BE49-F238E27FC236}">
                <a16:creationId xmlns:a16="http://schemas.microsoft.com/office/drawing/2014/main" id="{5C659A66-CE9C-4AE2-A43D-391CFF4BB353}"/>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78C4C05F-D418-4BB8-A63F-FADB2BE6219A}"/>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1146092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05F591-1D41-441E-AA95-DA0B740C62D5}"/>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5084C426-4ABF-47B5-96A8-7DD4863F6E9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contenido 3">
            <a:extLst>
              <a:ext uri="{FF2B5EF4-FFF2-40B4-BE49-F238E27FC236}">
                <a16:creationId xmlns:a16="http://schemas.microsoft.com/office/drawing/2014/main" id="{9D581556-4EC1-4E5D-AD7B-E4330322EAB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5" name="Marcador de fecha 4">
            <a:extLst>
              <a:ext uri="{FF2B5EF4-FFF2-40B4-BE49-F238E27FC236}">
                <a16:creationId xmlns:a16="http://schemas.microsoft.com/office/drawing/2014/main" id="{D8E6A027-3C79-48A2-86B5-F99135D1CB3B}"/>
              </a:ext>
            </a:extLst>
          </p:cNvPr>
          <p:cNvSpPr>
            <a:spLocks noGrp="1"/>
          </p:cNvSpPr>
          <p:nvPr>
            <p:ph type="dt" sz="half" idx="10"/>
          </p:nvPr>
        </p:nvSpPr>
        <p:spPr/>
        <p:txBody>
          <a:bodyPr/>
          <a:lstStyle/>
          <a:p>
            <a:fld id="{8F29FD26-0981-4205-871D-895179B88314}" type="datetimeFigureOut">
              <a:rPr lang="es-419" smtClean="0"/>
              <a:t>4/9/2024</a:t>
            </a:fld>
            <a:endParaRPr lang="es-419"/>
          </a:p>
        </p:txBody>
      </p:sp>
      <p:sp>
        <p:nvSpPr>
          <p:cNvPr id="6" name="Marcador de pie de página 5">
            <a:extLst>
              <a:ext uri="{FF2B5EF4-FFF2-40B4-BE49-F238E27FC236}">
                <a16:creationId xmlns:a16="http://schemas.microsoft.com/office/drawing/2014/main" id="{3A8F9C01-F48E-4887-981C-40097F8B77FF}"/>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CE930058-3E70-4688-9D37-132281FE19F4}"/>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3785347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440B37-FCF7-4B55-85DF-F62FF1FE84A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AC1896B5-9EE8-47E4-91A2-0128335D29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63FB78-B243-4B5C-A4B0-899B095F2C1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5" name="Marcador de texto 4">
            <a:extLst>
              <a:ext uri="{FF2B5EF4-FFF2-40B4-BE49-F238E27FC236}">
                <a16:creationId xmlns:a16="http://schemas.microsoft.com/office/drawing/2014/main" id="{BC4E062D-1FBD-4740-9591-FF15F6C44B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D08BE8A-A2D5-4B6E-9DAB-EB6E6AC7A1F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7" name="Marcador de fecha 6">
            <a:extLst>
              <a:ext uri="{FF2B5EF4-FFF2-40B4-BE49-F238E27FC236}">
                <a16:creationId xmlns:a16="http://schemas.microsoft.com/office/drawing/2014/main" id="{F20B8163-EA4D-4292-B02E-3B806C4D0FC6}"/>
              </a:ext>
            </a:extLst>
          </p:cNvPr>
          <p:cNvSpPr>
            <a:spLocks noGrp="1"/>
          </p:cNvSpPr>
          <p:nvPr>
            <p:ph type="dt" sz="half" idx="10"/>
          </p:nvPr>
        </p:nvSpPr>
        <p:spPr/>
        <p:txBody>
          <a:bodyPr/>
          <a:lstStyle/>
          <a:p>
            <a:fld id="{8F29FD26-0981-4205-871D-895179B88314}" type="datetimeFigureOut">
              <a:rPr lang="es-419" smtClean="0"/>
              <a:t>4/9/2024</a:t>
            </a:fld>
            <a:endParaRPr lang="es-419"/>
          </a:p>
        </p:txBody>
      </p:sp>
      <p:sp>
        <p:nvSpPr>
          <p:cNvPr id="8" name="Marcador de pie de página 7">
            <a:extLst>
              <a:ext uri="{FF2B5EF4-FFF2-40B4-BE49-F238E27FC236}">
                <a16:creationId xmlns:a16="http://schemas.microsoft.com/office/drawing/2014/main" id="{AC7E4B2C-AF8F-4065-8F2C-A533637C5C20}"/>
              </a:ext>
            </a:extLst>
          </p:cNvPr>
          <p:cNvSpPr>
            <a:spLocks noGrp="1"/>
          </p:cNvSpPr>
          <p:nvPr>
            <p:ph type="ftr" sz="quarter" idx="11"/>
          </p:nvPr>
        </p:nvSpPr>
        <p:spPr/>
        <p:txBody>
          <a:bodyPr/>
          <a:lstStyle/>
          <a:p>
            <a:endParaRPr lang="es-419"/>
          </a:p>
        </p:txBody>
      </p:sp>
      <p:sp>
        <p:nvSpPr>
          <p:cNvPr id="9" name="Marcador de número de diapositiva 8">
            <a:extLst>
              <a:ext uri="{FF2B5EF4-FFF2-40B4-BE49-F238E27FC236}">
                <a16:creationId xmlns:a16="http://schemas.microsoft.com/office/drawing/2014/main" id="{487D1464-F0F0-4D16-876F-A49A009F2D80}"/>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3923004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7D1B32-8CD9-4E07-A705-16F56C6A82AA}"/>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fecha 2">
            <a:extLst>
              <a:ext uri="{FF2B5EF4-FFF2-40B4-BE49-F238E27FC236}">
                <a16:creationId xmlns:a16="http://schemas.microsoft.com/office/drawing/2014/main" id="{BB89AFFA-5546-4BDE-9DCC-0D9185A3EA3A}"/>
              </a:ext>
            </a:extLst>
          </p:cNvPr>
          <p:cNvSpPr>
            <a:spLocks noGrp="1"/>
          </p:cNvSpPr>
          <p:nvPr>
            <p:ph type="dt" sz="half" idx="10"/>
          </p:nvPr>
        </p:nvSpPr>
        <p:spPr/>
        <p:txBody>
          <a:bodyPr/>
          <a:lstStyle/>
          <a:p>
            <a:fld id="{8F29FD26-0981-4205-871D-895179B88314}" type="datetimeFigureOut">
              <a:rPr lang="es-419" smtClean="0"/>
              <a:t>4/9/2024</a:t>
            </a:fld>
            <a:endParaRPr lang="es-419"/>
          </a:p>
        </p:txBody>
      </p:sp>
      <p:sp>
        <p:nvSpPr>
          <p:cNvPr id="4" name="Marcador de pie de página 3">
            <a:extLst>
              <a:ext uri="{FF2B5EF4-FFF2-40B4-BE49-F238E27FC236}">
                <a16:creationId xmlns:a16="http://schemas.microsoft.com/office/drawing/2014/main" id="{D1868871-4F2B-468C-A281-03B39AC18DB5}"/>
              </a:ext>
            </a:extLst>
          </p:cNvPr>
          <p:cNvSpPr>
            <a:spLocks noGrp="1"/>
          </p:cNvSpPr>
          <p:nvPr>
            <p:ph type="ftr" sz="quarter" idx="11"/>
          </p:nvPr>
        </p:nvSpPr>
        <p:spPr/>
        <p:txBody>
          <a:bodyPr/>
          <a:lstStyle/>
          <a:p>
            <a:endParaRPr lang="es-419"/>
          </a:p>
        </p:txBody>
      </p:sp>
      <p:sp>
        <p:nvSpPr>
          <p:cNvPr id="5" name="Marcador de número de diapositiva 4">
            <a:extLst>
              <a:ext uri="{FF2B5EF4-FFF2-40B4-BE49-F238E27FC236}">
                <a16:creationId xmlns:a16="http://schemas.microsoft.com/office/drawing/2014/main" id="{F11548AD-0797-49CF-8A32-489DE78F23B0}"/>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198229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1BBACE8-1FF9-4DCE-BDFF-781E4EDB7229}"/>
              </a:ext>
            </a:extLst>
          </p:cNvPr>
          <p:cNvSpPr>
            <a:spLocks noGrp="1"/>
          </p:cNvSpPr>
          <p:nvPr>
            <p:ph type="dt" sz="half" idx="10"/>
          </p:nvPr>
        </p:nvSpPr>
        <p:spPr/>
        <p:txBody>
          <a:bodyPr/>
          <a:lstStyle/>
          <a:p>
            <a:fld id="{8F29FD26-0981-4205-871D-895179B88314}" type="datetimeFigureOut">
              <a:rPr lang="es-419" smtClean="0"/>
              <a:t>4/9/2024</a:t>
            </a:fld>
            <a:endParaRPr lang="es-419"/>
          </a:p>
        </p:txBody>
      </p:sp>
      <p:sp>
        <p:nvSpPr>
          <p:cNvPr id="3" name="Marcador de pie de página 2">
            <a:extLst>
              <a:ext uri="{FF2B5EF4-FFF2-40B4-BE49-F238E27FC236}">
                <a16:creationId xmlns:a16="http://schemas.microsoft.com/office/drawing/2014/main" id="{3F8F2886-0965-4D8B-9448-88DEC9E044D9}"/>
              </a:ext>
            </a:extLst>
          </p:cNvPr>
          <p:cNvSpPr>
            <a:spLocks noGrp="1"/>
          </p:cNvSpPr>
          <p:nvPr>
            <p:ph type="ftr" sz="quarter" idx="11"/>
          </p:nvPr>
        </p:nvSpPr>
        <p:spPr/>
        <p:txBody>
          <a:bodyPr/>
          <a:lstStyle/>
          <a:p>
            <a:endParaRPr lang="es-419"/>
          </a:p>
        </p:txBody>
      </p:sp>
      <p:sp>
        <p:nvSpPr>
          <p:cNvPr id="4" name="Marcador de número de diapositiva 3">
            <a:extLst>
              <a:ext uri="{FF2B5EF4-FFF2-40B4-BE49-F238E27FC236}">
                <a16:creationId xmlns:a16="http://schemas.microsoft.com/office/drawing/2014/main" id="{D57B9FB8-5854-4739-9885-76391E5F2741}"/>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869049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D4540F-ABF6-474A-AB91-401BF04179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750BA34A-F3A7-41F0-8235-DB969C0BD3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texto 3">
            <a:extLst>
              <a:ext uri="{FF2B5EF4-FFF2-40B4-BE49-F238E27FC236}">
                <a16:creationId xmlns:a16="http://schemas.microsoft.com/office/drawing/2014/main" id="{141FD3ED-E203-44F4-A13E-24C4190802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34A6CC1-F911-4CB8-B9F6-56532672E168}"/>
              </a:ext>
            </a:extLst>
          </p:cNvPr>
          <p:cNvSpPr>
            <a:spLocks noGrp="1"/>
          </p:cNvSpPr>
          <p:nvPr>
            <p:ph type="dt" sz="half" idx="10"/>
          </p:nvPr>
        </p:nvSpPr>
        <p:spPr/>
        <p:txBody>
          <a:bodyPr/>
          <a:lstStyle/>
          <a:p>
            <a:fld id="{8F29FD26-0981-4205-871D-895179B88314}" type="datetimeFigureOut">
              <a:rPr lang="es-419" smtClean="0"/>
              <a:t>4/9/2024</a:t>
            </a:fld>
            <a:endParaRPr lang="es-419"/>
          </a:p>
        </p:txBody>
      </p:sp>
      <p:sp>
        <p:nvSpPr>
          <p:cNvPr id="6" name="Marcador de pie de página 5">
            <a:extLst>
              <a:ext uri="{FF2B5EF4-FFF2-40B4-BE49-F238E27FC236}">
                <a16:creationId xmlns:a16="http://schemas.microsoft.com/office/drawing/2014/main" id="{A36D7865-4AAB-4623-8FBD-249FC3217532}"/>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12940CCF-0F75-4D77-A0C3-8971815EEB2C}"/>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594105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151275-DE27-4158-AA5F-44F5EE1C370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419"/>
          </a:p>
        </p:txBody>
      </p:sp>
      <p:sp>
        <p:nvSpPr>
          <p:cNvPr id="3" name="Marcador de posición de imagen 2">
            <a:extLst>
              <a:ext uri="{FF2B5EF4-FFF2-40B4-BE49-F238E27FC236}">
                <a16:creationId xmlns:a16="http://schemas.microsoft.com/office/drawing/2014/main" id="{7FB01499-763F-47B5-BFD1-63E77D563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419"/>
          </a:p>
        </p:txBody>
      </p:sp>
      <p:sp>
        <p:nvSpPr>
          <p:cNvPr id="4" name="Marcador de texto 3">
            <a:extLst>
              <a:ext uri="{FF2B5EF4-FFF2-40B4-BE49-F238E27FC236}">
                <a16:creationId xmlns:a16="http://schemas.microsoft.com/office/drawing/2014/main" id="{D9CFD260-36E3-4D33-9F42-DC51279BBE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D2EBD3E-F528-4CA4-A32B-F0A72B359747}"/>
              </a:ext>
            </a:extLst>
          </p:cNvPr>
          <p:cNvSpPr>
            <a:spLocks noGrp="1"/>
          </p:cNvSpPr>
          <p:nvPr>
            <p:ph type="dt" sz="half" idx="10"/>
          </p:nvPr>
        </p:nvSpPr>
        <p:spPr/>
        <p:txBody>
          <a:bodyPr/>
          <a:lstStyle/>
          <a:p>
            <a:fld id="{8F29FD26-0981-4205-871D-895179B88314}" type="datetimeFigureOut">
              <a:rPr lang="es-419" smtClean="0"/>
              <a:t>4/9/2024</a:t>
            </a:fld>
            <a:endParaRPr lang="es-419"/>
          </a:p>
        </p:txBody>
      </p:sp>
      <p:sp>
        <p:nvSpPr>
          <p:cNvPr id="6" name="Marcador de pie de página 5">
            <a:extLst>
              <a:ext uri="{FF2B5EF4-FFF2-40B4-BE49-F238E27FC236}">
                <a16:creationId xmlns:a16="http://schemas.microsoft.com/office/drawing/2014/main" id="{C627CDEF-92F2-40A0-BAE5-D2BD80227C19}"/>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58DBC24D-381D-41F8-9D66-8C221CD78554}"/>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1731469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D31BD0-76AA-4609-B77F-1A62E9CA2C7F}"/>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texto vertical 2">
            <a:extLst>
              <a:ext uri="{FF2B5EF4-FFF2-40B4-BE49-F238E27FC236}">
                <a16:creationId xmlns:a16="http://schemas.microsoft.com/office/drawing/2014/main" id="{95FDD779-50D6-40E5-BA33-7FF26DCF0DC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FC0CB4A4-EFE8-421F-935D-F071B90D42D2}"/>
              </a:ext>
            </a:extLst>
          </p:cNvPr>
          <p:cNvSpPr>
            <a:spLocks noGrp="1"/>
          </p:cNvSpPr>
          <p:nvPr>
            <p:ph type="dt" sz="half" idx="10"/>
          </p:nvPr>
        </p:nvSpPr>
        <p:spPr/>
        <p:txBody>
          <a:bodyPr/>
          <a:lstStyle/>
          <a:p>
            <a:fld id="{8F29FD26-0981-4205-871D-895179B88314}" type="datetimeFigureOut">
              <a:rPr lang="es-419" smtClean="0"/>
              <a:t>4/9/2024</a:t>
            </a:fld>
            <a:endParaRPr lang="es-419"/>
          </a:p>
        </p:txBody>
      </p:sp>
      <p:sp>
        <p:nvSpPr>
          <p:cNvPr id="5" name="Marcador de pie de página 4">
            <a:extLst>
              <a:ext uri="{FF2B5EF4-FFF2-40B4-BE49-F238E27FC236}">
                <a16:creationId xmlns:a16="http://schemas.microsoft.com/office/drawing/2014/main" id="{3E4501A0-A46C-4082-8991-E174E9FBA5E1}"/>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9D5DF1E6-391E-412D-BC62-BE28257C204C}"/>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4291353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2A5389C-24F0-40B8-B3A4-5B618437AC7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419"/>
          </a:p>
        </p:txBody>
      </p:sp>
      <p:sp>
        <p:nvSpPr>
          <p:cNvPr id="3" name="Marcador de texto vertical 2">
            <a:extLst>
              <a:ext uri="{FF2B5EF4-FFF2-40B4-BE49-F238E27FC236}">
                <a16:creationId xmlns:a16="http://schemas.microsoft.com/office/drawing/2014/main" id="{80265058-8B96-46CE-A8EE-7F30DCB57C7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A04C2B80-5F54-469C-B95C-236E218AE644}"/>
              </a:ext>
            </a:extLst>
          </p:cNvPr>
          <p:cNvSpPr>
            <a:spLocks noGrp="1"/>
          </p:cNvSpPr>
          <p:nvPr>
            <p:ph type="dt" sz="half" idx="10"/>
          </p:nvPr>
        </p:nvSpPr>
        <p:spPr/>
        <p:txBody>
          <a:bodyPr/>
          <a:lstStyle/>
          <a:p>
            <a:fld id="{8F29FD26-0981-4205-871D-895179B88314}" type="datetimeFigureOut">
              <a:rPr lang="es-419" smtClean="0"/>
              <a:t>4/9/2024</a:t>
            </a:fld>
            <a:endParaRPr lang="es-419"/>
          </a:p>
        </p:txBody>
      </p:sp>
      <p:sp>
        <p:nvSpPr>
          <p:cNvPr id="5" name="Marcador de pie de página 4">
            <a:extLst>
              <a:ext uri="{FF2B5EF4-FFF2-40B4-BE49-F238E27FC236}">
                <a16:creationId xmlns:a16="http://schemas.microsoft.com/office/drawing/2014/main" id="{04E4A53C-1617-402F-AEA5-31668F35D65F}"/>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D42DE16E-D827-4A85-B9BC-4058637C5C98}"/>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7671560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olo el título">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8D7D316-AA24-4AA3-98FC-FDF5882A2030}"/>
              </a:ext>
            </a:extLst>
          </p:cNvPr>
          <p:cNvSpPr>
            <a:spLocks noGrp="1"/>
          </p:cNvSpPr>
          <p:nvPr>
            <p:ph type="title"/>
          </p:nvPr>
        </p:nvSpPr>
        <p:spPr>
          <a:xfrm>
            <a:off x="838204" y="133841"/>
            <a:ext cx="10224477" cy="1323807"/>
          </a:xfrm>
          <a:prstGeom prst="rect">
            <a:avLst/>
          </a:prstGeom>
        </p:spPr>
        <p:txBody>
          <a:bodyPr/>
          <a:lstStyle>
            <a:lvl1pPr>
              <a:defRPr sz="4263" b="1">
                <a:solidFill>
                  <a:schemeClr val="accent5">
                    <a:lumMod val="75000"/>
                  </a:schemeClr>
                </a:solidFill>
              </a:defRPr>
            </a:lvl1pPr>
          </a:lstStyle>
          <a:p>
            <a:r>
              <a:rPr lang="es-ES"/>
              <a:t>Haga clic para modificar el estilo de título del patrón</a:t>
            </a:r>
            <a:endParaRPr lang="es-PE"/>
          </a:p>
        </p:txBody>
      </p:sp>
    </p:spTree>
    <p:extLst>
      <p:ext uri="{BB962C8B-B14F-4D97-AF65-F5344CB8AC3E}">
        <p14:creationId xmlns:p14="http://schemas.microsoft.com/office/powerpoint/2010/main" val="2266310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04291EF-15E9-414F-95EC-8F59D36B1C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4A4EA333-6386-4D76-AC88-517C11CF86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17108574-E514-4EEB-B046-9A3DB5F397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29FD26-0981-4205-871D-895179B88314}" type="datetimeFigureOut">
              <a:rPr lang="es-419" smtClean="0"/>
              <a:t>4/9/2024</a:t>
            </a:fld>
            <a:endParaRPr lang="es-419"/>
          </a:p>
        </p:txBody>
      </p:sp>
      <p:sp>
        <p:nvSpPr>
          <p:cNvPr id="5" name="Marcador de pie de página 4">
            <a:extLst>
              <a:ext uri="{FF2B5EF4-FFF2-40B4-BE49-F238E27FC236}">
                <a16:creationId xmlns:a16="http://schemas.microsoft.com/office/drawing/2014/main" id="{0F92D44A-6FF1-4AA9-8628-83F79F65C5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419"/>
          </a:p>
        </p:txBody>
      </p:sp>
      <p:sp>
        <p:nvSpPr>
          <p:cNvPr id="6" name="Marcador de número de diapositiva 5">
            <a:extLst>
              <a:ext uri="{FF2B5EF4-FFF2-40B4-BE49-F238E27FC236}">
                <a16:creationId xmlns:a16="http://schemas.microsoft.com/office/drawing/2014/main" id="{90E3C7ED-7510-4B32-96A0-A10D7CC1A2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2787B5-27E6-4680-BFC4-A185ECDA7C5B}" type="slidenum">
              <a:rPr lang="es-419" smtClean="0"/>
              <a:t>‹Nº›</a:t>
            </a:fld>
            <a:endParaRPr lang="es-419"/>
          </a:p>
        </p:txBody>
      </p:sp>
    </p:spTree>
    <p:extLst>
      <p:ext uri="{BB962C8B-B14F-4D97-AF65-F5344CB8AC3E}">
        <p14:creationId xmlns:p14="http://schemas.microsoft.com/office/powerpoint/2010/main" val="370057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D2D66F62-5EF4-E640-8F00-37B5AB567BFE}"/>
              </a:ext>
            </a:extLst>
          </p:cNvPr>
          <p:cNvSpPr txBox="1">
            <a:spLocks noChangeArrowheads="1"/>
          </p:cNvSpPr>
          <p:nvPr/>
        </p:nvSpPr>
        <p:spPr>
          <a:xfrm>
            <a:off x="861147" y="3517621"/>
            <a:ext cx="10191750" cy="938981"/>
          </a:xfrm>
          <a:prstGeom prst="rect">
            <a:avLst/>
          </a:prstGeom>
        </p:spPr>
        <p:txBody>
          <a:bodyPr/>
          <a:lstStyle/>
          <a:p>
            <a:pPr algn="ctr" defTabSz="1217947">
              <a:defRPr/>
            </a:pPr>
            <a:r>
              <a:rPr lang="es-PE" sz="3600" b="1" dirty="0">
                <a:latin typeface="Arial"/>
                <a:ea typeface="+mj-ea"/>
                <a:cs typeface="Arial"/>
              </a:rPr>
              <a:t>GERENCIA DE ANÁLISIS DE FONDO ADUANAS</a:t>
            </a:r>
          </a:p>
          <a:p>
            <a:pPr algn="ctr" defTabSz="1217947">
              <a:defRPr/>
            </a:pPr>
            <a:endParaRPr lang="es-PE" sz="2400" b="1" dirty="0">
              <a:latin typeface="Arial"/>
              <a:ea typeface="+mj-ea"/>
              <a:cs typeface="Arial"/>
            </a:endParaRPr>
          </a:p>
        </p:txBody>
      </p:sp>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796326" y="267539"/>
            <a:ext cx="2060746" cy="572573"/>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6" name="Rectangle 2">
            <a:extLst>
              <a:ext uri="{FF2B5EF4-FFF2-40B4-BE49-F238E27FC236}">
                <a16:creationId xmlns:a16="http://schemas.microsoft.com/office/drawing/2014/main" id="{919B8A05-1ED3-443D-A7BD-4492F8B9CE89}"/>
              </a:ext>
            </a:extLst>
          </p:cNvPr>
          <p:cNvSpPr txBox="1">
            <a:spLocks noChangeArrowheads="1"/>
          </p:cNvSpPr>
          <p:nvPr/>
        </p:nvSpPr>
        <p:spPr>
          <a:xfrm>
            <a:off x="714375" y="2178278"/>
            <a:ext cx="10763250" cy="938981"/>
          </a:xfrm>
          <a:prstGeom prst="rect">
            <a:avLst/>
          </a:prstGeom>
        </p:spPr>
        <p:txBody>
          <a:bodyPr/>
          <a:lstStyle/>
          <a:p>
            <a:pPr algn="ctr" defTabSz="1217947">
              <a:defRPr/>
            </a:pPr>
            <a:r>
              <a:rPr lang="es-PE" sz="3500" b="1" dirty="0">
                <a:latin typeface="Arial"/>
                <a:ea typeface="+mj-ea"/>
                <a:cs typeface="Arial"/>
              </a:rPr>
              <a:t>INTENDENCIA NACIONAL DE IMPUGNACIONES</a:t>
            </a:r>
          </a:p>
          <a:p>
            <a:pPr algn="ctr" defTabSz="1217947">
              <a:defRPr/>
            </a:pPr>
            <a:endParaRPr lang="es-PE" sz="2400" b="1" dirty="0">
              <a:latin typeface="Arial"/>
              <a:ea typeface="+mj-ea"/>
              <a:cs typeface="Arial"/>
            </a:endParaRPr>
          </a:p>
        </p:txBody>
      </p:sp>
    </p:spTree>
    <p:extLst>
      <p:ext uri="{BB962C8B-B14F-4D97-AF65-F5344CB8AC3E}">
        <p14:creationId xmlns:p14="http://schemas.microsoft.com/office/powerpoint/2010/main" val="40695348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INGRESOS Y SALIDAS DE RECLAMACIONES 2019-2024*</a:t>
            </a:r>
            <a:endParaRPr lang="es-PE" sz="2800" b="1" dirty="0">
              <a:latin typeface="Arial" panose="020B0604020202020204" pitchFamily="34" charset="0"/>
              <a:cs typeface="Arial" panose="020B0604020202020204" pitchFamily="34" charset="0"/>
            </a:endParaRPr>
          </a:p>
        </p:txBody>
      </p:sp>
      <p:sp>
        <p:nvSpPr>
          <p:cNvPr id="8" name="CuadroTexto 7">
            <a:extLst>
              <a:ext uri="{FF2B5EF4-FFF2-40B4-BE49-F238E27FC236}">
                <a16:creationId xmlns:a16="http://schemas.microsoft.com/office/drawing/2014/main" id="{DA8136A2-0473-ED01-6C0D-CE6FCF440D43}"/>
              </a:ext>
            </a:extLst>
          </p:cNvPr>
          <p:cNvSpPr txBox="1"/>
          <p:nvPr/>
        </p:nvSpPr>
        <p:spPr>
          <a:xfrm>
            <a:off x="2086846" y="1147434"/>
            <a:ext cx="7562850" cy="707886"/>
          </a:xfrm>
          <a:prstGeom prst="rect">
            <a:avLst/>
          </a:prstGeom>
          <a:noFill/>
        </p:spPr>
        <p:txBody>
          <a:bodyPr wrap="square" rtlCol="0">
            <a:spAutoFit/>
          </a:bodyPr>
          <a:lstStyle/>
          <a:p>
            <a:pPr algn="ctr"/>
            <a:r>
              <a:rPr lang="es-ES" sz="2000" b="1" dirty="0"/>
              <a:t>EVOLUCIÓN DE INGRESOS Y SALIDAS EXPEDIENTES DE RECLAMO 2019-2024*</a:t>
            </a:r>
            <a:endParaRPr lang="es-PE" sz="2000" b="1" dirty="0"/>
          </a:p>
        </p:txBody>
      </p:sp>
      <p:graphicFrame>
        <p:nvGraphicFramePr>
          <p:cNvPr id="3" name="Tabla 2">
            <a:extLst>
              <a:ext uri="{FF2B5EF4-FFF2-40B4-BE49-F238E27FC236}">
                <a16:creationId xmlns:a16="http://schemas.microsoft.com/office/drawing/2014/main" id="{92D20683-F364-E956-9C4F-D440AA5ED83A}"/>
              </a:ext>
            </a:extLst>
          </p:cNvPr>
          <p:cNvGraphicFramePr>
            <a:graphicFrameLocks noGrp="1"/>
          </p:cNvGraphicFramePr>
          <p:nvPr>
            <p:extLst>
              <p:ext uri="{D42A27DB-BD31-4B8C-83A1-F6EECF244321}">
                <p14:modId xmlns:p14="http://schemas.microsoft.com/office/powerpoint/2010/main" val="2168784307"/>
              </p:ext>
            </p:extLst>
          </p:nvPr>
        </p:nvGraphicFramePr>
        <p:xfrm>
          <a:off x="1617945" y="1983287"/>
          <a:ext cx="8707594" cy="951934"/>
        </p:xfrm>
        <a:graphic>
          <a:graphicData uri="http://schemas.openxmlformats.org/drawingml/2006/table">
            <a:tbl>
              <a:tblPr firstRow="1" firstCol="1" bandRow="1"/>
              <a:tblGrid>
                <a:gridCol w="1243942">
                  <a:extLst>
                    <a:ext uri="{9D8B030D-6E8A-4147-A177-3AD203B41FA5}">
                      <a16:colId xmlns:a16="http://schemas.microsoft.com/office/drawing/2014/main" val="4093851502"/>
                    </a:ext>
                  </a:extLst>
                </a:gridCol>
                <a:gridCol w="1243942">
                  <a:extLst>
                    <a:ext uri="{9D8B030D-6E8A-4147-A177-3AD203B41FA5}">
                      <a16:colId xmlns:a16="http://schemas.microsoft.com/office/drawing/2014/main" val="3969460617"/>
                    </a:ext>
                  </a:extLst>
                </a:gridCol>
                <a:gridCol w="1243942">
                  <a:extLst>
                    <a:ext uri="{9D8B030D-6E8A-4147-A177-3AD203B41FA5}">
                      <a16:colId xmlns:a16="http://schemas.microsoft.com/office/drawing/2014/main" val="198342931"/>
                    </a:ext>
                  </a:extLst>
                </a:gridCol>
                <a:gridCol w="1243942">
                  <a:extLst>
                    <a:ext uri="{9D8B030D-6E8A-4147-A177-3AD203B41FA5}">
                      <a16:colId xmlns:a16="http://schemas.microsoft.com/office/drawing/2014/main" val="2370426896"/>
                    </a:ext>
                  </a:extLst>
                </a:gridCol>
                <a:gridCol w="1243942">
                  <a:extLst>
                    <a:ext uri="{9D8B030D-6E8A-4147-A177-3AD203B41FA5}">
                      <a16:colId xmlns:a16="http://schemas.microsoft.com/office/drawing/2014/main" val="1469780919"/>
                    </a:ext>
                  </a:extLst>
                </a:gridCol>
                <a:gridCol w="1243942">
                  <a:extLst>
                    <a:ext uri="{9D8B030D-6E8A-4147-A177-3AD203B41FA5}">
                      <a16:colId xmlns:a16="http://schemas.microsoft.com/office/drawing/2014/main" val="2591977041"/>
                    </a:ext>
                  </a:extLst>
                </a:gridCol>
                <a:gridCol w="1243942">
                  <a:extLst>
                    <a:ext uri="{9D8B030D-6E8A-4147-A177-3AD203B41FA5}">
                      <a16:colId xmlns:a16="http://schemas.microsoft.com/office/drawing/2014/main" val="3152186309"/>
                    </a:ext>
                  </a:extLst>
                </a:gridCol>
              </a:tblGrid>
              <a:tr h="309282">
                <a:tc>
                  <a:txBody>
                    <a:bodyPr/>
                    <a:lstStyle/>
                    <a:p>
                      <a:pPr algn="l" rtl="0" fontAlgn="ctr"/>
                      <a:r>
                        <a:rPr lang="es-PE" sz="2000" b="1" i="0" u="none" strike="noStrike">
                          <a:solidFill>
                            <a:srgbClr val="000000"/>
                          </a:solidFill>
                          <a:effectLst/>
                          <a:latin typeface="Calibri" panose="020F0502020204030204" pitchFamily="34" charset="0"/>
                        </a:rPr>
                        <a:t>DETALLE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dirty="0">
                          <a:solidFill>
                            <a:srgbClr val="000000"/>
                          </a:solidFill>
                          <a:effectLst/>
                          <a:latin typeface="Calibri" panose="020F0502020204030204" pitchFamily="34" charset="0"/>
                        </a:rPr>
                        <a:t>2019</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a:solidFill>
                            <a:srgbClr val="000000"/>
                          </a:solidFill>
                          <a:effectLst/>
                          <a:latin typeface="Calibri" panose="020F0502020204030204" pitchFamily="34" charset="0"/>
                        </a:rPr>
                        <a:t>2020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a:solidFill>
                            <a:srgbClr val="000000"/>
                          </a:solidFill>
                          <a:effectLst/>
                          <a:latin typeface="Calibri" panose="020F0502020204030204" pitchFamily="34" charset="0"/>
                        </a:rPr>
                        <a:t>2021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dirty="0">
                          <a:solidFill>
                            <a:srgbClr val="000000"/>
                          </a:solidFill>
                          <a:effectLst/>
                          <a:latin typeface="Calibri" panose="020F0502020204030204" pitchFamily="34" charset="0"/>
                        </a:rPr>
                        <a:t>2022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a:solidFill>
                            <a:srgbClr val="000000"/>
                          </a:solidFill>
                          <a:effectLst/>
                          <a:latin typeface="Calibri" panose="020F0502020204030204" pitchFamily="34" charset="0"/>
                        </a:rPr>
                        <a:t>2023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1" i="0" u="none" strike="noStrike">
                          <a:solidFill>
                            <a:srgbClr val="000000"/>
                          </a:solidFill>
                          <a:effectLst/>
                          <a:latin typeface="Calibri" panose="020F0502020204030204" pitchFamily="34" charset="0"/>
                        </a:rPr>
                        <a:t>2024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extLst>
                  <a:ext uri="{0D108BD9-81ED-4DB2-BD59-A6C34878D82A}">
                    <a16:rowId xmlns:a16="http://schemas.microsoft.com/office/drawing/2014/main" val="125101519"/>
                  </a:ext>
                </a:extLst>
              </a:tr>
              <a:tr h="321326">
                <a:tc>
                  <a:txBody>
                    <a:bodyPr/>
                    <a:lstStyle/>
                    <a:p>
                      <a:pPr algn="l" rtl="0" fontAlgn="ctr"/>
                      <a:r>
                        <a:rPr lang="es-PE" sz="2000" b="1" i="0" u="none" strike="noStrike">
                          <a:solidFill>
                            <a:srgbClr val="000000"/>
                          </a:solidFill>
                          <a:effectLst/>
                          <a:latin typeface="Calibri" panose="020F0502020204030204" pitchFamily="34" charset="0"/>
                        </a:rPr>
                        <a:t>INGRESOS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0" i="0" u="none" strike="noStrike">
                          <a:solidFill>
                            <a:srgbClr val="000000"/>
                          </a:solidFill>
                          <a:effectLst/>
                          <a:latin typeface="Calibri" panose="020F0502020204030204" pitchFamily="34" charset="0"/>
                        </a:rPr>
                        <a:t>4,409</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r" rtl="0" fontAlgn="ctr"/>
                      <a:r>
                        <a:rPr lang="es-PE" sz="2000" b="0" i="0" u="none" strike="noStrike" dirty="0">
                          <a:solidFill>
                            <a:srgbClr val="000000"/>
                          </a:solidFill>
                          <a:effectLst/>
                          <a:latin typeface="Calibri" panose="020F0502020204030204" pitchFamily="34" charset="0"/>
                        </a:rPr>
                        <a:t>3,249</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r" rtl="0" fontAlgn="ctr"/>
                      <a:r>
                        <a:rPr lang="es-PE" sz="2000" b="0" i="0" u="none" strike="noStrike" dirty="0">
                          <a:solidFill>
                            <a:srgbClr val="000000"/>
                          </a:solidFill>
                          <a:effectLst/>
                          <a:latin typeface="Calibri" panose="020F0502020204030204" pitchFamily="34" charset="0"/>
                        </a:rPr>
                        <a:t>5,860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r" rtl="0" fontAlgn="ctr"/>
                      <a:r>
                        <a:rPr lang="es-PE" sz="2000" b="0" i="0" u="none" strike="noStrike">
                          <a:solidFill>
                            <a:srgbClr val="000000"/>
                          </a:solidFill>
                          <a:effectLst/>
                          <a:latin typeface="Calibri" panose="020F0502020204030204" pitchFamily="34" charset="0"/>
                        </a:rPr>
                        <a:t>5,970</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r" rtl="0" fontAlgn="ctr"/>
                      <a:r>
                        <a:rPr lang="es-PE" sz="2000" b="0" i="0" u="none" strike="noStrike" dirty="0">
                          <a:solidFill>
                            <a:srgbClr val="000000"/>
                          </a:solidFill>
                          <a:effectLst/>
                          <a:latin typeface="Calibri" panose="020F0502020204030204" pitchFamily="34" charset="0"/>
                        </a:rPr>
                        <a:t>4,678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gn="r" rtl="0" fontAlgn="ctr"/>
                      <a:r>
                        <a:rPr lang="es-PE" sz="2000" b="0" i="0" u="none" strike="noStrike" dirty="0">
                          <a:solidFill>
                            <a:srgbClr val="000000"/>
                          </a:solidFill>
                          <a:effectLst/>
                          <a:highlight>
                            <a:srgbClr val="FFFF00"/>
                          </a:highlight>
                          <a:latin typeface="Calibri" panose="020F0502020204030204" pitchFamily="34" charset="0"/>
                        </a:rPr>
                        <a:t>1,206</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908671636"/>
                  </a:ext>
                </a:extLst>
              </a:tr>
              <a:tr h="321326">
                <a:tc>
                  <a:txBody>
                    <a:bodyPr/>
                    <a:lstStyle/>
                    <a:p>
                      <a:pPr algn="l" rtl="0" fontAlgn="ctr"/>
                      <a:r>
                        <a:rPr lang="es-PE" sz="2000" b="1" i="0" u="none" strike="noStrike">
                          <a:solidFill>
                            <a:srgbClr val="000000"/>
                          </a:solidFill>
                          <a:effectLst/>
                          <a:latin typeface="Calibri" panose="020F0502020204030204" pitchFamily="34" charset="0"/>
                        </a:rPr>
                        <a:t>SALIDAS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r" rtl="0" fontAlgn="ctr"/>
                      <a:r>
                        <a:rPr lang="es-PE" sz="2000" b="0" i="0" u="none" strike="noStrike">
                          <a:solidFill>
                            <a:srgbClr val="000000"/>
                          </a:solidFill>
                          <a:effectLst/>
                          <a:latin typeface="Calibri" panose="020F0502020204030204" pitchFamily="34" charset="0"/>
                        </a:rPr>
                        <a:t>3,435</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r" rtl="0" fontAlgn="ctr"/>
                      <a:r>
                        <a:rPr lang="es-PE" sz="2000" b="0" i="0" u="none" strike="noStrike">
                          <a:solidFill>
                            <a:srgbClr val="000000"/>
                          </a:solidFill>
                          <a:effectLst/>
                          <a:latin typeface="Calibri" panose="020F0502020204030204" pitchFamily="34" charset="0"/>
                        </a:rPr>
                        <a:t>2,981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r" rtl="0" fontAlgn="ctr"/>
                      <a:r>
                        <a:rPr lang="es-PE" sz="2000" b="0" i="0" u="none" strike="noStrike">
                          <a:solidFill>
                            <a:srgbClr val="000000"/>
                          </a:solidFill>
                          <a:effectLst/>
                          <a:latin typeface="Calibri" panose="020F0502020204030204" pitchFamily="34" charset="0"/>
                        </a:rPr>
                        <a:t>3,455</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r" rtl="0" fontAlgn="ctr"/>
                      <a:r>
                        <a:rPr lang="es-PE" sz="2000" b="0" i="0" u="none" strike="noStrike" dirty="0">
                          <a:solidFill>
                            <a:srgbClr val="000000"/>
                          </a:solidFill>
                          <a:effectLst/>
                          <a:latin typeface="Calibri" panose="020F0502020204030204" pitchFamily="34" charset="0"/>
                        </a:rPr>
                        <a:t>5,581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r" rtl="0" fontAlgn="ctr"/>
                      <a:r>
                        <a:rPr lang="es-PE" sz="2000" b="0" i="0" u="none" strike="noStrike" dirty="0">
                          <a:solidFill>
                            <a:srgbClr val="000000"/>
                          </a:solidFill>
                          <a:effectLst/>
                          <a:latin typeface="Calibri" panose="020F0502020204030204" pitchFamily="34" charset="0"/>
                        </a:rPr>
                        <a:t>6,248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r" rtl="0" fontAlgn="ctr"/>
                      <a:r>
                        <a:rPr lang="es-PE" sz="2000" b="0" i="0" u="none" strike="noStrike" dirty="0">
                          <a:solidFill>
                            <a:srgbClr val="000000"/>
                          </a:solidFill>
                          <a:effectLst/>
                          <a:highlight>
                            <a:srgbClr val="FFFF00"/>
                          </a:highlight>
                          <a:latin typeface="Calibri" panose="020F0502020204030204" pitchFamily="34" charset="0"/>
                        </a:rPr>
                        <a:t>1,318</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558584415"/>
                  </a:ext>
                </a:extLst>
              </a:tr>
            </a:tbl>
          </a:graphicData>
        </a:graphic>
      </p:graphicFrame>
      <p:graphicFrame>
        <p:nvGraphicFramePr>
          <p:cNvPr id="4" name="Gráfico 3">
            <a:extLst>
              <a:ext uri="{FF2B5EF4-FFF2-40B4-BE49-F238E27FC236}">
                <a16:creationId xmlns:a16="http://schemas.microsoft.com/office/drawing/2014/main" id="{4FE17D7D-2799-58B1-C4FA-F339EFEFFD46}"/>
              </a:ext>
            </a:extLst>
          </p:cNvPr>
          <p:cNvGraphicFramePr>
            <a:graphicFrameLocks/>
          </p:cNvGraphicFramePr>
          <p:nvPr>
            <p:extLst>
              <p:ext uri="{D42A27DB-BD31-4B8C-83A1-F6EECF244321}">
                <p14:modId xmlns:p14="http://schemas.microsoft.com/office/powerpoint/2010/main" val="964978860"/>
              </p:ext>
            </p:extLst>
          </p:nvPr>
        </p:nvGraphicFramePr>
        <p:xfrm>
          <a:off x="1619372" y="3139100"/>
          <a:ext cx="8707595" cy="2962250"/>
        </p:xfrm>
        <a:graphic>
          <a:graphicData uri="http://schemas.openxmlformats.org/drawingml/2006/chart">
            <c:chart xmlns:c="http://schemas.openxmlformats.org/drawingml/2006/chart" xmlns:r="http://schemas.openxmlformats.org/officeDocument/2006/relationships" r:id="rId4"/>
          </a:graphicData>
        </a:graphic>
      </p:graphicFrame>
      <p:sp>
        <p:nvSpPr>
          <p:cNvPr id="7" name="CuadroTexto 6">
            <a:extLst>
              <a:ext uri="{FF2B5EF4-FFF2-40B4-BE49-F238E27FC236}">
                <a16:creationId xmlns:a16="http://schemas.microsoft.com/office/drawing/2014/main" id="{B61CC4B4-FE39-48D4-90AB-3AA1280F5B02}"/>
              </a:ext>
            </a:extLst>
          </p:cNvPr>
          <p:cNvSpPr txBox="1"/>
          <p:nvPr/>
        </p:nvSpPr>
        <p:spPr>
          <a:xfrm>
            <a:off x="1104900" y="6459239"/>
            <a:ext cx="3419475" cy="261610"/>
          </a:xfrm>
          <a:prstGeom prst="rect">
            <a:avLst/>
          </a:prstGeom>
          <a:noFill/>
        </p:spPr>
        <p:txBody>
          <a:bodyPr wrap="square" rtlCol="0">
            <a:spAutoFit/>
          </a:bodyPr>
          <a:lstStyle/>
          <a:p>
            <a:r>
              <a:rPr lang="es-ES" sz="1100" b="1" dirty="0"/>
              <a:t>*</a:t>
            </a:r>
            <a:r>
              <a:rPr lang="es-ES" sz="1100" b="1" dirty="0">
                <a:highlight>
                  <a:srgbClr val="FFFF00"/>
                </a:highlight>
              </a:rPr>
              <a:t>Primer trimestre 2024 FALTA ACTUALIZAR</a:t>
            </a:r>
            <a:endParaRPr lang="es-PE" sz="1100" b="1" dirty="0">
              <a:highlight>
                <a:srgbClr val="FFFF00"/>
              </a:highlight>
            </a:endParaRPr>
          </a:p>
        </p:txBody>
      </p:sp>
    </p:spTree>
    <p:extLst>
      <p:ext uri="{BB962C8B-B14F-4D97-AF65-F5344CB8AC3E}">
        <p14:creationId xmlns:p14="http://schemas.microsoft.com/office/powerpoint/2010/main" val="33333534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STOCK DE DOCUMENTOS– 2024</a:t>
            </a:r>
            <a:endParaRPr lang="es-PE" sz="2800" b="1" dirty="0">
              <a:latin typeface="Arial" panose="020B0604020202020204" pitchFamily="34" charset="0"/>
              <a:cs typeface="Arial" panose="020B0604020202020204" pitchFamily="34" charset="0"/>
            </a:endParaRPr>
          </a:p>
        </p:txBody>
      </p:sp>
      <p:sp>
        <p:nvSpPr>
          <p:cNvPr id="10" name="Flecha: a la derecha 9">
            <a:extLst>
              <a:ext uri="{FF2B5EF4-FFF2-40B4-BE49-F238E27FC236}">
                <a16:creationId xmlns:a16="http://schemas.microsoft.com/office/drawing/2014/main" id="{56F964CE-6A15-CC82-91F5-317A16FEDABD}"/>
              </a:ext>
            </a:extLst>
          </p:cNvPr>
          <p:cNvSpPr/>
          <p:nvPr/>
        </p:nvSpPr>
        <p:spPr>
          <a:xfrm>
            <a:off x="4200117" y="3176728"/>
            <a:ext cx="927907" cy="880323"/>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 sz="1600" b="1" dirty="0"/>
              <a:t>TOTAL</a:t>
            </a:r>
            <a:endParaRPr lang="es-PE" sz="1600" b="1" dirty="0"/>
          </a:p>
        </p:txBody>
      </p:sp>
      <p:graphicFrame>
        <p:nvGraphicFramePr>
          <p:cNvPr id="8" name="Tabla 7">
            <a:extLst>
              <a:ext uri="{FF2B5EF4-FFF2-40B4-BE49-F238E27FC236}">
                <a16:creationId xmlns:a16="http://schemas.microsoft.com/office/drawing/2014/main" id="{42F9C33F-9E22-4CEF-FF21-529EBFB9BABA}"/>
              </a:ext>
            </a:extLst>
          </p:cNvPr>
          <p:cNvGraphicFramePr>
            <a:graphicFrameLocks noGrp="1"/>
          </p:cNvGraphicFramePr>
          <p:nvPr>
            <p:extLst>
              <p:ext uri="{D42A27DB-BD31-4B8C-83A1-F6EECF244321}">
                <p14:modId xmlns:p14="http://schemas.microsoft.com/office/powerpoint/2010/main" val="628411774"/>
              </p:ext>
            </p:extLst>
          </p:nvPr>
        </p:nvGraphicFramePr>
        <p:xfrm>
          <a:off x="900593" y="1353466"/>
          <a:ext cx="2518882" cy="1422430"/>
        </p:xfrm>
        <a:graphic>
          <a:graphicData uri="http://schemas.openxmlformats.org/drawingml/2006/table">
            <a:tbl>
              <a:tblPr/>
              <a:tblGrid>
                <a:gridCol w="1529820">
                  <a:extLst>
                    <a:ext uri="{9D8B030D-6E8A-4147-A177-3AD203B41FA5}">
                      <a16:colId xmlns:a16="http://schemas.microsoft.com/office/drawing/2014/main" val="303441847"/>
                    </a:ext>
                  </a:extLst>
                </a:gridCol>
                <a:gridCol w="347184">
                  <a:extLst>
                    <a:ext uri="{9D8B030D-6E8A-4147-A177-3AD203B41FA5}">
                      <a16:colId xmlns:a16="http://schemas.microsoft.com/office/drawing/2014/main" val="1716151770"/>
                    </a:ext>
                  </a:extLst>
                </a:gridCol>
                <a:gridCol w="641878">
                  <a:extLst>
                    <a:ext uri="{9D8B030D-6E8A-4147-A177-3AD203B41FA5}">
                      <a16:colId xmlns:a16="http://schemas.microsoft.com/office/drawing/2014/main" val="757411442"/>
                    </a:ext>
                  </a:extLst>
                </a:gridCol>
              </a:tblGrid>
              <a:tr h="350941">
                <a:tc gridSpan="2">
                  <a:txBody>
                    <a:bodyPr/>
                    <a:lstStyle/>
                    <a:p>
                      <a:pPr algn="ctr" fontAlgn="ctr"/>
                      <a:r>
                        <a:rPr lang="es-PE" sz="1400" b="1" i="0" u="none" strike="noStrike" dirty="0">
                          <a:solidFill>
                            <a:srgbClr val="000000"/>
                          </a:solidFill>
                          <a:effectLst/>
                          <a:latin typeface="+mn-lt"/>
                        </a:rPr>
                        <a:t>DCCI</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hMerge="1">
                  <a:txBody>
                    <a:bodyPr/>
                    <a:lstStyle/>
                    <a:p>
                      <a:endParaRPr lang="es-PE"/>
                    </a:p>
                  </a:txBody>
                  <a:tcPr/>
                </a:tc>
                <a:tc>
                  <a:txBody>
                    <a:bodyPr/>
                    <a:lstStyle/>
                    <a:p>
                      <a:pPr algn="ctr" fontAlgn="ctr"/>
                      <a:r>
                        <a:rPr lang="es-ES" sz="1400" b="1" i="0" u="none" strike="noStrike" dirty="0">
                          <a:solidFill>
                            <a:srgbClr val="000000"/>
                          </a:solidFill>
                          <a:effectLst/>
                          <a:latin typeface="+mn-lt"/>
                        </a:rPr>
                        <a:t>            </a:t>
                      </a:r>
                      <a:endParaRPr lang="es-PE" sz="1400" b="1" i="0" u="none" strike="noStrike" dirty="0">
                        <a:solidFill>
                          <a:srgbClr val="000000"/>
                        </a:solidFill>
                        <a:effectLst/>
                        <a:latin typeface="+mn-lt"/>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extLst>
                  <a:ext uri="{0D108BD9-81ED-4DB2-BD59-A6C34878D82A}">
                    <a16:rowId xmlns:a16="http://schemas.microsoft.com/office/drawing/2014/main" val="3528009855"/>
                  </a:ext>
                </a:extLst>
              </a:tr>
              <a:tr h="315230">
                <a:tc>
                  <a:txBody>
                    <a:bodyPr/>
                    <a:lstStyle/>
                    <a:p>
                      <a:pPr algn="l" fontAlgn="ctr"/>
                      <a:r>
                        <a:rPr lang="es-PE" sz="1400" b="1" i="0" u="none" strike="noStrike" dirty="0">
                          <a:solidFill>
                            <a:srgbClr val="000000"/>
                          </a:solidFill>
                          <a:effectLst/>
                          <a:latin typeface="+mn-lt"/>
                        </a:rPr>
                        <a:t>FONDO</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gridSpan="2">
                  <a:txBody>
                    <a:bodyPr/>
                    <a:lstStyle/>
                    <a:p>
                      <a:pPr algn="ctr" fontAlgn="ctr"/>
                      <a:r>
                        <a:rPr lang="es-PE" sz="1400" b="1" i="0" u="none" strike="noStrike" dirty="0">
                          <a:solidFill>
                            <a:schemeClr val="tx1"/>
                          </a:solidFill>
                          <a:effectLst/>
                          <a:latin typeface="+mn-lt"/>
                        </a:rPr>
                        <a:t>360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hMerge="1">
                  <a:txBody>
                    <a:bodyPr/>
                    <a:lstStyle/>
                    <a:p>
                      <a:endParaRPr lang="es-PE"/>
                    </a:p>
                  </a:txBody>
                  <a:tcPr/>
                </a:tc>
                <a:extLst>
                  <a:ext uri="{0D108BD9-81ED-4DB2-BD59-A6C34878D82A}">
                    <a16:rowId xmlns:a16="http://schemas.microsoft.com/office/drawing/2014/main" val="2944027070"/>
                  </a:ext>
                </a:extLst>
              </a:tr>
              <a:tr h="441029">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gridSpan="2">
                  <a:txBody>
                    <a:bodyPr/>
                    <a:lstStyle/>
                    <a:p>
                      <a:pPr algn="ctr" fontAlgn="ctr"/>
                      <a:r>
                        <a:rPr lang="es-PE" sz="1400" b="1" i="0" u="none" strike="noStrike" dirty="0">
                          <a:solidFill>
                            <a:schemeClr val="tx1"/>
                          </a:solidFill>
                          <a:effectLst/>
                          <a:latin typeface="+mn-lt"/>
                        </a:rPr>
                        <a:t>125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hMerge="1">
                  <a:txBody>
                    <a:bodyPr/>
                    <a:lstStyle/>
                    <a:p>
                      <a:endParaRPr lang="es-PE"/>
                    </a:p>
                  </a:txBody>
                  <a:tcPr/>
                </a:tc>
                <a:extLst>
                  <a:ext uri="{0D108BD9-81ED-4DB2-BD59-A6C34878D82A}">
                    <a16:rowId xmlns:a16="http://schemas.microsoft.com/office/drawing/2014/main" val="3217716666"/>
                  </a:ext>
                </a:extLst>
              </a:tr>
              <a:tr h="315230">
                <a:tc>
                  <a:txBody>
                    <a:bodyPr/>
                    <a:lstStyle/>
                    <a:p>
                      <a:pPr algn="l" fontAlgn="ctr"/>
                      <a:r>
                        <a:rPr lang="es-PE" sz="1400" b="1" i="0" u="none" strike="noStrike" dirty="0">
                          <a:solidFill>
                            <a:srgbClr val="000000"/>
                          </a:solidFill>
                          <a:effectLst/>
                          <a:latin typeface="+mn-lt"/>
                        </a:rPr>
                        <a:t>TOTAL</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gridSpan="2">
                  <a:txBody>
                    <a:bodyPr/>
                    <a:lstStyle/>
                    <a:p>
                      <a:pPr algn="ctr" fontAlgn="ctr"/>
                      <a:r>
                        <a:rPr lang="es-ES" sz="1400" b="1" i="0" u="none" strike="noStrike" dirty="0">
                          <a:solidFill>
                            <a:schemeClr val="tx1"/>
                          </a:solidFill>
                          <a:effectLst/>
                          <a:latin typeface="+mn-lt"/>
                        </a:rPr>
                        <a:t>485</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hMerge="1">
                  <a:txBody>
                    <a:bodyPr/>
                    <a:lstStyle/>
                    <a:p>
                      <a:endParaRPr lang="es-PE"/>
                    </a:p>
                  </a:txBody>
                  <a:tcPr/>
                </a:tc>
                <a:extLst>
                  <a:ext uri="{0D108BD9-81ED-4DB2-BD59-A6C34878D82A}">
                    <a16:rowId xmlns:a16="http://schemas.microsoft.com/office/drawing/2014/main" val="2331887893"/>
                  </a:ext>
                </a:extLst>
              </a:tr>
            </a:tbl>
          </a:graphicData>
        </a:graphic>
      </p:graphicFrame>
      <p:graphicFrame>
        <p:nvGraphicFramePr>
          <p:cNvPr id="11" name="Tabla 10">
            <a:extLst>
              <a:ext uri="{FF2B5EF4-FFF2-40B4-BE49-F238E27FC236}">
                <a16:creationId xmlns:a16="http://schemas.microsoft.com/office/drawing/2014/main" id="{E5EFB618-4604-09BB-AFE3-37F61C5C02EF}"/>
              </a:ext>
            </a:extLst>
          </p:cNvPr>
          <p:cNvGraphicFramePr>
            <a:graphicFrameLocks noGrp="1"/>
          </p:cNvGraphicFramePr>
          <p:nvPr>
            <p:extLst>
              <p:ext uri="{D42A27DB-BD31-4B8C-83A1-F6EECF244321}">
                <p14:modId xmlns:p14="http://schemas.microsoft.com/office/powerpoint/2010/main" val="3951485019"/>
              </p:ext>
            </p:extLst>
          </p:nvPr>
        </p:nvGraphicFramePr>
        <p:xfrm>
          <a:off x="900592" y="2876867"/>
          <a:ext cx="2518881" cy="1367509"/>
        </p:xfrm>
        <a:graphic>
          <a:graphicData uri="http://schemas.openxmlformats.org/drawingml/2006/table">
            <a:tbl>
              <a:tblPr/>
              <a:tblGrid>
                <a:gridCol w="1527944">
                  <a:extLst>
                    <a:ext uri="{9D8B030D-6E8A-4147-A177-3AD203B41FA5}">
                      <a16:colId xmlns:a16="http://schemas.microsoft.com/office/drawing/2014/main" val="2925254002"/>
                    </a:ext>
                  </a:extLst>
                </a:gridCol>
                <a:gridCol w="990937">
                  <a:extLst>
                    <a:ext uri="{9D8B030D-6E8A-4147-A177-3AD203B41FA5}">
                      <a16:colId xmlns:a16="http://schemas.microsoft.com/office/drawing/2014/main" val="867454367"/>
                    </a:ext>
                  </a:extLst>
                </a:gridCol>
              </a:tblGrid>
              <a:tr h="301945">
                <a:tc>
                  <a:txBody>
                    <a:bodyPr/>
                    <a:lstStyle/>
                    <a:p>
                      <a:pPr algn="ctr"/>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DCCII</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99FF"/>
                    </a:solidFill>
                  </a:tcPr>
                </a:tc>
                <a:tc>
                  <a:txBody>
                    <a:bodyPr/>
                    <a:lstStyle/>
                    <a:p>
                      <a:r>
                        <a:rPr lang="es-ES" sz="1400" b="1" dirty="0">
                          <a:effectLst/>
                          <a:latin typeface="Calibri" panose="020F0502020204030204" pitchFamily="34" charset="0"/>
                          <a:ea typeface="Calibri" panose="020F0502020204030204" pitchFamily="34" charset="0"/>
                          <a:cs typeface="Times New Roman" panose="02020603050405020304" pitchFamily="18" charset="0"/>
                        </a:rPr>
                        <a:t>                            </a:t>
                      </a:r>
                      <a:endParaRPr lang="es-PE" dirty="0"/>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99FF"/>
                    </a:solidFill>
                  </a:tcPr>
                </a:tc>
                <a:extLst>
                  <a:ext uri="{0D108BD9-81ED-4DB2-BD59-A6C34878D82A}">
                    <a16:rowId xmlns:a16="http://schemas.microsoft.com/office/drawing/2014/main" val="2471929919"/>
                  </a:ext>
                </a:extLst>
              </a:tr>
              <a:tr h="316687">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FONDO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274</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extLst>
                  <a:ext uri="{0D108BD9-81ED-4DB2-BD59-A6C34878D82A}">
                    <a16:rowId xmlns:a16="http://schemas.microsoft.com/office/drawing/2014/main" val="3243334386"/>
                  </a:ext>
                </a:extLst>
              </a:tr>
              <a:tr h="446932">
                <a:tc>
                  <a:txBody>
                    <a:bodyPr/>
                    <a:lstStyle/>
                    <a:p>
                      <a:r>
                        <a:rPr lang="es-PE" sz="1400" b="1" i="0" u="none" strike="noStrike" dirty="0">
                          <a:solidFill>
                            <a:srgbClr val="000000"/>
                          </a:solidFill>
                          <a:effectLst/>
                          <a:latin typeface="+mn-lt"/>
                        </a:rPr>
                        <a:t>ADMISIBILIDAD</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4B083"/>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135</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611438467"/>
                  </a:ext>
                </a:extLst>
              </a:tr>
              <a:tr h="301945">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TOTAL</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4B083"/>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409</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4B083"/>
                      </a:solidFill>
                      <a:prstDash val="solid"/>
                      <a:round/>
                      <a:headEnd type="none" w="med" len="med"/>
                      <a:tailEnd type="none" w="med" len="med"/>
                    </a:lnL>
                    <a:lnR w="12700" cap="flat" cmpd="sng" algn="ctr">
                      <a:solidFill>
                        <a:srgbClr val="F4B083"/>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extLst>
                  <a:ext uri="{0D108BD9-81ED-4DB2-BD59-A6C34878D82A}">
                    <a16:rowId xmlns:a16="http://schemas.microsoft.com/office/drawing/2014/main" val="2508674559"/>
                  </a:ext>
                </a:extLst>
              </a:tr>
            </a:tbl>
          </a:graphicData>
        </a:graphic>
      </p:graphicFrame>
      <p:graphicFrame>
        <p:nvGraphicFramePr>
          <p:cNvPr id="12" name="Tabla 11">
            <a:extLst>
              <a:ext uri="{FF2B5EF4-FFF2-40B4-BE49-F238E27FC236}">
                <a16:creationId xmlns:a16="http://schemas.microsoft.com/office/drawing/2014/main" id="{11E47780-28B5-BC8F-2D32-D418E13A98E3}"/>
              </a:ext>
            </a:extLst>
          </p:cNvPr>
          <p:cNvGraphicFramePr>
            <a:graphicFrameLocks noGrp="1"/>
          </p:cNvGraphicFramePr>
          <p:nvPr>
            <p:extLst>
              <p:ext uri="{D42A27DB-BD31-4B8C-83A1-F6EECF244321}">
                <p14:modId xmlns:p14="http://schemas.microsoft.com/office/powerpoint/2010/main" val="1440634820"/>
              </p:ext>
            </p:extLst>
          </p:nvPr>
        </p:nvGraphicFramePr>
        <p:xfrm>
          <a:off x="900592" y="4399960"/>
          <a:ext cx="2518880" cy="1456539"/>
        </p:xfrm>
        <a:graphic>
          <a:graphicData uri="http://schemas.openxmlformats.org/drawingml/2006/table">
            <a:tbl>
              <a:tblPr/>
              <a:tblGrid>
                <a:gridCol w="1483230">
                  <a:extLst>
                    <a:ext uri="{9D8B030D-6E8A-4147-A177-3AD203B41FA5}">
                      <a16:colId xmlns:a16="http://schemas.microsoft.com/office/drawing/2014/main" val="33698083"/>
                    </a:ext>
                  </a:extLst>
                </a:gridCol>
                <a:gridCol w="1035650">
                  <a:extLst>
                    <a:ext uri="{9D8B030D-6E8A-4147-A177-3AD203B41FA5}">
                      <a16:colId xmlns:a16="http://schemas.microsoft.com/office/drawing/2014/main" val="1249015919"/>
                    </a:ext>
                  </a:extLst>
                </a:gridCol>
              </a:tblGrid>
              <a:tr h="289875">
                <a:tc>
                  <a:txBody>
                    <a:bodyPr/>
                    <a:lstStyle/>
                    <a:p>
                      <a:pPr algn="ctr"/>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DCP</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00B050"/>
                    </a:solidFill>
                  </a:tcPr>
                </a:tc>
                <a:tc>
                  <a:txBody>
                    <a:bodyPr/>
                    <a:lstStyle/>
                    <a:p>
                      <a:r>
                        <a:rPr lang="es-ES" sz="1400" b="1" dirty="0">
                          <a:effectLst/>
                          <a:latin typeface="Calibri" panose="020F0502020204030204" pitchFamily="34" charset="0"/>
                          <a:ea typeface="Calibri" panose="020F0502020204030204" pitchFamily="34" charset="0"/>
                          <a:cs typeface="Times New Roman" panose="02020603050405020304" pitchFamily="18" charset="0"/>
                        </a:rPr>
                        <a:t>                               </a:t>
                      </a:r>
                      <a:endParaRPr lang="es-PE" dirty="0"/>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00B050"/>
                    </a:solidFill>
                  </a:tcPr>
                </a:tc>
                <a:extLst>
                  <a:ext uri="{0D108BD9-81ED-4DB2-BD59-A6C34878D82A}">
                    <a16:rowId xmlns:a16="http://schemas.microsoft.com/office/drawing/2014/main" val="168360316"/>
                  </a:ext>
                </a:extLst>
              </a:tr>
              <a:tr h="438144">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FONDO </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39</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extLst>
                  <a:ext uri="{0D108BD9-81ED-4DB2-BD59-A6C34878D82A}">
                    <a16:rowId xmlns:a16="http://schemas.microsoft.com/office/drawing/2014/main" val="1942616474"/>
                  </a:ext>
                </a:extLst>
              </a:tr>
              <a:tr h="438645">
                <a:tc>
                  <a:txBody>
                    <a:bodyPr/>
                    <a:lstStyle/>
                    <a:p>
                      <a:r>
                        <a:rPr lang="es-PE" sz="1400" b="1" dirty="0">
                          <a:effectLst/>
                          <a:latin typeface="Calibri" panose="020F0502020204030204" pitchFamily="34" charset="0"/>
                          <a:ea typeface="Calibri" panose="020F0502020204030204" pitchFamily="34" charset="0"/>
                          <a:cs typeface="Times New Roman" panose="02020603050405020304" pitchFamily="18" charset="0"/>
                        </a:rPr>
                        <a:t>ADMISIBILIDAD</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F4B083"/>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10</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1274527589"/>
                  </a:ext>
                </a:extLst>
              </a:tr>
              <a:tr h="289875">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TOTAL</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49</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extLst>
                  <a:ext uri="{0D108BD9-81ED-4DB2-BD59-A6C34878D82A}">
                    <a16:rowId xmlns:a16="http://schemas.microsoft.com/office/drawing/2014/main" val="3466549735"/>
                  </a:ext>
                </a:extLst>
              </a:tr>
            </a:tbl>
          </a:graphicData>
        </a:graphic>
      </p:graphicFrame>
      <p:graphicFrame>
        <p:nvGraphicFramePr>
          <p:cNvPr id="17" name="Tabla 16">
            <a:extLst>
              <a:ext uri="{FF2B5EF4-FFF2-40B4-BE49-F238E27FC236}">
                <a16:creationId xmlns:a16="http://schemas.microsoft.com/office/drawing/2014/main" id="{C33A2A62-036F-C383-8520-446B907B93C7}"/>
              </a:ext>
            </a:extLst>
          </p:cNvPr>
          <p:cNvGraphicFramePr>
            <a:graphicFrameLocks noGrp="1"/>
          </p:cNvGraphicFramePr>
          <p:nvPr>
            <p:extLst>
              <p:ext uri="{D42A27DB-BD31-4B8C-83A1-F6EECF244321}">
                <p14:modId xmlns:p14="http://schemas.microsoft.com/office/powerpoint/2010/main" val="2715321520"/>
              </p:ext>
            </p:extLst>
          </p:nvPr>
        </p:nvGraphicFramePr>
        <p:xfrm>
          <a:off x="7058024" y="5429048"/>
          <a:ext cx="2419350" cy="765606"/>
        </p:xfrm>
        <a:graphic>
          <a:graphicData uri="http://schemas.openxmlformats.org/drawingml/2006/table">
            <a:tbl>
              <a:tblPr>
                <a:tableStyleId>{D7AC3CCA-C797-4891-BE02-D94E43425B78}</a:tableStyleId>
              </a:tblPr>
              <a:tblGrid>
                <a:gridCol w="806450">
                  <a:extLst>
                    <a:ext uri="{9D8B030D-6E8A-4147-A177-3AD203B41FA5}">
                      <a16:colId xmlns:a16="http://schemas.microsoft.com/office/drawing/2014/main" val="4025633932"/>
                    </a:ext>
                  </a:extLst>
                </a:gridCol>
                <a:gridCol w="806450">
                  <a:extLst>
                    <a:ext uri="{9D8B030D-6E8A-4147-A177-3AD203B41FA5}">
                      <a16:colId xmlns:a16="http://schemas.microsoft.com/office/drawing/2014/main" val="3397563117"/>
                    </a:ext>
                  </a:extLst>
                </a:gridCol>
                <a:gridCol w="806450">
                  <a:extLst>
                    <a:ext uri="{9D8B030D-6E8A-4147-A177-3AD203B41FA5}">
                      <a16:colId xmlns:a16="http://schemas.microsoft.com/office/drawing/2014/main" val="1535915550"/>
                    </a:ext>
                  </a:extLst>
                </a:gridCol>
              </a:tblGrid>
              <a:tr h="255202">
                <a:tc gridSpan="3">
                  <a:txBody>
                    <a:bodyPr/>
                    <a:lstStyle/>
                    <a:p>
                      <a:pPr algn="ctr" fontAlgn="ctr"/>
                      <a:r>
                        <a:rPr lang="es-PE" sz="1400" b="1" u="none" strike="noStrike" dirty="0">
                          <a:solidFill>
                            <a:srgbClr val="000000"/>
                          </a:solidFill>
                          <a:effectLst/>
                        </a:rPr>
                        <a:t>INGRESADOS</a:t>
                      </a:r>
                      <a:endParaRPr lang="es-PE" sz="1400" b="1" i="0" u="none" strike="noStrike" dirty="0">
                        <a:solidFill>
                          <a:srgbClr val="000000"/>
                        </a:solidFill>
                        <a:effectLst/>
                        <a:latin typeface="Calibri" panose="020F0502020204030204" pitchFamily="34" charset="0"/>
                      </a:endParaRPr>
                    </a:p>
                  </a:txBody>
                  <a:tcPr marL="0" marR="0" marT="0" marB="0" anchor="ct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959304820"/>
                  </a:ext>
                </a:extLst>
              </a:tr>
              <a:tr h="255202">
                <a:tc>
                  <a:txBody>
                    <a:bodyPr/>
                    <a:lstStyle/>
                    <a:p>
                      <a:pPr algn="ctr" fontAlgn="ctr"/>
                      <a:r>
                        <a:rPr lang="es-PE" sz="1400" b="1" u="none" strike="noStrike" dirty="0">
                          <a:solidFill>
                            <a:srgbClr val="000000"/>
                          </a:solidFill>
                          <a:effectLst/>
                        </a:rPr>
                        <a:t>DCCI</a:t>
                      </a:r>
                      <a:endParaRPr lang="es-PE" sz="14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400" b="1" u="none" strike="noStrike" dirty="0">
                          <a:solidFill>
                            <a:srgbClr val="000000"/>
                          </a:solidFill>
                          <a:effectLst/>
                        </a:rPr>
                        <a:t>DCCII</a:t>
                      </a:r>
                      <a:endParaRPr lang="es-PE" sz="14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400" b="1" u="none" strike="noStrike" dirty="0">
                          <a:solidFill>
                            <a:srgbClr val="000000"/>
                          </a:solidFill>
                          <a:effectLst/>
                        </a:rPr>
                        <a:t>DCP</a:t>
                      </a:r>
                      <a:endParaRPr lang="es-PE" sz="140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794528736"/>
                  </a:ext>
                </a:extLst>
              </a:tr>
              <a:tr h="255202">
                <a:tc>
                  <a:txBody>
                    <a:bodyPr/>
                    <a:lstStyle/>
                    <a:p>
                      <a:pPr algn="ctr" fontAlgn="b"/>
                      <a:r>
                        <a:rPr lang="es-ES" sz="1400" b="0" i="0" u="none" strike="noStrike" dirty="0">
                          <a:solidFill>
                            <a:schemeClr val="tx1"/>
                          </a:solidFill>
                          <a:effectLst/>
                          <a:highlight>
                            <a:srgbClr val="FFFF00"/>
                          </a:highlight>
                          <a:latin typeface="Calibri" panose="020F0502020204030204" pitchFamily="34" charset="0"/>
                        </a:rPr>
                        <a:t>EE</a:t>
                      </a:r>
                      <a:endParaRPr lang="es-PE" sz="1400" b="0" i="0" u="none" strike="noStrike" dirty="0">
                        <a:solidFill>
                          <a:schemeClr val="tx1"/>
                        </a:solidFill>
                        <a:effectLst/>
                        <a:highlight>
                          <a:srgbClr val="FFFF00"/>
                        </a:highlight>
                        <a:latin typeface="Calibri" panose="020F0502020204030204" pitchFamily="34" charset="0"/>
                      </a:endParaRPr>
                    </a:p>
                  </a:txBody>
                  <a:tcPr marL="0" marR="0" marT="0" marB="0" anchor="b"/>
                </a:tc>
                <a:tc>
                  <a:txBody>
                    <a:bodyPr/>
                    <a:lstStyle/>
                    <a:p>
                      <a:pPr algn="ctr" fontAlgn="b"/>
                      <a:r>
                        <a:rPr lang="es-ES" sz="1400" b="0" i="0" u="none" strike="noStrike" dirty="0">
                          <a:solidFill>
                            <a:schemeClr val="tx1"/>
                          </a:solidFill>
                          <a:effectLst/>
                          <a:highlight>
                            <a:srgbClr val="FFFF00"/>
                          </a:highlight>
                          <a:latin typeface="Calibri" panose="020F0502020204030204" pitchFamily="34" charset="0"/>
                        </a:rPr>
                        <a:t>EE</a:t>
                      </a:r>
                    </a:p>
                  </a:txBody>
                  <a:tcPr marL="0" marR="0" marT="0" marB="0" anchor="b"/>
                </a:tc>
                <a:tc>
                  <a:txBody>
                    <a:bodyPr/>
                    <a:lstStyle/>
                    <a:p>
                      <a:pPr algn="ctr" fontAlgn="ctr"/>
                      <a:r>
                        <a:rPr lang="es-ES" sz="1400" b="0" i="0" u="none" strike="noStrike" dirty="0">
                          <a:solidFill>
                            <a:schemeClr val="tx1"/>
                          </a:solidFill>
                          <a:effectLst/>
                          <a:highlight>
                            <a:srgbClr val="FFFF00"/>
                          </a:highlight>
                          <a:latin typeface="Calibri" panose="020F0502020204030204" pitchFamily="34" charset="0"/>
                        </a:rPr>
                        <a:t>EE</a:t>
                      </a:r>
                      <a:endParaRPr lang="es-PE" sz="1400" b="0" i="0" u="none" strike="noStrike" dirty="0">
                        <a:solidFill>
                          <a:schemeClr val="tx1"/>
                        </a:solidFill>
                        <a:effectLst/>
                        <a:highlight>
                          <a:srgbClr val="FFFF00"/>
                        </a:highlight>
                        <a:latin typeface="Calibri" panose="020F0502020204030204" pitchFamily="34" charset="0"/>
                      </a:endParaRPr>
                    </a:p>
                  </a:txBody>
                  <a:tcPr marL="0" marR="0" marT="0" marB="0" anchor="ctr"/>
                </a:tc>
                <a:extLst>
                  <a:ext uri="{0D108BD9-81ED-4DB2-BD59-A6C34878D82A}">
                    <a16:rowId xmlns:a16="http://schemas.microsoft.com/office/drawing/2014/main" val="293386828"/>
                  </a:ext>
                </a:extLst>
              </a:tr>
            </a:tbl>
          </a:graphicData>
        </a:graphic>
      </p:graphicFrame>
      <p:sp>
        <p:nvSpPr>
          <p:cNvPr id="6" name="CuadroTexto 5">
            <a:extLst>
              <a:ext uri="{FF2B5EF4-FFF2-40B4-BE49-F238E27FC236}">
                <a16:creationId xmlns:a16="http://schemas.microsoft.com/office/drawing/2014/main" id="{85348961-3E42-D777-9E0B-39E48E615938}"/>
              </a:ext>
            </a:extLst>
          </p:cNvPr>
          <p:cNvSpPr txBox="1"/>
          <p:nvPr/>
        </p:nvSpPr>
        <p:spPr>
          <a:xfrm>
            <a:off x="7268874" y="1046149"/>
            <a:ext cx="1457325" cy="369327"/>
          </a:xfrm>
          <a:prstGeom prst="rect">
            <a:avLst/>
          </a:prstGeom>
          <a:noFill/>
        </p:spPr>
        <p:txBody>
          <a:bodyPr wrap="square" rtlCol="0">
            <a:spAutoFit/>
          </a:bodyPr>
          <a:lstStyle/>
          <a:p>
            <a:pPr algn="ctr"/>
            <a:r>
              <a:rPr lang="es-ES" b="1" dirty="0"/>
              <a:t>2023</a:t>
            </a:r>
            <a:endParaRPr lang="es-PE" b="1" dirty="0"/>
          </a:p>
        </p:txBody>
      </p:sp>
      <p:sp>
        <p:nvSpPr>
          <p:cNvPr id="7" name="CuadroTexto 6">
            <a:extLst>
              <a:ext uri="{FF2B5EF4-FFF2-40B4-BE49-F238E27FC236}">
                <a16:creationId xmlns:a16="http://schemas.microsoft.com/office/drawing/2014/main" id="{18BA90EE-AAFF-1CB0-5F16-DB7D138D89F2}"/>
              </a:ext>
            </a:extLst>
          </p:cNvPr>
          <p:cNvSpPr txBox="1"/>
          <p:nvPr/>
        </p:nvSpPr>
        <p:spPr>
          <a:xfrm>
            <a:off x="7268874" y="3047485"/>
            <a:ext cx="1457325" cy="369327"/>
          </a:xfrm>
          <a:prstGeom prst="rect">
            <a:avLst/>
          </a:prstGeom>
          <a:noFill/>
        </p:spPr>
        <p:txBody>
          <a:bodyPr wrap="square" rtlCol="0">
            <a:spAutoFit/>
          </a:bodyPr>
          <a:lstStyle/>
          <a:p>
            <a:pPr algn="ctr"/>
            <a:r>
              <a:rPr lang="es-ES" b="1" dirty="0"/>
              <a:t>2024</a:t>
            </a:r>
            <a:endParaRPr lang="es-PE" b="1" dirty="0"/>
          </a:p>
        </p:txBody>
      </p:sp>
      <p:sp>
        <p:nvSpPr>
          <p:cNvPr id="19" name="Cerrar llave 18">
            <a:extLst>
              <a:ext uri="{FF2B5EF4-FFF2-40B4-BE49-F238E27FC236}">
                <a16:creationId xmlns:a16="http://schemas.microsoft.com/office/drawing/2014/main" id="{C92AC8BE-E273-CB5B-F901-4896BFC3E34F}"/>
              </a:ext>
            </a:extLst>
          </p:cNvPr>
          <p:cNvSpPr/>
          <p:nvPr/>
        </p:nvSpPr>
        <p:spPr>
          <a:xfrm>
            <a:off x="3607584" y="1513887"/>
            <a:ext cx="514350" cy="4093467"/>
          </a:xfrm>
          <a:prstGeom prst="rightBrace">
            <a:avLst>
              <a:gd name="adj1" fmla="val 8333"/>
              <a:gd name="adj2" fmla="val 50465"/>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PE" b="1" dirty="0"/>
          </a:p>
        </p:txBody>
      </p:sp>
      <p:graphicFrame>
        <p:nvGraphicFramePr>
          <p:cNvPr id="2" name="Tabla 1">
            <a:extLst>
              <a:ext uri="{FF2B5EF4-FFF2-40B4-BE49-F238E27FC236}">
                <a16:creationId xmlns:a16="http://schemas.microsoft.com/office/drawing/2014/main" id="{3629695C-2A70-2448-59F5-EF50943DF9DC}"/>
              </a:ext>
            </a:extLst>
          </p:cNvPr>
          <p:cNvGraphicFramePr>
            <a:graphicFrameLocks noGrp="1"/>
          </p:cNvGraphicFramePr>
          <p:nvPr>
            <p:extLst>
              <p:ext uri="{D42A27DB-BD31-4B8C-83A1-F6EECF244321}">
                <p14:modId xmlns:p14="http://schemas.microsoft.com/office/powerpoint/2010/main" val="2769929117"/>
              </p:ext>
            </p:extLst>
          </p:nvPr>
        </p:nvGraphicFramePr>
        <p:xfrm>
          <a:off x="4481272" y="1406283"/>
          <a:ext cx="7209221" cy="664142"/>
        </p:xfrm>
        <a:graphic>
          <a:graphicData uri="http://schemas.openxmlformats.org/drawingml/2006/table">
            <a:tbl>
              <a:tblPr/>
              <a:tblGrid>
                <a:gridCol w="510998">
                  <a:extLst>
                    <a:ext uri="{9D8B030D-6E8A-4147-A177-3AD203B41FA5}">
                      <a16:colId xmlns:a16="http://schemas.microsoft.com/office/drawing/2014/main" val="1074764036"/>
                    </a:ext>
                  </a:extLst>
                </a:gridCol>
                <a:gridCol w="704349">
                  <a:extLst>
                    <a:ext uri="{9D8B030D-6E8A-4147-A177-3AD203B41FA5}">
                      <a16:colId xmlns:a16="http://schemas.microsoft.com/office/drawing/2014/main" val="3258104317"/>
                    </a:ext>
                  </a:extLst>
                </a:gridCol>
                <a:gridCol w="593863">
                  <a:extLst>
                    <a:ext uri="{9D8B030D-6E8A-4147-A177-3AD203B41FA5}">
                      <a16:colId xmlns:a16="http://schemas.microsoft.com/office/drawing/2014/main" val="3572637511"/>
                    </a:ext>
                  </a:extLst>
                </a:gridCol>
                <a:gridCol w="510998">
                  <a:extLst>
                    <a:ext uri="{9D8B030D-6E8A-4147-A177-3AD203B41FA5}">
                      <a16:colId xmlns:a16="http://schemas.microsoft.com/office/drawing/2014/main" val="3857808528"/>
                    </a:ext>
                  </a:extLst>
                </a:gridCol>
                <a:gridCol w="524809">
                  <a:extLst>
                    <a:ext uri="{9D8B030D-6E8A-4147-A177-3AD203B41FA5}">
                      <a16:colId xmlns:a16="http://schemas.microsoft.com/office/drawing/2014/main" val="1503528122"/>
                    </a:ext>
                  </a:extLst>
                </a:gridCol>
                <a:gridCol w="455755">
                  <a:extLst>
                    <a:ext uri="{9D8B030D-6E8A-4147-A177-3AD203B41FA5}">
                      <a16:colId xmlns:a16="http://schemas.microsoft.com/office/drawing/2014/main" val="534461439"/>
                    </a:ext>
                  </a:extLst>
                </a:gridCol>
                <a:gridCol w="441945">
                  <a:extLst>
                    <a:ext uri="{9D8B030D-6E8A-4147-A177-3AD203B41FA5}">
                      <a16:colId xmlns:a16="http://schemas.microsoft.com/office/drawing/2014/main" val="1464611740"/>
                    </a:ext>
                  </a:extLst>
                </a:gridCol>
                <a:gridCol w="607674">
                  <a:extLst>
                    <a:ext uri="{9D8B030D-6E8A-4147-A177-3AD203B41FA5}">
                      <a16:colId xmlns:a16="http://schemas.microsoft.com/office/drawing/2014/main" val="983088506"/>
                    </a:ext>
                  </a:extLst>
                </a:gridCol>
                <a:gridCol w="718160">
                  <a:extLst>
                    <a:ext uri="{9D8B030D-6E8A-4147-A177-3AD203B41FA5}">
                      <a16:colId xmlns:a16="http://schemas.microsoft.com/office/drawing/2014/main" val="1149158738"/>
                    </a:ext>
                  </a:extLst>
                </a:gridCol>
                <a:gridCol w="621485">
                  <a:extLst>
                    <a:ext uri="{9D8B030D-6E8A-4147-A177-3AD203B41FA5}">
                      <a16:colId xmlns:a16="http://schemas.microsoft.com/office/drawing/2014/main" val="3128830786"/>
                    </a:ext>
                  </a:extLst>
                </a:gridCol>
                <a:gridCol w="828646">
                  <a:extLst>
                    <a:ext uri="{9D8B030D-6E8A-4147-A177-3AD203B41FA5}">
                      <a16:colId xmlns:a16="http://schemas.microsoft.com/office/drawing/2014/main" val="3835212946"/>
                    </a:ext>
                  </a:extLst>
                </a:gridCol>
                <a:gridCol w="690539">
                  <a:extLst>
                    <a:ext uri="{9D8B030D-6E8A-4147-A177-3AD203B41FA5}">
                      <a16:colId xmlns:a16="http://schemas.microsoft.com/office/drawing/2014/main" val="1709949566"/>
                    </a:ext>
                  </a:extLst>
                </a:gridCol>
              </a:tblGrid>
              <a:tr h="176321">
                <a:tc gridSpan="12">
                  <a:txBody>
                    <a:bodyPr/>
                    <a:lstStyle/>
                    <a:p>
                      <a:pPr algn="ctr" rtl="0" fontAlgn="ctr"/>
                      <a:r>
                        <a:rPr lang="es-PE" sz="1050" b="1" i="0" u="none" strike="noStrike" dirty="0">
                          <a:solidFill>
                            <a:srgbClr val="000000"/>
                          </a:solidFill>
                          <a:effectLst/>
                          <a:latin typeface="Calibri" panose="020F0502020204030204" pitchFamily="34" charset="0"/>
                        </a:rPr>
                        <a:t>FONDO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159146899"/>
                  </a:ext>
                </a:extLst>
              </a:tr>
              <a:tr h="311500">
                <a:tc>
                  <a:txBody>
                    <a:bodyPr/>
                    <a:lstStyle/>
                    <a:p>
                      <a:pPr algn="ctr" rtl="0" fontAlgn="ctr"/>
                      <a:r>
                        <a:rPr lang="es-PE" sz="1050" b="1" i="0" u="none" strike="noStrike">
                          <a:solidFill>
                            <a:srgbClr val="000000"/>
                          </a:solidFill>
                          <a:effectLst/>
                          <a:latin typeface="Calibri" panose="020F0502020204030204" pitchFamily="34" charset="0"/>
                        </a:rPr>
                        <a:t>ENERO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FEBRERO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MARZO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ABRIL</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MAYO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JUNIO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dirty="0">
                          <a:solidFill>
                            <a:srgbClr val="000000"/>
                          </a:solidFill>
                          <a:effectLst/>
                          <a:latin typeface="Calibri" panose="020F0502020204030204" pitchFamily="34" charset="0"/>
                        </a:rPr>
                        <a:t>JULIO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dirty="0">
                          <a:solidFill>
                            <a:srgbClr val="000000"/>
                          </a:solidFill>
                          <a:effectLst/>
                          <a:latin typeface="Calibri" panose="020F0502020204030204" pitchFamily="34" charset="0"/>
                        </a:rPr>
                        <a:t>AGOSTO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dirty="0">
                          <a:solidFill>
                            <a:srgbClr val="000000"/>
                          </a:solidFill>
                          <a:effectLst/>
                          <a:latin typeface="Calibri" panose="020F0502020204030204" pitchFamily="34" charset="0"/>
                        </a:rPr>
                        <a:t>SETIEMBRE</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OCTUBRE</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NOVIEMBRE</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1" i="0" u="none" strike="noStrike">
                          <a:solidFill>
                            <a:srgbClr val="000000"/>
                          </a:solidFill>
                          <a:effectLst/>
                          <a:latin typeface="Calibri" panose="020F0502020204030204" pitchFamily="34" charset="0"/>
                        </a:rPr>
                        <a:t>DICIEMBRE</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extLst>
                  <a:ext uri="{0D108BD9-81ED-4DB2-BD59-A6C34878D82A}">
                    <a16:rowId xmlns:a16="http://schemas.microsoft.com/office/drawing/2014/main" val="1844435292"/>
                  </a:ext>
                </a:extLst>
              </a:tr>
              <a:tr h="176321">
                <a:tc>
                  <a:txBody>
                    <a:bodyPr/>
                    <a:lstStyle/>
                    <a:p>
                      <a:pPr algn="ctr" rtl="0" fontAlgn="ctr"/>
                      <a:r>
                        <a:rPr lang="es-PE" sz="1050" b="0" i="0" u="none" strike="noStrike">
                          <a:solidFill>
                            <a:srgbClr val="000000"/>
                          </a:solidFill>
                          <a:effectLst/>
                          <a:latin typeface="Calibri" panose="020F0502020204030204" pitchFamily="34" charset="0"/>
                        </a:rPr>
                        <a:t>1072</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1849</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1199</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1187</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1148</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1149</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050" b="0" i="0" u="none" strike="noStrike">
                          <a:solidFill>
                            <a:srgbClr val="000000"/>
                          </a:solidFill>
                          <a:effectLst/>
                          <a:latin typeface="Calibri" panose="020F0502020204030204" pitchFamily="34" charset="0"/>
                        </a:rPr>
                        <a:t>878</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050" b="0" i="0" u="none" strike="noStrike">
                          <a:solidFill>
                            <a:srgbClr val="000000"/>
                          </a:solidFill>
                          <a:effectLst/>
                          <a:latin typeface="Calibri" panose="020F0502020204030204" pitchFamily="34" charset="0"/>
                        </a:rPr>
                        <a:t>878</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050" b="0" i="0" u="none" strike="noStrike">
                          <a:solidFill>
                            <a:srgbClr val="000000"/>
                          </a:solidFill>
                          <a:effectLst/>
                          <a:latin typeface="Calibri" panose="020F0502020204030204" pitchFamily="34" charset="0"/>
                        </a:rPr>
                        <a:t> 640</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050" b="0" i="0" u="none" strike="noStrike">
                          <a:solidFill>
                            <a:srgbClr val="000000"/>
                          </a:solidFill>
                          <a:effectLst/>
                          <a:latin typeface="Calibri" panose="020F0502020204030204" pitchFamily="34" charset="0"/>
                        </a:rPr>
                        <a:t>800</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050" b="0" i="0" u="none" strike="noStrike">
                          <a:solidFill>
                            <a:srgbClr val="000000"/>
                          </a:solidFill>
                          <a:effectLst/>
                          <a:latin typeface="Calibri" panose="020F0502020204030204" pitchFamily="34" charset="0"/>
                        </a:rPr>
                        <a:t>801</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050" b="0" i="0" u="none" strike="noStrike" dirty="0">
                          <a:solidFill>
                            <a:srgbClr val="000000"/>
                          </a:solidFill>
                          <a:effectLst/>
                          <a:latin typeface="Calibri" panose="020F0502020204030204" pitchFamily="34" charset="0"/>
                        </a:rPr>
                        <a:t>633</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extLst>
                  <a:ext uri="{0D108BD9-81ED-4DB2-BD59-A6C34878D82A}">
                    <a16:rowId xmlns:a16="http://schemas.microsoft.com/office/drawing/2014/main" val="1092472469"/>
                  </a:ext>
                </a:extLst>
              </a:tr>
            </a:tbl>
          </a:graphicData>
        </a:graphic>
      </p:graphicFrame>
      <p:graphicFrame>
        <p:nvGraphicFramePr>
          <p:cNvPr id="3" name="Tabla 2">
            <a:extLst>
              <a:ext uri="{FF2B5EF4-FFF2-40B4-BE49-F238E27FC236}">
                <a16:creationId xmlns:a16="http://schemas.microsoft.com/office/drawing/2014/main" id="{5806AB0E-3F85-9087-9ED5-45EE0E593B7F}"/>
              </a:ext>
            </a:extLst>
          </p:cNvPr>
          <p:cNvGraphicFramePr>
            <a:graphicFrameLocks noGrp="1"/>
          </p:cNvGraphicFramePr>
          <p:nvPr>
            <p:extLst>
              <p:ext uri="{D42A27DB-BD31-4B8C-83A1-F6EECF244321}">
                <p14:modId xmlns:p14="http://schemas.microsoft.com/office/powerpoint/2010/main" val="2543455476"/>
              </p:ext>
            </p:extLst>
          </p:nvPr>
        </p:nvGraphicFramePr>
        <p:xfrm>
          <a:off x="4481271" y="2241377"/>
          <a:ext cx="7209220" cy="717199"/>
        </p:xfrm>
        <a:graphic>
          <a:graphicData uri="http://schemas.openxmlformats.org/drawingml/2006/table">
            <a:tbl>
              <a:tblPr/>
              <a:tblGrid>
                <a:gridCol w="510998">
                  <a:extLst>
                    <a:ext uri="{9D8B030D-6E8A-4147-A177-3AD203B41FA5}">
                      <a16:colId xmlns:a16="http://schemas.microsoft.com/office/drawing/2014/main" val="2311963422"/>
                    </a:ext>
                  </a:extLst>
                </a:gridCol>
                <a:gridCol w="704349">
                  <a:extLst>
                    <a:ext uri="{9D8B030D-6E8A-4147-A177-3AD203B41FA5}">
                      <a16:colId xmlns:a16="http://schemas.microsoft.com/office/drawing/2014/main" val="1516187338"/>
                    </a:ext>
                  </a:extLst>
                </a:gridCol>
                <a:gridCol w="593863">
                  <a:extLst>
                    <a:ext uri="{9D8B030D-6E8A-4147-A177-3AD203B41FA5}">
                      <a16:colId xmlns:a16="http://schemas.microsoft.com/office/drawing/2014/main" val="3647570914"/>
                    </a:ext>
                  </a:extLst>
                </a:gridCol>
                <a:gridCol w="510998">
                  <a:extLst>
                    <a:ext uri="{9D8B030D-6E8A-4147-A177-3AD203B41FA5}">
                      <a16:colId xmlns:a16="http://schemas.microsoft.com/office/drawing/2014/main" val="1400445797"/>
                    </a:ext>
                  </a:extLst>
                </a:gridCol>
                <a:gridCol w="524809">
                  <a:extLst>
                    <a:ext uri="{9D8B030D-6E8A-4147-A177-3AD203B41FA5}">
                      <a16:colId xmlns:a16="http://schemas.microsoft.com/office/drawing/2014/main" val="3198969946"/>
                    </a:ext>
                  </a:extLst>
                </a:gridCol>
                <a:gridCol w="455755">
                  <a:extLst>
                    <a:ext uri="{9D8B030D-6E8A-4147-A177-3AD203B41FA5}">
                      <a16:colId xmlns:a16="http://schemas.microsoft.com/office/drawing/2014/main" val="2228440488"/>
                    </a:ext>
                  </a:extLst>
                </a:gridCol>
                <a:gridCol w="441945">
                  <a:extLst>
                    <a:ext uri="{9D8B030D-6E8A-4147-A177-3AD203B41FA5}">
                      <a16:colId xmlns:a16="http://schemas.microsoft.com/office/drawing/2014/main" val="795327759"/>
                    </a:ext>
                  </a:extLst>
                </a:gridCol>
                <a:gridCol w="607674">
                  <a:extLst>
                    <a:ext uri="{9D8B030D-6E8A-4147-A177-3AD203B41FA5}">
                      <a16:colId xmlns:a16="http://schemas.microsoft.com/office/drawing/2014/main" val="2178664864"/>
                    </a:ext>
                  </a:extLst>
                </a:gridCol>
                <a:gridCol w="718160">
                  <a:extLst>
                    <a:ext uri="{9D8B030D-6E8A-4147-A177-3AD203B41FA5}">
                      <a16:colId xmlns:a16="http://schemas.microsoft.com/office/drawing/2014/main" val="3907391050"/>
                    </a:ext>
                  </a:extLst>
                </a:gridCol>
                <a:gridCol w="621485">
                  <a:extLst>
                    <a:ext uri="{9D8B030D-6E8A-4147-A177-3AD203B41FA5}">
                      <a16:colId xmlns:a16="http://schemas.microsoft.com/office/drawing/2014/main" val="2424771591"/>
                    </a:ext>
                  </a:extLst>
                </a:gridCol>
                <a:gridCol w="828646">
                  <a:extLst>
                    <a:ext uri="{9D8B030D-6E8A-4147-A177-3AD203B41FA5}">
                      <a16:colId xmlns:a16="http://schemas.microsoft.com/office/drawing/2014/main" val="3910783422"/>
                    </a:ext>
                  </a:extLst>
                </a:gridCol>
                <a:gridCol w="690538">
                  <a:extLst>
                    <a:ext uri="{9D8B030D-6E8A-4147-A177-3AD203B41FA5}">
                      <a16:colId xmlns:a16="http://schemas.microsoft.com/office/drawing/2014/main" val="4013679102"/>
                    </a:ext>
                  </a:extLst>
                </a:gridCol>
              </a:tblGrid>
              <a:tr h="190407">
                <a:tc gridSpan="12">
                  <a:txBody>
                    <a:bodyPr/>
                    <a:lstStyle/>
                    <a:p>
                      <a:pPr algn="ctr" rtl="0" fontAlgn="ctr"/>
                      <a:r>
                        <a:rPr lang="es-PE" sz="1050" b="1" i="0" u="none" strike="noStrike" dirty="0">
                          <a:solidFill>
                            <a:srgbClr val="000000"/>
                          </a:solidFill>
                          <a:effectLst/>
                          <a:latin typeface="Calibri" panose="020F0502020204030204" pitchFamily="34" charset="0"/>
                        </a:rPr>
                        <a:t>ADMISIBILIDAD</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3093217592"/>
                  </a:ext>
                </a:extLst>
              </a:tr>
              <a:tr h="336385">
                <a:tc>
                  <a:txBody>
                    <a:bodyPr/>
                    <a:lstStyle/>
                    <a:p>
                      <a:pPr algn="ctr" rtl="0" fontAlgn="ctr"/>
                      <a:r>
                        <a:rPr lang="es-PE" sz="1050" b="1" i="0" u="none" strike="noStrike">
                          <a:solidFill>
                            <a:srgbClr val="000000"/>
                          </a:solidFill>
                          <a:effectLst/>
                          <a:latin typeface="Calibri" panose="020F0502020204030204" pitchFamily="34" charset="0"/>
                        </a:rPr>
                        <a:t>ENERO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FEBRERO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MARZO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ABRIL</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MAYO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JUNIO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dirty="0">
                          <a:solidFill>
                            <a:srgbClr val="000000"/>
                          </a:solidFill>
                          <a:effectLst/>
                          <a:latin typeface="Calibri" panose="020F0502020204030204" pitchFamily="34" charset="0"/>
                        </a:rPr>
                        <a:t>JULIO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AGOSTO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SETIEMBRE</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OCTUBRE</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NOVIEMBRE</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1" i="0" u="none" strike="noStrike">
                          <a:solidFill>
                            <a:srgbClr val="000000"/>
                          </a:solidFill>
                          <a:effectLst/>
                          <a:latin typeface="Calibri" panose="020F0502020204030204" pitchFamily="34" charset="0"/>
                        </a:rPr>
                        <a:t>DICIEMBRE</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extLst>
                  <a:ext uri="{0D108BD9-81ED-4DB2-BD59-A6C34878D82A}">
                    <a16:rowId xmlns:a16="http://schemas.microsoft.com/office/drawing/2014/main" val="1865571487"/>
                  </a:ext>
                </a:extLst>
              </a:tr>
              <a:tr h="190407">
                <a:tc>
                  <a:txBody>
                    <a:bodyPr/>
                    <a:lstStyle/>
                    <a:p>
                      <a:pPr algn="ctr" rtl="0" fontAlgn="ctr"/>
                      <a:r>
                        <a:rPr lang="es-PE" sz="1050" b="0" i="0" u="none" strike="noStrike">
                          <a:solidFill>
                            <a:srgbClr val="000000"/>
                          </a:solidFill>
                          <a:effectLst/>
                          <a:latin typeface="Calibri" panose="020F0502020204030204" pitchFamily="34" charset="0"/>
                        </a:rPr>
                        <a:t>1900</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1853</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1334</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808</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448</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271</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050" b="0" i="0" u="none" strike="noStrike">
                          <a:solidFill>
                            <a:srgbClr val="000000"/>
                          </a:solidFill>
                          <a:effectLst/>
                          <a:latin typeface="Calibri" panose="020F0502020204030204" pitchFamily="34" charset="0"/>
                        </a:rPr>
                        <a:t>277</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050" b="0" i="0" u="none" strike="noStrike" dirty="0">
                          <a:solidFill>
                            <a:srgbClr val="000000"/>
                          </a:solidFill>
                          <a:effectLst/>
                          <a:latin typeface="Calibri" panose="020F0502020204030204" pitchFamily="34" charset="0"/>
                        </a:rPr>
                        <a:t>327</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050" b="0" i="0" u="none" strike="noStrike">
                          <a:solidFill>
                            <a:srgbClr val="000000"/>
                          </a:solidFill>
                          <a:effectLst/>
                          <a:latin typeface="Calibri" panose="020F0502020204030204" pitchFamily="34" charset="0"/>
                        </a:rPr>
                        <a:t> 368</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050" b="0" i="0" u="none" strike="noStrike">
                          <a:solidFill>
                            <a:srgbClr val="000000"/>
                          </a:solidFill>
                          <a:effectLst/>
                          <a:latin typeface="Calibri" panose="020F0502020204030204" pitchFamily="34" charset="0"/>
                        </a:rPr>
                        <a:t>435</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050" b="0" i="0" u="none" strike="noStrike">
                          <a:solidFill>
                            <a:srgbClr val="000000"/>
                          </a:solidFill>
                          <a:effectLst/>
                          <a:latin typeface="Calibri" panose="020F0502020204030204" pitchFamily="34" charset="0"/>
                        </a:rPr>
                        <a:t>493</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050" b="0" i="0" u="none" strike="noStrike" dirty="0">
                          <a:solidFill>
                            <a:srgbClr val="000000"/>
                          </a:solidFill>
                          <a:effectLst/>
                          <a:latin typeface="Calibri" panose="020F0502020204030204" pitchFamily="34" charset="0"/>
                        </a:rPr>
                        <a:t>511</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extLst>
                  <a:ext uri="{0D108BD9-81ED-4DB2-BD59-A6C34878D82A}">
                    <a16:rowId xmlns:a16="http://schemas.microsoft.com/office/drawing/2014/main" val="2937835668"/>
                  </a:ext>
                </a:extLst>
              </a:tr>
            </a:tbl>
          </a:graphicData>
        </a:graphic>
      </p:graphicFrame>
      <p:graphicFrame>
        <p:nvGraphicFramePr>
          <p:cNvPr id="16" name="Tabla 15">
            <a:extLst>
              <a:ext uri="{FF2B5EF4-FFF2-40B4-BE49-F238E27FC236}">
                <a16:creationId xmlns:a16="http://schemas.microsoft.com/office/drawing/2014/main" id="{55C31B5B-B9FD-7A3C-712D-BFA36F022CF0}"/>
              </a:ext>
            </a:extLst>
          </p:cNvPr>
          <p:cNvGraphicFramePr>
            <a:graphicFrameLocks noGrp="1"/>
          </p:cNvGraphicFramePr>
          <p:nvPr>
            <p:extLst>
              <p:ext uri="{D42A27DB-BD31-4B8C-83A1-F6EECF244321}">
                <p14:modId xmlns:p14="http://schemas.microsoft.com/office/powerpoint/2010/main" val="2901030808"/>
              </p:ext>
            </p:extLst>
          </p:nvPr>
        </p:nvGraphicFramePr>
        <p:xfrm>
          <a:off x="5787808" y="3409879"/>
          <a:ext cx="4419456" cy="655223"/>
        </p:xfrm>
        <a:graphic>
          <a:graphicData uri="http://schemas.openxmlformats.org/drawingml/2006/table">
            <a:tbl>
              <a:tblPr/>
              <a:tblGrid>
                <a:gridCol w="702155">
                  <a:extLst>
                    <a:ext uri="{9D8B030D-6E8A-4147-A177-3AD203B41FA5}">
                      <a16:colId xmlns:a16="http://schemas.microsoft.com/office/drawing/2014/main" val="2608954436"/>
                    </a:ext>
                  </a:extLst>
                </a:gridCol>
                <a:gridCol w="592011">
                  <a:extLst>
                    <a:ext uri="{9D8B030D-6E8A-4147-A177-3AD203B41FA5}">
                      <a16:colId xmlns:a16="http://schemas.microsoft.com/office/drawing/2014/main" val="3702516282"/>
                    </a:ext>
                  </a:extLst>
                </a:gridCol>
                <a:gridCol w="509405">
                  <a:extLst>
                    <a:ext uri="{9D8B030D-6E8A-4147-A177-3AD203B41FA5}">
                      <a16:colId xmlns:a16="http://schemas.microsoft.com/office/drawing/2014/main" val="3202347375"/>
                    </a:ext>
                  </a:extLst>
                </a:gridCol>
                <a:gridCol w="523177">
                  <a:extLst>
                    <a:ext uri="{9D8B030D-6E8A-4147-A177-3AD203B41FA5}">
                      <a16:colId xmlns:a16="http://schemas.microsoft.com/office/drawing/2014/main" val="66548466"/>
                    </a:ext>
                  </a:extLst>
                </a:gridCol>
                <a:gridCol w="523177">
                  <a:extLst>
                    <a:ext uri="{9D8B030D-6E8A-4147-A177-3AD203B41FA5}">
                      <a16:colId xmlns:a16="http://schemas.microsoft.com/office/drawing/2014/main" val="520983657"/>
                    </a:ext>
                  </a:extLst>
                </a:gridCol>
                <a:gridCol w="523177">
                  <a:extLst>
                    <a:ext uri="{9D8B030D-6E8A-4147-A177-3AD203B41FA5}">
                      <a16:colId xmlns:a16="http://schemas.microsoft.com/office/drawing/2014/main" val="2948232374"/>
                    </a:ext>
                  </a:extLst>
                </a:gridCol>
                <a:gridCol w="523177">
                  <a:extLst>
                    <a:ext uri="{9D8B030D-6E8A-4147-A177-3AD203B41FA5}">
                      <a16:colId xmlns:a16="http://schemas.microsoft.com/office/drawing/2014/main" val="3778976007"/>
                    </a:ext>
                  </a:extLst>
                </a:gridCol>
                <a:gridCol w="523177">
                  <a:extLst>
                    <a:ext uri="{9D8B030D-6E8A-4147-A177-3AD203B41FA5}">
                      <a16:colId xmlns:a16="http://schemas.microsoft.com/office/drawing/2014/main" val="582878046"/>
                    </a:ext>
                  </a:extLst>
                </a:gridCol>
              </a:tblGrid>
              <a:tr h="159971">
                <a:tc gridSpan="8">
                  <a:txBody>
                    <a:bodyPr/>
                    <a:lstStyle/>
                    <a:p>
                      <a:pPr algn="ctr" rtl="0" fontAlgn="ctr"/>
                      <a:r>
                        <a:rPr lang="es-PE" sz="1100" b="1" i="0" u="none" strike="noStrike" dirty="0">
                          <a:solidFill>
                            <a:srgbClr val="000000"/>
                          </a:solidFill>
                          <a:effectLst/>
                          <a:latin typeface="Calibri" panose="020F0502020204030204" pitchFamily="34" charset="0"/>
                        </a:rPr>
                        <a:t>FONDO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pPr algn="ctr" rtl="0" fontAlgn="ct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hMerge="1">
                  <a:txBody>
                    <a:bodyPr/>
                    <a:lstStyle/>
                    <a:p>
                      <a:pPr algn="ctr" rtl="0" fontAlgn="ct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hMerge="1">
                  <a:txBody>
                    <a:bodyPr/>
                    <a:lstStyle/>
                    <a:p>
                      <a:pPr algn="ctr" rtl="0" fontAlgn="ct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hMerge="1">
                  <a:txBody>
                    <a:bodyPr/>
                    <a:lstStyle/>
                    <a:p>
                      <a:pPr algn="ctr" rtl="0" fontAlgn="ct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extLst>
                  <a:ext uri="{0D108BD9-81ED-4DB2-BD59-A6C34878D82A}">
                    <a16:rowId xmlns:a16="http://schemas.microsoft.com/office/drawing/2014/main" val="1384967146"/>
                  </a:ext>
                </a:extLst>
              </a:tr>
              <a:tr h="319943">
                <a:tc>
                  <a:txBody>
                    <a:bodyPr/>
                    <a:lstStyle/>
                    <a:p>
                      <a:pPr algn="ctr" rtl="0" fontAlgn="ctr"/>
                      <a:r>
                        <a:rPr lang="es-PE" sz="1100" b="1" i="0" u="none" strike="noStrike">
                          <a:solidFill>
                            <a:srgbClr val="000000"/>
                          </a:solidFill>
                          <a:effectLst/>
                          <a:latin typeface="Calibri" panose="020F0502020204030204" pitchFamily="34" charset="0"/>
                        </a:rPr>
                        <a:t>ENERO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100" b="1" i="0" u="none" strike="noStrike">
                          <a:solidFill>
                            <a:srgbClr val="000000"/>
                          </a:solidFill>
                          <a:effectLst/>
                          <a:latin typeface="Calibri" panose="020F0502020204030204" pitchFamily="34" charset="0"/>
                        </a:rPr>
                        <a:t>FEBRERO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100" b="1" i="0" u="none" strike="noStrike" dirty="0">
                          <a:solidFill>
                            <a:srgbClr val="000000"/>
                          </a:solidFill>
                          <a:effectLst/>
                          <a:latin typeface="Calibri" panose="020F0502020204030204" pitchFamily="34" charset="0"/>
                        </a:rPr>
                        <a:t>MARZO</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PE" sz="1100" b="1" i="0" u="none" strike="noStrike" dirty="0">
                          <a:solidFill>
                            <a:srgbClr val="000000"/>
                          </a:solidFill>
                          <a:effectLst/>
                          <a:latin typeface="Calibri" panose="020F0502020204030204" pitchFamily="34" charset="0"/>
                        </a:rPr>
                        <a:t>ABRIL</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ES" sz="1100" b="1" i="0" u="none" strike="noStrike" dirty="0">
                          <a:solidFill>
                            <a:srgbClr val="000000"/>
                          </a:solidFill>
                          <a:effectLst/>
                          <a:latin typeface="Calibri" panose="020F0502020204030204" pitchFamily="34" charset="0"/>
                        </a:rPr>
                        <a:t>MAYO</a:t>
                      </a: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ES" sz="1100" b="1" i="0" u="none" strike="noStrike" dirty="0">
                          <a:solidFill>
                            <a:srgbClr val="000000"/>
                          </a:solidFill>
                          <a:effectLst/>
                          <a:latin typeface="Calibri" panose="020F0502020204030204" pitchFamily="34" charset="0"/>
                        </a:rPr>
                        <a:t>JUNIO</a:t>
                      </a: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ES" sz="1100" b="1" i="0" u="none" strike="noStrike" dirty="0">
                          <a:solidFill>
                            <a:srgbClr val="000000"/>
                          </a:solidFill>
                          <a:effectLst/>
                          <a:latin typeface="Calibri" panose="020F0502020204030204" pitchFamily="34" charset="0"/>
                        </a:rPr>
                        <a:t>JULIO</a:t>
                      </a: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ctr"/>
                      <a:r>
                        <a:rPr lang="es-ES" sz="1100" b="1" i="0" u="none" strike="noStrike" dirty="0">
                          <a:solidFill>
                            <a:srgbClr val="000000"/>
                          </a:solidFill>
                          <a:effectLst/>
                          <a:latin typeface="Calibri" panose="020F0502020204030204" pitchFamily="34" charset="0"/>
                        </a:rPr>
                        <a:t>AGOSTO</a:t>
                      </a: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extLst>
                  <a:ext uri="{0D108BD9-81ED-4DB2-BD59-A6C34878D82A}">
                    <a16:rowId xmlns:a16="http://schemas.microsoft.com/office/drawing/2014/main" val="133902174"/>
                  </a:ext>
                </a:extLst>
              </a:tr>
              <a:tr h="159971">
                <a:tc>
                  <a:txBody>
                    <a:bodyPr/>
                    <a:lstStyle/>
                    <a:p>
                      <a:pPr algn="ctr" rtl="0" fontAlgn="b"/>
                      <a:r>
                        <a:rPr lang="es-PE" sz="1100" b="0" i="0" u="none" strike="noStrike">
                          <a:solidFill>
                            <a:srgbClr val="000000"/>
                          </a:solidFill>
                          <a:effectLst/>
                          <a:latin typeface="Calibri" panose="020F0502020204030204" pitchFamily="34" charset="0"/>
                        </a:rPr>
                        <a:t>799</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100" b="0" i="0" u="none" strike="noStrike">
                          <a:solidFill>
                            <a:srgbClr val="000000"/>
                          </a:solidFill>
                          <a:effectLst/>
                          <a:latin typeface="Calibri" panose="020F0502020204030204" pitchFamily="34" charset="0"/>
                        </a:rPr>
                        <a:t>607</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100" b="0" i="0" u="none" strike="noStrike" dirty="0">
                          <a:solidFill>
                            <a:srgbClr val="000000"/>
                          </a:solidFill>
                          <a:effectLst/>
                          <a:latin typeface="Calibri" panose="020F0502020204030204" pitchFamily="34" charset="0"/>
                        </a:rPr>
                        <a:t>767</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PE" sz="1100" b="0" i="0" u="none" strike="noStrike" dirty="0">
                          <a:solidFill>
                            <a:srgbClr val="000000"/>
                          </a:solidFill>
                          <a:effectLst/>
                          <a:latin typeface="Calibri" panose="020F0502020204030204" pitchFamily="34" charset="0"/>
                        </a:rPr>
                        <a:t>824 </a:t>
                      </a: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ES" sz="1100" b="0" i="0" u="none" strike="noStrike" dirty="0">
                          <a:solidFill>
                            <a:srgbClr val="000000"/>
                          </a:solidFill>
                          <a:effectLst/>
                          <a:latin typeface="Calibri" panose="020F0502020204030204" pitchFamily="34" charset="0"/>
                        </a:rPr>
                        <a:t>773</a:t>
                      </a:r>
                      <a:endParaRPr lang="es-PE" sz="1100" b="0" i="0" u="none" strike="noStrike" dirty="0">
                        <a:solidFill>
                          <a:srgbClr val="000000"/>
                        </a:solidFill>
                        <a:effectLst/>
                        <a:latin typeface="Calibri" panose="020F0502020204030204" pitchFamily="34" charset="0"/>
                      </a:endParaRP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ES" sz="1100" b="0" i="0" u="none" strike="noStrike" dirty="0">
                          <a:solidFill>
                            <a:srgbClr val="000000"/>
                          </a:solidFill>
                          <a:effectLst/>
                          <a:latin typeface="Calibri" panose="020F0502020204030204" pitchFamily="34" charset="0"/>
                        </a:rPr>
                        <a:t>822</a:t>
                      </a:r>
                      <a:endParaRPr lang="es-PE" sz="1100" b="0" i="0" u="none" strike="noStrike" dirty="0">
                        <a:solidFill>
                          <a:srgbClr val="000000"/>
                        </a:solidFill>
                        <a:effectLst/>
                        <a:latin typeface="Calibri" panose="020F0502020204030204" pitchFamily="34" charset="0"/>
                      </a:endParaRP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ES" sz="1100" b="0" i="0" u="none" strike="noStrike" dirty="0">
                          <a:solidFill>
                            <a:srgbClr val="000000"/>
                          </a:solidFill>
                          <a:effectLst/>
                          <a:latin typeface="Calibri" panose="020F0502020204030204" pitchFamily="34" charset="0"/>
                        </a:rPr>
                        <a:t>747</a:t>
                      </a:r>
                      <a:endParaRPr lang="es-PE" sz="1100" b="0" i="0" u="none" strike="noStrike" dirty="0">
                        <a:solidFill>
                          <a:srgbClr val="000000"/>
                        </a:solidFill>
                        <a:effectLst/>
                        <a:latin typeface="Calibri" panose="020F0502020204030204" pitchFamily="34" charset="0"/>
                      </a:endParaRP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tc>
                  <a:txBody>
                    <a:bodyPr/>
                    <a:lstStyle/>
                    <a:p>
                      <a:pPr algn="ctr" rtl="0" fontAlgn="b"/>
                      <a:r>
                        <a:rPr lang="es-ES" sz="1100" b="0" i="0" u="none" strike="noStrike" dirty="0">
                          <a:solidFill>
                            <a:srgbClr val="000000"/>
                          </a:solidFill>
                          <a:effectLst/>
                          <a:latin typeface="Calibri" panose="020F0502020204030204" pitchFamily="34" charset="0"/>
                        </a:rPr>
                        <a:t>673</a:t>
                      </a:r>
                      <a:endParaRPr lang="es-PE" sz="1100" b="0" i="0" u="none" strike="noStrike" dirty="0">
                        <a:solidFill>
                          <a:srgbClr val="000000"/>
                        </a:solidFill>
                        <a:effectLst/>
                        <a:latin typeface="Calibri" panose="020F0502020204030204" pitchFamily="34" charset="0"/>
                      </a:endParaRPr>
                    </a:p>
                  </a:txBody>
                  <a:tcPr marL="0" marR="0" marT="0" marB="0" anchor="b">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EAEFF7"/>
                    </a:solidFill>
                  </a:tcPr>
                </a:tc>
                <a:extLst>
                  <a:ext uri="{0D108BD9-81ED-4DB2-BD59-A6C34878D82A}">
                    <a16:rowId xmlns:a16="http://schemas.microsoft.com/office/drawing/2014/main" val="1986586754"/>
                  </a:ext>
                </a:extLst>
              </a:tr>
            </a:tbl>
          </a:graphicData>
        </a:graphic>
      </p:graphicFrame>
      <p:graphicFrame>
        <p:nvGraphicFramePr>
          <p:cNvPr id="18" name="Tabla 17">
            <a:extLst>
              <a:ext uri="{FF2B5EF4-FFF2-40B4-BE49-F238E27FC236}">
                <a16:creationId xmlns:a16="http://schemas.microsoft.com/office/drawing/2014/main" id="{B46C2B3E-E31E-3FFD-A4B2-083C609EF423}"/>
              </a:ext>
            </a:extLst>
          </p:cNvPr>
          <p:cNvGraphicFramePr>
            <a:graphicFrameLocks noGrp="1"/>
          </p:cNvGraphicFramePr>
          <p:nvPr>
            <p:extLst>
              <p:ext uri="{D42A27DB-BD31-4B8C-83A1-F6EECF244321}">
                <p14:modId xmlns:p14="http://schemas.microsoft.com/office/powerpoint/2010/main" val="796735758"/>
              </p:ext>
            </p:extLst>
          </p:nvPr>
        </p:nvGraphicFramePr>
        <p:xfrm>
          <a:off x="5787808" y="4244376"/>
          <a:ext cx="4419457" cy="639885"/>
        </p:xfrm>
        <a:graphic>
          <a:graphicData uri="http://schemas.openxmlformats.org/drawingml/2006/table">
            <a:tbl>
              <a:tblPr/>
              <a:tblGrid>
                <a:gridCol w="702156">
                  <a:extLst>
                    <a:ext uri="{9D8B030D-6E8A-4147-A177-3AD203B41FA5}">
                      <a16:colId xmlns:a16="http://schemas.microsoft.com/office/drawing/2014/main" val="4160914120"/>
                    </a:ext>
                  </a:extLst>
                </a:gridCol>
                <a:gridCol w="592013">
                  <a:extLst>
                    <a:ext uri="{9D8B030D-6E8A-4147-A177-3AD203B41FA5}">
                      <a16:colId xmlns:a16="http://schemas.microsoft.com/office/drawing/2014/main" val="394916733"/>
                    </a:ext>
                  </a:extLst>
                </a:gridCol>
                <a:gridCol w="509408">
                  <a:extLst>
                    <a:ext uri="{9D8B030D-6E8A-4147-A177-3AD203B41FA5}">
                      <a16:colId xmlns:a16="http://schemas.microsoft.com/office/drawing/2014/main" val="2531847754"/>
                    </a:ext>
                  </a:extLst>
                </a:gridCol>
                <a:gridCol w="523176">
                  <a:extLst>
                    <a:ext uri="{9D8B030D-6E8A-4147-A177-3AD203B41FA5}">
                      <a16:colId xmlns:a16="http://schemas.microsoft.com/office/drawing/2014/main" val="4039369803"/>
                    </a:ext>
                  </a:extLst>
                </a:gridCol>
                <a:gridCol w="523176">
                  <a:extLst>
                    <a:ext uri="{9D8B030D-6E8A-4147-A177-3AD203B41FA5}">
                      <a16:colId xmlns:a16="http://schemas.microsoft.com/office/drawing/2014/main" val="4279191836"/>
                    </a:ext>
                  </a:extLst>
                </a:gridCol>
                <a:gridCol w="523176">
                  <a:extLst>
                    <a:ext uri="{9D8B030D-6E8A-4147-A177-3AD203B41FA5}">
                      <a16:colId xmlns:a16="http://schemas.microsoft.com/office/drawing/2014/main" val="3497754010"/>
                    </a:ext>
                  </a:extLst>
                </a:gridCol>
                <a:gridCol w="523176">
                  <a:extLst>
                    <a:ext uri="{9D8B030D-6E8A-4147-A177-3AD203B41FA5}">
                      <a16:colId xmlns:a16="http://schemas.microsoft.com/office/drawing/2014/main" val="728024581"/>
                    </a:ext>
                  </a:extLst>
                </a:gridCol>
                <a:gridCol w="523176">
                  <a:extLst>
                    <a:ext uri="{9D8B030D-6E8A-4147-A177-3AD203B41FA5}">
                      <a16:colId xmlns:a16="http://schemas.microsoft.com/office/drawing/2014/main" val="3198865094"/>
                    </a:ext>
                  </a:extLst>
                </a:gridCol>
              </a:tblGrid>
              <a:tr h="158881">
                <a:tc gridSpan="8">
                  <a:txBody>
                    <a:bodyPr/>
                    <a:lstStyle/>
                    <a:p>
                      <a:pPr algn="ctr" rtl="0" fontAlgn="ctr"/>
                      <a:r>
                        <a:rPr lang="es-PE" sz="1100" b="1" i="0" u="none" strike="noStrike" dirty="0">
                          <a:solidFill>
                            <a:srgbClr val="000000"/>
                          </a:solidFill>
                          <a:effectLst/>
                          <a:latin typeface="Calibri" panose="020F0502020204030204" pitchFamily="34" charset="0"/>
                        </a:rPr>
                        <a:t>ADMISIBILIDAD</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pPr algn="ctr" rtl="0" fontAlgn="ct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hMerge="1">
                  <a:txBody>
                    <a:bodyPr/>
                    <a:lstStyle/>
                    <a:p>
                      <a:pPr algn="ctr" rtl="0" fontAlgn="ct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hMerge="1">
                  <a:txBody>
                    <a:bodyPr/>
                    <a:lstStyle/>
                    <a:p>
                      <a:pPr algn="ctr" rtl="0" fontAlgn="ct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hMerge="1">
                  <a:txBody>
                    <a:bodyPr/>
                    <a:lstStyle/>
                    <a:p>
                      <a:pPr algn="ctr" rtl="0" fontAlgn="ct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extLst>
                  <a:ext uri="{0D108BD9-81ED-4DB2-BD59-A6C34878D82A}">
                    <a16:rowId xmlns:a16="http://schemas.microsoft.com/office/drawing/2014/main" val="4287884749"/>
                  </a:ext>
                </a:extLst>
              </a:tr>
              <a:tr h="304605">
                <a:tc>
                  <a:txBody>
                    <a:bodyPr/>
                    <a:lstStyle/>
                    <a:p>
                      <a:pPr algn="ctr" rtl="0" fontAlgn="ctr"/>
                      <a:r>
                        <a:rPr lang="es-PE" sz="1100" b="1" i="0" u="none" strike="noStrike">
                          <a:solidFill>
                            <a:srgbClr val="000000"/>
                          </a:solidFill>
                          <a:effectLst/>
                          <a:latin typeface="Calibri" panose="020F0502020204030204" pitchFamily="34" charset="0"/>
                        </a:rPr>
                        <a:t>ENERO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100" b="1" i="0" u="none" strike="noStrike" dirty="0">
                          <a:solidFill>
                            <a:srgbClr val="000000"/>
                          </a:solidFill>
                          <a:effectLst/>
                          <a:latin typeface="Calibri" panose="020F0502020204030204" pitchFamily="34" charset="0"/>
                        </a:rPr>
                        <a:t>FEBRERO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100" b="1" i="0" u="none" strike="noStrike">
                          <a:solidFill>
                            <a:srgbClr val="000000"/>
                          </a:solidFill>
                          <a:effectLst/>
                          <a:latin typeface="Calibri" panose="020F0502020204030204" pitchFamily="34" charset="0"/>
                        </a:rPr>
                        <a:t>MARZO</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PE" sz="1100" b="1" i="0" u="none" strike="noStrike" dirty="0">
                          <a:solidFill>
                            <a:srgbClr val="000000"/>
                          </a:solidFill>
                          <a:effectLst/>
                          <a:latin typeface="Calibri" panose="020F0502020204030204" pitchFamily="34" charset="0"/>
                        </a:rPr>
                        <a:t>ABRIL</a:t>
                      </a: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ES" sz="1100" b="1" i="0" u="none" strike="noStrike" dirty="0">
                          <a:solidFill>
                            <a:srgbClr val="000000"/>
                          </a:solidFill>
                          <a:effectLst/>
                          <a:latin typeface="Calibri" panose="020F0502020204030204" pitchFamily="34" charset="0"/>
                        </a:rPr>
                        <a:t>MAYO</a:t>
                      </a: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ES" sz="1100" b="1" i="0" u="none" strike="noStrike" dirty="0">
                          <a:solidFill>
                            <a:srgbClr val="000000"/>
                          </a:solidFill>
                          <a:effectLst/>
                          <a:latin typeface="Calibri" panose="020F0502020204030204" pitchFamily="34" charset="0"/>
                        </a:rPr>
                        <a:t>JUNIO</a:t>
                      </a: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ES" sz="1100" b="1" i="0" u="none" strike="noStrike" dirty="0">
                          <a:solidFill>
                            <a:srgbClr val="000000"/>
                          </a:solidFill>
                          <a:effectLst/>
                          <a:latin typeface="Calibri" panose="020F0502020204030204" pitchFamily="34" charset="0"/>
                        </a:rPr>
                        <a:t>JULIO</a:t>
                      </a: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ctr"/>
                      <a:r>
                        <a:rPr lang="es-ES" sz="1100" b="1" i="0" u="none" strike="noStrike" dirty="0">
                          <a:solidFill>
                            <a:srgbClr val="000000"/>
                          </a:solidFill>
                          <a:effectLst/>
                          <a:latin typeface="Calibri" panose="020F0502020204030204" pitchFamily="34" charset="0"/>
                        </a:rPr>
                        <a:t>AGOSTO</a:t>
                      </a:r>
                      <a:endParaRPr lang="es-PE" sz="1100" b="1" i="0" u="none" strike="noStrike" dirty="0">
                        <a:solidFill>
                          <a:srgbClr val="000000"/>
                        </a:solidFill>
                        <a:effectLst/>
                        <a:latin typeface="Calibri" panose="020F0502020204030204" pitchFamily="34" charset="0"/>
                      </a:endParaRPr>
                    </a:p>
                  </a:txBody>
                  <a:tcPr marL="0" marR="0" marT="0"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extLst>
                  <a:ext uri="{0D108BD9-81ED-4DB2-BD59-A6C34878D82A}">
                    <a16:rowId xmlns:a16="http://schemas.microsoft.com/office/drawing/2014/main" val="4177795587"/>
                  </a:ext>
                </a:extLst>
              </a:tr>
              <a:tr h="158881">
                <a:tc>
                  <a:txBody>
                    <a:bodyPr/>
                    <a:lstStyle/>
                    <a:p>
                      <a:pPr algn="ctr" rtl="0" fontAlgn="b"/>
                      <a:r>
                        <a:rPr lang="es-PE" sz="1100" b="0" i="0" u="none" strike="noStrike">
                          <a:solidFill>
                            <a:srgbClr val="000000"/>
                          </a:solidFill>
                          <a:effectLst/>
                          <a:latin typeface="Calibri" panose="020F0502020204030204" pitchFamily="34" charset="0"/>
                        </a:rPr>
                        <a:t>573</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100" b="0" i="0" u="none" strike="noStrike" dirty="0">
                          <a:solidFill>
                            <a:srgbClr val="000000"/>
                          </a:solidFill>
                          <a:effectLst/>
                          <a:latin typeface="Calibri" panose="020F0502020204030204" pitchFamily="34" charset="0"/>
                        </a:rPr>
                        <a:t>550</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100" b="0" i="0" u="none" strike="noStrike" dirty="0">
                          <a:solidFill>
                            <a:srgbClr val="000000"/>
                          </a:solidFill>
                          <a:effectLst/>
                          <a:latin typeface="Calibri" panose="020F0502020204030204" pitchFamily="34" charset="0"/>
                        </a:rPr>
                        <a:t>285</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PE" sz="1100" b="0" i="0" u="none" strike="noStrike" dirty="0">
                          <a:solidFill>
                            <a:srgbClr val="000000"/>
                          </a:solidFill>
                          <a:effectLst/>
                          <a:latin typeface="Calibri" panose="020F0502020204030204" pitchFamily="34" charset="0"/>
                        </a:rPr>
                        <a:t>165 </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ES" sz="1100" b="0" i="0" u="none" strike="noStrike" dirty="0">
                          <a:solidFill>
                            <a:srgbClr val="000000"/>
                          </a:solidFill>
                          <a:effectLst/>
                          <a:latin typeface="Calibri" panose="020F0502020204030204" pitchFamily="34" charset="0"/>
                        </a:rPr>
                        <a:t>180</a:t>
                      </a:r>
                      <a:endParaRPr lang="es-PE" sz="1100" b="0" i="0" u="none" strike="noStrike" dirty="0">
                        <a:solidFill>
                          <a:srgbClr val="000000"/>
                        </a:solidFill>
                        <a:effectLst/>
                        <a:latin typeface="Calibri" panose="020F0502020204030204" pitchFamily="34" charset="0"/>
                      </a:endParaRP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ES" sz="1100" b="0" i="0" u="none" strike="noStrike" dirty="0">
                          <a:solidFill>
                            <a:srgbClr val="000000"/>
                          </a:solidFill>
                          <a:effectLst/>
                          <a:latin typeface="Calibri" panose="020F0502020204030204" pitchFamily="34" charset="0"/>
                        </a:rPr>
                        <a:t>198</a:t>
                      </a:r>
                      <a:endParaRPr lang="es-PE" sz="1100" b="0" i="0" u="none" strike="noStrike" dirty="0">
                        <a:solidFill>
                          <a:srgbClr val="000000"/>
                        </a:solidFill>
                        <a:effectLst/>
                        <a:latin typeface="Calibri" panose="020F0502020204030204" pitchFamily="34" charset="0"/>
                      </a:endParaRP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ES" sz="1100" b="0" i="0" u="none" strike="noStrike" dirty="0">
                          <a:solidFill>
                            <a:srgbClr val="000000"/>
                          </a:solidFill>
                          <a:effectLst/>
                          <a:latin typeface="Calibri" panose="020F0502020204030204" pitchFamily="34" charset="0"/>
                        </a:rPr>
                        <a:t>223</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tc>
                  <a:txBody>
                    <a:bodyPr/>
                    <a:lstStyle/>
                    <a:p>
                      <a:pPr algn="ctr" rtl="0" fontAlgn="b"/>
                      <a:r>
                        <a:rPr lang="es-ES" sz="1100" b="0" i="0" u="none" strike="noStrike" dirty="0">
                          <a:solidFill>
                            <a:srgbClr val="000000"/>
                          </a:solidFill>
                          <a:effectLst/>
                          <a:latin typeface="Calibri" panose="020F0502020204030204" pitchFamily="34" charset="0"/>
                        </a:rPr>
                        <a:t>270</a:t>
                      </a:r>
                    </a:p>
                  </a:txBody>
                  <a:tcPr marL="0" marR="0" marT="0" marB="0" anchor="b">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FCECE8"/>
                    </a:solidFill>
                  </a:tcPr>
                </a:tc>
                <a:extLst>
                  <a:ext uri="{0D108BD9-81ED-4DB2-BD59-A6C34878D82A}">
                    <a16:rowId xmlns:a16="http://schemas.microsoft.com/office/drawing/2014/main" val="586056141"/>
                  </a:ext>
                </a:extLst>
              </a:tr>
            </a:tbl>
          </a:graphicData>
        </a:graphic>
      </p:graphicFrame>
    </p:spTree>
    <p:extLst>
      <p:ext uri="{BB962C8B-B14F-4D97-AF65-F5344CB8AC3E}">
        <p14:creationId xmlns:p14="http://schemas.microsoft.com/office/powerpoint/2010/main" val="37762388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PRODUCTIVIDAD RECLAMOS – 2022 - 2024</a:t>
            </a:r>
            <a:endParaRPr lang="es-PE" sz="2800" b="1"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8FC8A378-12BC-4544-B033-50EA62648EBF}"/>
              </a:ext>
            </a:extLst>
          </p:cNvPr>
          <p:cNvSpPr txBox="1"/>
          <p:nvPr/>
        </p:nvSpPr>
        <p:spPr>
          <a:xfrm>
            <a:off x="292044" y="6280638"/>
            <a:ext cx="8509056" cy="276999"/>
          </a:xfrm>
          <a:prstGeom prst="rect">
            <a:avLst/>
          </a:prstGeom>
          <a:noFill/>
        </p:spPr>
        <p:txBody>
          <a:bodyPr wrap="square">
            <a:spAutoFit/>
          </a:bodyPr>
          <a:lstStyle/>
          <a:p>
            <a:r>
              <a:rPr lang="es-PE" sz="1200" dirty="0">
                <a:effectLst/>
                <a:latin typeface="+mj-lt"/>
                <a:ea typeface="Calibri" panose="020F0502020204030204" pitchFamily="34" charset="0"/>
              </a:rPr>
              <a:t> </a:t>
            </a:r>
            <a:r>
              <a:rPr lang="es-ES" sz="1200" dirty="0">
                <a:effectLst/>
                <a:latin typeface="+mj-lt"/>
                <a:ea typeface="Calibri" panose="020F0502020204030204" pitchFamily="34" charset="0"/>
              </a:rPr>
              <a:t>(*) Incluye: 1 informe de demanda, 33 reclamos origen INCA por S/. 2.5 millones; y 8 reclamos origen DCC.</a:t>
            </a:r>
            <a:endParaRPr lang="es-PE" sz="1200" dirty="0">
              <a:effectLst/>
              <a:latin typeface="+mj-lt"/>
              <a:ea typeface="Calibri" panose="020F0502020204030204" pitchFamily="34" charset="0"/>
            </a:endParaRPr>
          </a:p>
        </p:txBody>
      </p:sp>
      <p:graphicFrame>
        <p:nvGraphicFramePr>
          <p:cNvPr id="4" name="Tabla 3">
            <a:extLst>
              <a:ext uri="{FF2B5EF4-FFF2-40B4-BE49-F238E27FC236}">
                <a16:creationId xmlns:a16="http://schemas.microsoft.com/office/drawing/2014/main" id="{64F8C81C-2666-B65E-9EEE-9E42E376ADEE}"/>
              </a:ext>
            </a:extLst>
          </p:cNvPr>
          <p:cNvGraphicFramePr>
            <a:graphicFrameLocks noGrp="1"/>
          </p:cNvGraphicFramePr>
          <p:nvPr>
            <p:extLst>
              <p:ext uri="{D42A27DB-BD31-4B8C-83A1-F6EECF244321}">
                <p14:modId xmlns:p14="http://schemas.microsoft.com/office/powerpoint/2010/main" val="840470519"/>
              </p:ext>
            </p:extLst>
          </p:nvPr>
        </p:nvGraphicFramePr>
        <p:xfrm>
          <a:off x="406486" y="1095424"/>
          <a:ext cx="10747433" cy="5097523"/>
        </p:xfrm>
        <a:graphic>
          <a:graphicData uri="http://schemas.openxmlformats.org/drawingml/2006/table">
            <a:tbl>
              <a:tblPr/>
              <a:tblGrid>
                <a:gridCol w="1544541">
                  <a:extLst>
                    <a:ext uri="{9D8B030D-6E8A-4147-A177-3AD203B41FA5}">
                      <a16:colId xmlns:a16="http://schemas.microsoft.com/office/drawing/2014/main" val="3492535676"/>
                    </a:ext>
                  </a:extLst>
                </a:gridCol>
                <a:gridCol w="411877">
                  <a:extLst>
                    <a:ext uri="{9D8B030D-6E8A-4147-A177-3AD203B41FA5}">
                      <a16:colId xmlns:a16="http://schemas.microsoft.com/office/drawing/2014/main" val="3943723764"/>
                    </a:ext>
                  </a:extLst>
                </a:gridCol>
                <a:gridCol w="373264">
                  <a:extLst>
                    <a:ext uri="{9D8B030D-6E8A-4147-A177-3AD203B41FA5}">
                      <a16:colId xmlns:a16="http://schemas.microsoft.com/office/drawing/2014/main" val="3143106854"/>
                    </a:ext>
                  </a:extLst>
                </a:gridCol>
                <a:gridCol w="399005">
                  <a:extLst>
                    <a:ext uri="{9D8B030D-6E8A-4147-A177-3AD203B41FA5}">
                      <a16:colId xmlns:a16="http://schemas.microsoft.com/office/drawing/2014/main" val="840413810"/>
                    </a:ext>
                  </a:extLst>
                </a:gridCol>
                <a:gridCol w="450492">
                  <a:extLst>
                    <a:ext uri="{9D8B030D-6E8A-4147-A177-3AD203B41FA5}">
                      <a16:colId xmlns:a16="http://schemas.microsoft.com/office/drawing/2014/main" val="1588019462"/>
                    </a:ext>
                  </a:extLst>
                </a:gridCol>
                <a:gridCol w="411877">
                  <a:extLst>
                    <a:ext uri="{9D8B030D-6E8A-4147-A177-3AD203B41FA5}">
                      <a16:colId xmlns:a16="http://schemas.microsoft.com/office/drawing/2014/main" val="3380776616"/>
                    </a:ext>
                  </a:extLst>
                </a:gridCol>
                <a:gridCol w="373264">
                  <a:extLst>
                    <a:ext uri="{9D8B030D-6E8A-4147-A177-3AD203B41FA5}">
                      <a16:colId xmlns:a16="http://schemas.microsoft.com/office/drawing/2014/main" val="3065826786"/>
                    </a:ext>
                  </a:extLst>
                </a:gridCol>
                <a:gridCol w="360394">
                  <a:extLst>
                    <a:ext uri="{9D8B030D-6E8A-4147-A177-3AD203B41FA5}">
                      <a16:colId xmlns:a16="http://schemas.microsoft.com/office/drawing/2014/main" val="1086211501"/>
                    </a:ext>
                  </a:extLst>
                </a:gridCol>
                <a:gridCol w="411877">
                  <a:extLst>
                    <a:ext uri="{9D8B030D-6E8A-4147-A177-3AD203B41FA5}">
                      <a16:colId xmlns:a16="http://schemas.microsoft.com/office/drawing/2014/main" val="2199999393"/>
                    </a:ext>
                  </a:extLst>
                </a:gridCol>
                <a:gridCol w="437620">
                  <a:extLst>
                    <a:ext uri="{9D8B030D-6E8A-4147-A177-3AD203B41FA5}">
                      <a16:colId xmlns:a16="http://schemas.microsoft.com/office/drawing/2014/main" val="426754131"/>
                    </a:ext>
                  </a:extLst>
                </a:gridCol>
                <a:gridCol w="450492">
                  <a:extLst>
                    <a:ext uri="{9D8B030D-6E8A-4147-A177-3AD203B41FA5}">
                      <a16:colId xmlns:a16="http://schemas.microsoft.com/office/drawing/2014/main" val="1012459040"/>
                    </a:ext>
                  </a:extLst>
                </a:gridCol>
                <a:gridCol w="411877">
                  <a:extLst>
                    <a:ext uri="{9D8B030D-6E8A-4147-A177-3AD203B41FA5}">
                      <a16:colId xmlns:a16="http://schemas.microsoft.com/office/drawing/2014/main" val="1781910412"/>
                    </a:ext>
                  </a:extLst>
                </a:gridCol>
                <a:gridCol w="476233">
                  <a:extLst>
                    <a:ext uri="{9D8B030D-6E8A-4147-A177-3AD203B41FA5}">
                      <a16:colId xmlns:a16="http://schemas.microsoft.com/office/drawing/2014/main" val="2994845384"/>
                    </a:ext>
                  </a:extLst>
                </a:gridCol>
                <a:gridCol w="501975">
                  <a:extLst>
                    <a:ext uri="{9D8B030D-6E8A-4147-A177-3AD203B41FA5}">
                      <a16:colId xmlns:a16="http://schemas.microsoft.com/office/drawing/2014/main" val="4256857358"/>
                    </a:ext>
                  </a:extLst>
                </a:gridCol>
                <a:gridCol w="566331">
                  <a:extLst>
                    <a:ext uri="{9D8B030D-6E8A-4147-A177-3AD203B41FA5}">
                      <a16:colId xmlns:a16="http://schemas.microsoft.com/office/drawing/2014/main" val="99379560"/>
                    </a:ext>
                  </a:extLst>
                </a:gridCol>
                <a:gridCol w="527719">
                  <a:extLst>
                    <a:ext uri="{9D8B030D-6E8A-4147-A177-3AD203B41FA5}">
                      <a16:colId xmlns:a16="http://schemas.microsoft.com/office/drawing/2014/main" val="2462006788"/>
                    </a:ext>
                  </a:extLst>
                </a:gridCol>
                <a:gridCol w="527719">
                  <a:extLst>
                    <a:ext uri="{9D8B030D-6E8A-4147-A177-3AD203B41FA5}">
                      <a16:colId xmlns:a16="http://schemas.microsoft.com/office/drawing/2014/main" val="1875944976"/>
                    </a:ext>
                  </a:extLst>
                </a:gridCol>
                <a:gridCol w="527719">
                  <a:extLst>
                    <a:ext uri="{9D8B030D-6E8A-4147-A177-3AD203B41FA5}">
                      <a16:colId xmlns:a16="http://schemas.microsoft.com/office/drawing/2014/main" val="3053228018"/>
                    </a:ext>
                  </a:extLst>
                </a:gridCol>
                <a:gridCol w="527719">
                  <a:extLst>
                    <a:ext uri="{9D8B030D-6E8A-4147-A177-3AD203B41FA5}">
                      <a16:colId xmlns:a16="http://schemas.microsoft.com/office/drawing/2014/main" val="1660915840"/>
                    </a:ext>
                  </a:extLst>
                </a:gridCol>
                <a:gridCol w="527719">
                  <a:extLst>
                    <a:ext uri="{9D8B030D-6E8A-4147-A177-3AD203B41FA5}">
                      <a16:colId xmlns:a16="http://schemas.microsoft.com/office/drawing/2014/main" val="1362664461"/>
                    </a:ext>
                  </a:extLst>
                </a:gridCol>
                <a:gridCol w="527719">
                  <a:extLst>
                    <a:ext uri="{9D8B030D-6E8A-4147-A177-3AD203B41FA5}">
                      <a16:colId xmlns:a16="http://schemas.microsoft.com/office/drawing/2014/main" val="2848908935"/>
                    </a:ext>
                  </a:extLst>
                </a:gridCol>
              </a:tblGrid>
              <a:tr h="273320">
                <a:tc>
                  <a:txBody>
                    <a:bodyPr/>
                    <a:lstStyle/>
                    <a:p>
                      <a:pPr algn="ctr" fontAlgn="b"/>
                      <a:endParaRPr lang="es-PE" sz="1200" b="1" i="0" u="none" strike="noStrike" dirty="0">
                        <a:solidFill>
                          <a:srgbClr val="000000"/>
                        </a:solidFill>
                        <a:effectLst/>
                        <a:latin typeface="Calibri" panose="020F0502020204030204" pitchFamily="34" charset="0"/>
                      </a:endParaRPr>
                    </a:p>
                  </a:txBody>
                  <a:tcPr marL="0" marR="0" marT="0" marB="0" anchor="b">
                    <a:lnL w="12700" cap="flat" cmpd="sng" algn="ctr">
                      <a:solidFill>
                        <a:srgbClr val="99CCFF"/>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tcPr>
                </a:tc>
                <a:tc gridSpan="12">
                  <a:txBody>
                    <a:bodyPr/>
                    <a:lstStyle/>
                    <a:p>
                      <a:pPr algn="ctr" fontAlgn="b"/>
                      <a:r>
                        <a:rPr lang="es-PE" sz="1200" b="1" i="0" u="none" strike="noStrike">
                          <a:solidFill>
                            <a:srgbClr val="000000"/>
                          </a:solidFill>
                          <a:effectLst/>
                          <a:latin typeface="Calibri" panose="020F0502020204030204" pitchFamily="34" charset="0"/>
                        </a:rPr>
                        <a:t>2023</a:t>
                      </a:r>
                    </a:p>
                  </a:txBody>
                  <a:tcPr marL="0" marR="0" marT="0" marB="0" anchor="b">
                    <a:lnL w="12700" cap="flat" cmpd="sng" algn="ctr">
                      <a:solidFill>
                        <a:srgbClr val="305496"/>
                      </a:solidFill>
                      <a:prstDash val="solid"/>
                      <a:round/>
                      <a:headEnd type="none" w="med" len="med"/>
                      <a:tailEnd type="none" w="med" len="med"/>
                    </a:lnL>
                    <a:lnR w="12700" cap="flat" cmpd="sng" algn="ctr">
                      <a:solidFill>
                        <a:srgbClr val="FFD96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gridSpan="8">
                  <a:txBody>
                    <a:bodyPr/>
                    <a:lstStyle/>
                    <a:p>
                      <a:pPr algn="ctr" rtl="0" fontAlgn="b"/>
                      <a:r>
                        <a:rPr lang="es-PE" sz="1200" b="1" i="0" u="none" strike="noStrike" dirty="0">
                          <a:solidFill>
                            <a:srgbClr val="000000"/>
                          </a:solidFill>
                          <a:effectLst/>
                          <a:latin typeface="Calibri" panose="020F0502020204030204" pitchFamily="34" charset="0"/>
                        </a:rPr>
                        <a:t>2024</a:t>
                      </a:r>
                    </a:p>
                  </a:txBody>
                  <a:tcPr marL="0" marR="0" marT="0" marB="0" anchor="b">
                    <a:lnL w="12700" cap="flat" cmpd="sng" algn="ctr">
                      <a:solidFill>
                        <a:srgbClr val="FFD966"/>
                      </a:solidFill>
                      <a:prstDash val="solid"/>
                      <a:round/>
                      <a:headEnd type="none" w="med" len="med"/>
                      <a:tailEnd type="none" w="med" len="med"/>
                    </a:lnL>
                    <a:lnR w="12700" cap="flat" cmpd="sng" algn="ctr">
                      <a:solidFill>
                        <a:srgbClr val="FFD966"/>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FD966"/>
                      </a:solidFill>
                      <a:prstDash val="solid"/>
                      <a:round/>
                      <a:headEnd type="none" w="med" len="med"/>
                      <a:tailEnd type="none" w="med" len="med"/>
                    </a:lnB>
                  </a:tcPr>
                </a:tc>
                <a:tc hMerge="1">
                  <a:txBody>
                    <a:bodyPr/>
                    <a:lstStyle/>
                    <a:p>
                      <a:endParaRPr lang="es-PE"/>
                    </a:p>
                  </a:txBody>
                  <a:tcPr/>
                </a:tc>
                <a:tc hMerge="1">
                  <a:txBody>
                    <a:bodyPr/>
                    <a:lstStyle/>
                    <a:p>
                      <a:endParaRPr lang="es-PE"/>
                    </a:p>
                  </a:txBody>
                  <a:tcPr/>
                </a:tc>
                <a:tc hMerge="1">
                  <a:txBody>
                    <a:bodyPr/>
                    <a:lstStyle/>
                    <a:p>
                      <a:pPr algn="ctr" rtl="0" fontAlgn="b"/>
                      <a:endParaRPr lang="es-PE" sz="1500" b="1" i="0" u="none" strike="noStrike" dirty="0">
                        <a:solidFill>
                          <a:srgbClr val="000000"/>
                        </a:solidFill>
                        <a:effectLst/>
                        <a:latin typeface="Calibri" panose="020F0502020204030204" pitchFamily="34" charset="0"/>
                      </a:endParaRPr>
                    </a:p>
                  </a:txBody>
                  <a:tcPr marL="0" marR="0" marT="0" marB="0" anchor="b">
                    <a:lnL w="12700" cap="flat" cmpd="sng" algn="ctr">
                      <a:solidFill>
                        <a:srgbClr val="FFD966"/>
                      </a:solidFill>
                      <a:prstDash val="solid"/>
                      <a:round/>
                      <a:headEnd type="none" w="med" len="med"/>
                      <a:tailEnd type="none" w="med" len="med"/>
                    </a:lnL>
                    <a:lnR w="12700" cap="flat" cmpd="sng" algn="ctr">
                      <a:solidFill>
                        <a:srgbClr val="FFD966"/>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FD966"/>
                      </a:solidFill>
                      <a:prstDash val="solid"/>
                      <a:round/>
                      <a:headEnd type="none" w="med" len="med"/>
                      <a:tailEnd type="none" w="med" len="med"/>
                    </a:lnB>
                  </a:tcPr>
                </a:tc>
                <a:tc hMerge="1">
                  <a:txBody>
                    <a:bodyPr/>
                    <a:lstStyle/>
                    <a:p>
                      <a:pPr algn="ctr" rtl="0" fontAlgn="b"/>
                      <a:endParaRPr lang="es-PE" sz="1500" b="1" i="0" u="none" strike="noStrike" dirty="0">
                        <a:solidFill>
                          <a:srgbClr val="000000"/>
                        </a:solidFill>
                        <a:effectLst/>
                        <a:latin typeface="Calibri" panose="020F0502020204030204" pitchFamily="34" charset="0"/>
                      </a:endParaRPr>
                    </a:p>
                  </a:txBody>
                  <a:tcPr marL="0" marR="0" marT="0" marB="0" anchor="b">
                    <a:lnL w="12700" cap="flat" cmpd="sng" algn="ctr">
                      <a:solidFill>
                        <a:srgbClr val="FFD966"/>
                      </a:solidFill>
                      <a:prstDash val="solid"/>
                      <a:round/>
                      <a:headEnd type="none" w="med" len="med"/>
                      <a:tailEnd type="none" w="med" len="med"/>
                    </a:lnL>
                    <a:lnR w="12700" cap="flat" cmpd="sng" algn="ctr">
                      <a:solidFill>
                        <a:srgbClr val="FFD966"/>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FD966"/>
                      </a:solidFill>
                      <a:prstDash val="solid"/>
                      <a:round/>
                      <a:headEnd type="none" w="med" len="med"/>
                      <a:tailEnd type="none" w="med" len="med"/>
                    </a:lnB>
                  </a:tcPr>
                </a:tc>
                <a:tc hMerge="1">
                  <a:txBody>
                    <a:bodyPr/>
                    <a:lstStyle/>
                    <a:p>
                      <a:pPr algn="ctr" rtl="0" fontAlgn="b"/>
                      <a:endParaRPr lang="es-PE" sz="1200" b="1" i="0" u="none" strike="noStrike" dirty="0">
                        <a:solidFill>
                          <a:srgbClr val="000000"/>
                        </a:solidFill>
                        <a:effectLst/>
                        <a:latin typeface="Calibri" panose="020F0502020204030204" pitchFamily="34" charset="0"/>
                      </a:endParaRPr>
                    </a:p>
                  </a:txBody>
                  <a:tcPr marL="0" marR="0" marT="0" marB="0" anchor="b">
                    <a:lnL w="12700" cap="flat" cmpd="sng" algn="ctr">
                      <a:solidFill>
                        <a:srgbClr val="FFD966"/>
                      </a:solidFill>
                      <a:prstDash val="solid"/>
                      <a:round/>
                      <a:headEnd type="none" w="med" len="med"/>
                      <a:tailEnd type="none" w="med" len="med"/>
                    </a:lnL>
                    <a:lnR w="12700" cap="flat" cmpd="sng" algn="ctr">
                      <a:solidFill>
                        <a:srgbClr val="FFD966"/>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FD966"/>
                      </a:solidFill>
                      <a:prstDash val="solid"/>
                      <a:round/>
                      <a:headEnd type="none" w="med" len="med"/>
                      <a:tailEnd type="none" w="med" len="med"/>
                    </a:lnB>
                  </a:tcPr>
                </a:tc>
                <a:tc hMerge="1">
                  <a:txBody>
                    <a:bodyPr/>
                    <a:lstStyle/>
                    <a:p>
                      <a:pPr algn="ctr" rtl="0" fontAlgn="b"/>
                      <a:endParaRPr lang="es-PE" sz="1200" b="1" i="0" u="none" strike="noStrike" dirty="0">
                        <a:solidFill>
                          <a:srgbClr val="000000"/>
                        </a:solidFill>
                        <a:effectLst/>
                        <a:latin typeface="Calibri" panose="020F0502020204030204" pitchFamily="34" charset="0"/>
                      </a:endParaRPr>
                    </a:p>
                  </a:txBody>
                  <a:tcPr marL="0" marR="0" marT="0" marB="0" anchor="b">
                    <a:lnL w="12700" cap="flat" cmpd="sng" algn="ctr">
                      <a:solidFill>
                        <a:srgbClr val="FFD966"/>
                      </a:solidFill>
                      <a:prstDash val="solid"/>
                      <a:round/>
                      <a:headEnd type="none" w="med" len="med"/>
                      <a:tailEnd type="none" w="med" len="med"/>
                    </a:lnL>
                    <a:lnR w="12700" cap="flat" cmpd="sng" algn="ctr">
                      <a:solidFill>
                        <a:srgbClr val="FFD966"/>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FD966"/>
                      </a:solidFill>
                      <a:prstDash val="solid"/>
                      <a:round/>
                      <a:headEnd type="none" w="med" len="med"/>
                      <a:tailEnd type="none" w="med" len="med"/>
                    </a:lnB>
                  </a:tcPr>
                </a:tc>
                <a:tc hMerge="1">
                  <a:txBody>
                    <a:bodyPr/>
                    <a:lstStyle/>
                    <a:p>
                      <a:pPr algn="ctr" rtl="0" fontAlgn="b"/>
                      <a:endParaRPr lang="es-PE" sz="1200" b="1" i="0" u="none" strike="noStrike" dirty="0">
                        <a:solidFill>
                          <a:srgbClr val="000000"/>
                        </a:solidFill>
                        <a:effectLst/>
                        <a:latin typeface="Calibri" panose="020F0502020204030204" pitchFamily="34" charset="0"/>
                      </a:endParaRPr>
                    </a:p>
                  </a:txBody>
                  <a:tcPr marL="0" marR="0" marT="0" marB="0" anchor="b">
                    <a:lnL w="12700" cap="flat" cmpd="sng" algn="ctr">
                      <a:solidFill>
                        <a:srgbClr val="FFD966"/>
                      </a:solidFill>
                      <a:prstDash val="solid"/>
                      <a:round/>
                      <a:headEnd type="none" w="med" len="med"/>
                      <a:tailEnd type="none" w="med" len="med"/>
                    </a:lnL>
                    <a:lnR w="12700" cap="flat" cmpd="sng" algn="ctr">
                      <a:solidFill>
                        <a:srgbClr val="FFD966"/>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FD966"/>
                      </a:solidFill>
                      <a:prstDash val="solid"/>
                      <a:round/>
                      <a:headEnd type="none" w="med" len="med"/>
                      <a:tailEnd type="none" w="med" len="med"/>
                    </a:lnB>
                  </a:tcPr>
                </a:tc>
                <a:extLst>
                  <a:ext uri="{0D108BD9-81ED-4DB2-BD59-A6C34878D82A}">
                    <a16:rowId xmlns:a16="http://schemas.microsoft.com/office/drawing/2014/main" val="2356040257"/>
                  </a:ext>
                </a:extLst>
              </a:tr>
              <a:tr h="819964">
                <a:tc>
                  <a:txBody>
                    <a:bodyPr/>
                    <a:lstStyle/>
                    <a:p>
                      <a:pPr algn="l" fontAlgn="ctr"/>
                      <a:r>
                        <a:rPr lang="es-PE" sz="1200" b="1" i="0" u="none" strike="noStrike">
                          <a:solidFill>
                            <a:srgbClr val="FFFFFF"/>
                          </a:solidFill>
                          <a:effectLst/>
                          <a:latin typeface="Calibri Light" panose="020F0302020204030204" pitchFamily="34" charset="0"/>
                        </a:rPr>
                        <a:t>DIVISIÓN DE CONTROL CONCURRENTE-I</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ENE</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FEB</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dirty="0">
                          <a:solidFill>
                            <a:srgbClr val="FFFFFF"/>
                          </a:solidFill>
                          <a:effectLst/>
                          <a:latin typeface="Calibri Light" panose="020F0302020204030204" pitchFamily="34" charset="0"/>
                        </a:rPr>
                        <a:t>MAR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ABR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dirty="0">
                          <a:solidFill>
                            <a:srgbClr val="FFFFFF"/>
                          </a:solidFill>
                          <a:effectLst/>
                          <a:latin typeface="Calibri Light" panose="020F0302020204030204" pitchFamily="34" charset="0"/>
                        </a:rPr>
                        <a:t>MAY</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JUN</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JUL</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AGO</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SET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OCT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DIC</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rtl="0" fontAlgn="ctr"/>
                      <a:r>
                        <a:rPr lang="es-PE" sz="1200" b="1" i="0" u="none" strike="noStrike">
                          <a:solidFill>
                            <a:srgbClr val="000000"/>
                          </a:solidFill>
                          <a:effectLst/>
                          <a:latin typeface="Calibri Light" panose="020F0302020204030204" pitchFamily="34" charset="0"/>
                        </a:rPr>
                        <a:t>ENE</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200" b="1" i="0" u="none" strike="noStrike">
                          <a:solidFill>
                            <a:srgbClr val="000000"/>
                          </a:solidFill>
                          <a:effectLst/>
                          <a:latin typeface="Calibri Light" panose="020F0302020204030204" pitchFamily="34" charset="0"/>
                        </a:rPr>
                        <a:t>FEB</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MAR</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ABR</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MAY</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JUN</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JUL</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AGO</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FD966"/>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extLst>
                  <a:ext uri="{0D108BD9-81ED-4DB2-BD59-A6C34878D82A}">
                    <a16:rowId xmlns:a16="http://schemas.microsoft.com/office/drawing/2014/main" val="2822500624"/>
                  </a:ext>
                </a:extLst>
              </a:tr>
              <a:tr h="273320">
                <a:tc>
                  <a:txBody>
                    <a:bodyPr/>
                    <a:lstStyle/>
                    <a:p>
                      <a:pPr algn="l" fontAlgn="ctr"/>
                      <a:r>
                        <a:rPr lang="es-PE" sz="1200" b="1" i="0" u="none" strike="noStrike">
                          <a:solidFill>
                            <a:srgbClr val="000000"/>
                          </a:solidFill>
                          <a:effectLst/>
                          <a:latin typeface="Calibri Light" panose="020F0302020204030204" pitchFamily="34" charset="0"/>
                        </a:rPr>
                        <a:t>Reclamos resueltos</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311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310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 401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419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415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368 </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dirty="0">
                          <a:solidFill>
                            <a:srgbClr val="000000"/>
                          </a:solidFill>
                          <a:effectLst/>
                          <a:latin typeface="Calibri Light" panose="020F0302020204030204" pitchFamily="34" charset="0"/>
                        </a:rPr>
                        <a:t>368 </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dirty="0">
                          <a:solidFill>
                            <a:srgbClr val="000000"/>
                          </a:solidFill>
                          <a:effectLst/>
                          <a:latin typeface="Calibri Light" panose="020F0302020204030204" pitchFamily="34" charset="0"/>
                        </a:rPr>
                        <a:t>309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297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209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188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242</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285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0" i="0" u="none" strike="noStrike">
                          <a:solidFill>
                            <a:srgbClr val="000000"/>
                          </a:solidFill>
                          <a:effectLst/>
                          <a:latin typeface="Calibri Light" panose="020F0302020204030204" pitchFamily="34" charset="0"/>
                        </a:rPr>
                        <a:t>264</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0" i="0" u="none" strike="noStrike" dirty="0">
                          <a:solidFill>
                            <a:srgbClr val="000000"/>
                          </a:solidFill>
                          <a:effectLst/>
                          <a:latin typeface="Calibri Light" panose="020F0302020204030204" pitchFamily="34" charset="0"/>
                        </a:rPr>
                        <a:t>236</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256</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268(*)</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highlight>
                            <a:srgbClr val="FFFF00"/>
                          </a:highlight>
                          <a:latin typeface="Calibri Light" panose="020F0302020204030204" pitchFamily="34" charset="0"/>
                        </a:rPr>
                        <a:t>232</a:t>
                      </a:r>
                      <a:endParaRPr lang="es-PE" sz="1200" b="0" i="0" u="none" strike="noStrike" dirty="0">
                        <a:solidFill>
                          <a:srgbClr val="000000"/>
                        </a:solidFill>
                        <a:effectLst/>
                        <a:highlight>
                          <a:srgbClr val="FFFF00"/>
                        </a:highligh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251</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246</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3826670124"/>
                  </a:ext>
                </a:extLst>
              </a:tr>
              <a:tr h="273320">
                <a:tc>
                  <a:txBody>
                    <a:bodyPr/>
                    <a:lstStyle/>
                    <a:p>
                      <a:pPr algn="l" fontAlgn="ctr"/>
                      <a:r>
                        <a:rPr lang="es-PE" sz="1200" b="1" i="0" u="none" strike="noStrike">
                          <a:solidFill>
                            <a:srgbClr val="000000"/>
                          </a:solidFill>
                          <a:effectLst/>
                          <a:latin typeface="Calibri Light" panose="020F0302020204030204" pitchFamily="34" charset="0"/>
                        </a:rPr>
                        <a:t>Resolutor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15.8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 20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22.1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20.5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20.5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19.9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18.9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10.1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16.7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17.6</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200" b="0" i="0" u="none" strike="noStrike" dirty="0">
                          <a:solidFill>
                            <a:srgbClr val="000000"/>
                          </a:solidFill>
                          <a:effectLst/>
                          <a:latin typeface="Calibri Light" panose="020F0302020204030204" pitchFamily="34" charset="0"/>
                        </a:rPr>
                        <a:t>19.2</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17.8</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19</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highlight>
                            <a:srgbClr val="FFFF00"/>
                          </a:highlight>
                          <a:latin typeface="Calibri Light" panose="020F0302020204030204" pitchFamily="34" charset="0"/>
                        </a:rPr>
                        <a:t>22</a:t>
                      </a:r>
                      <a:endParaRPr lang="es-PE" sz="1200" b="0" i="0" u="none" strike="noStrike" dirty="0">
                        <a:solidFill>
                          <a:srgbClr val="000000"/>
                        </a:solidFill>
                        <a:effectLst/>
                        <a:highlight>
                          <a:srgbClr val="FFFF00"/>
                        </a:highligh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18.4</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16.09</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extLst>
                  <a:ext uri="{0D108BD9-81ED-4DB2-BD59-A6C34878D82A}">
                    <a16:rowId xmlns:a16="http://schemas.microsoft.com/office/drawing/2014/main" val="1360260857"/>
                  </a:ext>
                </a:extLst>
              </a:tr>
              <a:tr h="273320">
                <a:tc>
                  <a:txBody>
                    <a:bodyPr/>
                    <a:lstStyle/>
                    <a:p>
                      <a:pPr algn="l" fontAlgn="ctr"/>
                      <a:r>
                        <a:rPr lang="es-PE" sz="1200" b="1" i="0" u="none" strike="noStrike">
                          <a:solidFill>
                            <a:srgbClr val="000000"/>
                          </a:solidFill>
                          <a:effectLst/>
                          <a:latin typeface="Calibri Light" panose="020F0302020204030204" pitchFamily="34" charset="0"/>
                        </a:rPr>
                        <a:t>Producción Promedio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20.5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19.6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 20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 18.96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20.24</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17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20.69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18.80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14.24</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17.07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1" i="0" u="none" strike="noStrike">
                          <a:solidFill>
                            <a:srgbClr val="000000"/>
                          </a:solidFill>
                          <a:effectLst/>
                          <a:latin typeface="Calibri Light" panose="020F0302020204030204" pitchFamily="34" charset="0"/>
                        </a:rPr>
                        <a:t>15</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1" i="0" u="none" strike="noStrike">
                          <a:solidFill>
                            <a:srgbClr val="000000"/>
                          </a:solidFill>
                          <a:effectLst/>
                          <a:latin typeface="Calibri Light" panose="020F0302020204030204" pitchFamily="34" charset="0"/>
                        </a:rPr>
                        <a:t>12.29</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14.38</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14.11</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highlight>
                            <a:srgbClr val="FFFF00"/>
                          </a:highlight>
                          <a:latin typeface="Calibri Light" panose="020F0302020204030204" pitchFamily="34" charset="0"/>
                        </a:rPr>
                        <a:t>10.54</a:t>
                      </a:r>
                      <a:endParaRPr lang="es-PE" sz="1200" b="1" i="0" u="none" strike="noStrike" dirty="0">
                        <a:solidFill>
                          <a:srgbClr val="000000"/>
                        </a:solidFill>
                        <a:effectLst/>
                        <a:highlight>
                          <a:srgbClr val="FFFF00"/>
                        </a:highligh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13.64</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15.29</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3312465785"/>
                  </a:ext>
                </a:extLst>
              </a:tr>
              <a:tr h="819964">
                <a:tc>
                  <a:txBody>
                    <a:bodyPr/>
                    <a:lstStyle/>
                    <a:p>
                      <a:pPr algn="l" fontAlgn="ctr"/>
                      <a:r>
                        <a:rPr lang="es-PE" sz="1200" b="1" i="0" u="none" strike="noStrike">
                          <a:solidFill>
                            <a:srgbClr val="FFFFFF"/>
                          </a:solidFill>
                          <a:effectLst/>
                          <a:latin typeface="Calibri Light" panose="020F0302020204030204" pitchFamily="34" charset="0"/>
                        </a:rPr>
                        <a:t>DIVISIÓN DE CONTROL CONCURRENTE-II</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ENE</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FEB</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MAR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ABR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MAY</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JUN</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JUL</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AGO</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dirty="0">
                          <a:solidFill>
                            <a:srgbClr val="FFFFFF"/>
                          </a:solidFill>
                          <a:effectLst/>
                          <a:latin typeface="Calibri Light" panose="020F0302020204030204" pitchFamily="34" charset="0"/>
                        </a:rPr>
                        <a:t>SET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OCT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dirty="0">
                          <a:solidFill>
                            <a:srgbClr val="FFFFFF"/>
                          </a:solidFill>
                          <a:effectLst/>
                          <a:latin typeface="Calibri Light" panose="020F0302020204030204" pitchFamily="34" charset="0"/>
                        </a:rPr>
                        <a:t>DIC</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rtl="0" fontAlgn="ctr"/>
                      <a:r>
                        <a:rPr lang="es-PE" sz="1200" b="1" i="0" u="none" strike="noStrike">
                          <a:solidFill>
                            <a:srgbClr val="000000"/>
                          </a:solidFill>
                          <a:effectLst/>
                          <a:latin typeface="Calibri Light" panose="020F0302020204030204" pitchFamily="34" charset="0"/>
                        </a:rPr>
                        <a:t>ENE</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200" b="1" i="0" u="none" strike="noStrike">
                          <a:solidFill>
                            <a:srgbClr val="000000"/>
                          </a:solidFill>
                          <a:effectLst/>
                          <a:latin typeface="Calibri Light" panose="020F0302020204030204" pitchFamily="34" charset="0"/>
                        </a:rPr>
                        <a:t>FEB</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MAR</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ABR</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MAY</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JUN</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JUL</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AGO</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extLst>
                  <a:ext uri="{0D108BD9-81ED-4DB2-BD59-A6C34878D82A}">
                    <a16:rowId xmlns:a16="http://schemas.microsoft.com/office/drawing/2014/main" val="1734159817"/>
                  </a:ext>
                </a:extLst>
              </a:tr>
              <a:tr h="365760">
                <a:tc>
                  <a:txBody>
                    <a:bodyPr/>
                    <a:lstStyle/>
                    <a:p>
                      <a:pPr algn="l" fontAlgn="ctr"/>
                      <a:r>
                        <a:rPr lang="es-PE" sz="1200" b="1" i="0" u="none" strike="noStrike" dirty="0">
                          <a:solidFill>
                            <a:srgbClr val="000000"/>
                          </a:solidFill>
                          <a:effectLst/>
                          <a:latin typeface="Calibri Light" panose="020F0302020204030204" pitchFamily="34" charset="0"/>
                        </a:rPr>
                        <a:t>Reclamos resueltos</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113</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111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 107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109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107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104 </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99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108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dirty="0">
                          <a:solidFill>
                            <a:srgbClr val="000000"/>
                          </a:solidFill>
                          <a:effectLst/>
                          <a:latin typeface="Calibri Light" panose="020F0302020204030204" pitchFamily="34" charset="0"/>
                        </a:rPr>
                        <a:t>105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76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83</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81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79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0" i="0" u="none" strike="noStrike">
                          <a:solidFill>
                            <a:srgbClr val="000000"/>
                          </a:solidFill>
                          <a:effectLst/>
                          <a:latin typeface="Calibri Light" panose="020F0302020204030204" pitchFamily="34" charset="0"/>
                        </a:rPr>
                        <a:t>83</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0" i="0" u="none" strike="noStrike" dirty="0">
                          <a:solidFill>
                            <a:srgbClr val="000000"/>
                          </a:solidFill>
                          <a:effectLst/>
                          <a:latin typeface="Calibri Light" panose="020F0302020204030204" pitchFamily="34" charset="0"/>
                        </a:rPr>
                        <a:t>  77*</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89</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104 (**)</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111</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62</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91</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2444434921"/>
                  </a:ext>
                </a:extLst>
              </a:tr>
              <a:tr h="273320">
                <a:tc>
                  <a:txBody>
                    <a:bodyPr/>
                    <a:lstStyle/>
                    <a:p>
                      <a:pPr algn="l" fontAlgn="ctr"/>
                      <a:r>
                        <a:rPr lang="es-PE" sz="1200" b="1" i="0" u="none" strike="noStrike">
                          <a:solidFill>
                            <a:srgbClr val="000000"/>
                          </a:solidFill>
                          <a:effectLst/>
                          <a:latin typeface="Calibri Light" panose="020F0302020204030204" pitchFamily="34" charset="0"/>
                        </a:rPr>
                        <a:t>Resolutor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13</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13.5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 11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12</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11.5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dirty="0">
                          <a:solidFill>
                            <a:srgbClr val="000000"/>
                          </a:solidFill>
                          <a:effectLst/>
                          <a:latin typeface="Calibri Light" panose="020F0302020204030204" pitchFamily="34" charset="0"/>
                        </a:rPr>
                        <a:t>12.5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10.9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10.8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dirty="0">
                          <a:solidFill>
                            <a:srgbClr val="000000"/>
                          </a:solidFill>
                          <a:effectLst/>
                          <a:latin typeface="Calibri Light" panose="020F0302020204030204" pitchFamily="34" charset="0"/>
                        </a:rPr>
                        <a:t>7.8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8.6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8.8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8.7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7.9</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200" b="0" i="0" u="none" strike="noStrike" dirty="0">
                          <a:solidFill>
                            <a:srgbClr val="000000"/>
                          </a:solidFill>
                          <a:effectLst/>
                          <a:latin typeface="Calibri Light" panose="020F0302020204030204" pitchFamily="34" charset="0"/>
                        </a:rPr>
                        <a:t>7.6</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8.8</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10.7</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10.5</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12</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8.9</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extLst>
                  <a:ext uri="{0D108BD9-81ED-4DB2-BD59-A6C34878D82A}">
                    <a16:rowId xmlns:a16="http://schemas.microsoft.com/office/drawing/2014/main" val="2855644288"/>
                  </a:ext>
                </a:extLst>
              </a:tr>
              <a:tr h="273320">
                <a:tc>
                  <a:txBody>
                    <a:bodyPr/>
                    <a:lstStyle/>
                    <a:p>
                      <a:pPr algn="l" fontAlgn="ctr"/>
                      <a:r>
                        <a:rPr lang="es-PE" sz="1200" b="1" i="0" u="none" strike="noStrike">
                          <a:solidFill>
                            <a:srgbClr val="000000"/>
                          </a:solidFill>
                          <a:effectLst/>
                          <a:latin typeface="Calibri Light" panose="020F0302020204030204" pitchFamily="34" charset="0"/>
                        </a:rPr>
                        <a:t>Producción Promedio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a:solidFill>
                            <a:srgbClr val="000000"/>
                          </a:solidFill>
                          <a:effectLst/>
                          <a:latin typeface="Calibri Light" panose="020F0302020204030204" pitchFamily="34" charset="0"/>
                        </a:rPr>
                        <a:t>8.69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8.22</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 9.72</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9.08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9.30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8.23</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9.08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10.00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10.50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dirty="0">
                          <a:solidFill>
                            <a:srgbClr val="000000"/>
                          </a:solidFill>
                          <a:effectLst/>
                          <a:latin typeface="Calibri Light" panose="020F0302020204030204" pitchFamily="34" charset="0"/>
                        </a:rPr>
                        <a:t>9.74</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9.65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9.20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9.08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10.5</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10.13</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10.11</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9.72</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10.57</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5.17</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10.22</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1886371244"/>
                  </a:ext>
                </a:extLst>
              </a:tr>
              <a:tr h="546642">
                <a:tc>
                  <a:txBody>
                    <a:bodyPr/>
                    <a:lstStyle/>
                    <a:p>
                      <a:pPr algn="l" fontAlgn="ctr"/>
                      <a:r>
                        <a:rPr lang="es-PE" sz="1200" b="1" i="0" u="none" strike="noStrike">
                          <a:solidFill>
                            <a:srgbClr val="FFFFFF"/>
                          </a:solidFill>
                          <a:effectLst/>
                          <a:latin typeface="Calibri Light" panose="020F0302020204030204" pitchFamily="34" charset="0"/>
                        </a:rPr>
                        <a:t>DIVISIÓN DE CONTROL POSTERIOR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200" b="1" i="0" u="none" strike="noStrike">
                          <a:solidFill>
                            <a:srgbClr val="FFFFFF"/>
                          </a:solidFill>
                          <a:effectLst/>
                          <a:latin typeface="Calibri Light" panose="020F0302020204030204" pitchFamily="34" charset="0"/>
                        </a:rPr>
                        <a:t>ENE</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FEB</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MAR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ABR</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MAY</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JUN</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JUL</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AGO</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SET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dirty="0">
                          <a:solidFill>
                            <a:srgbClr val="FFFFFF"/>
                          </a:solidFill>
                          <a:effectLst/>
                          <a:latin typeface="Calibri Light" panose="020F0302020204030204" pitchFamily="34" charset="0"/>
                        </a:rPr>
                        <a:t>OCT</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fontAlgn="ctr"/>
                      <a:r>
                        <a:rPr lang="es-PE" sz="1200" b="1" i="0" u="none" strike="noStrike">
                          <a:solidFill>
                            <a:srgbClr val="FFFFFF"/>
                          </a:solidFill>
                          <a:effectLst/>
                          <a:latin typeface="Calibri Light" panose="020F0302020204030204" pitchFamily="34" charset="0"/>
                        </a:rPr>
                        <a:t>DIC</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2F75B5"/>
                    </a:solidFill>
                  </a:tcPr>
                </a:tc>
                <a:tc>
                  <a:txBody>
                    <a:bodyPr/>
                    <a:lstStyle/>
                    <a:p>
                      <a:pPr algn="ctr" rtl="0" fontAlgn="ctr"/>
                      <a:r>
                        <a:rPr lang="es-PE" sz="1200" b="1" i="0" u="none" strike="noStrike">
                          <a:solidFill>
                            <a:srgbClr val="000000"/>
                          </a:solidFill>
                          <a:effectLst/>
                          <a:latin typeface="Calibri Light" panose="020F0302020204030204" pitchFamily="34" charset="0"/>
                        </a:rPr>
                        <a:t>ENE</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200" b="1" i="0" u="none" strike="noStrike">
                          <a:solidFill>
                            <a:srgbClr val="000000"/>
                          </a:solidFill>
                          <a:effectLst/>
                          <a:latin typeface="Calibri Light" panose="020F0302020204030204" pitchFamily="34" charset="0"/>
                        </a:rPr>
                        <a:t>FEB</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MAR</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ABR</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MAY</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JUN</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JUL</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AGO</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FFF99"/>
                    </a:solidFill>
                  </a:tcPr>
                </a:tc>
                <a:extLst>
                  <a:ext uri="{0D108BD9-81ED-4DB2-BD59-A6C34878D82A}">
                    <a16:rowId xmlns:a16="http://schemas.microsoft.com/office/drawing/2014/main" val="450108723"/>
                  </a:ext>
                </a:extLst>
              </a:tr>
              <a:tr h="358633">
                <a:tc>
                  <a:txBody>
                    <a:bodyPr/>
                    <a:lstStyle/>
                    <a:p>
                      <a:pPr algn="l" fontAlgn="ctr"/>
                      <a:r>
                        <a:rPr lang="es-PE" sz="1200" b="1" i="0" u="none" strike="noStrike">
                          <a:solidFill>
                            <a:srgbClr val="000000"/>
                          </a:solidFill>
                          <a:effectLst/>
                          <a:latin typeface="Calibri Light" panose="020F0302020204030204" pitchFamily="34" charset="0"/>
                        </a:rPr>
                        <a:t>Reclamos resueltos</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0" i="0" u="none" strike="noStrike">
                          <a:solidFill>
                            <a:srgbClr val="000000"/>
                          </a:solidFill>
                          <a:effectLst/>
                          <a:latin typeface="Calibri Light" panose="020F0302020204030204" pitchFamily="34" charset="0"/>
                        </a:rPr>
                        <a:t>54</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55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 29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38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37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38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25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37*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dirty="0">
                          <a:solidFill>
                            <a:srgbClr val="000000"/>
                          </a:solidFill>
                          <a:effectLst/>
                          <a:latin typeface="Calibri Light" panose="020F0302020204030204" pitchFamily="34" charset="0"/>
                        </a:rPr>
                        <a:t>17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dirty="0">
                          <a:solidFill>
                            <a:srgbClr val="000000"/>
                          </a:solidFill>
                          <a:effectLst/>
                          <a:latin typeface="Calibri Light" panose="020F0302020204030204" pitchFamily="34" charset="0"/>
                        </a:rPr>
                        <a:t>17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0" i="0" u="none" strike="noStrike">
                          <a:solidFill>
                            <a:srgbClr val="000000"/>
                          </a:solidFill>
                          <a:effectLst/>
                          <a:latin typeface="Calibri Light" panose="020F0302020204030204" pitchFamily="34" charset="0"/>
                        </a:rPr>
                        <a:t>19</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0" i="0" u="none" strike="noStrike" dirty="0">
                          <a:solidFill>
                            <a:srgbClr val="000000"/>
                          </a:solidFill>
                          <a:effectLst/>
                          <a:latin typeface="Calibri Light" panose="020F0302020204030204" pitchFamily="34" charset="0"/>
                        </a:rPr>
                        <a:t>21</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18*</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13 (***)</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16*</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23 (*)</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0" i="0" u="none" strike="noStrike" dirty="0">
                          <a:solidFill>
                            <a:srgbClr val="000000"/>
                          </a:solidFill>
                          <a:effectLst/>
                          <a:latin typeface="Calibri Light" panose="020F0302020204030204" pitchFamily="34" charset="0"/>
                        </a:rPr>
                        <a:t>42(*)</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4007070957"/>
                  </a:ext>
                </a:extLst>
              </a:tr>
              <a:tr h="273320">
                <a:tc>
                  <a:txBody>
                    <a:bodyPr/>
                    <a:lstStyle/>
                    <a:p>
                      <a:pPr algn="l" fontAlgn="ctr"/>
                      <a:r>
                        <a:rPr lang="es-PE" sz="1200" b="1" i="0" u="none" strike="noStrike">
                          <a:solidFill>
                            <a:srgbClr val="000000"/>
                          </a:solidFill>
                          <a:effectLst/>
                          <a:latin typeface="Calibri Light" panose="020F0302020204030204" pitchFamily="34" charset="0"/>
                        </a:rPr>
                        <a:t>Resolutor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 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8</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8 </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5.36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2.21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a:solidFill>
                            <a:srgbClr val="000000"/>
                          </a:solidFill>
                          <a:effectLst/>
                          <a:latin typeface="Calibri Light" panose="020F0302020204030204" pitchFamily="34" charset="0"/>
                        </a:rPr>
                        <a:t>2.1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dirty="0">
                          <a:solidFill>
                            <a:srgbClr val="000000"/>
                          </a:solidFill>
                          <a:effectLst/>
                          <a:latin typeface="Calibri Light" panose="020F0302020204030204" pitchFamily="34" charset="0"/>
                        </a:rPr>
                        <a:t>3.4</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fontAlgn="ctr"/>
                      <a:r>
                        <a:rPr lang="es-PE" sz="1200" b="0" i="0" u="none" strike="noStrike" dirty="0">
                          <a:solidFill>
                            <a:srgbClr val="000000"/>
                          </a:solidFill>
                          <a:effectLst/>
                          <a:latin typeface="Calibri Light" panose="020F0302020204030204" pitchFamily="34" charset="0"/>
                        </a:rPr>
                        <a:t>5.11</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6.36</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200" b="0" i="0" u="none" strike="noStrike">
                          <a:solidFill>
                            <a:srgbClr val="000000"/>
                          </a:solidFill>
                          <a:effectLst/>
                          <a:latin typeface="Calibri Light" panose="020F0302020204030204" pitchFamily="34" charset="0"/>
                        </a:rPr>
                        <a:t>4.95</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PE" sz="1200" b="0" i="0" u="none" strike="noStrike" dirty="0">
                          <a:solidFill>
                            <a:srgbClr val="000000"/>
                          </a:solidFill>
                          <a:effectLst/>
                          <a:latin typeface="Calibri Light" panose="020F0302020204030204" pitchFamily="34" charset="0"/>
                        </a:rPr>
                        <a:t>4.89</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5.32</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6.23</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5.37</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6.1</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tc>
                  <a:txBody>
                    <a:bodyPr/>
                    <a:lstStyle/>
                    <a:p>
                      <a:pPr algn="ctr" rtl="0" fontAlgn="ctr"/>
                      <a:r>
                        <a:rPr lang="es-ES" sz="1200" b="0" i="0" u="none" strike="noStrike" dirty="0">
                          <a:solidFill>
                            <a:srgbClr val="000000"/>
                          </a:solidFill>
                          <a:effectLst/>
                          <a:latin typeface="Calibri Light" panose="020F0302020204030204" pitchFamily="34" charset="0"/>
                        </a:rPr>
                        <a:t>5.65</a:t>
                      </a:r>
                      <a:endParaRPr lang="es-PE" sz="12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tcPr>
                </a:tc>
                <a:extLst>
                  <a:ext uri="{0D108BD9-81ED-4DB2-BD59-A6C34878D82A}">
                    <a16:rowId xmlns:a16="http://schemas.microsoft.com/office/drawing/2014/main" val="2130602570"/>
                  </a:ext>
                </a:extLst>
              </a:tr>
              <a:tr h="273320">
                <a:tc>
                  <a:txBody>
                    <a:bodyPr/>
                    <a:lstStyle/>
                    <a:p>
                      <a:pPr algn="l" fontAlgn="ctr"/>
                      <a:r>
                        <a:rPr lang="es-PE" sz="1200" b="1" i="0" u="none" strike="noStrike" dirty="0">
                          <a:solidFill>
                            <a:srgbClr val="000000"/>
                          </a:solidFill>
                          <a:effectLst/>
                          <a:latin typeface="Calibri Light" panose="020F0302020204030204" pitchFamily="34" charset="0"/>
                        </a:rPr>
                        <a:t>Producción Promedio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200" b="1" i="0" u="none" strike="noStrike" dirty="0">
                          <a:solidFill>
                            <a:srgbClr val="000000"/>
                          </a:solidFill>
                          <a:effectLst/>
                          <a:latin typeface="Calibri Light" panose="020F0302020204030204" pitchFamily="34" charset="0"/>
                        </a:rPr>
                        <a:t>5.4</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5.5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 3.63</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4.75</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dirty="0">
                          <a:solidFill>
                            <a:srgbClr val="000000"/>
                          </a:solidFill>
                          <a:effectLst/>
                          <a:latin typeface="Calibri Light" panose="020F0302020204030204" pitchFamily="34" charset="0"/>
                        </a:rPr>
                        <a:t>4.63</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4.75 </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3.57</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6.90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7.24</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8.10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a:solidFill>
                            <a:srgbClr val="000000"/>
                          </a:solidFill>
                          <a:effectLst/>
                          <a:latin typeface="Calibri Light" panose="020F0302020204030204" pitchFamily="34" charset="0"/>
                        </a:rPr>
                        <a:t>5.00</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fontAlgn="ctr"/>
                      <a:r>
                        <a:rPr lang="es-PE" sz="1200" b="1" i="0" u="none" strike="noStrike" dirty="0">
                          <a:solidFill>
                            <a:srgbClr val="000000"/>
                          </a:solidFill>
                          <a:effectLst/>
                          <a:latin typeface="Calibri Light" panose="020F0302020204030204" pitchFamily="34" charset="0"/>
                        </a:rPr>
                        <a:t>3.72</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2F75B5"/>
                      </a:solidFill>
                      <a:prstDash val="solid"/>
                      <a:round/>
                      <a:headEnd type="none" w="med" len="med"/>
                      <a:tailEnd type="none" w="med" len="med"/>
                    </a:lnR>
                    <a:lnT w="12700" cap="flat" cmpd="sng" algn="ctr">
                      <a:solidFill>
                        <a:srgbClr val="2F75B5"/>
                      </a:solidFill>
                      <a:prstDash val="solid"/>
                      <a:round/>
                      <a:headEnd type="none" w="med" len="med"/>
                      <a:tailEnd type="none" w="med" len="med"/>
                    </a:lnT>
                    <a:lnB w="12700" cap="flat" cmpd="sng" algn="ctr">
                      <a:solidFill>
                        <a:srgbClr val="2F75B5"/>
                      </a:solidFill>
                      <a:prstDash val="solid"/>
                      <a:round/>
                      <a:headEnd type="none" w="med" len="med"/>
                      <a:tailEnd type="none" w="med" len="med"/>
                    </a:lnB>
                    <a:solidFill>
                      <a:srgbClr val="DEEAF6"/>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2.99</a:t>
                      </a:r>
                    </a:p>
                  </a:txBody>
                  <a:tcPr marL="0" marR="0" marT="0" marB="0" anchor="ctr">
                    <a:lnL w="12700" cap="flat" cmpd="sng" algn="ctr">
                      <a:solidFill>
                        <a:srgbClr val="2F75B5"/>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3.84</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4.29*</a:t>
                      </a: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3.38</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2.09</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2.98</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3.77</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7.43</a:t>
                      </a:r>
                      <a:endParaRPr lang="es-PE" sz="12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F8CBAD"/>
                      </a:solidFill>
                      <a:prstDash val="solid"/>
                      <a:round/>
                      <a:headEnd type="none" w="med" len="med"/>
                      <a:tailEnd type="none" w="med" len="med"/>
                    </a:lnL>
                    <a:lnR w="12700" cap="flat" cmpd="sng" algn="ctr">
                      <a:solidFill>
                        <a:srgbClr val="F8CBAD"/>
                      </a:solidFill>
                      <a:prstDash val="solid"/>
                      <a:round/>
                      <a:headEnd type="none" w="med" len="med"/>
                      <a:tailEnd type="none" w="med" len="med"/>
                    </a:lnR>
                    <a:lnT w="12700" cap="flat" cmpd="sng" algn="ctr">
                      <a:solidFill>
                        <a:srgbClr val="F8CBAD"/>
                      </a:solidFill>
                      <a:prstDash val="solid"/>
                      <a:round/>
                      <a:headEnd type="none" w="med" len="med"/>
                      <a:tailEnd type="none" w="med" len="med"/>
                    </a:lnT>
                    <a:lnB w="12700" cap="flat" cmpd="sng" algn="ctr">
                      <a:solidFill>
                        <a:srgbClr val="F8CBAD"/>
                      </a:solidFill>
                      <a:prstDash val="solid"/>
                      <a:round/>
                      <a:headEnd type="none" w="med" len="med"/>
                      <a:tailEnd type="none" w="med" len="med"/>
                    </a:lnB>
                    <a:solidFill>
                      <a:srgbClr val="FBFDDF"/>
                    </a:solidFill>
                  </a:tcPr>
                </a:tc>
                <a:extLst>
                  <a:ext uri="{0D108BD9-81ED-4DB2-BD59-A6C34878D82A}">
                    <a16:rowId xmlns:a16="http://schemas.microsoft.com/office/drawing/2014/main" val="1573925206"/>
                  </a:ext>
                </a:extLst>
              </a:tr>
            </a:tbl>
          </a:graphicData>
        </a:graphic>
      </p:graphicFrame>
    </p:spTree>
    <p:extLst>
      <p:ext uri="{BB962C8B-B14F-4D97-AF65-F5344CB8AC3E}">
        <p14:creationId xmlns:p14="http://schemas.microsoft.com/office/powerpoint/2010/main" val="37505284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PRODUCTIVIDAD AGOSTO 2024</a:t>
            </a:r>
            <a:endParaRPr lang="es-PE" sz="2800" b="1" dirty="0">
              <a:latin typeface="Arial" panose="020B0604020202020204" pitchFamily="34" charset="0"/>
              <a:cs typeface="Arial" panose="020B0604020202020204" pitchFamily="34" charset="0"/>
            </a:endParaRPr>
          </a:p>
        </p:txBody>
      </p:sp>
      <p:graphicFrame>
        <p:nvGraphicFramePr>
          <p:cNvPr id="8" name="Tabla 7">
            <a:extLst>
              <a:ext uri="{FF2B5EF4-FFF2-40B4-BE49-F238E27FC236}">
                <a16:creationId xmlns:a16="http://schemas.microsoft.com/office/drawing/2014/main" id="{5DCBF7E6-D327-F7EC-950D-E13591629145}"/>
              </a:ext>
            </a:extLst>
          </p:cNvPr>
          <p:cNvGraphicFramePr>
            <a:graphicFrameLocks noGrp="1"/>
          </p:cNvGraphicFramePr>
          <p:nvPr>
            <p:extLst>
              <p:ext uri="{D42A27DB-BD31-4B8C-83A1-F6EECF244321}">
                <p14:modId xmlns:p14="http://schemas.microsoft.com/office/powerpoint/2010/main" val="872521378"/>
              </p:ext>
            </p:extLst>
          </p:nvPr>
        </p:nvGraphicFramePr>
        <p:xfrm>
          <a:off x="292043" y="1040573"/>
          <a:ext cx="11688829" cy="5087946"/>
        </p:xfrm>
        <a:graphic>
          <a:graphicData uri="http://schemas.openxmlformats.org/drawingml/2006/table">
            <a:tbl>
              <a:tblPr firstRow="1" firstCol="1" bandRow="1"/>
              <a:tblGrid>
                <a:gridCol w="1547558">
                  <a:extLst>
                    <a:ext uri="{9D8B030D-6E8A-4147-A177-3AD203B41FA5}">
                      <a16:colId xmlns:a16="http://schemas.microsoft.com/office/drawing/2014/main" val="925094151"/>
                    </a:ext>
                  </a:extLst>
                </a:gridCol>
                <a:gridCol w="845457">
                  <a:extLst>
                    <a:ext uri="{9D8B030D-6E8A-4147-A177-3AD203B41FA5}">
                      <a16:colId xmlns:a16="http://schemas.microsoft.com/office/drawing/2014/main" val="477222435"/>
                    </a:ext>
                  </a:extLst>
                </a:gridCol>
                <a:gridCol w="1308047">
                  <a:extLst>
                    <a:ext uri="{9D8B030D-6E8A-4147-A177-3AD203B41FA5}">
                      <a16:colId xmlns:a16="http://schemas.microsoft.com/office/drawing/2014/main" val="2282184332"/>
                    </a:ext>
                  </a:extLst>
                </a:gridCol>
                <a:gridCol w="1328326">
                  <a:extLst>
                    <a:ext uri="{9D8B030D-6E8A-4147-A177-3AD203B41FA5}">
                      <a16:colId xmlns:a16="http://schemas.microsoft.com/office/drawing/2014/main" val="889253127"/>
                    </a:ext>
                  </a:extLst>
                </a:gridCol>
                <a:gridCol w="932871">
                  <a:extLst>
                    <a:ext uri="{9D8B030D-6E8A-4147-A177-3AD203B41FA5}">
                      <a16:colId xmlns:a16="http://schemas.microsoft.com/office/drawing/2014/main" val="3618495769"/>
                    </a:ext>
                  </a:extLst>
                </a:gridCol>
                <a:gridCol w="1176230">
                  <a:extLst>
                    <a:ext uri="{9D8B030D-6E8A-4147-A177-3AD203B41FA5}">
                      <a16:colId xmlns:a16="http://schemas.microsoft.com/office/drawing/2014/main" val="3676107308"/>
                    </a:ext>
                  </a:extLst>
                </a:gridCol>
                <a:gridCol w="1308047">
                  <a:extLst>
                    <a:ext uri="{9D8B030D-6E8A-4147-A177-3AD203B41FA5}">
                      <a16:colId xmlns:a16="http://schemas.microsoft.com/office/drawing/2014/main" val="343955240"/>
                    </a:ext>
                  </a:extLst>
                </a:gridCol>
                <a:gridCol w="1107182">
                  <a:extLst>
                    <a:ext uri="{9D8B030D-6E8A-4147-A177-3AD203B41FA5}">
                      <a16:colId xmlns:a16="http://schemas.microsoft.com/office/drawing/2014/main" val="1609030641"/>
                    </a:ext>
                  </a:extLst>
                </a:gridCol>
                <a:gridCol w="1163323">
                  <a:extLst>
                    <a:ext uri="{9D8B030D-6E8A-4147-A177-3AD203B41FA5}">
                      <a16:colId xmlns:a16="http://schemas.microsoft.com/office/drawing/2014/main" val="1343854734"/>
                    </a:ext>
                  </a:extLst>
                </a:gridCol>
                <a:gridCol w="971788">
                  <a:extLst>
                    <a:ext uri="{9D8B030D-6E8A-4147-A177-3AD203B41FA5}">
                      <a16:colId xmlns:a16="http://schemas.microsoft.com/office/drawing/2014/main" val="2417700680"/>
                    </a:ext>
                  </a:extLst>
                </a:gridCol>
              </a:tblGrid>
              <a:tr h="191386">
                <a:tc gridSpan="10">
                  <a:txBody>
                    <a:bodyPr/>
                    <a:lstStyle/>
                    <a:p>
                      <a:pPr algn="ctr"/>
                      <a:r>
                        <a:rPr lang="es-PE" sz="1300" b="1" dirty="0">
                          <a:solidFill>
                            <a:srgbClr val="000000"/>
                          </a:solidFill>
                          <a:effectLst/>
                          <a:latin typeface="Calibri" panose="020F0502020204030204" pitchFamily="34" charset="0"/>
                          <a:cs typeface="Calibri" panose="020F0502020204030204" pitchFamily="34" charset="0"/>
                        </a:rPr>
                        <a:t>PRODUCCIÓN</a:t>
                      </a:r>
                      <a:endParaRPr lang="es-PE" sz="1300" dirty="0">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hMerge="1">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PRODUCCIÓN</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3958888204"/>
                  </a:ext>
                </a:extLst>
              </a:tr>
              <a:tr h="191386">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UUOO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gridSpan="3">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DCCI</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hMerge="1">
                  <a:txBody>
                    <a:bodyPr/>
                    <a:lstStyle/>
                    <a:p>
                      <a:endParaRPr lang="es-PE"/>
                    </a:p>
                  </a:txBody>
                  <a:tcPr/>
                </a:tc>
                <a:tc hMerge="1">
                  <a:txBody>
                    <a:bodyPr/>
                    <a:lstStyle/>
                    <a:p>
                      <a:endParaRPr lang="es-PE"/>
                    </a:p>
                  </a:txBody>
                  <a:tcPr/>
                </a:tc>
                <a:tc gridSpan="3">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DCCII</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hMerge="1">
                  <a:txBody>
                    <a:bodyPr/>
                    <a:lstStyle/>
                    <a:p>
                      <a:endParaRPr lang="es-PE"/>
                    </a:p>
                  </a:txBody>
                  <a:tcPr/>
                </a:tc>
                <a:tc hMerge="1">
                  <a:txBody>
                    <a:bodyPr/>
                    <a:lstStyle/>
                    <a:p>
                      <a:endParaRPr lang="es-PE"/>
                    </a:p>
                  </a:txBody>
                  <a:tcPr/>
                </a:tc>
                <a:tc gridSpan="3">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DCP</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2824672310"/>
                  </a:ext>
                </a:extLst>
              </a:tr>
              <a:tr h="685503">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MATERIA</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PE" sz="13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FONDO</a:t>
                      </a:r>
                      <a:endParaRPr lang="es-PE" sz="13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MEJORA RD</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ADMISIBILIDAD</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FONDO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MEJORA LC</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ADMISIBILIDAD</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3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FONDO</a:t>
                      </a:r>
                      <a:endParaRPr lang="es-PE" sz="13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MEJORA </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ADMISIBILIDAD APELACIÓN</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792160857"/>
                  </a:ext>
                </a:extLst>
              </a:tr>
              <a:tr h="2944389">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PRODUCTO RESUELTO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246</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91</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1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1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800" b="0" dirty="0">
                          <a:effectLst/>
                          <a:latin typeface="Calibri" panose="020F0502020204030204" pitchFamily="34" charset="0"/>
                          <a:ea typeface="Calibri" panose="020F0502020204030204" pitchFamily="34" charset="0"/>
                          <a:cs typeface="Times New Roman" panose="02020603050405020304" pitchFamily="18" charset="0"/>
                        </a:rPr>
                        <a:t>42</a:t>
                      </a:r>
                      <a:endParaRPr lang="es-PE"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300" b="0" dirty="0">
                          <a:effectLst/>
                          <a:latin typeface="Calibri" panose="020F0502020204030204" pitchFamily="34" charset="0"/>
                          <a:ea typeface="Calibri" panose="020F0502020204030204" pitchFamily="34" charset="0"/>
                          <a:cs typeface="Times New Roman" panose="02020603050405020304" pitchFamily="18" charset="0"/>
                        </a:rPr>
                        <a:t>BIBLIOTECA DE RTF de LA DCP - Ene - Junio 2024: Incluye entre otros  Resultados, Tema y Sumilla de RTF origen INCA</a:t>
                      </a:r>
                      <a:endParaRPr lang="es-PE" sz="13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96122694"/>
                  </a:ext>
                </a:extLst>
              </a:tr>
              <a:tr h="411301">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RESOLUTOR</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16.09</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8.9</a:t>
                      </a:r>
                      <a:endParaRPr kumimoji="0" lang="es-PE"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a:t>
                      </a:r>
                      <a:endParaRPr kumimoji="0" lang="es-PE"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a:t>
                      </a:r>
                      <a:endParaRPr kumimoji="0" lang="es-PE"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800" b="0" dirty="0">
                          <a:effectLst/>
                          <a:latin typeface="Calibri" panose="020F0502020204030204" pitchFamily="34" charset="0"/>
                          <a:ea typeface="Calibri" panose="020F0502020204030204" pitchFamily="34" charset="0"/>
                          <a:cs typeface="Times New Roman" panose="02020603050405020304" pitchFamily="18" charset="0"/>
                        </a:rPr>
                        <a:t>5.65</a:t>
                      </a:r>
                      <a:endParaRPr lang="es-PE"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436962428"/>
                  </a:ext>
                </a:extLst>
              </a:tr>
              <a:tr h="650513">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PRODUCCIÓN PROMEDIO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15.29</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10.22</a:t>
                      </a:r>
                      <a:endParaRPr kumimoji="0" lang="es-PE"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a:t>
                      </a:r>
                      <a:endParaRPr kumimoji="0" lang="es-PE"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a:t>
                      </a:r>
                      <a:endParaRPr kumimoji="0" lang="es-PE"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800" b="0" dirty="0">
                          <a:effectLst/>
                          <a:latin typeface="Calibri" panose="020F0502020204030204" pitchFamily="34" charset="0"/>
                          <a:ea typeface="Calibri" panose="020F0502020204030204" pitchFamily="34" charset="0"/>
                          <a:cs typeface="Times New Roman" panose="02020603050405020304" pitchFamily="18" charset="0"/>
                        </a:rPr>
                        <a:t>7.43</a:t>
                      </a:r>
                      <a:endParaRPr lang="es-PE"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351006160"/>
                  </a:ext>
                </a:extLst>
              </a:tr>
            </a:tbl>
          </a:graphicData>
        </a:graphic>
      </p:graphicFrame>
    </p:spTree>
    <p:extLst>
      <p:ext uri="{BB962C8B-B14F-4D97-AF65-F5344CB8AC3E}">
        <p14:creationId xmlns:p14="http://schemas.microsoft.com/office/powerpoint/2010/main" val="22445313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PROGRAMACIÓN Y PRODUCCIÓN– 2023 - 2024</a:t>
            </a:r>
            <a:endParaRPr lang="es-PE" sz="2800" b="1" dirty="0">
              <a:latin typeface="Arial" panose="020B0604020202020204" pitchFamily="34" charset="0"/>
              <a:cs typeface="Arial" panose="020B0604020202020204" pitchFamily="34" charset="0"/>
            </a:endParaRPr>
          </a:p>
        </p:txBody>
      </p:sp>
      <p:graphicFrame>
        <p:nvGraphicFramePr>
          <p:cNvPr id="5" name="Tabla 4">
            <a:extLst>
              <a:ext uri="{FF2B5EF4-FFF2-40B4-BE49-F238E27FC236}">
                <a16:creationId xmlns:a16="http://schemas.microsoft.com/office/drawing/2014/main" id="{CFC2ABA1-B454-A51E-4921-26238E396334}"/>
              </a:ext>
            </a:extLst>
          </p:cNvPr>
          <p:cNvGraphicFramePr>
            <a:graphicFrameLocks noGrp="1"/>
          </p:cNvGraphicFramePr>
          <p:nvPr>
            <p:extLst>
              <p:ext uri="{D42A27DB-BD31-4B8C-83A1-F6EECF244321}">
                <p14:modId xmlns:p14="http://schemas.microsoft.com/office/powerpoint/2010/main" val="1290707585"/>
              </p:ext>
            </p:extLst>
          </p:nvPr>
        </p:nvGraphicFramePr>
        <p:xfrm>
          <a:off x="292044" y="1293178"/>
          <a:ext cx="11423708" cy="3316606"/>
        </p:xfrm>
        <a:graphic>
          <a:graphicData uri="http://schemas.openxmlformats.org/drawingml/2006/table">
            <a:tbl>
              <a:tblPr/>
              <a:tblGrid>
                <a:gridCol w="436655">
                  <a:extLst>
                    <a:ext uri="{9D8B030D-6E8A-4147-A177-3AD203B41FA5}">
                      <a16:colId xmlns:a16="http://schemas.microsoft.com/office/drawing/2014/main" val="1618482016"/>
                    </a:ext>
                  </a:extLst>
                </a:gridCol>
                <a:gridCol w="412400">
                  <a:extLst>
                    <a:ext uri="{9D8B030D-6E8A-4147-A177-3AD203B41FA5}">
                      <a16:colId xmlns:a16="http://schemas.microsoft.com/office/drawing/2014/main" val="1856879478"/>
                    </a:ext>
                  </a:extLst>
                </a:gridCol>
                <a:gridCol w="347707">
                  <a:extLst>
                    <a:ext uri="{9D8B030D-6E8A-4147-A177-3AD203B41FA5}">
                      <a16:colId xmlns:a16="http://schemas.microsoft.com/office/drawing/2014/main" val="3149995394"/>
                    </a:ext>
                  </a:extLst>
                </a:gridCol>
                <a:gridCol w="428574">
                  <a:extLst>
                    <a:ext uri="{9D8B030D-6E8A-4147-A177-3AD203B41FA5}">
                      <a16:colId xmlns:a16="http://schemas.microsoft.com/office/drawing/2014/main" val="814693575"/>
                    </a:ext>
                  </a:extLst>
                </a:gridCol>
                <a:gridCol w="313668">
                  <a:extLst>
                    <a:ext uri="{9D8B030D-6E8A-4147-A177-3AD203B41FA5}">
                      <a16:colId xmlns:a16="http://schemas.microsoft.com/office/drawing/2014/main" val="1074761190"/>
                    </a:ext>
                  </a:extLst>
                </a:gridCol>
                <a:gridCol w="438353">
                  <a:extLst>
                    <a:ext uri="{9D8B030D-6E8A-4147-A177-3AD203B41FA5}">
                      <a16:colId xmlns:a16="http://schemas.microsoft.com/office/drawing/2014/main" val="3692527559"/>
                    </a:ext>
                  </a:extLst>
                </a:gridCol>
                <a:gridCol w="347707">
                  <a:extLst>
                    <a:ext uri="{9D8B030D-6E8A-4147-A177-3AD203B41FA5}">
                      <a16:colId xmlns:a16="http://schemas.microsoft.com/office/drawing/2014/main" val="4061206135"/>
                    </a:ext>
                  </a:extLst>
                </a:gridCol>
                <a:gridCol w="420484">
                  <a:extLst>
                    <a:ext uri="{9D8B030D-6E8A-4147-A177-3AD203B41FA5}">
                      <a16:colId xmlns:a16="http://schemas.microsoft.com/office/drawing/2014/main" val="693005033"/>
                    </a:ext>
                  </a:extLst>
                </a:gridCol>
                <a:gridCol w="517385">
                  <a:extLst>
                    <a:ext uri="{9D8B030D-6E8A-4147-A177-3AD203B41FA5}">
                      <a16:colId xmlns:a16="http://schemas.microsoft.com/office/drawing/2014/main" val="2232056816"/>
                    </a:ext>
                  </a:extLst>
                </a:gridCol>
                <a:gridCol w="517385">
                  <a:extLst>
                    <a:ext uri="{9D8B030D-6E8A-4147-A177-3AD203B41FA5}">
                      <a16:colId xmlns:a16="http://schemas.microsoft.com/office/drawing/2014/main" val="2387940828"/>
                    </a:ext>
                  </a:extLst>
                </a:gridCol>
                <a:gridCol w="517385">
                  <a:extLst>
                    <a:ext uri="{9D8B030D-6E8A-4147-A177-3AD203B41FA5}">
                      <a16:colId xmlns:a16="http://schemas.microsoft.com/office/drawing/2014/main" val="2569707495"/>
                    </a:ext>
                  </a:extLst>
                </a:gridCol>
                <a:gridCol w="517385">
                  <a:extLst>
                    <a:ext uri="{9D8B030D-6E8A-4147-A177-3AD203B41FA5}">
                      <a16:colId xmlns:a16="http://schemas.microsoft.com/office/drawing/2014/main" val="3784964087"/>
                    </a:ext>
                  </a:extLst>
                </a:gridCol>
                <a:gridCol w="517385">
                  <a:extLst>
                    <a:ext uri="{9D8B030D-6E8A-4147-A177-3AD203B41FA5}">
                      <a16:colId xmlns:a16="http://schemas.microsoft.com/office/drawing/2014/main" val="1713751460"/>
                    </a:ext>
                  </a:extLst>
                </a:gridCol>
                <a:gridCol w="517385">
                  <a:extLst>
                    <a:ext uri="{9D8B030D-6E8A-4147-A177-3AD203B41FA5}">
                      <a16:colId xmlns:a16="http://schemas.microsoft.com/office/drawing/2014/main" val="2001209396"/>
                    </a:ext>
                  </a:extLst>
                </a:gridCol>
                <a:gridCol w="517385">
                  <a:extLst>
                    <a:ext uri="{9D8B030D-6E8A-4147-A177-3AD203B41FA5}">
                      <a16:colId xmlns:a16="http://schemas.microsoft.com/office/drawing/2014/main" val="2545075867"/>
                    </a:ext>
                  </a:extLst>
                </a:gridCol>
                <a:gridCol w="517385">
                  <a:extLst>
                    <a:ext uri="{9D8B030D-6E8A-4147-A177-3AD203B41FA5}">
                      <a16:colId xmlns:a16="http://schemas.microsoft.com/office/drawing/2014/main" val="3560294591"/>
                    </a:ext>
                  </a:extLst>
                </a:gridCol>
                <a:gridCol w="517385">
                  <a:extLst>
                    <a:ext uri="{9D8B030D-6E8A-4147-A177-3AD203B41FA5}">
                      <a16:colId xmlns:a16="http://schemas.microsoft.com/office/drawing/2014/main" val="853417601"/>
                    </a:ext>
                  </a:extLst>
                </a:gridCol>
                <a:gridCol w="517385">
                  <a:extLst>
                    <a:ext uri="{9D8B030D-6E8A-4147-A177-3AD203B41FA5}">
                      <a16:colId xmlns:a16="http://schemas.microsoft.com/office/drawing/2014/main" val="2028932761"/>
                    </a:ext>
                  </a:extLst>
                </a:gridCol>
                <a:gridCol w="517385">
                  <a:extLst>
                    <a:ext uri="{9D8B030D-6E8A-4147-A177-3AD203B41FA5}">
                      <a16:colId xmlns:a16="http://schemas.microsoft.com/office/drawing/2014/main" val="2799554528"/>
                    </a:ext>
                  </a:extLst>
                </a:gridCol>
                <a:gridCol w="517385">
                  <a:extLst>
                    <a:ext uri="{9D8B030D-6E8A-4147-A177-3AD203B41FA5}">
                      <a16:colId xmlns:a16="http://schemas.microsoft.com/office/drawing/2014/main" val="3675684831"/>
                    </a:ext>
                  </a:extLst>
                </a:gridCol>
                <a:gridCol w="517385">
                  <a:extLst>
                    <a:ext uri="{9D8B030D-6E8A-4147-A177-3AD203B41FA5}">
                      <a16:colId xmlns:a16="http://schemas.microsoft.com/office/drawing/2014/main" val="1097752032"/>
                    </a:ext>
                  </a:extLst>
                </a:gridCol>
                <a:gridCol w="517385">
                  <a:extLst>
                    <a:ext uri="{9D8B030D-6E8A-4147-A177-3AD203B41FA5}">
                      <a16:colId xmlns:a16="http://schemas.microsoft.com/office/drawing/2014/main" val="3106367616"/>
                    </a:ext>
                  </a:extLst>
                </a:gridCol>
                <a:gridCol w="517385">
                  <a:extLst>
                    <a:ext uri="{9D8B030D-6E8A-4147-A177-3AD203B41FA5}">
                      <a16:colId xmlns:a16="http://schemas.microsoft.com/office/drawing/2014/main" val="2694084025"/>
                    </a:ext>
                  </a:extLst>
                </a:gridCol>
                <a:gridCol w="517385">
                  <a:extLst>
                    <a:ext uri="{9D8B030D-6E8A-4147-A177-3AD203B41FA5}">
                      <a16:colId xmlns:a16="http://schemas.microsoft.com/office/drawing/2014/main" val="773538061"/>
                    </a:ext>
                  </a:extLst>
                </a:gridCol>
              </a:tblGrid>
              <a:tr h="323573">
                <a:tc rowSpan="2">
                  <a:txBody>
                    <a:bodyPr/>
                    <a:lstStyle/>
                    <a:p>
                      <a:pPr algn="ctr" fontAlgn="b"/>
                      <a:endParaRPr lang="es-PE" sz="1100" b="0" i="0" u="none" strike="noStrike">
                        <a:solidFill>
                          <a:srgbClr val="000000"/>
                        </a:solidFill>
                        <a:effectLst/>
                        <a:latin typeface="Calibri Light" panose="020F0302020204030204" pitchFamily="34" charset="0"/>
                      </a:endParaRPr>
                    </a:p>
                  </a:txBody>
                  <a:tcPr marL="0" marR="0" marT="0" marB="0" anchor="b">
                    <a:lnL>
                      <a:noFill/>
                    </a:lnL>
                    <a:lnR w="12700" cap="flat" cmpd="sng" algn="ctr">
                      <a:solidFill>
                        <a:srgbClr val="305496"/>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gridSpan="6">
                  <a:txBody>
                    <a:bodyPr/>
                    <a:lstStyle/>
                    <a:p>
                      <a:pPr algn="ctr" fontAlgn="b"/>
                      <a:r>
                        <a:rPr lang="es-ES" sz="1100" b="1" i="0" u="none" strike="noStrike" dirty="0">
                          <a:solidFill>
                            <a:srgbClr val="FFFFFF"/>
                          </a:solidFill>
                          <a:effectLst/>
                          <a:latin typeface="Calibri Light" panose="020F0302020204030204" pitchFamily="34" charset="0"/>
                        </a:rPr>
                        <a:t>2023</a:t>
                      </a:r>
                      <a:endParaRPr lang="es-PE" sz="110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gridSpan="17">
                  <a:txBody>
                    <a:bodyPr/>
                    <a:lstStyle/>
                    <a:p>
                      <a:pPr algn="ctr" fontAlgn="b"/>
                      <a:r>
                        <a:rPr lang="es-PE" sz="1100" b="1" i="0" u="none" strike="noStrike" dirty="0">
                          <a:solidFill>
                            <a:srgbClr val="FFFFFF"/>
                          </a:solidFill>
                          <a:effectLst/>
                          <a:latin typeface="Calibri Light" panose="020F0302020204030204" pitchFamily="34" charset="0"/>
                        </a:rPr>
                        <a:t>2024</a:t>
                      </a: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20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20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20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20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extLst>
                  <a:ext uri="{0D108BD9-81ED-4DB2-BD59-A6C34878D82A}">
                    <a16:rowId xmlns:a16="http://schemas.microsoft.com/office/drawing/2014/main" val="628447104"/>
                  </a:ext>
                </a:extLst>
              </a:tr>
              <a:tr h="523559">
                <a:tc vMerge="1">
                  <a:txBody>
                    <a:bodyPr/>
                    <a:lstStyle/>
                    <a:p>
                      <a:endParaRPr lang="es-PE"/>
                    </a:p>
                  </a:txBody>
                  <a:tcPr/>
                </a:tc>
                <a:tc gridSpan="2">
                  <a:txBody>
                    <a:bodyPr/>
                    <a:lstStyle/>
                    <a:p>
                      <a:pPr algn="ctr" fontAlgn="ctr"/>
                      <a:r>
                        <a:rPr lang="es-PE" sz="1100" b="1" i="0" u="none" strike="noStrike">
                          <a:solidFill>
                            <a:srgbClr val="FFFFFF"/>
                          </a:solidFill>
                          <a:effectLst/>
                          <a:latin typeface="Calibri Light" panose="020F0302020204030204" pitchFamily="34" charset="0"/>
                        </a:rPr>
                        <a:t>OCTUBRE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hMerge="1">
                  <a:txBody>
                    <a:bodyPr/>
                    <a:lstStyle/>
                    <a:p>
                      <a:endParaRPr lang="es-PE"/>
                    </a:p>
                  </a:txBody>
                  <a:tcPr/>
                </a:tc>
                <a:tc gridSpan="2">
                  <a:txBody>
                    <a:bodyPr/>
                    <a:lstStyle/>
                    <a:p>
                      <a:pPr algn="ctr" fontAlgn="ctr"/>
                      <a:r>
                        <a:rPr lang="es-PE" sz="1100" b="1" i="0" u="none" strike="noStrike">
                          <a:solidFill>
                            <a:srgbClr val="FFFFFF"/>
                          </a:solidFill>
                          <a:effectLst/>
                          <a:latin typeface="Calibri Light" panose="020F0302020204030204" pitchFamily="34" charset="0"/>
                        </a:rPr>
                        <a:t>NOVIEMBRE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hMerge="1">
                  <a:txBody>
                    <a:bodyPr/>
                    <a:lstStyle/>
                    <a:p>
                      <a:endParaRPr lang="es-PE"/>
                    </a:p>
                  </a:txBody>
                  <a:tcPr/>
                </a:tc>
                <a:tc gridSpan="2">
                  <a:txBody>
                    <a:bodyPr/>
                    <a:lstStyle/>
                    <a:p>
                      <a:pPr algn="ctr" fontAlgn="ctr"/>
                      <a:r>
                        <a:rPr lang="es-PE" sz="1100" b="1" i="0" u="none" strike="noStrike" dirty="0">
                          <a:solidFill>
                            <a:srgbClr val="FFFFFF"/>
                          </a:solidFill>
                          <a:effectLst/>
                          <a:latin typeface="Calibri Light" panose="020F0302020204030204" pitchFamily="34" charset="0"/>
                        </a:rPr>
                        <a:t>DICIEMBRE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hMerge="1">
                  <a:txBody>
                    <a:bodyPr/>
                    <a:lstStyle/>
                    <a:p>
                      <a:endParaRPr lang="es-PE"/>
                    </a:p>
                  </a:txBody>
                  <a:tcPr/>
                </a:tc>
                <a:tc gridSpan="2">
                  <a:txBody>
                    <a:bodyPr/>
                    <a:lstStyle/>
                    <a:p>
                      <a:pPr algn="ctr" fontAlgn="ctr"/>
                      <a:r>
                        <a:rPr lang="es-PE" sz="1100" b="1" i="0" u="none" strike="noStrike" dirty="0">
                          <a:solidFill>
                            <a:srgbClr val="FFFFFF"/>
                          </a:solidFill>
                          <a:effectLst/>
                          <a:latin typeface="Calibri Light" panose="020F0302020204030204" pitchFamily="34" charset="0"/>
                        </a:rPr>
                        <a:t>ENERO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endParaRPr dirty="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100" b="1" i="0" u="none" strike="noStrike" dirty="0">
                          <a:solidFill>
                            <a:srgbClr val="FFFFFF"/>
                          </a:solidFill>
                          <a:effectLst/>
                          <a:latin typeface="Calibri Light" panose="020F0302020204030204" pitchFamily="34" charset="0"/>
                        </a:rPr>
                        <a:t>FEBRERO</a:t>
                      </a:r>
                      <a:endParaRPr lang="es-PE" sz="11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r>
                        <a:rPr lang="es-ES" sz="1450" b="1" i="0" u="none" strike="noStrike" dirty="0">
                          <a:solidFill>
                            <a:srgbClr val="FFFFFF"/>
                          </a:solidFill>
                          <a:effectLst/>
                          <a:latin typeface="Calibri Light" panose="020F0302020204030204" pitchFamily="34" charset="0"/>
                        </a:rPr>
                        <a:t>MARZO</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100" b="1" i="0" u="none" strike="noStrike" dirty="0">
                          <a:solidFill>
                            <a:srgbClr val="FFFFFF"/>
                          </a:solidFill>
                          <a:effectLst/>
                          <a:latin typeface="Calibri Light" panose="020F0302020204030204" pitchFamily="34" charset="0"/>
                        </a:rPr>
                        <a:t>MARZO</a:t>
                      </a:r>
                      <a:endParaRPr lang="es-PE" sz="11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100" b="1" i="0" u="none" strike="noStrike" dirty="0">
                          <a:solidFill>
                            <a:srgbClr val="FFFFFF"/>
                          </a:solidFill>
                          <a:effectLst/>
                          <a:latin typeface="Calibri Light" panose="020F0302020204030204" pitchFamily="34" charset="0"/>
                        </a:rPr>
                        <a:t>ABRIL</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r>
                        <a:rPr lang="es-ES" sz="1450" b="1" i="0" u="none" strike="noStrike" dirty="0">
                          <a:solidFill>
                            <a:srgbClr val="FFFFFF"/>
                          </a:solidFill>
                          <a:effectLst/>
                          <a:latin typeface="Calibri Light" panose="020F0302020204030204" pitchFamily="34" charset="0"/>
                        </a:rPr>
                        <a:t>ABRIL</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100" b="1" i="0" u="none" strike="noStrike" dirty="0">
                          <a:solidFill>
                            <a:srgbClr val="FFFFFF"/>
                          </a:solidFill>
                          <a:effectLst/>
                          <a:latin typeface="Calibri Light" panose="020F0302020204030204" pitchFamily="34" charset="0"/>
                        </a:rPr>
                        <a:t>MAYO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endParaRPr lang="es-ES"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100" b="1" i="0" u="none" strike="noStrike" dirty="0">
                          <a:solidFill>
                            <a:srgbClr val="FFFFFF"/>
                          </a:solidFill>
                          <a:effectLst/>
                          <a:latin typeface="Calibri Light" panose="020F0302020204030204" pitchFamily="34" charset="0"/>
                        </a:rPr>
                        <a:t>JUNIO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endParaRPr lang="es-ES"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100" b="1" i="0" u="none" strike="noStrike" dirty="0">
                          <a:solidFill>
                            <a:srgbClr val="FFFFFF"/>
                          </a:solidFill>
                          <a:effectLst/>
                          <a:latin typeface="Calibri Light" panose="020F0302020204030204" pitchFamily="34" charset="0"/>
                        </a:rPr>
                        <a:t>JULIO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endParaRPr lang="es-ES"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100" b="1" i="0" u="none" strike="noStrike" dirty="0">
                          <a:solidFill>
                            <a:srgbClr val="FFFFFF"/>
                          </a:solidFill>
                          <a:effectLst/>
                          <a:latin typeface="Calibri Light" panose="020F0302020204030204" pitchFamily="34" charset="0"/>
                        </a:rPr>
                        <a:t>AGOSTO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endParaRPr lang="es-ES" sz="12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100" b="1" i="0" u="none" strike="noStrike" dirty="0">
                          <a:solidFill>
                            <a:srgbClr val="FFFFFF"/>
                          </a:solidFill>
                          <a:effectLst/>
                          <a:latin typeface="Calibri Light" panose="020F0302020204030204" pitchFamily="34" charset="0"/>
                        </a:rPr>
                        <a:t>SET.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extLst>
                  <a:ext uri="{0D108BD9-81ED-4DB2-BD59-A6C34878D82A}">
                    <a16:rowId xmlns:a16="http://schemas.microsoft.com/office/drawing/2014/main" val="2051194752"/>
                  </a:ext>
                </a:extLst>
              </a:tr>
              <a:tr h="1022898">
                <a:tc>
                  <a:txBody>
                    <a:bodyPr/>
                    <a:lstStyle/>
                    <a:p>
                      <a:pPr algn="ctr" fontAlgn="ctr"/>
                      <a:r>
                        <a:rPr lang="es-PE" sz="1100" b="1" i="0" u="none" strike="noStrike">
                          <a:solidFill>
                            <a:srgbClr val="FFFFFF"/>
                          </a:solidFill>
                          <a:effectLst/>
                          <a:latin typeface="Calibri Light" panose="020F0302020204030204" pitchFamily="34" charset="0"/>
                        </a:rPr>
                        <a:t>UUOO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100" b="1" i="0" u="none" strike="noStrike" dirty="0">
                          <a:solidFill>
                            <a:srgbClr val="FFFFFF"/>
                          </a:solidFill>
                          <a:effectLst/>
                          <a:latin typeface="Calibri Light" panose="020F0302020204030204" pitchFamily="34" charset="0"/>
                        </a:rPr>
                        <a:t>PROG</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100" b="1" i="0" u="none" strike="noStrike">
                          <a:solidFill>
                            <a:srgbClr val="FFFFFF"/>
                          </a:solidFill>
                          <a:effectLst/>
                          <a:latin typeface="Calibri Light" panose="020F0302020204030204" pitchFamily="34" charset="0"/>
                        </a:rPr>
                        <a:t>PROD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100" b="1" i="0" u="none" strike="noStrike" dirty="0">
                          <a:solidFill>
                            <a:srgbClr val="FFFFFF"/>
                          </a:solidFill>
                          <a:effectLst/>
                          <a:latin typeface="Calibri Light" panose="020F0302020204030204" pitchFamily="34" charset="0"/>
                        </a:rPr>
                        <a:t>PROG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100" b="1" i="0" u="none" strike="noStrike">
                          <a:solidFill>
                            <a:srgbClr val="FFFFFF"/>
                          </a:solidFill>
                          <a:effectLst/>
                          <a:latin typeface="Calibri Light" panose="020F0302020204030204" pitchFamily="34" charset="0"/>
                        </a:rPr>
                        <a:t>PROD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100" b="1" i="0" u="none" strike="noStrike" dirty="0">
                          <a:solidFill>
                            <a:srgbClr val="FFFFFF"/>
                          </a:solidFill>
                          <a:effectLst/>
                          <a:latin typeface="Calibri Light" panose="020F0302020204030204" pitchFamily="34" charset="0"/>
                        </a:rPr>
                        <a:t>PROG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100" b="1" i="0" u="none" strike="noStrike">
                          <a:solidFill>
                            <a:srgbClr val="FFFFFF"/>
                          </a:solidFill>
                          <a:effectLst/>
                          <a:latin typeface="Calibri Light" panose="020F0302020204030204" pitchFamily="34" charset="0"/>
                        </a:rPr>
                        <a:t>PROD</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100" b="1" i="0" u="none" strike="noStrike" dirty="0">
                          <a:solidFill>
                            <a:srgbClr val="FFFFFF"/>
                          </a:solidFill>
                          <a:effectLst/>
                          <a:latin typeface="Calibri Light" panose="020F0302020204030204" pitchFamily="34" charset="0"/>
                        </a:rPr>
                        <a:t>PROG</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100" b="1" i="0" u="none" strike="noStrike" dirty="0">
                          <a:solidFill>
                            <a:srgbClr val="FFFFFF"/>
                          </a:solidFill>
                          <a:effectLst/>
                          <a:latin typeface="Calibri Light" panose="020F0302020204030204" pitchFamily="34" charset="0"/>
                        </a:rPr>
                        <a:t>PROD</a:t>
                      </a:r>
                      <a:endParaRPr lang="es-PE" sz="11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PE" sz="1100" b="1" i="0" u="none" strike="noStrike" dirty="0">
                          <a:solidFill>
                            <a:srgbClr val="FFFFFF"/>
                          </a:solidFill>
                          <a:effectLst/>
                          <a:latin typeface="Calibri Light" panose="020F0302020204030204" pitchFamily="34" charset="0"/>
                        </a:rPr>
                        <a:t>PROG</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100" b="1" i="0" u="none" strike="noStrike" dirty="0">
                          <a:solidFill>
                            <a:srgbClr val="FFFFFF"/>
                          </a:solidFill>
                          <a:effectLst/>
                          <a:latin typeface="Calibri Light" panose="020F0302020204030204" pitchFamily="34" charset="0"/>
                        </a:rPr>
                        <a:t>PROD</a:t>
                      </a:r>
                      <a:endParaRPr lang="es-PE" sz="11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100" b="1" i="0" u="none" strike="noStrike" dirty="0">
                          <a:solidFill>
                            <a:srgbClr val="FFFFFF"/>
                          </a:solidFill>
                          <a:effectLst/>
                          <a:latin typeface="Calibri Light" panose="020F0302020204030204" pitchFamily="34" charset="0"/>
                        </a:rPr>
                        <a:t>PROG</a:t>
                      </a:r>
                      <a:endParaRPr lang="es-PE" sz="11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100" b="1" i="0" u="none" strike="noStrike" dirty="0">
                          <a:solidFill>
                            <a:srgbClr val="FFFFFF"/>
                          </a:solidFill>
                          <a:effectLst/>
                          <a:latin typeface="Calibri Light" panose="020F0302020204030204" pitchFamily="34" charset="0"/>
                        </a:rPr>
                        <a:t>PROD</a:t>
                      </a:r>
                      <a:endParaRPr lang="es-PE" sz="11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100" b="1" i="0" u="none" strike="noStrike" dirty="0">
                          <a:solidFill>
                            <a:srgbClr val="FFFFFF"/>
                          </a:solidFill>
                          <a:effectLst/>
                          <a:latin typeface="Calibri Light" panose="020F0302020204030204" pitchFamily="34" charset="0"/>
                        </a:rPr>
                        <a:t>PROG</a:t>
                      </a:r>
                      <a:endParaRPr lang="es-PE" sz="11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100" b="1" i="0" u="none" strike="noStrike" dirty="0">
                          <a:solidFill>
                            <a:srgbClr val="FFFFFF"/>
                          </a:solidFill>
                          <a:effectLst/>
                          <a:latin typeface="Calibri Light" panose="020F0302020204030204" pitchFamily="34" charset="0"/>
                        </a:rPr>
                        <a:t>PROD</a:t>
                      </a:r>
                      <a:endParaRPr lang="es-PE" sz="11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100" b="1" i="0" u="none" strike="noStrike" dirty="0">
                          <a:solidFill>
                            <a:srgbClr val="FFFFFF"/>
                          </a:solidFill>
                          <a:effectLst/>
                          <a:latin typeface="Calibri Light" panose="020F0302020204030204" pitchFamily="34" charset="0"/>
                        </a:rPr>
                        <a:t>PROG</a:t>
                      </a:r>
                      <a:endParaRPr lang="es-PE" sz="11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100" b="1" i="0" u="none" strike="noStrike" dirty="0">
                          <a:solidFill>
                            <a:srgbClr val="FFFFFF"/>
                          </a:solidFill>
                          <a:effectLst/>
                          <a:latin typeface="Calibri Light" panose="020F0302020204030204" pitchFamily="34" charset="0"/>
                        </a:rPr>
                        <a:t>PROD</a:t>
                      </a:r>
                      <a:endParaRPr lang="es-PE" sz="11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100" b="1" i="0" u="none" strike="noStrike" dirty="0">
                          <a:solidFill>
                            <a:srgbClr val="FFFFFF"/>
                          </a:solidFill>
                          <a:effectLst/>
                          <a:latin typeface="Calibri Light" panose="020F0302020204030204" pitchFamily="34" charset="0"/>
                        </a:rPr>
                        <a:t>PROG</a:t>
                      </a:r>
                      <a:endParaRPr lang="es-PE" sz="11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100" b="1" i="0" u="none" strike="noStrike" dirty="0">
                          <a:solidFill>
                            <a:srgbClr val="FFFFFF"/>
                          </a:solidFill>
                          <a:effectLst/>
                          <a:latin typeface="Calibri Light" panose="020F0302020204030204" pitchFamily="34" charset="0"/>
                        </a:rPr>
                        <a:t>PROD</a:t>
                      </a:r>
                      <a:endParaRPr lang="es-PE" sz="11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100" b="1" i="0" u="none" strike="noStrike" dirty="0">
                          <a:solidFill>
                            <a:srgbClr val="FFFFFF"/>
                          </a:solidFill>
                          <a:effectLst/>
                          <a:latin typeface="Calibri Light" panose="020F0302020204030204" pitchFamily="34" charset="0"/>
                        </a:rPr>
                        <a:t>PROG</a:t>
                      </a:r>
                      <a:endParaRPr lang="es-PE" sz="11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100" b="1" i="0" u="none" strike="noStrike" dirty="0">
                          <a:solidFill>
                            <a:srgbClr val="FFFFFF"/>
                          </a:solidFill>
                          <a:effectLst/>
                          <a:latin typeface="Calibri Light" panose="020F0302020204030204" pitchFamily="34" charset="0"/>
                        </a:rPr>
                        <a:t>PROD</a:t>
                      </a:r>
                      <a:endParaRPr lang="es-PE" sz="11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100" b="1" i="0" u="none" strike="noStrike" dirty="0">
                          <a:solidFill>
                            <a:srgbClr val="FFFFFF"/>
                          </a:solidFill>
                          <a:effectLst/>
                          <a:latin typeface="Calibri Light" panose="020F0302020204030204" pitchFamily="34" charset="0"/>
                        </a:rPr>
                        <a:t>PROG</a:t>
                      </a:r>
                      <a:endParaRPr lang="es-PE" sz="11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100" b="1" i="0" u="none" strike="noStrike" dirty="0">
                          <a:solidFill>
                            <a:srgbClr val="FFFFFF"/>
                          </a:solidFill>
                          <a:effectLst/>
                          <a:latin typeface="Calibri Light" panose="020F0302020204030204" pitchFamily="34" charset="0"/>
                        </a:rPr>
                        <a:t>PROD</a:t>
                      </a:r>
                      <a:endParaRPr lang="es-PE" sz="11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100" b="1" i="0" u="none" strike="noStrike" dirty="0">
                          <a:solidFill>
                            <a:srgbClr val="FFFFFF"/>
                          </a:solidFill>
                          <a:effectLst/>
                          <a:latin typeface="Calibri Light" panose="020F0302020204030204" pitchFamily="34" charset="0"/>
                        </a:rPr>
                        <a:t>PROG.</a:t>
                      </a:r>
                      <a:endParaRPr lang="es-PE" sz="11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extLst>
                  <a:ext uri="{0D108BD9-81ED-4DB2-BD59-A6C34878D82A}">
                    <a16:rowId xmlns:a16="http://schemas.microsoft.com/office/drawing/2014/main" val="3240945064"/>
                  </a:ext>
                </a:extLst>
              </a:tr>
              <a:tr h="523559">
                <a:tc>
                  <a:txBody>
                    <a:bodyPr/>
                    <a:lstStyle/>
                    <a:p>
                      <a:pPr algn="ctr" fontAlgn="ctr"/>
                      <a:r>
                        <a:rPr lang="es-PE" sz="1100" b="1" i="0" u="none" strike="noStrike">
                          <a:solidFill>
                            <a:srgbClr val="FFFFFF"/>
                          </a:solidFill>
                          <a:effectLst/>
                          <a:latin typeface="Calibri Light" panose="020F0302020204030204" pitchFamily="34" charset="0"/>
                        </a:rPr>
                        <a:t>DCCI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400" b="1" i="0" u="none" strike="noStrike" dirty="0">
                          <a:solidFill>
                            <a:srgbClr val="833C0C"/>
                          </a:solidFill>
                          <a:effectLst/>
                          <a:latin typeface="Calibri Light" panose="020F0302020204030204" pitchFamily="34" charset="0"/>
                        </a:rPr>
                        <a:t>150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00" b="1" i="0" u="none" strike="noStrike" dirty="0">
                          <a:solidFill>
                            <a:srgbClr val="000000"/>
                          </a:solidFill>
                          <a:effectLst/>
                          <a:latin typeface="Calibri Light" panose="020F0302020204030204" pitchFamily="34" charset="0"/>
                        </a:rPr>
                        <a:t>209</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00" b="1" i="0" u="none" strike="noStrike" dirty="0">
                          <a:solidFill>
                            <a:srgbClr val="833C0C"/>
                          </a:solidFill>
                          <a:effectLst/>
                          <a:latin typeface="Calibri Light" panose="020F0302020204030204" pitchFamily="34" charset="0"/>
                        </a:rPr>
                        <a:t>150 </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00" b="1" i="0" u="none" strike="noStrike">
                          <a:solidFill>
                            <a:srgbClr val="000000"/>
                          </a:solidFill>
                          <a:effectLst/>
                          <a:latin typeface="Calibri Light" panose="020F0302020204030204" pitchFamily="34" charset="0"/>
                        </a:rPr>
                        <a:t>188</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00" b="1" i="0" u="none" strike="noStrike" dirty="0">
                          <a:solidFill>
                            <a:srgbClr val="833C0C"/>
                          </a:solidFill>
                          <a:effectLst/>
                          <a:latin typeface="Calibri Light" panose="020F0302020204030204" pitchFamily="34" charset="0"/>
                        </a:rPr>
                        <a:t>314</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00" b="1" i="0" u="none" strike="noStrike">
                          <a:solidFill>
                            <a:srgbClr val="000000"/>
                          </a:solidFill>
                          <a:effectLst/>
                          <a:latin typeface="Calibri Light" panose="020F0302020204030204" pitchFamily="34" charset="0"/>
                        </a:rPr>
                        <a:t>242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00" b="1" i="0" u="none" strike="noStrike" dirty="0">
                          <a:solidFill>
                            <a:srgbClr val="833C0C"/>
                          </a:solidFill>
                          <a:effectLst/>
                          <a:latin typeface="Calibri Light" panose="020F0302020204030204" pitchFamily="34" charset="0"/>
                        </a:rPr>
                        <a:t>300</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00" b="1" i="0" u="none" strike="noStrike" dirty="0">
                          <a:solidFill>
                            <a:schemeClr val="tx1"/>
                          </a:solidFill>
                          <a:effectLst/>
                          <a:latin typeface="Calibri Light" panose="020F0302020204030204" pitchFamily="34" charset="0"/>
                        </a:rPr>
                        <a:t>285</a:t>
                      </a:r>
                      <a:endParaRPr lang="es-PE" sz="140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00" b="1" i="0" u="none" strike="noStrike" dirty="0">
                          <a:solidFill>
                            <a:srgbClr val="833C0C"/>
                          </a:solidFill>
                          <a:effectLst/>
                          <a:latin typeface="Calibri Light" panose="020F0302020204030204" pitchFamily="34" charset="0"/>
                        </a:rPr>
                        <a:t>300</a:t>
                      </a:r>
                      <a:endParaRPr lang="es-PE" sz="1400" b="1" i="0" u="none" strike="noStrike" dirty="0">
                        <a:solidFill>
                          <a:srgbClr val="833C0C"/>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00" b="1" i="0" u="none" strike="noStrike" dirty="0">
                          <a:solidFill>
                            <a:schemeClr val="tx1"/>
                          </a:solidFill>
                          <a:effectLst/>
                          <a:latin typeface="Calibri Light" panose="020F0302020204030204" pitchFamily="34" charset="0"/>
                        </a:rPr>
                        <a:t>264</a:t>
                      </a:r>
                      <a:endParaRPr lang="es-PE" sz="140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rgbClr val="833C0C"/>
                          </a:solidFill>
                          <a:effectLst/>
                          <a:latin typeface="Calibri Light" panose="020F0302020204030204" pitchFamily="34" charset="0"/>
                          <a:ea typeface="+mn-ea"/>
                          <a:cs typeface="+mn-cs"/>
                        </a:rPr>
                        <a:t>250</a:t>
                      </a:r>
                      <a:endParaRPr lang="es-PE" sz="14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236</a:t>
                      </a:r>
                      <a:endParaRPr lang="es-PE" sz="14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rgbClr val="833C0C"/>
                          </a:solidFill>
                          <a:effectLst/>
                          <a:latin typeface="Calibri Light" panose="020F0302020204030204" pitchFamily="34" charset="0"/>
                          <a:ea typeface="+mn-ea"/>
                          <a:cs typeface="+mn-cs"/>
                        </a:rPr>
                        <a:t>250</a:t>
                      </a:r>
                      <a:endParaRPr lang="es-PE" sz="14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256</a:t>
                      </a:r>
                      <a:endParaRPr lang="es-PE" sz="14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rgbClr val="833C0C"/>
                          </a:solidFill>
                          <a:effectLst/>
                          <a:latin typeface="Calibri Light" panose="020F0302020204030204" pitchFamily="34" charset="0"/>
                          <a:ea typeface="+mn-ea"/>
                          <a:cs typeface="+mn-cs"/>
                        </a:rPr>
                        <a:t>280</a:t>
                      </a:r>
                      <a:endParaRPr lang="es-PE" sz="14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268</a:t>
                      </a:r>
                      <a:endParaRPr lang="es-PE" sz="14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rgbClr val="833C0C"/>
                          </a:solidFill>
                          <a:effectLst/>
                          <a:latin typeface="Calibri Light" panose="020F0302020204030204" pitchFamily="34" charset="0"/>
                          <a:ea typeface="+mn-ea"/>
                          <a:cs typeface="+mn-cs"/>
                        </a:rPr>
                        <a:t>240</a:t>
                      </a:r>
                      <a:endParaRPr lang="es-PE" sz="14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232</a:t>
                      </a:r>
                      <a:endParaRPr lang="es-PE" sz="14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rgbClr val="833C0C"/>
                          </a:solidFill>
                          <a:effectLst/>
                          <a:highlight>
                            <a:srgbClr val="FFFF00"/>
                          </a:highlight>
                          <a:latin typeface="Calibri Light" panose="020F0302020204030204" pitchFamily="34" charset="0"/>
                          <a:ea typeface="+mn-ea"/>
                          <a:cs typeface="+mn-cs"/>
                        </a:rPr>
                        <a:t>XX</a:t>
                      </a:r>
                      <a:endParaRPr lang="es-PE" sz="1400" b="1" i="0" u="none" strike="noStrike" kern="1200" dirty="0">
                        <a:solidFill>
                          <a:srgbClr val="833C0C"/>
                        </a:solidFill>
                        <a:effectLst/>
                        <a:highlight>
                          <a:srgbClr val="FFFF00"/>
                        </a:highligh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251</a:t>
                      </a:r>
                      <a:endParaRPr lang="es-PE" sz="14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rgbClr val="833C0C"/>
                          </a:solidFill>
                          <a:effectLst/>
                          <a:latin typeface="Calibri Light" panose="020F0302020204030204" pitchFamily="34" charset="0"/>
                          <a:ea typeface="+mn-ea"/>
                          <a:cs typeface="+mn-cs"/>
                        </a:rPr>
                        <a:t>250</a:t>
                      </a:r>
                      <a:endParaRPr lang="es-PE" sz="14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246</a:t>
                      </a:r>
                      <a:endParaRPr lang="es-PE" sz="14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rgbClr val="833C0C"/>
                          </a:solidFill>
                          <a:effectLst/>
                          <a:latin typeface="Calibri Light" panose="020F0302020204030204" pitchFamily="34" charset="0"/>
                          <a:ea typeface="+mn-ea"/>
                          <a:cs typeface="+mn-cs"/>
                        </a:rPr>
                        <a:t>240</a:t>
                      </a:r>
                      <a:endParaRPr lang="es-PE" sz="14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extLst>
                  <a:ext uri="{0D108BD9-81ED-4DB2-BD59-A6C34878D82A}">
                    <a16:rowId xmlns:a16="http://schemas.microsoft.com/office/drawing/2014/main" val="3368564924"/>
                  </a:ext>
                </a:extLst>
              </a:tr>
              <a:tr h="399458">
                <a:tc>
                  <a:txBody>
                    <a:bodyPr/>
                    <a:lstStyle/>
                    <a:p>
                      <a:pPr algn="ctr" fontAlgn="ctr"/>
                      <a:r>
                        <a:rPr lang="es-PE" sz="1100" b="1" i="0" u="none" strike="noStrike">
                          <a:solidFill>
                            <a:srgbClr val="FFFFFF"/>
                          </a:solidFill>
                          <a:effectLst/>
                          <a:latin typeface="Calibri Light" panose="020F0302020204030204" pitchFamily="34" charset="0"/>
                        </a:rPr>
                        <a:t>DCCII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400" b="1" i="0" u="none" strike="noStrike" dirty="0">
                          <a:solidFill>
                            <a:srgbClr val="833C0C"/>
                          </a:solidFill>
                          <a:effectLst/>
                          <a:latin typeface="Calibri Light" panose="020F0302020204030204" pitchFamily="34" charset="0"/>
                        </a:rPr>
                        <a:t>104</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00" b="1" i="0" u="none" strike="noStrike">
                          <a:solidFill>
                            <a:srgbClr val="000000"/>
                          </a:solidFill>
                          <a:effectLst/>
                          <a:latin typeface="Calibri Light" panose="020F0302020204030204" pitchFamily="34" charset="0"/>
                        </a:rPr>
                        <a:t>76</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00" b="1" i="0" u="none" strike="noStrike" dirty="0">
                          <a:solidFill>
                            <a:srgbClr val="833C0C"/>
                          </a:solidFill>
                          <a:effectLst/>
                          <a:latin typeface="Calibri Light" panose="020F0302020204030204" pitchFamily="34" charset="0"/>
                        </a:rPr>
                        <a:t>80</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00" b="1" i="0" u="none" strike="noStrike">
                          <a:solidFill>
                            <a:srgbClr val="000000"/>
                          </a:solidFill>
                          <a:effectLst/>
                          <a:latin typeface="Calibri Light" panose="020F0302020204030204" pitchFamily="34" charset="0"/>
                        </a:rPr>
                        <a:t>83</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00" b="1" i="0" u="none" strike="noStrike">
                          <a:solidFill>
                            <a:srgbClr val="833C0C"/>
                          </a:solidFill>
                          <a:effectLst/>
                          <a:latin typeface="Calibri Light" panose="020F0302020204030204" pitchFamily="34" charset="0"/>
                        </a:rPr>
                        <a:t>96</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00" b="1" i="0" u="none" strike="noStrike" dirty="0">
                          <a:solidFill>
                            <a:srgbClr val="000000"/>
                          </a:solidFill>
                          <a:effectLst/>
                          <a:latin typeface="Calibri Light" panose="020F0302020204030204" pitchFamily="34" charset="0"/>
                        </a:rPr>
                        <a:t>81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00" b="1" i="0" u="none" strike="noStrike" dirty="0">
                          <a:solidFill>
                            <a:srgbClr val="833C0C"/>
                          </a:solidFill>
                          <a:effectLst/>
                          <a:latin typeface="Calibri Light" panose="020F0302020204030204" pitchFamily="34" charset="0"/>
                        </a:rPr>
                        <a:t>92</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algn="ctr" rtl="0" fontAlgn="ctr"/>
                      <a:r>
                        <a:rPr lang="es-ES" sz="1400" b="1" i="0" u="none" strike="noStrike" dirty="0">
                          <a:solidFill>
                            <a:schemeClr val="tx1"/>
                          </a:solidFill>
                          <a:effectLst/>
                          <a:latin typeface="Calibri Light" panose="020F0302020204030204" pitchFamily="34" charset="0"/>
                        </a:rPr>
                        <a:t>79</a:t>
                      </a:r>
                      <a:endParaRPr lang="es-PE" sz="140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algn="ctr" rtl="0" fontAlgn="ctr"/>
                      <a:r>
                        <a:rPr lang="es-ES" sz="1400" b="1" i="0" u="none" strike="noStrike" dirty="0">
                          <a:solidFill>
                            <a:srgbClr val="833C0C"/>
                          </a:solidFill>
                          <a:effectLst/>
                          <a:latin typeface="Calibri Light" panose="020F0302020204030204" pitchFamily="34" charset="0"/>
                        </a:rPr>
                        <a:t>8</a:t>
                      </a:r>
                      <a:r>
                        <a:rPr lang="es-PE" sz="1400" b="1" i="0" u="none" strike="noStrike" dirty="0">
                          <a:solidFill>
                            <a:srgbClr val="833C0C"/>
                          </a:solidFill>
                          <a:effectLst/>
                          <a:latin typeface="Calibri Light" panose="020F0302020204030204" pitchFamily="34" charset="0"/>
                        </a:rPr>
                        <a:t>2</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algn="ctr" rtl="0" fontAlgn="ctr"/>
                      <a:r>
                        <a:rPr lang="es-ES" sz="1400" b="1" i="0" u="none" strike="noStrike" dirty="0">
                          <a:solidFill>
                            <a:schemeClr val="tx1"/>
                          </a:solidFill>
                          <a:effectLst/>
                          <a:latin typeface="Calibri Light" panose="020F0302020204030204" pitchFamily="34" charset="0"/>
                        </a:rPr>
                        <a:t>83</a:t>
                      </a:r>
                      <a:endParaRPr lang="es-PE" sz="140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00" b="1" i="0" u="none" strike="noStrike" kern="1200" dirty="0">
                          <a:solidFill>
                            <a:srgbClr val="833C0C"/>
                          </a:solidFill>
                          <a:effectLst/>
                          <a:latin typeface="Calibri Light" panose="020F0302020204030204" pitchFamily="34" charset="0"/>
                          <a:ea typeface="+mn-ea"/>
                          <a:cs typeface="+mn-cs"/>
                        </a:rPr>
                        <a:t>81</a:t>
                      </a:r>
                      <a:endParaRPr lang="es-PE" sz="14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77</a:t>
                      </a:r>
                      <a:endParaRPr lang="es-PE" sz="14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00" b="1" i="0" u="none" strike="noStrike" kern="1200" dirty="0">
                          <a:solidFill>
                            <a:srgbClr val="833C0C"/>
                          </a:solidFill>
                          <a:effectLst/>
                          <a:latin typeface="Calibri Light" panose="020F0302020204030204" pitchFamily="34" charset="0"/>
                          <a:ea typeface="+mn-ea"/>
                          <a:cs typeface="+mn-cs"/>
                        </a:rPr>
                        <a:t>90</a:t>
                      </a:r>
                      <a:endParaRPr lang="es-PE" sz="14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89</a:t>
                      </a:r>
                      <a:endParaRPr lang="es-PE" sz="14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00" b="1" i="0" u="none" strike="noStrike" kern="1200" dirty="0">
                          <a:solidFill>
                            <a:srgbClr val="833C0C"/>
                          </a:solidFill>
                          <a:effectLst/>
                          <a:latin typeface="Calibri Light" panose="020F0302020204030204" pitchFamily="34" charset="0"/>
                          <a:ea typeface="+mn-ea"/>
                          <a:cs typeface="+mn-cs"/>
                        </a:rPr>
                        <a:t>112</a:t>
                      </a:r>
                      <a:endParaRPr lang="es-PE" sz="14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104</a:t>
                      </a:r>
                      <a:endParaRPr lang="es-PE" sz="14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00" b="1" i="0" u="none" strike="noStrike" kern="1200" dirty="0">
                          <a:solidFill>
                            <a:srgbClr val="833C0C"/>
                          </a:solidFill>
                          <a:effectLst/>
                          <a:latin typeface="Calibri Light" panose="020F0302020204030204" pitchFamily="34" charset="0"/>
                          <a:ea typeface="+mn-ea"/>
                          <a:cs typeface="+mn-cs"/>
                        </a:rPr>
                        <a:t>102</a:t>
                      </a:r>
                      <a:endParaRPr lang="es-PE" sz="14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111</a:t>
                      </a:r>
                      <a:endParaRPr lang="es-PE" sz="14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00" b="1" i="0" u="none" strike="noStrike" kern="1200" dirty="0">
                          <a:solidFill>
                            <a:srgbClr val="833C0C"/>
                          </a:solidFill>
                          <a:effectLst/>
                          <a:latin typeface="Calibri Light" panose="020F0302020204030204" pitchFamily="34" charset="0"/>
                          <a:ea typeface="+mn-ea"/>
                          <a:cs typeface="+mn-cs"/>
                        </a:rPr>
                        <a:t>101</a:t>
                      </a:r>
                      <a:endParaRPr lang="es-PE" sz="14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62</a:t>
                      </a:r>
                      <a:endParaRPr lang="es-PE" sz="14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00" b="1" i="0" u="none" strike="noStrike" kern="1200" dirty="0">
                          <a:solidFill>
                            <a:srgbClr val="833C0C"/>
                          </a:solidFill>
                          <a:effectLst/>
                          <a:latin typeface="Calibri Light" panose="020F0302020204030204" pitchFamily="34" charset="0"/>
                          <a:ea typeface="+mn-ea"/>
                          <a:cs typeface="+mn-cs"/>
                        </a:rPr>
                        <a:t>101</a:t>
                      </a:r>
                      <a:endParaRPr lang="es-PE" sz="14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91</a:t>
                      </a:r>
                      <a:endParaRPr lang="es-PE" sz="14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00" b="1" i="0" u="none" strike="noStrike" kern="1200" dirty="0">
                          <a:solidFill>
                            <a:srgbClr val="833C0C"/>
                          </a:solidFill>
                          <a:effectLst/>
                          <a:latin typeface="Calibri Light" panose="020F0302020204030204" pitchFamily="34" charset="0"/>
                          <a:ea typeface="+mn-ea"/>
                          <a:cs typeface="+mn-cs"/>
                        </a:rPr>
                        <a:t>111</a:t>
                      </a:r>
                      <a:endParaRPr lang="es-PE" sz="14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extLst>
                  <a:ext uri="{0D108BD9-81ED-4DB2-BD59-A6C34878D82A}">
                    <a16:rowId xmlns:a16="http://schemas.microsoft.com/office/drawing/2014/main" val="3056038957"/>
                  </a:ext>
                </a:extLst>
              </a:tr>
              <a:tr h="523559">
                <a:tc>
                  <a:txBody>
                    <a:bodyPr/>
                    <a:lstStyle/>
                    <a:p>
                      <a:pPr algn="ctr" fontAlgn="ctr"/>
                      <a:r>
                        <a:rPr lang="es-PE" sz="1100" b="1" i="0" u="none" strike="noStrike">
                          <a:solidFill>
                            <a:srgbClr val="FFFFFF"/>
                          </a:solidFill>
                          <a:effectLst/>
                          <a:latin typeface="Calibri Light" panose="020F0302020204030204" pitchFamily="34" charset="0"/>
                        </a:rPr>
                        <a:t>DCP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400" b="1" i="0" u="none" strike="noStrike" dirty="0">
                          <a:solidFill>
                            <a:srgbClr val="833C0C"/>
                          </a:solidFill>
                          <a:effectLst/>
                          <a:latin typeface="Calibri Light" panose="020F0302020204030204" pitchFamily="34" charset="0"/>
                        </a:rPr>
                        <a:t>14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00" b="1" i="0" u="none" strike="noStrike">
                          <a:solidFill>
                            <a:srgbClr val="000000"/>
                          </a:solidFill>
                          <a:effectLst/>
                          <a:latin typeface="Calibri Light" panose="020F0302020204030204" pitchFamily="34" charset="0"/>
                        </a:rPr>
                        <a:t>10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00" b="1" i="0" u="none" strike="noStrike" dirty="0">
                          <a:solidFill>
                            <a:srgbClr val="833C0C"/>
                          </a:solidFill>
                          <a:effectLst/>
                          <a:latin typeface="Calibri Light" panose="020F0302020204030204" pitchFamily="34" charset="0"/>
                        </a:rPr>
                        <a:t>15 </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00" b="1" i="0" u="none" strike="noStrike">
                          <a:solidFill>
                            <a:srgbClr val="000000"/>
                          </a:solidFill>
                          <a:effectLst/>
                          <a:latin typeface="Calibri Light" panose="020F0302020204030204" pitchFamily="34" charset="0"/>
                        </a:rPr>
                        <a:t>17</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00" b="1" i="0" u="none" strike="noStrike">
                          <a:solidFill>
                            <a:srgbClr val="833C0C"/>
                          </a:solidFill>
                          <a:effectLst/>
                          <a:latin typeface="Calibri Light" panose="020F0302020204030204" pitchFamily="34" charset="0"/>
                        </a:rPr>
                        <a:t>20*</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00" b="1" i="0" u="none" strike="noStrike">
                          <a:solidFill>
                            <a:srgbClr val="000000"/>
                          </a:solidFill>
                          <a:effectLst/>
                          <a:latin typeface="Calibri Light" panose="020F0302020204030204" pitchFamily="34" charset="0"/>
                        </a:rPr>
                        <a:t>19</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00" b="1" i="0" u="none" strike="noStrike" dirty="0">
                          <a:solidFill>
                            <a:srgbClr val="833C0C"/>
                          </a:solidFill>
                          <a:effectLst/>
                          <a:latin typeface="Calibri Light" panose="020F0302020204030204" pitchFamily="34" charset="0"/>
                        </a:rPr>
                        <a:t>20</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00" b="1" i="0" u="none" strike="noStrike" dirty="0">
                          <a:solidFill>
                            <a:schemeClr val="tx1"/>
                          </a:solidFill>
                          <a:effectLst/>
                          <a:latin typeface="Calibri Light" panose="020F0302020204030204" pitchFamily="34" charset="0"/>
                        </a:rPr>
                        <a:t>19</a:t>
                      </a:r>
                      <a:endParaRPr lang="es-PE" sz="140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00" b="1" i="0" u="none" strike="noStrike" dirty="0">
                          <a:solidFill>
                            <a:srgbClr val="833C0C"/>
                          </a:solidFill>
                          <a:effectLst/>
                          <a:latin typeface="Calibri Light" panose="020F0302020204030204" pitchFamily="34" charset="0"/>
                        </a:rPr>
                        <a:t>17</a:t>
                      </a:r>
                      <a:endParaRPr lang="es-PE" sz="1400" b="1" i="0" u="none" strike="noStrike" dirty="0">
                        <a:solidFill>
                          <a:srgbClr val="833C0C"/>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00" b="1" i="0" u="none" strike="noStrike" dirty="0">
                          <a:solidFill>
                            <a:schemeClr val="tx1"/>
                          </a:solidFill>
                          <a:effectLst/>
                          <a:latin typeface="Calibri Light" panose="020F0302020204030204" pitchFamily="34" charset="0"/>
                        </a:rPr>
                        <a:t>19</a:t>
                      </a:r>
                      <a:endParaRPr lang="es-PE" sz="140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rgbClr val="833C0C"/>
                          </a:solidFill>
                          <a:effectLst/>
                          <a:latin typeface="Calibri Light" panose="020F0302020204030204" pitchFamily="34" charset="0"/>
                          <a:ea typeface="+mn-ea"/>
                          <a:cs typeface="+mn-cs"/>
                        </a:rPr>
                        <a:t>18</a:t>
                      </a:r>
                      <a:endParaRPr lang="es-PE" sz="14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21</a:t>
                      </a:r>
                      <a:endParaRPr lang="es-PE" sz="14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rgbClr val="833C0C"/>
                          </a:solidFill>
                          <a:effectLst/>
                          <a:latin typeface="Calibri Light" panose="020F0302020204030204" pitchFamily="34" charset="0"/>
                          <a:ea typeface="+mn-ea"/>
                          <a:cs typeface="+mn-cs"/>
                        </a:rPr>
                        <a:t>18</a:t>
                      </a:r>
                      <a:endParaRPr lang="es-PE" sz="14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18</a:t>
                      </a:r>
                      <a:endParaRPr lang="es-PE" sz="14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rgbClr val="833C0C"/>
                          </a:solidFill>
                          <a:effectLst/>
                          <a:latin typeface="Calibri Light" panose="020F0302020204030204" pitchFamily="34" charset="0"/>
                          <a:ea typeface="+mn-ea"/>
                          <a:cs typeface="+mn-cs"/>
                        </a:rPr>
                        <a:t>15</a:t>
                      </a:r>
                      <a:endParaRPr lang="es-PE" sz="14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13</a:t>
                      </a:r>
                      <a:endParaRPr lang="es-PE" sz="14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rgbClr val="833C0C"/>
                          </a:solidFill>
                          <a:effectLst/>
                          <a:latin typeface="Calibri Light" panose="020F0302020204030204" pitchFamily="34" charset="0"/>
                          <a:ea typeface="+mn-ea"/>
                          <a:cs typeface="+mn-cs"/>
                        </a:rPr>
                        <a:t>19</a:t>
                      </a:r>
                      <a:endParaRPr lang="es-PE" sz="14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16</a:t>
                      </a:r>
                      <a:endParaRPr lang="es-PE" sz="14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rgbClr val="833C0C"/>
                          </a:solidFill>
                          <a:effectLst/>
                          <a:latin typeface="Calibri Light" panose="020F0302020204030204" pitchFamily="34" charset="0"/>
                          <a:ea typeface="+mn-ea"/>
                          <a:cs typeface="+mn-cs"/>
                        </a:rPr>
                        <a:t>18</a:t>
                      </a:r>
                      <a:endParaRPr lang="es-PE" sz="14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23</a:t>
                      </a:r>
                      <a:endParaRPr lang="es-PE" sz="14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rgbClr val="833C0C"/>
                          </a:solidFill>
                          <a:effectLst/>
                          <a:latin typeface="Calibri Light" panose="020F0302020204030204" pitchFamily="34" charset="0"/>
                          <a:ea typeface="+mn-ea"/>
                          <a:cs typeface="+mn-cs"/>
                        </a:rPr>
                        <a:t>18</a:t>
                      </a:r>
                      <a:endParaRPr lang="es-PE" sz="14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chemeClr val="tx1"/>
                          </a:solidFill>
                          <a:effectLst/>
                          <a:latin typeface="Calibri Light" panose="020F0302020204030204" pitchFamily="34" charset="0"/>
                          <a:ea typeface="+mn-ea"/>
                          <a:cs typeface="+mn-cs"/>
                        </a:rPr>
                        <a:t>42</a:t>
                      </a:r>
                      <a:endParaRPr lang="es-PE" sz="1400" b="1" i="0" u="none" strike="noStrike" kern="1200" dirty="0">
                        <a:solidFill>
                          <a:schemeClr val="tx1"/>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00" b="1" i="0" u="none" strike="noStrike" kern="1200" dirty="0">
                          <a:solidFill>
                            <a:srgbClr val="833C0C"/>
                          </a:solidFill>
                          <a:effectLst/>
                          <a:latin typeface="Calibri Light" panose="020F0302020204030204" pitchFamily="34" charset="0"/>
                          <a:ea typeface="+mn-ea"/>
                          <a:cs typeface="+mn-cs"/>
                        </a:rPr>
                        <a:t>25</a:t>
                      </a:r>
                      <a:endParaRPr lang="es-PE" sz="140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extLst>
                  <a:ext uri="{0D108BD9-81ED-4DB2-BD59-A6C34878D82A}">
                    <a16:rowId xmlns:a16="http://schemas.microsoft.com/office/drawing/2014/main" val="576731200"/>
                  </a:ext>
                </a:extLst>
              </a:tr>
            </a:tbl>
          </a:graphicData>
        </a:graphic>
      </p:graphicFrame>
      <p:graphicFrame>
        <p:nvGraphicFramePr>
          <p:cNvPr id="4" name="Tabla 3">
            <a:extLst>
              <a:ext uri="{FF2B5EF4-FFF2-40B4-BE49-F238E27FC236}">
                <a16:creationId xmlns:a16="http://schemas.microsoft.com/office/drawing/2014/main" id="{D87AF17A-BFED-46AC-919E-84361237190B}"/>
              </a:ext>
            </a:extLst>
          </p:cNvPr>
          <p:cNvGraphicFramePr>
            <a:graphicFrameLocks noGrp="1"/>
          </p:cNvGraphicFramePr>
          <p:nvPr>
            <p:extLst>
              <p:ext uri="{D42A27DB-BD31-4B8C-83A1-F6EECF244321}">
                <p14:modId xmlns:p14="http://schemas.microsoft.com/office/powerpoint/2010/main" val="3176615438"/>
              </p:ext>
            </p:extLst>
          </p:nvPr>
        </p:nvGraphicFramePr>
        <p:xfrm>
          <a:off x="1049103" y="5500375"/>
          <a:ext cx="1916285" cy="960250"/>
        </p:xfrm>
        <a:graphic>
          <a:graphicData uri="http://schemas.openxmlformats.org/drawingml/2006/table">
            <a:tbl>
              <a:tblPr firstRow="1" firstCol="1" bandRow="1">
                <a:tableStyleId>{5C22544A-7EE6-4342-B048-85BDC9FD1C3A}</a:tableStyleId>
              </a:tblPr>
              <a:tblGrid>
                <a:gridCol w="573455">
                  <a:extLst>
                    <a:ext uri="{9D8B030D-6E8A-4147-A177-3AD203B41FA5}">
                      <a16:colId xmlns:a16="http://schemas.microsoft.com/office/drawing/2014/main" val="400669114"/>
                    </a:ext>
                  </a:extLst>
                </a:gridCol>
                <a:gridCol w="621363">
                  <a:extLst>
                    <a:ext uri="{9D8B030D-6E8A-4147-A177-3AD203B41FA5}">
                      <a16:colId xmlns:a16="http://schemas.microsoft.com/office/drawing/2014/main" val="47251755"/>
                    </a:ext>
                  </a:extLst>
                </a:gridCol>
                <a:gridCol w="721467">
                  <a:extLst>
                    <a:ext uri="{9D8B030D-6E8A-4147-A177-3AD203B41FA5}">
                      <a16:colId xmlns:a16="http://schemas.microsoft.com/office/drawing/2014/main" val="53380357"/>
                    </a:ext>
                  </a:extLst>
                </a:gridCol>
              </a:tblGrid>
              <a:tr h="245664">
                <a:tc>
                  <a:txBody>
                    <a:bodyPr/>
                    <a:lstStyle/>
                    <a:p>
                      <a:r>
                        <a:rPr lang="es-PE" sz="1100" dirty="0">
                          <a:effectLst/>
                        </a:rPr>
                        <a:t>UUOO</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2022 </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a:effectLst/>
                        </a:rPr>
                        <a:t>2024 </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28351491"/>
                  </a:ext>
                </a:extLst>
              </a:tr>
              <a:tr h="234461">
                <a:tc>
                  <a:txBody>
                    <a:bodyPr/>
                    <a:lstStyle/>
                    <a:p>
                      <a:r>
                        <a:rPr lang="es-PE" sz="1100">
                          <a:effectLst/>
                        </a:rPr>
                        <a:t>DCCI </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22</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17</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04503170"/>
                  </a:ext>
                </a:extLst>
              </a:tr>
              <a:tr h="245664">
                <a:tc>
                  <a:txBody>
                    <a:bodyPr/>
                    <a:lstStyle/>
                    <a:p>
                      <a:r>
                        <a:rPr lang="es-PE" sz="1100">
                          <a:effectLst/>
                        </a:rPr>
                        <a:t>DCCII </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4.5</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10</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76236002"/>
                  </a:ext>
                </a:extLst>
              </a:tr>
              <a:tr h="234461">
                <a:tc>
                  <a:txBody>
                    <a:bodyPr/>
                    <a:lstStyle/>
                    <a:p>
                      <a:r>
                        <a:rPr lang="es-PE" sz="1100" dirty="0">
                          <a:effectLst/>
                        </a:rPr>
                        <a:t>DCP</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a:effectLst/>
                        </a:rPr>
                        <a:t>2.2 </a:t>
                      </a:r>
                      <a:endParaRPr lang="es-PE"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s-PE" sz="1400" dirty="0">
                          <a:effectLst/>
                        </a:rPr>
                        <a:t>4.29</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27154280"/>
                  </a:ext>
                </a:extLst>
              </a:tr>
            </a:tbl>
          </a:graphicData>
        </a:graphic>
      </p:graphicFrame>
      <p:sp>
        <p:nvSpPr>
          <p:cNvPr id="10" name="Título 94">
            <a:extLst>
              <a:ext uri="{FF2B5EF4-FFF2-40B4-BE49-F238E27FC236}">
                <a16:creationId xmlns:a16="http://schemas.microsoft.com/office/drawing/2014/main" id="{5E639BFF-C474-4303-B9F1-6A675CBE0E77}"/>
              </a:ext>
            </a:extLst>
          </p:cNvPr>
          <p:cNvSpPr txBox="1">
            <a:spLocks/>
          </p:cNvSpPr>
          <p:nvPr/>
        </p:nvSpPr>
        <p:spPr>
          <a:xfrm>
            <a:off x="394707" y="4820616"/>
            <a:ext cx="3040702" cy="5943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1000" b="1" dirty="0">
                <a:latin typeface="Arial" panose="020B0604020202020204" pitchFamily="34" charset="0"/>
                <a:cs typeface="Arial" panose="020B0604020202020204" pitchFamily="34" charset="0"/>
              </a:rPr>
              <a:t>               </a:t>
            </a:r>
          </a:p>
          <a:p>
            <a:r>
              <a:rPr lang="es-ES" sz="1000" b="1" dirty="0">
                <a:latin typeface="Arial" panose="020B0604020202020204" pitchFamily="34" charset="0"/>
                <a:cs typeface="Arial" panose="020B0604020202020204" pitchFamily="34" charset="0"/>
              </a:rPr>
              <a:t>                </a:t>
            </a:r>
          </a:p>
          <a:p>
            <a:r>
              <a:rPr lang="es-ES" sz="1000" b="1" dirty="0">
                <a:latin typeface="Arial" panose="020B0604020202020204" pitchFamily="34" charset="0"/>
                <a:cs typeface="Arial" panose="020B0604020202020204" pitchFamily="34" charset="0"/>
              </a:rPr>
              <a:t>               Antecedente </a:t>
            </a:r>
            <a:endParaRPr lang="es-PE" sz="1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85960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PRODUCTIVIDAD POR SUPERVISIÓN</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657226" y="183959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657226" y="3439416"/>
            <a:ext cx="1028700" cy="638174"/>
          </a:xfrm>
          <a:prstGeom prst="rightArrow">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sp>
        <p:nvSpPr>
          <p:cNvPr id="16" name="Flecha: a la derecha 15">
            <a:extLst>
              <a:ext uri="{FF2B5EF4-FFF2-40B4-BE49-F238E27FC236}">
                <a16:creationId xmlns:a16="http://schemas.microsoft.com/office/drawing/2014/main" id="{5B46D489-2A56-01B0-EB9C-D57AAAD377E8}"/>
              </a:ext>
            </a:extLst>
          </p:cNvPr>
          <p:cNvSpPr/>
          <p:nvPr/>
        </p:nvSpPr>
        <p:spPr>
          <a:xfrm>
            <a:off x="657226" y="5212326"/>
            <a:ext cx="1028700" cy="638174"/>
          </a:xfrm>
          <a:prstGeom prst="rightArrow">
            <a:avLst/>
          </a:prstGeom>
          <a:ln w="28575">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DCP</a:t>
            </a:r>
            <a:endParaRPr lang="es-PE" dirty="0"/>
          </a:p>
        </p:txBody>
      </p:sp>
      <p:graphicFrame>
        <p:nvGraphicFramePr>
          <p:cNvPr id="3" name="Tabla 2">
            <a:extLst>
              <a:ext uri="{FF2B5EF4-FFF2-40B4-BE49-F238E27FC236}">
                <a16:creationId xmlns:a16="http://schemas.microsoft.com/office/drawing/2014/main" id="{F0ADA2C1-AAD1-1A2B-5E48-C4B607DCDAF6}"/>
              </a:ext>
            </a:extLst>
          </p:cNvPr>
          <p:cNvGraphicFramePr>
            <a:graphicFrameLocks noGrp="1"/>
          </p:cNvGraphicFramePr>
          <p:nvPr>
            <p:extLst>
              <p:ext uri="{D42A27DB-BD31-4B8C-83A1-F6EECF244321}">
                <p14:modId xmlns:p14="http://schemas.microsoft.com/office/powerpoint/2010/main" val="4018129510"/>
              </p:ext>
            </p:extLst>
          </p:nvPr>
        </p:nvGraphicFramePr>
        <p:xfrm>
          <a:off x="2393298" y="3270180"/>
          <a:ext cx="8693802" cy="1400897"/>
        </p:xfrm>
        <a:graphic>
          <a:graphicData uri="http://schemas.openxmlformats.org/drawingml/2006/table">
            <a:tbl>
              <a:tblPr firstRow="1" firstCol="1" bandRow="1">
                <a:tableStyleId>{00A15C55-8517-42AA-B614-E9B94910E393}</a:tableStyleId>
              </a:tblPr>
              <a:tblGrid>
                <a:gridCol w="1455080">
                  <a:extLst>
                    <a:ext uri="{9D8B030D-6E8A-4147-A177-3AD203B41FA5}">
                      <a16:colId xmlns:a16="http://schemas.microsoft.com/office/drawing/2014/main" val="3257801786"/>
                    </a:ext>
                  </a:extLst>
                </a:gridCol>
                <a:gridCol w="2136188">
                  <a:extLst>
                    <a:ext uri="{9D8B030D-6E8A-4147-A177-3AD203B41FA5}">
                      <a16:colId xmlns:a16="http://schemas.microsoft.com/office/drawing/2014/main" val="1776142972"/>
                    </a:ext>
                  </a:extLst>
                </a:gridCol>
                <a:gridCol w="1096282">
                  <a:extLst>
                    <a:ext uri="{9D8B030D-6E8A-4147-A177-3AD203B41FA5}">
                      <a16:colId xmlns:a16="http://schemas.microsoft.com/office/drawing/2014/main" val="153233266"/>
                    </a:ext>
                  </a:extLst>
                </a:gridCol>
                <a:gridCol w="1192082">
                  <a:extLst>
                    <a:ext uri="{9D8B030D-6E8A-4147-A177-3AD203B41FA5}">
                      <a16:colId xmlns:a16="http://schemas.microsoft.com/office/drawing/2014/main" val="1566383420"/>
                    </a:ext>
                  </a:extLst>
                </a:gridCol>
                <a:gridCol w="1378511">
                  <a:extLst>
                    <a:ext uri="{9D8B030D-6E8A-4147-A177-3AD203B41FA5}">
                      <a16:colId xmlns:a16="http://schemas.microsoft.com/office/drawing/2014/main" val="2882639219"/>
                    </a:ext>
                  </a:extLst>
                </a:gridCol>
                <a:gridCol w="1435659">
                  <a:extLst>
                    <a:ext uri="{9D8B030D-6E8A-4147-A177-3AD203B41FA5}">
                      <a16:colId xmlns:a16="http://schemas.microsoft.com/office/drawing/2014/main" val="2536285859"/>
                    </a:ext>
                  </a:extLst>
                </a:gridCol>
              </a:tblGrid>
              <a:tr h="424874">
                <a:tc>
                  <a:txBody>
                    <a:bodyPr/>
                    <a:lstStyle/>
                    <a:p>
                      <a:pPr algn="ctr"/>
                      <a:r>
                        <a:rPr lang="es-PE" sz="1600" b="1" dirty="0">
                          <a:solidFill>
                            <a:srgbClr val="FFFFFF"/>
                          </a:solidFill>
                          <a:effectLst/>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a:solidFill>
                            <a:srgbClr val="FFFFFF"/>
                          </a:solidFill>
                          <a:effectLst/>
                        </a:rPr>
                        <a:t>Resolución aplicada</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rPr>
                        <a:t>Resolutor efectivo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rPr>
                        <a:t>Producción promedio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extLst>
                  <a:ext uri="{0D108BD9-81ED-4DB2-BD59-A6C34878D82A}">
                    <a16:rowId xmlns:a16="http://schemas.microsoft.com/office/drawing/2014/main" val="1468347544"/>
                  </a:ext>
                </a:extLst>
              </a:tr>
              <a:tr h="410828">
                <a:tc>
                  <a:txBody>
                    <a:bodyPr/>
                    <a:lstStyle/>
                    <a:p>
                      <a:pPr algn="ctr"/>
                      <a:r>
                        <a:rPr lang="es-PE" sz="1600" b="1" dirty="0">
                          <a:solidFill>
                            <a:srgbClr val="FFFFFF"/>
                          </a:solidFill>
                          <a:effectLst/>
                        </a:rPr>
                        <a:t>7U7201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r>
                        <a:rPr lang="es-PE" sz="1800" dirty="0">
                          <a:solidFill>
                            <a:srgbClr val="000000"/>
                          </a:solidFill>
                          <a:effectLst/>
                        </a:rPr>
                        <a:t>Yessenia Salcedo</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43</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4.7</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endParaRPr lang="es-PE" sz="1800" b="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ES" sz="1800" b="0" kern="1200" dirty="0">
                          <a:solidFill>
                            <a:schemeClr val="tx1"/>
                          </a:solidFill>
                          <a:effectLst/>
                          <a:latin typeface="+mn-lt"/>
                          <a:ea typeface="+mn-ea"/>
                          <a:cs typeface="+mn-cs"/>
                        </a:rPr>
                        <a:t>9.1</a:t>
                      </a:r>
                      <a:endParaRPr lang="es-PE" sz="1800" b="0" kern="1200" dirty="0">
                        <a:solidFill>
                          <a:schemeClr val="tx1"/>
                        </a:solidFill>
                        <a:effectLst/>
                        <a:latin typeface="+mn-lt"/>
                        <a:ea typeface="+mn-ea"/>
                        <a:cs typeface="+mn-cs"/>
                      </a:endParaRPr>
                    </a:p>
                  </a:txBody>
                  <a:tcPr marL="68580" marR="68580" marT="9525" marB="0" anchor="ctr">
                    <a:solidFill>
                      <a:srgbClr val="FFCCFF"/>
                    </a:solidFill>
                  </a:tcPr>
                </a:tc>
                <a:extLst>
                  <a:ext uri="{0D108BD9-81ED-4DB2-BD59-A6C34878D82A}">
                    <a16:rowId xmlns:a16="http://schemas.microsoft.com/office/drawing/2014/main" val="160037749"/>
                  </a:ext>
                </a:extLst>
              </a:tr>
              <a:tr h="502389">
                <a:tc>
                  <a:txBody>
                    <a:bodyPr/>
                    <a:lstStyle/>
                    <a:p>
                      <a:pPr algn="ctr"/>
                      <a:r>
                        <a:rPr lang="es-ES" sz="1600" b="1" dirty="0">
                          <a:solidFill>
                            <a:srgbClr val="FFFFFF"/>
                          </a:solidFill>
                          <a:effectLst/>
                        </a:rPr>
                        <a:t>7U7202</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r>
                        <a:rPr lang="es-PE" sz="1800" kern="1200" dirty="0">
                          <a:solidFill>
                            <a:schemeClr val="tx1"/>
                          </a:solidFill>
                          <a:effectLst/>
                        </a:rPr>
                        <a:t>Alberto Munive</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48</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4.2</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endParaRPr lang="es-PE" sz="1800" b="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ES" sz="1800" b="0" kern="1200" dirty="0">
                          <a:solidFill>
                            <a:schemeClr val="tx1"/>
                          </a:solidFill>
                          <a:effectLst/>
                          <a:latin typeface="+mn-lt"/>
                          <a:ea typeface="+mn-ea"/>
                          <a:cs typeface="+mn-cs"/>
                        </a:rPr>
                        <a:t>11.4</a:t>
                      </a:r>
                      <a:endParaRPr lang="es-PE" sz="1800" b="0" kern="1200" dirty="0">
                        <a:solidFill>
                          <a:schemeClr val="tx1"/>
                        </a:solidFill>
                        <a:effectLst/>
                        <a:latin typeface="+mn-lt"/>
                        <a:ea typeface="+mn-ea"/>
                        <a:cs typeface="+mn-cs"/>
                      </a:endParaRPr>
                    </a:p>
                  </a:txBody>
                  <a:tcPr marL="68580" marR="68580" marT="9525" marB="0" anchor="ctr">
                    <a:solidFill>
                      <a:srgbClr val="FFCCFF"/>
                    </a:solidFill>
                  </a:tcPr>
                </a:tc>
                <a:extLst>
                  <a:ext uri="{0D108BD9-81ED-4DB2-BD59-A6C34878D82A}">
                    <a16:rowId xmlns:a16="http://schemas.microsoft.com/office/drawing/2014/main" val="660552211"/>
                  </a:ext>
                </a:extLst>
              </a:tr>
            </a:tbl>
          </a:graphicData>
        </a:graphic>
      </p:graphicFrame>
      <p:graphicFrame>
        <p:nvGraphicFramePr>
          <p:cNvPr id="4" name="Tabla 3">
            <a:extLst>
              <a:ext uri="{FF2B5EF4-FFF2-40B4-BE49-F238E27FC236}">
                <a16:creationId xmlns:a16="http://schemas.microsoft.com/office/drawing/2014/main" id="{0D7F5025-96FD-A7EE-5367-617ABB2327E9}"/>
              </a:ext>
            </a:extLst>
          </p:cNvPr>
          <p:cNvGraphicFramePr>
            <a:graphicFrameLocks noGrp="1"/>
          </p:cNvGraphicFramePr>
          <p:nvPr>
            <p:extLst>
              <p:ext uri="{D42A27DB-BD31-4B8C-83A1-F6EECF244321}">
                <p14:modId xmlns:p14="http://schemas.microsoft.com/office/powerpoint/2010/main" val="4047733575"/>
              </p:ext>
            </p:extLst>
          </p:nvPr>
        </p:nvGraphicFramePr>
        <p:xfrm>
          <a:off x="2364722" y="4863320"/>
          <a:ext cx="8636651" cy="1153306"/>
        </p:xfrm>
        <a:graphic>
          <a:graphicData uri="http://schemas.openxmlformats.org/drawingml/2006/table">
            <a:tbl>
              <a:tblPr firstRow="1" firstCol="1" bandRow="1"/>
              <a:tblGrid>
                <a:gridCol w="1584015">
                  <a:extLst>
                    <a:ext uri="{9D8B030D-6E8A-4147-A177-3AD203B41FA5}">
                      <a16:colId xmlns:a16="http://schemas.microsoft.com/office/drawing/2014/main" val="1791917023"/>
                    </a:ext>
                  </a:extLst>
                </a:gridCol>
                <a:gridCol w="1998876">
                  <a:extLst>
                    <a:ext uri="{9D8B030D-6E8A-4147-A177-3AD203B41FA5}">
                      <a16:colId xmlns:a16="http://schemas.microsoft.com/office/drawing/2014/main" val="778085126"/>
                    </a:ext>
                  </a:extLst>
                </a:gridCol>
                <a:gridCol w="1093724">
                  <a:extLst>
                    <a:ext uri="{9D8B030D-6E8A-4147-A177-3AD203B41FA5}">
                      <a16:colId xmlns:a16="http://schemas.microsoft.com/office/drawing/2014/main" val="3808763990"/>
                    </a:ext>
                  </a:extLst>
                </a:gridCol>
                <a:gridCol w="1169154">
                  <a:extLst>
                    <a:ext uri="{9D8B030D-6E8A-4147-A177-3AD203B41FA5}">
                      <a16:colId xmlns:a16="http://schemas.microsoft.com/office/drawing/2014/main" val="2363829853"/>
                    </a:ext>
                  </a:extLst>
                </a:gridCol>
                <a:gridCol w="1395441">
                  <a:extLst>
                    <a:ext uri="{9D8B030D-6E8A-4147-A177-3AD203B41FA5}">
                      <a16:colId xmlns:a16="http://schemas.microsoft.com/office/drawing/2014/main" val="3525508578"/>
                    </a:ext>
                  </a:extLst>
                </a:gridCol>
                <a:gridCol w="1395441">
                  <a:extLst>
                    <a:ext uri="{9D8B030D-6E8A-4147-A177-3AD203B41FA5}">
                      <a16:colId xmlns:a16="http://schemas.microsoft.com/office/drawing/2014/main" val="3174711922"/>
                    </a:ext>
                  </a:extLst>
                </a:gridCol>
              </a:tblGrid>
              <a:tr h="60466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aplicada</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Resolutor efectivo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Producción promedio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2803327267"/>
                  </a:ext>
                </a:extLst>
              </a:tr>
              <a:tr h="0">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7U7301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l"/>
                      <a:r>
                        <a:rPr lang="es-PE"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Cynthia Sánchez</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l"/>
                      <a:r>
                        <a:rPr lang="es-ES" sz="1200" kern="1200" dirty="0">
                          <a:solidFill>
                            <a:schemeClr val="tx1"/>
                          </a:solidFill>
                          <a:effectLst/>
                          <a:latin typeface="+mn-lt"/>
                          <a:ea typeface="+mn-ea"/>
                          <a:cs typeface="+mn-cs"/>
                        </a:rPr>
                        <a:t>41 RD (*)    </a:t>
                      </a:r>
                    </a:p>
                    <a:p>
                      <a:pPr algn="l"/>
                      <a:r>
                        <a:rPr lang="es-ES" sz="1200" kern="1200" dirty="0">
                          <a:solidFill>
                            <a:schemeClr val="tx1"/>
                          </a:solidFill>
                          <a:effectLst/>
                          <a:latin typeface="+mn-lt"/>
                          <a:ea typeface="+mn-ea"/>
                          <a:cs typeface="+mn-cs"/>
                        </a:rPr>
                        <a:t>1 Informe de DCA.</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800" dirty="0">
                          <a:effectLst/>
                          <a:latin typeface="Calibri" panose="020F0502020204030204" pitchFamily="34" charset="0"/>
                          <a:ea typeface="Calibri" panose="020F0502020204030204" pitchFamily="34" charset="0"/>
                          <a:cs typeface="Times New Roman" panose="02020603050405020304" pitchFamily="18" charset="0"/>
                        </a:rPr>
                        <a:t>5.65 (**)</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l"/>
                      <a:endParaRPr lang="es-ES"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800" b="0" kern="1200" dirty="0">
                          <a:solidFill>
                            <a:schemeClr val="tx1"/>
                          </a:solidFill>
                          <a:effectLst/>
                          <a:latin typeface="+mn-lt"/>
                          <a:ea typeface="+mn-ea"/>
                          <a:cs typeface="+mn-cs"/>
                        </a:rPr>
                        <a:t>7.43</a:t>
                      </a:r>
                      <a:endParaRPr lang="es-PE" sz="1800" b="0" kern="1200" dirty="0">
                        <a:solidFill>
                          <a:schemeClr val="tx1"/>
                        </a:solidFill>
                        <a:effectLst/>
                        <a:latin typeface="+mn-lt"/>
                        <a:ea typeface="+mn-ea"/>
                        <a:cs typeface="+mn-cs"/>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2639818158"/>
                  </a:ext>
                </a:extLst>
              </a:tr>
            </a:tbl>
          </a:graphicData>
        </a:graphic>
      </p:graphicFrame>
      <p:graphicFrame>
        <p:nvGraphicFramePr>
          <p:cNvPr id="5" name="Tabla 4">
            <a:extLst>
              <a:ext uri="{FF2B5EF4-FFF2-40B4-BE49-F238E27FC236}">
                <a16:creationId xmlns:a16="http://schemas.microsoft.com/office/drawing/2014/main" id="{99B5AFAD-2AB6-6CDE-A9C3-4DCFAEE25A1E}"/>
              </a:ext>
            </a:extLst>
          </p:cNvPr>
          <p:cNvGraphicFramePr>
            <a:graphicFrameLocks noGrp="1"/>
          </p:cNvGraphicFramePr>
          <p:nvPr>
            <p:extLst>
              <p:ext uri="{D42A27DB-BD31-4B8C-83A1-F6EECF244321}">
                <p14:modId xmlns:p14="http://schemas.microsoft.com/office/powerpoint/2010/main" val="2821489071"/>
              </p:ext>
            </p:extLst>
          </p:nvPr>
        </p:nvGraphicFramePr>
        <p:xfrm>
          <a:off x="2393295" y="1035366"/>
          <a:ext cx="8636653" cy="1963161"/>
        </p:xfrm>
        <a:graphic>
          <a:graphicData uri="http://schemas.openxmlformats.org/drawingml/2006/table">
            <a:tbl>
              <a:tblPr firstRow="1" firstCol="1" bandRow="1"/>
              <a:tblGrid>
                <a:gridCol w="1469809">
                  <a:extLst>
                    <a:ext uri="{9D8B030D-6E8A-4147-A177-3AD203B41FA5}">
                      <a16:colId xmlns:a16="http://schemas.microsoft.com/office/drawing/2014/main" val="2785956031"/>
                    </a:ext>
                  </a:extLst>
                </a:gridCol>
                <a:gridCol w="2101353">
                  <a:extLst>
                    <a:ext uri="{9D8B030D-6E8A-4147-A177-3AD203B41FA5}">
                      <a16:colId xmlns:a16="http://schemas.microsoft.com/office/drawing/2014/main" val="1033099074"/>
                    </a:ext>
                  </a:extLst>
                </a:gridCol>
                <a:gridCol w="1056369">
                  <a:extLst>
                    <a:ext uri="{9D8B030D-6E8A-4147-A177-3AD203B41FA5}">
                      <a16:colId xmlns:a16="http://schemas.microsoft.com/office/drawing/2014/main" val="1980848825"/>
                    </a:ext>
                  </a:extLst>
                </a:gridCol>
                <a:gridCol w="1165860">
                  <a:extLst>
                    <a:ext uri="{9D8B030D-6E8A-4147-A177-3AD203B41FA5}">
                      <a16:colId xmlns:a16="http://schemas.microsoft.com/office/drawing/2014/main" val="176937328"/>
                    </a:ext>
                  </a:extLst>
                </a:gridCol>
                <a:gridCol w="1421631">
                  <a:extLst>
                    <a:ext uri="{9D8B030D-6E8A-4147-A177-3AD203B41FA5}">
                      <a16:colId xmlns:a16="http://schemas.microsoft.com/office/drawing/2014/main" val="1472209076"/>
                    </a:ext>
                  </a:extLst>
                </a:gridCol>
                <a:gridCol w="1421631">
                  <a:extLst>
                    <a:ext uri="{9D8B030D-6E8A-4147-A177-3AD203B41FA5}">
                      <a16:colId xmlns:a16="http://schemas.microsoft.com/office/drawing/2014/main" val="1870332436"/>
                    </a:ext>
                  </a:extLst>
                </a:gridCol>
              </a:tblGrid>
              <a:tr h="85578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aplicada</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Resolutor efectivo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Producción promedio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1785748822"/>
                  </a:ext>
                </a:extLst>
              </a:tr>
              <a:tr h="361856">
                <a:tc>
                  <a:txBody>
                    <a:bodyPr/>
                    <a:lstStyle/>
                    <a:p>
                      <a:pPr algn="ctr"/>
                      <a:r>
                        <a:rPr lang="es-PE" sz="1600" b="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7U7101</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r>
                        <a:rPr lang="es-E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Allison Castro</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91</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5.8</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dirty="0">
                        <a:ln>
                          <a:noFill/>
                        </a:ln>
                        <a:solidFill>
                          <a:schemeClr val="tx1"/>
                        </a:solidFill>
                        <a:effectLst/>
                        <a:uLnTx/>
                        <a:uFillTx/>
                        <a:latin typeface="Calibri" panose="020F0502020204030204"/>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15.69</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67962714"/>
                  </a:ext>
                </a:extLst>
              </a:tr>
              <a:tr h="317626">
                <a:tc>
                  <a:txBody>
                    <a:bodyPr/>
                    <a:lstStyle/>
                    <a:p>
                      <a:pPr algn="ctr"/>
                      <a:r>
                        <a:rPr lang="es-ES" sz="1600" b="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7U7102</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r>
                        <a:rPr lang="es-E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Teresita Quezada</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71</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4.8</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dirty="0">
                        <a:ln>
                          <a:noFill/>
                        </a:ln>
                        <a:solidFill>
                          <a:schemeClr val="tx1"/>
                        </a:solidFill>
                        <a:effectLst/>
                        <a:uLnTx/>
                        <a:uFillTx/>
                        <a:latin typeface="Calibri" panose="020F0502020204030204"/>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14.79</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extLst>
                  <a:ext uri="{0D108BD9-81ED-4DB2-BD59-A6C34878D82A}">
                    <a16:rowId xmlns:a16="http://schemas.microsoft.com/office/drawing/2014/main" val="839718254"/>
                  </a:ext>
                </a:extLst>
              </a:tr>
              <a:tr h="427893">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7U7103</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r>
                        <a:rPr lang="es-E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Angelita Santillan</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84</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5.5</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PE" sz="1800" b="0" i="0" u="none" strike="noStrike" kern="1200" cap="none" spc="0" normalizeH="0" baseline="0" noProof="0" dirty="0">
                        <a:ln>
                          <a:noFill/>
                        </a:ln>
                        <a:solidFill>
                          <a:schemeClr val="tx1"/>
                        </a:solidFill>
                        <a:effectLst/>
                        <a:uLnTx/>
                        <a:uFillTx/>
                        <a:latin typeface="Calibri" panose="020F0502020204030204"/>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15.27</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981451865"/>
                  </a:ext>
                </a:extLst>
              </a:tr>
            </a:tbl>
          </a:graphicData>
        </a:graphic>
      </p:graphicFrame>
      <p:sp>
        <p:nvSpPr>
          <p:cNvPr id="6" name="CuadroTexto 5">
            <a:extLst>
              <a:ext uri="{FF2B5EF4-FFF2-40B4-BE49-F238E27FC236}">
                <a16:creationId xmlns:a16="http://schemas.microsoft.com/office/drawing/2014/main" id="{8904C80E-FCD8-F48D-53FB-9E90B144A774}"/>
              </a:ext>
            </a:extLst>
          </p:cNvPr>
          <p:cNvSpPr txBox="1"/>
          <p:nvPr/>
        </p:nvSpPr>
        <p:spPr>
          <a:xfrm>
            <a:off x="2364722" y="6078064"/>
            <a:ext cx="8665226" cy="430887"/>
          </a:xfrm>
          <a:prstGeom prst="rect">
            <a:avLst/>
          </a:prstGeom>
          <a:noFill/>
        </p:spPr>
        <p:txBody>
          <a:bodyPr wrap="square" rtlCol="0">
            <a:spAutoFit/>
          </a:bodyPr>
          <a:lstStyle/>
          <a:p>
            <a:r>
              <a:rPr lang="es-ES" sz="1100" dirty="0"/>
              <a:t>(*) Incluye: 33 casos </a:t>
            </a:r>
            <a:r>
              <a:rPr lang="es-ES" sz="1100" dirty="0" err="1"/>
              <a:t>orginen</a:t>
            </a:r>
            <a:r>
              <a:rPr lang="es-ES" sz="1100" dirty="0"/>
              <a:t> INCA, 8 Casos origen DCC.</a:t>
            </a:r>
          </a:p>
          <a:p>
            <a:r>
              <a:rPr lang="es-ES" sz="1100" dirty="0"/>
              <a:t>(**) En el cálculo de resolutor efectivo, se ha considerado el tiempo destinado al </a:t>
            </a:r>
            <a:r>
              <a:rPr lang="es-ES" sz="1100" dirty="0" err="1"/>
              <a:t>analisis</a:t>
            </a:r>
            <a:r>
              <a:rPr lang="es-ES" sz="1100" dirty="0"/>
              <a:t> y sumillado de </a:t>
            </a:r>
            <a:r>
              <a:rPr lang="es-ES" sz="1100" dirty="0" err="1"/>
              <a:t>RTFs</a:t>
            </a:r>
            <a:r>
              <a:rPr lang="es-ES" sz="1100" dirty="0"/>
              <a:t> de Enero .- Junio de la DCP.</a:t>
            </a:r>
            <a:endParaRPr lang="es-PE" sz="1100" dirty="0"/>
          </a:p>
        </p:txBody>
      </p:sp>
    </p:spTree>
    <p:extLst>
      <p:ext uri="{BB962C8B-B14F-4D97-AF65-F5344CB8AC3E}">
        <p14:creationId xmlns:p14="http://schemas.microsoft.com/office/powerpoint/2010/main" val="7725137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PROYECTADO Y NO APLICADO </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657226" y="183959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723902" y="3976453"/>
            <a:ext cx="1028700" cy="638174"/>
          </a:xfrm>
          <a:prstGeom prst="rightArrow">
            <a:avLst/>
          </a:prstGeom>
          <a:ln w="28575">
            <a:solidFill>
              <a:srgbClr val="FF66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sp>
        <p:nvSpPr>
          <p:cNvPr id="16" name="Flecha: a la derecha 15">
            <a:extLst>
              <a:ext uri="{FF2B5EF4-FFF2-40B4-BE49-F238E27FC236}">
                <a16:creationId xmlns:a16="http://schemas.microsoft.com/office/drawing/2014/main" id="{5B46D489-2A56-01B0-EB9C-D57AAAD377E8}"/>
              </a:ext>
            </a:extLst>
          </p:cNvPr>
          <p:cNvSpPr/>
          <p:nvPr/>
        </p:nvSpPr>
        <p:spPr>
          <a:xfrm>
            <a:off x="723902" y="5793585"/>
            <a:ext cx="1028700" cy="638174"/>
          </a:xfrm>
          <a:prstGeom prst="rightArrow">
            <a:avLst/>
          </a:prstGeom>
          <a:ln w="28575">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DCP</a:t>
            </a:r>
            <a:endParaRPr lang="es-PE" dirty="0"/>
          </a:p>
        </p:txBody>
      </p:sp>
      <p:graphicFrame>
        <p:nvGraphicFramePr>
          <p:cNvPr id="2" name="Tabla 1">
            <a:extLst>
              <a:ext uri="{FF2B5EF4-FFF2-40B4-BE49-F238E27FC236}">
                <a16:creationId xmlns:a16="http://schemas.microsoft.com/office/drawing/2014/main" id="{7D983311-D5D2-D4A1-1B19-7BD4F56B92BF}"/>
              </a:ext>
            </a:extLst>
          </p:cNvPr>
          <p:cNvGraphicFramePr>
            <a:graphicFrameLocks noGrp="1"/>
          </p:cNvGraphicFramePr>
          <p:nvPr>
            <p:extLst>
              <p:ext uri="{D42A27DB-BD31-4B8C-83A1-F6EECF244321}">
                <p14:modId xmlns:p14="http://schemas.microsoft.com/office/powerpoint/2010/main" val="3708281163"/>
              </p:ext>
            </p:extLst>
          </p:nvPr>
        </p:nvGraphicFramePr>
        <p:xfrm>
          <a:off x="2349855" y="1022525"/>
          <a:ext cx="9012794" cy="2389061"/>
        </p:xfrm>
        <a:graphic>
          <a:graphicData uri="http://schemas.openxmlformats.org/drawingml/2006/table">
            <a:tbl>
              <a:tblPr firstRow="1" firstCol="1" bandRow="1"/>
              <a:tblGrid>
                <a:gridCol w="1363960">
                  <a:extLst>
                    <a:ext uri="{9D8B030D-6E8A-4147-A177-3AD203B41FA5}">
                      <a16:colId xmlns:a16="http://schemas.microsoft.com/office/drawing/2014/main" val="2785956031"/>
                    </a:ext>
                  </a:extLst>
                </a:gridCol>
                <a:gridCol w="1946617">
                  <a:extLst>
                    <a:ext uri="{9D8B030D-6E8A-4147-A177-3AD203B41FA5}">
                      <a16:colId xmlns:a16="http://schemas.microsoft.com/office/drawing/2014/main" val="1033099074"/>
                    </a:ext>
                  </a:extLst>
                </a:gridCol>
                <a:gridCol w="1403098">
                  <a:extLst>
                    <a:ext uri="{9D8B030D-6E8A-4147-A177-3AD203B41FA5}">
                      <a16:colId xmlns:a16="http://schemas.microsoft.com/office/drawing/2014/main" val="1980848825"/>
                    </a:ext>
                  </a:extLst>
                </a:gridCol>
                <a:gridCol w="1249960">
                  <a:extLst>
                    <a:ext uri="{9D8B030D-6E8A-4147-A177-3AD203B41FA5}">
                      <a16:colId xmlns:a16="http://schemas.microsoft.com/office/drawing/2014/main" val="176937328"/>
                    </a:ext>
                  </a:extLst>
                </a:gridCol>
                <a:gridCol w="1837189">
                  <a:extLst>
                    <a:ext uri="{9D8B030D-6E8A-4147-A177-3AD203B41FA5}">
                      <a16:colId xmlns:a16="http://schemas.microsoft.com/office/drawing/2014/main" val="1870332436"/>
                    </a:ext>
                  </a:extLst>
                </a:gridCol>
                <a:gridCol w="1211970">
                  <a:extLst>
                    <a:ext uri="{9D8B030D-6E8A-4147-A177-3AD203B41FA5}">
                      <a16:colId xmlns:a16="http://schemas.microsoft.com/office/drawing/2014/main" val="617388905"/>
                    </a:ext>
                  </a:extLst>
                </a:gridCol>
              </a:tblGrid>
              <a:tr h="430365">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proyectada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aplicada</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6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Motivo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1785748822"/>
                  </a:ext>
                </a:extLst>
              </a:tr>
              <a:tr h="564854">
                <a:tc>
                  <a:txBody>
                    <a:bodyPr/>
                    <a:lstStyle/>
                    <a:p>
                      <a:pPr algn="l"/>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l"/>
                      <a:r>
                        <a:rPr lang="es-E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Allison Castro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400" dirty="0">
                          <a:effectLst/>
                          <a:latin typeface="Calibri" panose="020F0502020204030204" pitchFamily="34" charset="0"/>
                          <a:ea typeface="Calibri" panose="020F0502020204030204" pitchFamily="34" charset="0"/>
                          <a:cs typeface="Times New Roman" panose="02020603050405020304" pitchFamily="18" charset="0"/>
                        </a:rPr>
                        <a:t>91</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400" dirty="0">
                          <a:effectLst/>
                          <a:latin typeface="Calibri" panose="020F0502020204030204" pitchFamily="34" charset="0"/>
                          <a:ea typeface="Calibri" panose="020F0502020204030204" pitchFamily="34" charset="0"/>
                          <a:cs typeface="Times New Roman" panose="02020603050405020304" pitchFamily="18" charset="0"/>
                        </a:rPr>
                        <a:t>6</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l"/>
                      <a:r>
                        <a:rPr lang="es-ES" sz="1400" b="0" dirty="0">
                          <a:effectLst/>
                          <a:latin typeface="Calibri" panose="020F0502020204030204" pitchFamily="34" charset="0"/>
                          <a:ea typeface="Calibri" panose="020F0502020204030204" pitchFamily="34" charset="0"/>
                          <a:cs typeface="Times New Roman" panose="02020603050405020304" pitchFamily="18" charset="0"/>
                        </a:rPr>
                        <a:t>proyectos observados/ coordinación pendiente con áreas.</a:t>
                      </a:r>
                      <a:endParaRPr lang="es-PE" sz="1400" b="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67962714"/>
                  </a:ext>
                </a:extLst>
              </a:tr>
              <a:tr h="564854">
                <a:tc>
                  <a:txBody>
                    <a:bodyPr/>
                    <a:lstStyle/>
                    <a:p>
                      <a:pPr algn="l"/>
                      <a:r>
                        <a:rPr lang="es-ES" sz="1600" b="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7U7102</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l"/>
                      <a:r>
                        <a:rPr lang="es-E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Teresita Quezada</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algn="ctr"/>
                      <a:r>
                        <a:rPr lang="es-ES" sz="1400" dirty="0">
                          <a:effectLst/>
                          <a:latin typeface="Calibri" panose="020F0502020204030204" pitchFamily="34" charset="0"/>
                          <a:ea typeface="Calibri" panose="020F0502020204030204" pitchFamily="34" charset="0"/>
                          <a:cs typeface="Times New Roman" panose="02020603050405020304" pitchFamily="18" charset="0"/>
                        </a:rPr>
                        <a:t>71</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algn="ctr"/>
                      <a:r>
                        <a:rPr lang="es-ES" sz="1400" dirty="0">
                          <a:effectLst/>
                          <a:latin typeface="Calibri" panose="020F0502020204030204" pitchFamily="34" charset="0"/>
                          <a:ea typeface="Calibri" panose="020F0502020204030204" pitchFamily="34" charset="0"/>
                          <a:cs typeface="Times New Roman" panose="02020603050405020304" pitchFamily="18" charset="0"/>
                        </a:rPr>
                        <a:t>8</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algn="l"/>
                      <a:r>
                        <a:rPr lang="es-ES" sz="1400" b="0" dirty="0">
                          <a:effectLst/>
                          <a:latin typeface="Calibri" panose="020F0502020204030204" pitchFamily="34" charset="0"/>
                          <a:ea typeface="Calibri" panose="020F0502020204030204" pitchFamily="34" charset="0"/>
                          <a:cs typeface="Times New Roman" panose="02020603050405020304" pitchFamily="18" charset="0"/>
                        </a:rPr>
                        <a:t>proyectos observados/ coordinación pendiente con áreas.</a:t>
                      </a:r>
                      <a:endParaRPr lang="es-PE" sz="1400" b="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400" b="0" kern="1200" dirty="0">
                          <a:solidFill>
                            <a:schemeClr val="tx1"/>
                          </a:solidFill>
                          <a:effectLst/>
                          <a:latin typeface="Calibri" panose="020F0502020204030204" pitchFamily="34" charset="0"/>
                          <a:ea typeface="+mn-ea"/>
                          <a:cs typeface="Times New Roman" panose="02020603050405020304" pitchFamily="18" charset="0"/>
                        </a:rPr>
                        <a:t>-</a:t>
                      </a:r>
                      <a:endParaRPr lang="es-PE" sz="1400" b="0" kern="1200" dirty="0">
                        <a:solidFill>
                          <a:schemeClr val="tx1"/>
                        </a:solidFill>
                        <a:effectLst/>
                        <a:latin typeface="Calibri" panose="020F0502020204030204" pitchFamily="34" charset="0"/>
                        <a:ea typeface="+mn-ea"/>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extLst>
                  <a:ext uri="{0D108BD9-81ED-4DB2-BD59-A6C34878D82A}">
                    <a16:rowId xmlns:a16="http://schemas.microsoft.com/office/drawing/2014/main" val="839718254"/>
                  </a:ext>
                </a:extLst>
              </a:tr>
              <a:tr h="621221">
                <a:tc>
                  <a:txBody>
                    <a:bodyPr/>
                    <a:lstStyle/>
                    <a:p>
                      <a:pPr algn="l"/>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7U7103</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l"/>
                      <a:r>
                        <a:rPr lang="es-E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Angelita Santillan</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400" kern="1200" dirty="0">
                          <a:solidFill>
                            <a:schemeClr val="tx1"/>
                          </a:solidFill>
                          <a:effectLst/>
                          <a:latin typeface="+mn-lt"/>
                          <a:ea typeface="+mn-ea"/>
                          <a:cs typeface="+mn-cs"/>
                        </a:rPr>
                        <a:t>84</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400" dirty="0">
                          <a:effectLst/>
                          <a:latin typeface="Calibri" panose="020F0502020204030204" pitchFamily="34" charset="0"/>
                          <a:ea typeface="Calibri" panose="020F0502020204030204" pitchFamily="34" charset="0"/>
                          <a:cs typeface="Times New Roman" panose="02020603050405020304" pitchFamily="18" charset="0"/>
                        </a:rPr>
                        <a:t>0</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l"/>
                      <a:endParaRPr lang="es-PE" sz="1200" kern="1200" dirty="0">
                        <a:solidFill>
                          <a:schemeClr val="tx1"/>
                        </a:solidFill>
                        <a:effectLst/>
                        <a:highlight>
                          <a:srgbClr val="FFFF00"/>
                        </a:highlight>
                        <a:latin typeface="+mn-lt"/>
                        <a:ea typeface="+mn-ea"/>
                        <a:cs typeface="+mn-cs"/>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PE" sz="1400" kern="1200" dirty="0">
                          <a:solidFill>
                            <a:schemeClr val="tx1"/>
                          </a:solidFill>
                          <a:effectLst/>
                          <a:latin typeface="+mn-lt"/>
                          <a:ea typeface="+mn-ea"/>
                          <a:cs typeface="+mn-cs"/>
                        </a:rPr>
                        <a:t>-</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981451865"/>
                  </a:ext>
                </a:extLst>
              </a:tr>
            </a:tbl>
          </a:graphicData>
        </a:graphic>
      </p:graphicFrame>
      <p:graphicFrame>
        <p:nvGraphicFramePr>
          <p:cNvPr id="3" name="Tabla 2">
            <a:extLst>
              <a:ext uri="{FF2B5EF4-FFF2-40B4-BE49-F238E27FC236}">
                <a16:creationId xmlns:a16="http://schemas.microsoft.com/office/drawing/2014/main" id="{DF7A7C28-D61E-7992-8D2D-1107C72400A6}"/>
              </a:ext>
            </a:extLst>
          </p:cNvPr>
          <p:cNvGraphicFramePr>
            <a:graphicFrameLocks noGrp="1"/>
          </p:cNvGraphicFramePr>
          <p:nvPr>
            <p:extLst>
              <p:ext uri="{D42A27DB-BD31-4B8C-83A1-F6EECF244321}">
                <p14:modId xmlns:p14="http://schemas.microsoft.com/office/powerpoint/2010/main" val="1816011439"/>
              </p:ext>
            </p:extLst>
          </p:nvPr>
        </p:nvGraphicFramePr>
        <p:xfrm>
          <a:off x="2345422" y="3470312"/>
          <a:ext cx="9017226" cy="1953255"/>
        </p:xfrm>
        <a:graphic>
          <a:graphicData uri="http://schemas.openxmlformats.org/drawingml/2006/table">
            <a:tbl>
              <a:tblPr firstRow="1" firstCol="1" bandRow="1"/>
              <a:tblGrid>
                <a:gridCol w="1372640">
                  <a:extLst>
                    <a:ext uri="{9D8B030D-6E8A-4147-A177-3AD203B41FA5}">
                      <a16:colId xmlns:a16="http://schemas.microsoft.com/office/drawing/2014/main" val="3257801786"/>
                    </a:ext>
                  </a:extLst>
                </a:gridCol>
                <a:gridCol w="1978063">
                  <a:extLst>
                    <a:ext uri="{9D8B030D-6E8A-4147-A177-3AD203B41FA5}">
                      <a16:colId xmlns:a16="http://schemas.microsoft.com/office/drawing/2014/main" val="1776142972"/>
                    </a:ext>
                  </a:extLst>
                </a:gridCol>
                <a:gridCol w="1350627">
                  <a:extLst>
                    <a:ext uri="{9D8B030D-6E8A-4147-A177-3AD203B41FA5}">
                      <a16:colId xmlns:a16="http://schemas.microsoft.com/office/drawing/2014/main" val="153233266"/>
                    </a:ext>
                  </a:extLst>
                </a:gridCol>
                <a:gridCol w="1291905">
                  <a:extLst>
                    <a:ext uri="{9D8B030D-6E8A-4147-A177-3AD203B41FA5}">
                      <a16:colId xmlns:a16="http://schemas.microsoft.com/office/drawing/2014/main" val="1566383420"/>
                    </a:ext>
                  </a:extLst>
                </a:gridCol>
                <a:gridCol w="1786855">
                  <a:extLst>
                    <a:ext uri="{9D8B030D-6E8A-4147-A177-3AD203B41FA5}">
                      <a16:colId xmlns:a16="http://schemas.microsoft.com/office/drawing/2014/main" val="2536285859"/>
                    </a:ext>
                  </a:extLst>
                </a:gridCol>
                <a:gridCol w="1237136">
                  <a:extLst>
                    <a:ext uri="{9D8B030D-6E8A-4147-A177-3AD203B41FA5}">
                      <a16:colId xmlns:a16="http://schemas.microsoft.com/office/drawing/2014/main" val="2628142879"/>
                    </a:ext>
                  </a:extLst>
                </a:gridCol>
              </a:tblGrid>
              <a:tr h="509317">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proyectada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aplicada</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6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Motivo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extLst>
                  <a:ext uri="{0D108BD9-81ED-4DB2-BD59-A6C34878D82A}">
                    <a16:rowId xmlns:a16="http://schemas.microsoft.com/office/drawing/2014/main" val="1468347544"/>
                  </a:ext>
                </a:extLst>
              </a:tr>
              <a:tr h="954968">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7U7201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r>
                        <a:rPr lang="es-PE"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Yessenia Salcedo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44</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43</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l"/>
                      <a:r>
                        <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Observado por supervisión</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extLst>
                  <a:ext uri="{0D108BD9-81ED-4DB2-BD59-A6C34878D82A}">
                    <a16:rowId xmlns:a16="http://schemas.microsoft.com/office/drawing/2014/main" val="160037749"/>
                  </a:ext>
                </a:extLst>
              </a:tr>
              <a:tr h="488970">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7U7202</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r>
                        <a:rPr lang="es-ES" sz="1400" kern="1200" dirty="0">
                          <a:solidFill>
                            <a:schemeClr val="tx1"/>
                          </a:solidFill>
                          <a:effectLst/>
                          <a:latin typeface="+mn-lt"/>
                          <a:ea typeface="+mn-ea"/>
                          <a:cs typeface="+mn-cs"/>
                        </a:rPr>
                        <a:t>A</a:t>
                      </a:r>
                      <a:r>
                        <a:rPr lang="es-PE" sz="1400" kern="1200" dirty="0" err="1">
                          <a:solidFill>
                            <a:schemeClr val="tx1"/>
                          </a:solidFill>
                          <a:effectLst/>
                          <a:latin typeface="+mn-lt"/>
                          <a:ea typeface="+mn-ea"/>
                          <a:cs typeface="+mn-cs"/>
                        </a:rPr>
                        <a:t>lberto</a:t>
                      </a:r>
                      <a:r>
                        <a:rPr lang="es-PE" sz="1400" kern="1200" dirty="0">
                          <a:solidFill>
                            <a:schemeClr val="tx1"/>
                          </a:solidFill>
                          <a:effectLst/>
                          <a:latin typeface="+mn-lt"/>
                          <a:ea typeface="+mn-ea"/>
                          <a:cs typeface="+mn-cs"/>
                        </a:rPr>
                        <a:t> Munive</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52</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48</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l"/>
                      <a:r>
                        <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Observado por supervisión</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extLst>
                  <a:ext uri="{0D108BD9-81ED-4DB2-BD59-A6C34878D82A}">
                    <a16:rowId xmlns:a16="http://schemas.microsoft.com/office/drawing/2014/main" val="660552211"/>
                  </a:ext>
                </a:extLst>
              </a:tr>
            </a:tbl>
          </a:graphicData>
        </a:graphic>
      </p:graphicFrame>
      <p:graphicFrame>
        <p:nvGraphicFramePr>
          <p:cNvPr id="4" name="Tabla 3">
            <a:extLst>
              <a:ext uri="{FF2B5EF4-FFF2-40B4-BE49-F238E27FC236}">
                <a16:creationId xmlns:a16="http://schemas.microsoft.com/office/drawing/2014/main" id="{CED00117-3C55-7947-AD48-A563CEB4C5F1}"/>
              </a:ext>
            </a:extLst>
          </p:cNvPr>
          <p:cNvGraphicFramePr>
            <a:graphicFrameLocks noGrp="1"/>
          </p:cNvGraphicFramePr>
          <p:nvPr>
            <p:extLst>
              <p:ext uri="{D42A27DB-BD31-4B8C-83A1-F6EECF244321}">
                <p14:modId xmlns:p14="http://schemas.microsoft.com/office/powerpoint/2010/main" val="2662729117"/>
              </p:ext>
            </p:extLst>
          </p:nvPr>
        </p:nvGraphicFramePr>
        <p:xfrm>
          <a:off x="2345422" y="5538659"/>
          <a:ext cx="9017226" cy="1194372"/>
        </p:xfrm>
        <a:graphic>
          <a:graphicData uri="http://schemas.openxmlformats.org/drawingml/2006/table">
            <a:tbl>
              <a:tblPr firstRow="1" firstCol="1" bandRow="1"/>
              <a:tblGrid>
                <a:gridCol w="1383294">
                  <a:extLst>
                    <a:ext uri="{9D8B030D-6E8A-4147-A177-3AD203B41FA5}">
                      <a16:colId xmlns:a16="http://schemas.microsoft.com/office/drawing/2014/main" val="1791917023"/>
                    </a:ext>
                  </a:extLst>
                </a:gridCol>
                <a:gridCol w="2017743">
                  <a:extLst>
                    <a:ext uri="{9D8B030D-6E8A-4147-A177-3AD203B41FA5}">
                      <a16:colId xmlns:a16="http://schemas.microsoft.com/office/drawing/2014/main" val="778085126"/>
                    </a:ext>
                  </a:extLst>
                </a:gridCol>
                <a:gridCol w="1308682">
                  <a:extLst>
                    <a:ext uri="{9D8B030D-6E8A-4147-A177-3AD203B41FA5}">
                      <a16:colId xmlns:a16="http://schemas.microsoft.com/office/drawing/2014/main" val="3808763990"/>
                    </a:ext>
                  </a:extLst>
                </a:gridCol>
                <a:gridCol w="1266738">
                  <a:extLst>
                    <a:ext uri="{9D8B030D-6E8A-4147-A177-3AD203B41FA5}">
                      <a16:colId xmlns:a16="http://schemas.microsoft.com/office/drawing/2014/main" val="2363829853"/>
                    </a:ext>
                  </a:extLst>
                </a:gridCol>
                <a:gridCol w="1795244">
                  <a:extLst>
                    <a:ext uri="{9D8B030D-6E8A-4147-A177-3AD203B41FA5}">
                      <a16:colId xmlns:a16="http://schemas.microsoft.com/office/drawing/2014/main" val="3174711922"/>
                    </a:ext>
                  </a:extLst>
                </a:gridCol>
                <a:gridCol w="1245525">
                  <a:extLst>
                    <a:ext uri="{9D8B030D-6E8A-4147-A177-3AD203B41FA5}">
                      <a16:colId xmlns:a16="http://schemas.microsoft.com/office/drawing/2014/main" val="2946329490"/>
                    </a:ext>
                  </a:extLst>
                </a:gridCol>
              </a:tblGrid>
              <a:tr h="60466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proyectada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aplicada</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6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Motivo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2803327267"/>
                  </a:ext>
                </a:extLst>
              </a:tr>
              <a:tr h="58970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7U7301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l"/>
                      <a:r>
                        <a:rPr lang="es-PE"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Cynthia Sánchez </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400" kern="1200" dirty="0">
                          <a:solidFill>
                            <a:schemeClr val="tx1"/>
                          </a:solidFill>
                          <a:effectLst/>
                          <a:latin typeface="+mn-lt"/>
                          <a:ea typeface="+mn-ea"/>
                          <a:cs typeface="+mn-cs"/>
                        </a:rPr>
                        <a:t>0</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400" kern="1200" dirty="0">
                          <a:solidFill>
                            <a:schemeClr val="tx1"/>
                          </a:solidFill>
                          <a:effectLst/>
                          <a:latin typeface="+mn-lt"/>
                          <a:ea typeface="+mn-ea"/>
                          <a:cs typeface="+mn-cs"/>
                        </a:rPr>
                        <a:t>0 </a:t>
                      </a:r>
                      <a:endParaRPr lang="es-PE" sz="1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2639818158"/>
                  </a:ext>
                </a:extLst>
              </a:tr>
            </a:tbl>
          </a:graphicData>
        </a:graphic>
      </p:graphicFrame>
    </p:spTree>
    <p:extLst>
      <p:ext uri="{BB962C8B-B14F-4D97-AF65-F5344CB8AC3E}">
        <p14:creationId xmlns:p14="http://schemas.microsoft.com/office/powerpoint/2010/main" val="699909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PRODUCCIÓN POR RESOLUTOR-DCCI</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506BF35C-A620-14C5-709B-343B3BA7CF6A}"/>
              </a:ext>
            </a:extLst>
          </p:cNvPr>
          <p:cNvGraphicFramePr>
            <a:graphicFrameLocks noGrp="1"/>
          </p:cNvGraphicFramePr>
          <p:nvPr>
            <p:extLst>
              <p:ext uri="{D42A27DB-BD31-4B8C-83A1-F6EECF244321}">
                <p14:modId xmlns:p14="http://schemas.microsoft.com/office/powerpoint/2010/main" val="1738404765"/>
              </p:ext>
            </p:extLst>
          </p:nvPr>
        </p:nvGraphicFramePr>
        <p:xfrm>
          <a:off x="1157969" y="1181294"/>
          <a:ext cx="8226890" cy="4817265"/>
        </p:xfrm>
        <a:graphic>
          <a:graphicData uri="http://schemas.openxmlformats.org/drawingml/2006/table">
            <a:tbl>
              <a:tblPr firstRow="1" firstCol="1" bandRow="1"/>
              <a:tblGrid>
                <a:gridCol w="1401112">
                  <a:extLst>
                    <a:ext uri="{9D8B030D-6E8A-4147-A177-3AD203B41FA5}">
                      <a16:colId xmlns:a16="http://schemas.microsoft.com/office/drawing/2014/main" val="2775420412"/>
                    </a:ext>
                  </a:extLst>
                </a:gridCol>
                <a:gridCol w="1493959">
                  <a:extLst>
                    <a:ext uri="{9D8B030D-6E8A-4147-A177-3AD203B41FA5}">
                      <a16:colId xmlns:a16="http://schemas.microsoft.com/office/drawing/2014/main" val="1302868493"/>
                    </a:ext>
                  </a:extLst>
                </a:gridCol>
                <a:gridCol w="1193749">
                  <a:extLst>
                    <a:ext uri="{9D8B030D-6E8A-4147-A177-3AD203B41FA5}">
                      <a16:colId xmlns:a16="http://schemas.microsoft.com/office/drawing/2014/main" val="2619335631"/>
                    </a:ext>
                  </a:extLst>
                </a:gridCol>
                <a:gridCol w="2253856">
                  <a:extLst>
                    <a:ext uri="{9D8B030D-6E8A-4147-A177-3AD203B41FA5}">
                      <a16:colId xmlns:a16="http://schemas.microsoft.com/office/drawing/2014/main" val="3518194475"/>
                    </a:ext>
                  </a:extLst>
                </a:gridCol>
                <a:gridCol w="942107">
                  <a:extLst>
                    <a:ext uri="{9D8B030D-6E8A-4147-A177-3AD203B41FA5}">
                      <a16:colId xmlns:a16="http://schemas.microsoft.com/office/drawing/2014/main" val="2121101367"/>
                    </a:ext>
                  </a:extLst>
                </a:gridCol>
                <a:gridCol w="942107">
                  <a:extLst>
                    <a:ext uri="{9D8B030D-6E8A-4147-A177-3AD203B41FA5}">
                      <a16:colId xmlns:a16="http://schemas.microsoft.com/office/drawing/2014/main" val="2184007081"/>
                    </a:ext>
                  </a:extLst>
                </a:gridCol>
              </a:tblGrid>
              <a:tr h="667188">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UUOO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SUPERVISIONES</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REGISTRO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FUNCIONARIO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CARGO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PRODUCCIÓN PROMEDIO MENSUAL</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991739676"/>
                  </a:ext>
                </a:extLst>
              </a:tr>
              <a:tr h="208075">
                <a:tc rowSpan="24">
                  <a:txBody>
                    <a:bodyPr/>
                    <a:lstStyle/>
                    <a:p>
                      <a:pPr algn="ctr"/>
                      <a:r>
                        <a:rPr lang="es-PE" sz="1100" b="1" dirty="0">
                          <a:solidFill>
                            <a:srgbClr val="000000"/>
                          </a:solidFill>
                          <a:effectLst/>
                          <a:latin typeface="+mn-lt"/>
                          <a:ea typeface="Times New Roman" panose="02020603050405020304" pitchFamily="18" charset="0"/>
                          <a:cs typeface="Times New Roman" panose="02020603050405020304" pitchFamily="18" charset="0"/>
                        </a:rPr>
                        <a:t>7U7100 DIVISION DE CONTROL CONCURRENTE I</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ES" sz="1100" b="1" dirty="0">
                          <a:solidFill>
                            <a:srgbClr val="000000"/>
                          </a:solidFill>
                          <a:effectLst/>
                          <a:latin typeface="+mn-lt"/>
                          <a:ea typeface="Calibri" panose="020F0502020204030204" pitchFamily="34" charset="0"/>
                          <a:cs typeface="Times New Roman" panose="02020603050405020304" pitchFamily="18" charset="0"/>
                        </a:rPr>
                        <a:t>7</a:t>
                      </a:r>
                      <a:r>
                        <a:rPr lang="es-PE" sz="1100" b="1" dirty="0">
                          <a:solidFill>
                            <a:srgbClr val="000000"/>
                          </a:solidFill>
                          <a:effectLst/>
                          <a:latin typeface="+mn-lt"/>
                          <a:ea typeface="Calibri" panose="020F0502020204030204" pitchFamily="34" charset="0"/>
                          <a:cs typeface="Times New Roman" panose="02020603050405020304" pitchFamily="18" charset="0"/>
                        </a:rPr>
                        <a:t>649</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ES" sz="1100" b="1" dirty="0">
                          <a:solidFill>
                            <a:srgbClr val="000000"/>
                          </a:solidFill>
                          <a:effectLst/>
                          <a:latin typeface="+mn-lt"/>
                          <a:ea typeface="Calibri" panose="020F0502020204030204" pitchFamily="34" charset="0"/>
                          <a:cs typeface="Times New Roman" panose="02020603050405020304" pitchFamily="18" charset="0"/>
                        </a:rPr>
                        <a:t>A</a:t>
                      </a:r>
                      <a:r>
                        <a:rPr lang="es-PE" sz="1100" b="1" dirty="0" err="1">
                          <a:solidFill>
                            <a:srgbClr val="000000"/>
                          </a:solidFill>
                          <a:effectLst/>
                          <a:latin typeface="+mn-lt"/>
                          <a:ea typeface="Calibri" panose="020F0502020204030204" pitchFamily="34" charset="0"/>
                          <a:cs typeface="Times New Roman" panose="02020603050405020304" pitchFamily="18" charset="0"/>
                        </a:rPr>
                        <a:t>llison</a:t>
                      </a:r>
                      <a:r>
                        <a:rPr lang="es-PE" sz="1100" b="1" dirty="0">
                          <a:solidFill>
                            <a:srgbClr val="000000"/>
                          </a:solidFill>
                          <a:effectLst/>
                          <a:latin typeface="+mn-lt"/>
                          <a:ea typeface="Calibri" panose="020F0502020204030204" pitchFamily="34" charset="0"/>
                          <a:cs typeface="Times New Roman" panose="02020603050405020304" pitchFamily="18" charset="0"/>
                        </a:rPr>
                        <a:t> Castro Lagos</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Supervisor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ES" sz="1100" dirty="0">
                          <a:effectLst/>
                          <a:latin typeface="+mn-lt"/>
                          <a:ea typeface="Calibri" panose="020F0502020204030204" pitchFamily="34" charset="0"/>
                          <a:cs typeface="Times New Roman" panose="02020603050405020304" pitchFamily="18" charset="0"/>
                        </a:rPr>
                        <a:t>91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extLst>
                  <a:ext uri="{0D108BD9-81ED-4DB2-BD59-A6C34878D82A}">
                    <a16:rowId xmlns:a16="http://schemas.microsoft.com/office/drawing/2014/main" val="48333111"/>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dirty="0">
                          <a:solidFill>
                            <a:srgbClr val="000000"/>
                          </a:solidFill>
                          <a:effectLst/>
                          <a:latin typeface="+mn-lt"/>
                          <a:ea typeface="Times New Roman" panose="02020603050405020304" pitchFamily="18" charset="0"/>
                          <a:cs typeface="Times New Roman" panose="02020603050405020304" pitchFamily="18" charset="0"/>
                        </a:rPr>
                        <a:t>2900</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Carolina Cavero Carrion</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15828024"/>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4469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Maria Hurtado Custodio</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9</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302405233"/>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5534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Celso Sanchez Garrido</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702427210"/>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3284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Ana Diaz Jurado</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839885504"/>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3085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Edgar Cosio Jara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9</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623908171"/>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8351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Debra Araoz Laines</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327649333"/>
                  </a:ext>
                </a:extLst>
              </a:tr>
              <a:tr h="253922">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5565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Victoria Santa Cruz Martinez</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856526119"/>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4644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Cesar Linares Alcantara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effectLst/>
                          <a:latin typeface="+mn-lt"/>
                          <a:ea typeface="Calibri" panose="020F0502020204030204" pitchFamily="34" charset="0"/>
                          <a:cs typeface="Times New Roman" panose="02020603050405020304" pitchFamily="18" charset="0"/>
                        </a:rPr>
                        <a:t>10</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1587912357"/>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ES" sz="1100" b="1" dirty="0">
                          <a:solidFill>
                            <a:srgbClr val="000000"/>
                          </a:solidFill>
                          <a:effectLst/>
                          <a:latin typeface="+mn-lt"/>
                          <a:ea typeface="Calibri" panose="020F0502020204030204" pitchFamily="34" charset="0"/>
                          <a:cs typeface="Times New Roman" panose="02020603050405020304" pitchFamily="18" charset="0"/>
                        </a:rPr>
                        <a:t>7625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dirty="0">
                          <a:solidFill>
                            <a:srgbClr val="000000"/>
                          </a:solidFill>
                          <a:effectLst/>
                          <a:latin typeface="+mn-lt"/>
                          <a:ea typeface="Times New Roman" panose="02020603050405020304" pitchFamily="18" charset="0"/>
                          <a:cs typeface="Times New Roman" panose="02020603050405020304" pitchFamily="18" charset="0"/>
                        </a:rPr>
                        <a:t>Teresita Quezada Villar</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Supervisor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dirty="0">
                          <a:solidFill>
                            <a:srgbClr val="000000"/>
                          </a:solidFill>
                          <a:effectLst/>
                          <a:latin typeface="+mn-lt"/>
                          <a:ea typeface="Times New Roman" panose="02020603050405020304" pitchFamily="18" charset="0"/>
                          <a:cs typeface="Times New Roman" panose="02020603050405020304" pitchFamily="18" charset="0"/>
                        </a:rPr>
                        <a:t> 71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extLst>
                  <a:ext uri="{0D108BD9-81ED-4DB2-BD59-A6C34878D82A}">
                    <a16:rowId xmlns:a16="http://schemas.microsoft.com/office/drawing/2014/main" val="2807075679"/>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2968</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Maria Chire Tunque</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622672239"/>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4949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Javier Oyarse Cruz</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64470116"/>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4504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Hugo Jimenez Suclla </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8</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357379770"/>
                  </a:ext>
                </a:extLst>
              </a:tr>
              <a:tr h="166797">
                <a:tc vMerge="1">
                  <a:txBody>
                    <a:bodyPr/>
                    <a:lstStyle/>
                    <a:p>
                      <a:endParaRPr lang="es-PE"/>
                    </a:p>
                  </a:txBody>
                  <a:tcPr/>
                </a:tc>
                <a:tc>
                  <a:txBody>
                    <a:bodyPr/>
                    <a:lstStyle/>
                    <a:p>
                      <a:pPr algn="ctr"/>
                      <a:r>
                        <a:rPr lang="es-PE" sz="1100" b="1" dirty="0">
                          <a:solidFill>
                            <a:srgbClr val="000000"/>
                          </a:solidFill>
                          <a:effectLst/>
                          <a:latin typeface="+mn-lt"/>
                          <a:ea typeface="Times New Roman" panose="02020603050405020304" pitchFamily="18" charset="0"/>
                          <a:cs typeface="Times New Roman" panose="02020603050405020304" pitchFamily="18" charset="0"/>
                        </a:rPr>
                        <a:t>7U7102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8319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Carla </a:t>
                      </a:r>
                      <a:r>
                        <a:rPr lang="es-PE" sz="1100" dirty="0" err="1">
                          <a:solidFill>
                            <a:srgbClr val="000000"/>
                          </a:solidFill>
                          <a:effectLst/>
                          <a:latin typeface="+mn-lt"/>
                          <a:ea typeface="Times New Roman" panose="02020603050405020304" pitchFamily="18" charset="0"/>
                          <a:cs typeface="Times New Roman" panose="02020603050405020304" pitchFamily="18" charset="0"/>
                        </a:rPr>
                        <a:t>Vilcapaza</a:t>
                      </a:r>
                      <a:r>
                        <a:rPr lang="es-PE" sz="1100" dirty="0">
                          <a:solidFill>
                            <a:srgbClr val="000000"/>
                          </a:solidFill>
                          <a:effectLst/>
                          <a:latin typeface="+mn-lt"/>
                          <a:ea typeface="Times New Roman" panose="02020603050405020304" pitchFamily="18" charset="0"/>
                          <a:cs typeface="Times New Roman" panose="02020603050405020304" pitchFamily="18" charset="0"/>
                        </a:rPr>
                        <a:t> Amaro</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2331214071"/>
                  </a:ext>
                </a:extLst>
              </a:tr>
              <a:tr h="166797">
                <a:tc vMerge="1">
                  <a:txBody>
                    <a:bodyPr/>
                    <a:lstStyle/>
                    <a:p>
                      <a:endParaRPr lang="es-PE"/>
                    </a:p>
                  </a:txBody>
                  <a:tcPr/>
                </a:tc>
                <a:tc>
                  <a:txBody>
                    <a:bodyPr/>
                    <a:lstStyle/>
                    <a:p>
                      <a:pPr algn="ctr"/>
                      <a:r>
                        <a:rPr lang="es-PE" sz="1100" b="1" dirty="0">
                          <a:solidFill>
                            <a:srgbClr val="000000"/>
                          </a:solidFill>
                          <a:effectLst/>
                          <a:latin typeface="+mn-lt"/>
                          <a:ea typeface="Times New Roman" panose="02020603050405020304" pitchFamily="18" charset="0"/>
                          <a:cs typeface="Times New Roman" panose="02020603050405020304" pitchFamily="18" charset="0"/>
                        </a:rPr>
                        <a:t>7U7102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dirty="0">
                          <a:solidFill>
                            <a:srgbClr val="000000"/>
                          </a:solidFill>
                          <a:effectLst/>
                          <a:latin typeface="+mn-lt"/>
                          <a:ea typeface="Times New Roman" panose="02020603050405020304" pitchFamily="18" charset="0"/>
                          <a:cs typeface="Times New Roman" panose="02020603050405020304" pitchFamily="18" charset="0"/>
                        </a:rPr>
                        <a:t>3977</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William Godoy Escalante</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17</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402332093"/>
                  </a:ext>
                </a:extLst>
              </a:tr>
              <a:tr h="166797">
                <a:tc vMerge="1">
                  <a:txBody>
                    <a:bodyPr/>
                    <a:lstStyle/>
                    <a:p>
                      <a:endParaRPr lang="es-PE"/>
                    </a:p>
                  </a:txBody>
                  <a:tcPr>
                    <a:lnT w="12700" cap="flat" cmpd="sng" algn="ctr">
                      <a:solidFill>
                        <a:srgbClr val="BDD6EE"/>
                      </a:solidFill>
                      <a:prstDash val="solid"/>
                      <a:round/>
                      <a:headEnd type="none" w="med" len="med"/>
                      <a:tailEnd type="none" w="med" len="med"/>
                    </a:lnT>
                  </a:tcPr>
                </a:tc>
                <a:tc>
                  <a:txBody>
                    <a:bodyPr/>
                    <a:lstStyle/>
                    <a:p>
                      <a:pPr algn="ctr"/>
                      <a:r>
                        <a:rPr lang="es-PE" sz="1100" b="1" dirty="0">
                          <a:solidFill>
                            <a:srgbClr val="000000"/>
                          </a:solidFill>
                          <a:effectLst/>
                          <a:latin typeface="+mn-lt"/>
                          <a:ea typeface="Times New Roman" panose="02020603050405020304" pitchFamily="18" charset="0"/>
                          <a:cs typeface="Times New Roman" panose="02020603050405020304" pitchFamily="18" charset="0"/>
                        </a:rPr>
                        <a:t>7U7102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7324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Zaira Carbajal Jara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6</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2290309015"/>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5569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Gladys Santillan Valdivia</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Supervisor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dirty="0">
                          <a:solidFill>
                            <a:srgbClr val="000000"/>
                          </a:solidFill>
                          <a:effectLst/>
                          <a:latin typeface="+mn-lt"/>
                          <a:ea typeface="Times New Roman" panose="02020603050405020304" pitchFamily="18" charset="0"/>
                          <a:cs typeface="Times New Roman" panose="02020603050405020304" pitchFamily="18" charset="0"/>
                        </a:rPr>
                        <a:t> 84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extLst>
                  <a:ext uri="{0D108BD9-81ED-4DB2-BD59-A6C34878D82A}">
                    <a16:rowId xmlns:a16="http://schemas.microsoft.com/office/drawing/2014/main" val="2865749343"/>
                  </a:ext>
                </a:extLst>
              </a:tr>
              <a:tr h="166797">
                <a:tc vMerge="1">
                  <a:txBody>
                    <a:bodyPr/>
                    <a:lstStyle/>
                    <a:p>
                      <a:endParaRPr lang="es-PE"/>
                    </a:p>
                  </a:txBody>
                  <a:tcPr>
                    <a:lnT w="12700" cap="flat" cmpd="sng" algn="ctr">
                      <a:solidFill>
                        <a:srgbClr val="BDD6EE"/>
                      </a:solidFill>
                      <a:prstDash val="solid"/>
                      <a:round/>
                      <a:headEnd type="none" w="med" len="med"/>
                      <a:tailEnd type="none" w="med" len="med"/>
                    </a:lnT>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7330</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Tania Rosales Ochoa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973642436"/>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4770</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Maritza Mollinedo Catunta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9</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4094291206"/>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2858</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Julio Castañeda Calderon</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11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060839985"/>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7611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err="1">
                          <a:solidFill>
                            <a:srgbClr val="000000"/>
                          </a:solidFill>
                          <a:effectLst/>
                          <a:latin typeface="+mn-lt"/>
                          <a:ea typeface="Times New Roman" panose="02020603050405020304" pitchFamily="18" charset="0"/>
                          <a:cs typeface="Times New Roman" panose="02020603050405020304" pitchFamily="18" charset="0"/>
                        </a:rPr>
                        <a:t>Azhir</a:t>
                      </a:r>
                      <a:r>
                        <a:rPr lang="es-PE" sz="1100" dirty="0">
                          <a:solidFill>
                            <a:srgbClr val="000000"/>
                          </a:solidFill>
                          <a:effectLst/>
                          <a:latin typeface="+mn-lt"/>
                          <a:ea typeface="Times New Roman" panose="02020603050405020304" pitchFamily="18" charset="0"/>
                          <a:cs typeface="Times New Roman" panose="02020603050405020304" pitchFamily="18" charset="0"/>
                        </a:rPr>
                        <a:t> Sandoval Guevara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effectLst/>
                          <a:latin typeface="+mn-lt"/>
                          <a:ea typeface="Calibri" panose="020F0502020204030204" pitchFamily="34" charset="0"/>
                          <a:cs typeface="Times New Roman" panose="02020603050405020304" pitchFamily="18" charset="0"/>
                        </a:rPr>
                        <a:t>12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4115887700"/>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7661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Luis Cordova Meza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effectLst/>
                          <a:latin typeface="+mn-lt"/>
                          <a:ea typeface="Calibri" panose="020F0502020204030204" pitchFamily="34" charset="0"/>
                          <a:cs typeface="Times New Roman" panose="02020603050405020304" pitchFamily="18" charset="0"/>
                        </a:rPr>
                        <a:t>11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654128652"/>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7674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Andres Angulo Farfan</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effectLst/>
                          <a:latin typeface="+mn-lt"/>
                          <a:ea typeface="Calibri" panose="020F0502020204030204" pitchFamily="34" charset="0"/>
                          <a:cs typeface="Times New Roman" panose="02020603050405020304" pitchFamily="18" charset="0"/>
                        </a:rPr>
                        <a:t>14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333068020"/>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5556</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Jorge </a:t>
                      </a:r>
                      <a:r>
                        <a:rPr lang="es-PE" sz="1100" dirty="0" err="1">
                          <a:solidFill>
                            <a:srgbClr val="000000"/>
                          </a:solidFill>
                          <a:effectLst/>
                          <a:latin typeface="+mn-lt"/>
                          <a:ea typeface="Times New Roman" panose="02020603050405020304" pitchFamily="18" charset="0"/>
                          <a:cs typeface="Times New Roman" panose="02020603050405020304" pitchFamily="18" charset="0"/>
                        </a:rPr>
                        <a:t>Sanchez</a:t>
                      </a:r>
                      <a:r>
                        <a:rPr lang="es-PE" sz="1100" dirty="0">
                          <a:solidFill>
                            <a:srgbClr val="000000"/>
                          </a:solidFill>
                          <a:effectLst/>
                          <a:latin typeface="+mn-lt"/>
                          <a:ea typeface="Times New Roman" panose="02020603050405020304" pitchFamily="18" charset="0"/>
                          <a:cs typeface="Times New Roman" panose="02020603050405020304" pitchFamily="18" charset="0"/>
                        </a:rPr>
                        <a:t> Torres</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effectLst/>
                          <a:latin typeface="+mn-lt"/>
                          <a:ea typeface="Calibri" panose="020F0502020204030204" pitchFamily="34" charset="0"/>
                          <a:cs typeface="Times New Roman" panose="02020603050405020304" pitchFamily="18" charset="0"/>
                        </a:rPr>
                        <a:t>15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3290609114"/>
                  </a:ext>
                </a:extLst>
              </a:tr>
            </a:tbl>
          </a:graphicData>
        </a:graphic>
      </p:graphicFrame>
    </p:spTree>
    <p:extLst>
      <p:ext uri="{BB962C8B-B14F-4D97-AF65-F5344CB8AC3E}">
        <p14:creationId xmlns:p14="http://schemas.microsoft.com/office/powerpoint/2010/main" val="2629915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PRODUCCIÓN POR RESOLUTOR-DCCII</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2E864E31-624B-DBA5-F636-0330773E385F}"/>
              </a:ext>
            </a:extLst>
          </p:cNvPr>
          <p:cNvGraphicFramePr>
            <a:graphicFrameLocks noGrp="1"/>
          </p:cNvGraphicFramePr>
          <p:nvPr>
            <p:extLst>
              <p:ext uri="{D42A27DB-BD31-4B8C-83A1-F6EECF244321}">
                <p14:modId xmlns:p14="http://schemas.microsoft.com/office/powerpoint/2010/main" val="1629860427"/>
              </p:ext>
            </p:extLst>
          </p:nvPr>
        </p:nvGraphicFramePr>
        <p:xfrm>
          <a:off x="1201409" y="1383543"/>
          <a:ext cx="9628517" cy="4569576"/>
        </p:xfrm>
        <a:graphic>
          <a:graphicData uri="http://schemas.openxmlformats.org/drawingml/2006/table">
            <a:tbl>
              <a:tblPr/>
              <a:tblGrid>
                <a:gridCol w="1219790">
                  <a:extLst>
                    <a:ext uri="{9D8B030D-6E8A-4147-A177-3AD203B41FA5}">
                      <a16:colId xmlns:a16="http://schemas.microsoft.com/office/drawing/2014/main" val="2857257721"/>
                    </a:ext>
                  </a:extLst>
                </a:gridCol>
                <a:gridCol w="1219790">
                  <a:extLst>
                    <a:ext uri="{9D8B030D-6E8A-4147-A177-3AD203B41FA5}">
                      <a16:colId xmlns:a16="http://schemas.microsoft.com/office/drawing/2014/main" val="4161489616"/>
                    </a:ext>
                  </a:extLst>
                </a:gridCol>
                <a:gridCol w="1774033">
                  <a:extLst>
                    <a:ext uri="{9D8B030D-6E8A-4147-A177-3AD203B41FA5}">
                      <a16:colId xmlns:a16="http://schemas.microsoft.com/office/drawing/2014/main" val="1630339697"/>
                    </a:ext>
                  </a:extLst>
                </a:gridCol>
                <a:gridCol w="2592172">
                  <a:extLst>
                    <a:ext uri="{9D8B030D-6E8A-4147-A177-3AD203B41FA5}">
                      <a16:colId xmlns:a16="http://schemas.microsoft.com/office/drawing/2014/main" val="1004286328"/>
                    </a:ext>
                  </a:extLst>
                </a:gridCol>
                <a:gridCol w="1350635">
                  <a:extLst>
                    <a:ext uri="{9D8B030D-6E8A-4147-A177-3AD203B41FA5}">
                      <a16:colId xmlns:a16="http://schemas.microsoft.com/office/drawing/2014/main" val="3904268956"/>
                    </a:ext>
                  </a:extLst>
                </a:gridCol>
                <a:gridCol w="1472097">
                  <a:extLst>
                    <a:ext uri="{9D8B030D-6E8A-4147-A177-3AD203B41FA5}">
                      <a16:colId xmlns:a16="http://schemas.microsoft.com/office/drawing/2014/main" val="781816914"/>
                    </a:ext>
                  </a:extLst>
                </a:gridCol>
              </a:tblGrid>
              <a:tr h="779895">
                <a:tc>
                  <a:txBody>
                    <a:bodyPr/>
                    <a:lstStyle/>
                    <a:p>
                      <a:pPr algn="ctr"/>
                      <a:r>
                        <a:rPr lang="es-PE" sz="1200" b="1">
                          <a:effectLst/>
                          <a:latin typeface="Calibri" panose="020F0502020204030204" pitchFamily="34" charset="0"/>
                          <a:ea typeface="Calibri" panose="020F0502020204030204" pitchFamily="34" charset="0"/>
                          <a:cs typeface="Times New Roman" panose="02020603050405020304" pitchFamily="18" charset="0"/>
                        </a:rPr>
                        <a:t>UUOO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SUPERVISIONES</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a:effectLst/>
                          <a:latin typeface="Calibri" panose="020F0502020204030204" pitchFamily="34" charset="0"/>
                          <a:ea typeface="Calibri" panose="020F0502020204030204" pitchFamily="34" charset="0"/>
                          <a:cs typeface="Times New Roman" panose="02020603050405020304" pitchFamily="18" charset="0"/>
                        </a:rPr>
                        <a:t>REGISTRO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a:effectLst/>
                          <a:latin typeface="Calibri" panose="020F0502020204030204" pitchFamily="34" charset="0"/>
                          <a:ea typeface="Calibri" panose="020F0502020204030204" pitchFamily="34" charset="0"/>
                          <a:cs typeface="Times New Roman" panose="02020603050405020304" pitchFamily="18" charset="0"/>
                        </a:rPr>
                        <a:t>FUNCIONARIO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CARGO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PRODUCCIÓN PROMEDIO MENSUAL</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150195547"/>
                  </a:ext>
                </a:extLst>
              </a:tr>
              <a:tr h="219609">
                <a:tc rowSpan="13">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7U7200 DIVISION DE CONTROL CONCURRENTE II</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7U7201 </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pPr algn="ctr"/>
                      <a:r>
                        <a:rPr lang="es-PE"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7587</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Yessenia Salcedo Diaz</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 2</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pPr algn="ctr"/>
                      <a:r>
                        <a:rPr lang="es-PE" sz="12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43</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extLst>
                  <a:ext uri="{0D108BD9-81ED-4DB2-BD59-A6C34878D82A}">
                    <a16:rowId xmlns:a16="http://schemas.microsoft.com/office/drawing/2014/main" val="3937105208"/>
                  </a:ext>
                </a:extLst>
              </a:tr>
              <a:tr h="219609">
                <a:tc vMerge="1">
                  <a:txBody>
                    <a:bodyPr/>
                    <a:lstStyle/>
                    <a:p>
                      <a:endParaRPr lang="es-PE"/>
                    </a:p>
                  </a:txBody>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7U7201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a:effectLst/>
                          <a:latin typeface="Calibri" panose="020F0502020204030204" pitchFamily="34" charset="0"/>
                          <a:ea typeface="Calibri" panose="020F0502020204030204" pitchFamily="34" charset="0"/>
                          <a:cs typeface="Times New Roman" panose="02020603050405020304" pitchFamily="18" charset="0"/>
                        </a:rPr>
                        <a:t>7342</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Juan Cuya Velarde </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927316586"/>
                  </a:ext>
                </a:extLst>
              </a:tr>
              <a:tr h="362640">
                <a:tc vMerge="1">
                  <a:txBody>
                    <a:bodyPr/>
                    <a:lstStyle/>
                    <a:p>
                      <a:endParaRPr lang="es-PE"/>
                    </a:p>
                  </a:txBody>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7U7201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a:effectLst/>
                          <a:latin typeface="Calibri" panose="020F0502020204030204" pitchFamily="34" charset="0"/>
                          <a:ea typeface="Calibri" panose="020F0502020204030204" pitchFamily="34" charset="0"/>
                          <a:cs typeface="Times New Roman" panose="02020603050405020304" pitchFamily="18" charset="0"/>
                        </a:rPr>
                        <a:t>4644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Carlos Malaga Portocarrero</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9</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4120784360"/>
                  </a:ext>
                </a:extLst>
              </a:tr>
              <a:tr h="219609">
                <a:tc vMerge="1">
                  <a:txBody>
                    <a:bodyPr/>
                    <a:lstStyle/>
                    <a:p>
                      <a:endParaRPr lang="es-PE"/>
                    </a:p>
                  </a:txBody>
                  <a:tcPr>
                    <a:lnT w="19050" cap="flat" cmpd="sng" algn="ctr">
                      <a:solidFill>
                        <a:srgbClr val="FF66FF"/>
                      </a:solidFill>
                      <a:prstDash val="solid"/>
                      <a:round/>
                      <a:headEnd type="none" w="med" len="med"/>
                      <a:tailEnd type="none" w="med" len="med"/>
                    </a:lnT>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7U7201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AO21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err="1">
                          <a:effectLst/>
                          <a:latin typeface="Calibri" panose="020F0502020204030204" pitchFamily="34" charset="0"/>
                          <a:ea typeface="Calibri" panose="020F0502020204030204" pitchFamily="34" charset="0"/>
                          <a:cs typeface="Times New Roman" panose="02020603050405020304" pitchFamily="18" charset="0"/>
                        </a:rPr>
                        <a:t>Renierd</a:t>
                      </a:r>
                      <a:r>
                        <a:rPr lang="es-PE" sz="1200" dirty="0">
                          <a:effectLst/>
                          <a:latin typeface="Calibri" panose="020F0502020204030204" pitchFamily="34" charset="0"/>
                          <a:ea typeface="Calibri" panose="020F0502020204030204" pitchFamily="34" charset="0"/>
                          <a:cs typeface="Times New Roman" panose="02020603050405020304" pitchFamily="18" charset="0"/>
                        </a:rPr>
                        <a:t> Ríos Gómez</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CAS</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261432791"/>
                  </a:ext>
                </a:extLst>
              </a:tr>
              <a:tr h="362640">
                <a:tc vMerge="1">
                  <a:txBody>
                    <a:bodyPr/>
                    <a:lstStyle/>
                    <a:p>
                      <a:endParaRPr lang="es-PE"/>
                    </a:p>
                  </a:txBody>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7U7201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7211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Roberto Rivarola Hidalgo</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a:effectLst/>
                          <a:latin typeface="Calibri" panose="020F0502020204030204" pitchFamily="34" charset="0"/>
                          <a:ea typeface="Calibri" panose="020F0502020204030204" pitchFamily="34" charset="0"/>
                          <a:cs typeface="Times New Roman" panose="02020603050405020304" pitchFamily="18" charset="0"/>
                        </a:rPr>
                        <a:t>Especialista 2</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9</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525078045"/>
                  </a:ext>
                </a:extLst>
              </a:tr>
              <a:tr h="219609">
                <a:tc vMerge="1">
                  <a:txBody>
                    <a:bodyPr/>
                    <a:lstStyle/>
                    <a:p>
                      <a:endParaRPr lang="es-PE"/>
                    </a:p>
                  </a:txBody>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7U7201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7624</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a:effectLst/>
                          <a:latin typeface="Calibri" panose="020F0502020204030204" pitchFamily="34" charset="0"/>
                          <a:ea typeface="Calibri" panose="020F0502020204030204" pitchFamily="34" charset="0"/>
                          <a:cs typeface="Times New Roman" panose="02020603050405020304" pitchFamily="18" charset="0"/>
                        </a:rPr>
                        <a:t>Poul Valdivia Charca</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a:effectLst/>
                          <a:latin typeface="Calibri" panose="020F0502020204030204" pitchFamily="34" charset="0"/>
                          <a:ea typeface="Calibri" panose="020F0502020204030204" pitchFamily="34" charset="0"/>
                          <a:cs typeface="Times New Roman" panose="02020603050405020304" pitchFamily="18" charset="0"/>
                        </a:rPr>
                        <a:t>Especialista 2</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9</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857867095"/>
                  </a:ext>
                </a:extLst>
              </a:tr>
              <a:tr h="362640">
                <a:tc vMerge="1">
                  <a:txBody>
                    <a:bodyPr/>
                    <a:lstStyle/>
                    <a:p>
                      <a:endParaRPr lang="es-PE"/>
                    </a:p>
                  </a:txBody>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7U7201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5844</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Richard Vela Nuñez </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9</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386600010"/>
                  </a:ext>
                </a:extLst>
              </a:tr>
              <a:tr h="219609">
                <a:tc vMerge="1">
                  <a:txBody>
                    <a:bodyPr/>
                    <a:lstStyle/>
                    <a:p>
                      <a:endParaRPr lang="es-PE"/>
                    </a:p>
                  </a:txBody>
                  <a:tcPr/>
                </a:tc>
                <a:tc>
                  <a:txBody>
                    <a:bodyPr/>
                    <a:lstStyle/>
                    <a:p>
                      <a:pPr algn="ctr"/>
                      <a:r>
                        <a:rPr lang="es-PE" sz="12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7U7202</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pPr algn="ctr"/>
                      <a:r>
                        <a:rPr lang="es-PE"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7575</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2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Alberto Munive</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 2</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pPr algn="ctr"/>
                      <a:r>
                        <a:rPr lang="es-ES" sz="1200" dirty="0">
                          <a:solidFill>
                            <a:schemeClr val="tx1"/>
                          </a:solidFill>
                          <a:effectLst/>
                          <a:latin typeface="Calibri" panose="020F0502020204030204" pitchFamily="34" charset="0"/>
                          <a:cs typeface="Times New Roman" panose="02020603050405020304" pitchFamily="18" charset="0"/>
                        </a:rPr>
                        <a:t>48</a:t>
                      </a:r>
                      <a:endParaRPr lang="es-PE" sz="1200" dirty="0">
                        <a:solidFill>
                          <a:schemeClr val="tx1"/>
                        </a:solidFill>
                        <a:effectLst/>
                        <a:latin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extLst>
                  <a:ext uri="{0D108BD9-81ED-4DB2-BD59-A6C34878D82A}">
                    <a16:rowId xmlns:a16="http://schemas.microsoft.com/office/drawing/2014/main" val="1716248280"/>
                  </a:ext>
                </a:extLst>
              </a:tr>
              <a:tr h="219609">
                <a:tc vMerge="1">
                  <a:txBody>
                    <a:bodyPr/>
                    <a:lstStyle/>
                    <a:p>
                      <a:endParaRPr lang="es-PE"/>
                    </a:p>
                  </a:txBody>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7U7202</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2423</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Cecilia Acosta Salazar</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Especialista 4</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113725865"/>
                  </a:ext>
                </a:extLst>
              </a:tr>
              <a:tr h="362640">
                <a:tc vMerge="1">
                  <a:txBody>
                    <a:bodyPr/>
                    <a:lstStyle/>
                    <a:p>
                      <a:endParaRPr lang="es-PE"/>
                    </a:p>
                  </a:txBody>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7U7202</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7326</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Lydia Arestegui Pereyra</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612536542"/>
                  </a:ext>
                </a:extLst>
              </a:tr>
              <a:tr h="219609">
                <a:tc vMerge="1">
                  <a:txBody>
                    <a:bodyPr/>
                    <a:lstStyle/>
                    <a:p>
                      <a:endParaRPr lang="es-PE"/>
                    </a:p>
                  </a:txBody>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7U7202</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AT75</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Victoria Flores Alvitez</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a:effectLst/>
                          <a:latin typeface="Calibri" panose="020F0502020204030204" pitchFamily="34" charset="0"/>
                          <a:ea typeface="Calibri" panose="020F0502020204030204" pitchFamily="34" charset="0"/>
                          <a:cs typeface="Times New Roman" panose="02020603050405020304" pitchFamily="18" charset="0"/>
                        </a:rPr>
                        <a:t>CAS</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8</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60215262"/>
                  </a:ext>
                </a:extLst>
              </a:tr>
              <a:tr h="362640">
                <a:tc vMerge="1">
                  <a:txBody>
                    <a:bodyPr/>
                    <a:lstStyle/>
                    <a:p>
                      <a:endParaRPr lang="es-PE"/>
                    </a:p>
                  </a:txBody>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7U7202</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7151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Lourdes Pretel Noblecilla</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13</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1613490926"/>
                  </a:ext>
                </a:extLst>
              </a:tr>
              <a:tr h="219609">
                <a:tc vMerge="1">
                  <a:txBody>
                    <a:bodyPr/>
                    <a:lstStyle/>
                    <a:p>
                      <a:endParaRPr lang="es-PE"/>
                    </a:p>
                  </a:txBody>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7U7202</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5749</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Wilder Ulloa Ascencio</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Especialista 5</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4053996281"/>
                  </a:ext>
                </a:extLst>
              </a:tr>
              <a:tr h="219609">
                <a:tc>
                  <a:txBody>
                    <a:bodyPr/>
                    <a:lstStyle/>
                    <a:p>
                      <a:pPr algn="ct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7U7201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4569</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Jose Linarez Amacifuen </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200" dirty="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9</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1039600892"/>
                  </a:ext>
                </a:extLst>
              </a:tr>
            </a:tbl>
          </a:graphicData>
        </a:graphic>
      </p:graphicFrame>
    </p:spTree>
    <p:extLst>
      <p:ext uri="{BB962C8B-B14F-4D97-AF65-F5344CB8AC3E}">
        <p14:creationId xmlns:p14="http://schemas.microsoft.com/office/powerpoint/2010/main" val="10356260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PRODUCCIÓN POR RESOLUTOR-DCP</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EB7C2AC0-86A4-ABEE-06F2-450F63287B6F}"/>
              </a:ext>
            </a:extLst>
          </p:cNvPr>
          <p:cNvGraphicFramePr>
            <a:graphicFrameLocks noGrp="1"/>
          </p:cNvGraphicFramePr>
          <p:nvPr>
            <p:extLst>
              <p:ext uri="{D42A27DB-BD31-4B8C-83A1-F6EECF244321}">
                <p14:modId xmlns:p14="http://schemas.microsoft.com/office/powerpoint/2010/main" val="2264905495"/>
              </p:ext>
            </p:extLst>
          </p:nvPr>
        </p:nvGraphicFramePr>
        <p:xfrm>
          <a:off x="2301715" y="1751700"/>
          <a:ext cx="6911134" cy="4167863"/>
        </p:xfrm>
        <a:graphic>
          <a:graphicData uri="http://schemas.openxmlformats.org/drawingml/2006/table">
            <a:tbl>
              <a:tblPr firstRow="1" firstCol="1" bandRow="1"/>
              <a:tblGrid>
                <a:gridCol w="1185506">
                  <a:extLst>
                    <a:ext uri="{9D8B030D-6E8A-4147-A177-3AD203B41FA5}">
                      <a16:colId xmlns:a16="http://schemas.microsoft.com/office/drawing/2014/main" val="850406056"/>
                    </a:ext>
                  </a:extLst>
                </a:gridCol>
                <a:gridCol w="1075569">
                  <a:extLst>
                    <a:ext uri="{9D8B030D-6E8A-4147-A177-3AD203B41FA5}">
                      <a16:colId xmlns:a16="http://schemas.microsoft.com/office/drawing/2014/main" val="973022981"/>
                    </a:ext>
                  </a:extLst>
                </a:gridCol>
                <a:gridCol w="916110">
                  <a:extLst>
                    <a:ext uri="{9D8B030D-6E8A-4147-A177-3AD203B41FA5}">
                      <a16:colId xmlns:a16="http://schemas.microsoft.com/office/drawing/2014/main" val="2347363923"/>
                    </a:ext>
                  </a:extLst>
                </a:gridCol>
                <a:gridCol w="1802019">
                  <a:extLst>
                    <a:ext uri="{9D8B030D-6E8A-4147-A177-3AD203B41FA5}">
                      <a16:colId xmlns:a16="http://schemas.microsoft.com/office/drawing/2014/main" val="2396742907"/>
                    </a:ext>
                  </a:extLst>
                </a:gridCol>
                <a:gridCol w="1006766">
                  <a:extLst>
                    <a:ext uri="{9D8B030D-6E8A-4147-A177-3AD203B41FA5}">
                      <a16:colId xmlns:a16="http://schemas.microsoft.com/office/drawing/2014/main" val="4024969280"/>
                    </a:ext>
                  </a:extLst>
                </a:gridCol>
                <a:gridCol w="925164">
                  <a:extLst>
                    <a:ext uri="{9D8B030D-6E8A-4147-A177-3AD203B41FA5}">
                      <a16:colId xmlns:a16="http://schemas.microsoft.com/office/drawing/2014/main" val="2141008519"/>
                    </a:ext>
                  </a:extLst>
                </a:gridCol>
              </a:tblGrid>
              <a:tr h="567112">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UUOO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SUPERVISIONES</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REGISTRO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FUNCIONARIO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CARGO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PRODUCCIÓN PROMEDIO MENSUAL</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2539397411"/>
                  </a:ext>
                </a:extLst>
              </a:tr>
              <a:tr h="347695">
                <a:tc rowSpan="8">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7U7300 DIVISION DE CONTROL POSTERIOR</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2834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pPr algn="l"/>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Ellsworth Carpio Charres </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Supervisor 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extLst>
                  <a:ext uri="{0D108BD9-81ED-4DB2-BD59-A6C34878D82A}">
                    <a16:rowId xmlns:a16="http://schemas.microsoft.com/office/drawing/2014/main" val="124970691"/>
                  </a:ext>
                </a:extLst>
              </a:tr>
              <a:tr h="406632">
                <a:tc vMerge="1">
                  <a:txBody>
                    <a:bodyPr/>
                    <a:lstStyle/>
                    <a:p>
                      <a:endParaRPr lang="es-PE"/>
                    </a:p>
                  </a:txBody>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2694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Gustavo Bernuy Nuñez</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5</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4</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367585655"/>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4700</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Carlos Mauro Sampen</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5(*)</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1670296521"/>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7660</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Marco Fournier Castillo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4</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15</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991154502"/>
                  </a:ext>
                </a:extLst>
              </a:tr>
              <a:tr h="406632">
                <a:tc vMerge="1">
                  <a:txBody>
                    <a:bodyPr/>
                    <a:lstStyle/>
                    <a:p>
                      <a:endParaRPr lang="es-PE"/>
                    </a:p>
                  </a:txBody>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050" b="1" dirty="0">
                          <a:effectLst/>
                          <a:latin typeface="Calibri" panose="020F0502020204030204" pitchFamily="34" charset="0"/>
                          <a:ea typeface="Calibri" panose="020F0502020204030204" pitchFamily="34" charset="0"/>
                          <a:cs typeface="Times New Roman" panose="02020603050405020304" pitchFamily="18" charset="0"/>
                        </a:rPr>
                        <a:t>5730</a:t>
                      </a:r>
                      <a:endParaRPr lang="es-PE" sz="1050" b="1"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marL="0" algn="l" defTabSz="914400" rtl="0" eaLnBrk="1" latinLnBrk="0" hangingPunct="1"/>
                      <a:r>
                        <a:rPr lang="es-PE" sz="1050" kern="1200" dirty="0">
                          <a:solidFill>
                            <a:srgbClr val="000000"/>
                          </a:solidFill>
                          <a:effectLst/>
                          <a:latin typeface="Calibri Light" panose="020F0302020204030204" pitchFamily="34" charset="0"/>
                          <a:ea typeface="Calibri" panose="020F0502020204030204" pitchFamily="34" charset="0"/>
                          <a:cs typeface="Times New Roman" panose="02020603050405020304" pitchFamily="18" charset="0"/>
                        </a:rPr>
                        <a:t>Marco Tregear Jimenez</a:t>
                      </a: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050" kern="120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5</a:t>
                      </a:r>
                      <a:endParaRPr lang="es-PE" sz="1050" kern="1200" dirty="0">
                        <a:solidFill>
                          <a:srgbClr val="000000"/>
                        </a:solidFill>
                        <a:effectLst/>
                        <a:latin typeface="Calibri Light" panose="020F0302020204030204" pitchFamily="34" charset="0"/>
                        <a:ea typeface="Calibri" panose="020F0502020204030204" pitchFamily="34" charset="0"/>
                        <a:cs typeface="Times New Roman" panose="02020603050405020304" pitchFamily="18" charset="0"/>
                      </a:endParaRPr>
                    </a:p>
                    <a:p>
                      <a:pPr algn="ctr"/>
                      <a:endParaRPr lang="es-PE" sz="1050" kern="1200" dirty="0">
                        <a:solidFill>
                          <a:srgbClr val="000000"/>
                        </a:solidFill>
                        <a:effectLst/>
                        <a:latin typeface="Calibri Light" panose="020F03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2</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3819655324"/>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7148</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Jesus Garcia Rodriguez</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2</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3</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2960929415"/>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4594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Carlos Lopez Cornelio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5</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4</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4155215880"/>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4990</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Cecilia Pantoja Urizar Garfias </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4</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9</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2559747884"/>
                  </a:ext>
                </a:extLst>
              </a:tr>
              <a:tr h="406632">
                <a:tc gridSpan="4">
                  <a:txBody>
                    <a:bodyPr/>
                    <a:lstStyle/>
                    <a:p>
                      <a:pPr algn="ct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hMerge="1">
                  <a:txBody>
                    <a:bodyPr/>
                    <a:lstStyle/>
                    <a:p>
                      <a:pPr algn="ct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hMerge="1">
                  <a:txBody>
                    <a:bodyPr/>
                    <a:lstStyle/>
                    <a:p>
                      <a:pPr algn="ct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hMerge="1">
                  <a:txBody>
                    <a:bodyPr/>
                    <a:lstStyle/>
                    <a:p>
                      <a:pPr algn="l"/>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200" dirty="0">
                          <a:effectLst/>
                          <a:latin typeface="Calibri" panose="020F0502020204030204" pitchFamily="34" charset="0"/>
                          <a:ea typeface="Calibri" panose="020F0502020204030204" pitchFamily="34" charset="0"/>
                          <a:cs typeface="Times New Roman" panose="02020603050405020304" pitchFamily="18" charset="0"/>
                        </a:rPr>
                        <a:t>TOTAL</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42</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2801576743"/>
                  </a:ext>
                </a:extLst>
              </a:tr>
            </a:tbl>
          </a:graphicData>
        </a:graphic>
      </p:graphicFrame>
      <p:sp>
        <p:nvSpPr>
          <p:cNvPr id="3" name="CuadroTexto 2">
            <a:extLst>
              <a:ext uri="{FF2B5EF4-FFF2-40B4-BE49-F238E27FC236}">
                <a16:creationId xmlns:a16="http://schemas.microsoft.com/office/drawing/2014/main" id="{F48B259D-8987-9E74-93CB-EE2906433D7A}"/>
              </a:ext>
            </a:extLst>
          </p:cNvPr>
          <p:cNvSpPr txBox="1"/>
          <p:nvPr/>
        </p:nvSpPr>
        <p:spPr>
          <a:xfrm>
            <a:off x="2301715" y="5930384"/>
            <a:ext cx="3946685" cy="261610"/>
          </a:xfrm>
          <a:prstGeom prst="rect">
            <a:avLst/>
          </a:prstGeom>
          <a:noFill/>
        </p:spPr>
        <p:txBody>
          <a:bodyPr wrap="square" rtlCol="0">
            <a:spAutoFit/>
          </a:bodyPr>
          <a:lstStyle/>
          <a:p>
            <a:r>
              <a:rPr lang="es-PE" sz="1100" dirty="0"/>
              <a:t>(*) Incluye Informe de DCA:</a:t>
            </a:r>
          </a:p>
        </p:txBody>
      </p:sp>
    </p:spTree>
    <p:extLst>
      <p:ext uri="{BB962C8B-B14F-4D97-AF65-F5344CB8AC3E}">
        <p14:creationId xmlns:p14="http://schemas.microsoft.com/office/powerpoint/2010/main" val="5633880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STOCK VENCIDOS</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1285875" y="139746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1285875" y="3163517"/>
            <a:ext cx="1028700" cy="638174"/>
          </a:xfrm>
          <a:prstGeom prst="rightArrow">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sp>
        <p:nvSpPr>
          <p:cNvPr id="16" name="Flecha: a la derecha 15">
            <a:extLst>
              <a:ext uri="{FF2B5EF4-FFF2-40B4-BE49-F238E27FC236}">
                <a16:creationId xmlns:a16="http://schemas.microsoft.com/office/drawing/2014/main" id="{5B46D489-2A56-01B0-EB9C-D57AAAD377E8}"/>
              </a:ext>
            </a:extLst>
          </p:cNvPr>
          <p:cNvSpPr/>
          <p:nvPr/>
        </p:nvSpPr>
        <p:spPr>
          <a:xfrm>
            <a:off x="1285875" y="4929570"/>
            <a:ext cx="1028700" cy="638174"/>
          </a:xfrm>
          <a:prstGeom prst="rightArrow">
            <a:avLst/>
          </a:prstGeom>
          <a:ln w="28575">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DCP</a:t>
            </a:r>
            <a:endParaRPr lang="es-PE" dirty="0"/>
          </a:p>
        </p:txBody>
      </p:sp>
      <p:sp>
        <p:nvSpPr>
          <p:cNvPr id="2" name="CuadroTexto 1">
            <a:extLst>
              <a:ext uri="{FF2B5EF4-FFF2-40B4-BE49-F238E27FC236}">
                <a16:creationId xmlns:a16="http://schemas.microsoft.com/office/drawing/2014/main" id="{39315DDD-5468-DE29-D6F6-5BBFA86E57E4}"/>
              </a:ext>
            </a:extLst>
          </p:cNvPr>
          <p:cNvSpPr txBox="1"/>
          <p:nvPr/>
        </p:nvSpPr>
        <p:spPr>
          <a:xfrm>
            <a:off x="1285874" y="6238635"/>
            <a:ext cx="3124201" cy="276999"/>
          </a:xfrm>
          <a:prstGeom prst="rect">
            <a:avLst/>
          </a:prstGeom>
          <a:noFill/>
        </p:spPr>
        <p:txBody>
          <a:bodyPr wrap="square">
            <a:spAutoFit/>
          </a:bodyPr>
          <a:lstStyle/>
          <a:p>
            <a:r>
              <a:rPr lang="es-PE" sz="1200" b="1" dirty="0">
                <a:latin typeface="Calibri Light" panose="020F0302020204030204" pitchFamily="34" charset="0"/>
                <a:ea typeface="Calibri" panose="020F0502020204030204" pitchFamily="34" charset="0"/>
              </a:rPr>
              <a:t>Fuente</a:t>
            </a:r>
            <a:r>
              <a:rPr lang="es-PE" sz="1200" dirty="0">
                <a:latin typeface="Calibri Light" panose="020F0302020204030204" pitchFamily="34" charset="0"/>
                <a:ea typeface="Calibri" panose="020F0502020204030204" pitchFamily="34" charset="0"/>
              </a:rPr>
              <a:t>: Módulo SIGERI al 04.09.2024</a:t>
            </a:r>
          </a:p>
        </p:txBody>
      </p:sp>
      <p:sp>
        <p:nvSpPr>
          <p:cNvPr id="3" name="Bocadillo nube: nube 2">
            <a:extLst>
              <a:ext uri="{FF2B5EF4-FFF2-40B4-BE49-F238E27FC236}">
                <a16:creationId xmlns:a16="http://schemas.microsoft.com/office/drawing/2014/main" id="{2CDF9045-FFEB-A6E3-8A64-92964C7B93F3}"/>
              </a:ext>
            </a:extLst>
          </p:cNvPr>
          <p:cNvSpPr/>
          <p:nvPr/>
        </p:nvSpPr>
        <p:spPr>
          <a:xfrm>
            <a:off x="9321798" y="1034932"/>
            <a:ext cx="2393951" cy="1164424"/>
          </a:xfrm>
          <a:prstGeom prst="cloudCallout">
            <a:avLst>
              <a:gd name="adj1" fmla="val -63383"/>
              <a:gd name="adj2" fmla="val -19035"/>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sz="1400" dirty="0">
                <a:solidFill>
                  <a:schemeClr val="tx1"/>
                </a:solidFill>
              </a:rPr>
              <a:t>13 total (0/13/0/0/13/12/11/17/15/10/12/17/07)</a:t>
            </a:r>
            <a:endParaRPr lang="es-PE" sz="1400" dirty="0">
              <a:solidFill>
                <a:schemeClr val="tx1"/>
              </a:solidFill>
            </a:endParaRPr>
          </a:p>
        </p:txBody>
      </p:sp>
      <p:sp>
        <p:nvSpPr>
          <p:cNvPr id="4" name="Bocadillo nube: nube 3">
            <a:extLst>
              <a:ext uri="{FF2B5EF4-FFF2-40B4-BE49-F238E27FC236}">
                <a16:creationId xmlns:a16="http://schemas.microsoft.com/office/drawing/2014/main" id="{30F3CF21-67BC-6869-D144-28C16A383425}"/>
              </a:ext>
            </a:extLst>
          </p:cNvPr>
          <p:cNvSpPr/>
          <p:nvPr/>
        </p:nvSpPr>
        <p:spPr>
          <a:xfrm>
            <a:off x="9321799" y="2833275"/>
            <a:ext cx="2300202" cy="1076003"/>
          </a:xfrm>
          <a:prstGeom prst="cloudCallout">
            <a:avLst>
              <a:gd name="adj1" fmla="val -63383"/>
              <a:gd name="adj2" fmla="val -19035"/>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sz="1400" dirty="0">
                <a:solidFill>
                  <a:schemeClr val="tx1"/>
                </a:solidFill>
              </a:rPr>
              <a:t>0 total (0/0/0/0/06/09/08/5/16/17/5/40/15)</a:t>
            </a:r>
            <a:endParaRPr lang="es-PE" sz="1400" dirty="0">
              <a:solidFill>
                <a:schemeClr val="tx1"/>
              </a:solidFill>
            </a:endParaRPr>
          </a:p>
        </p:txBody>
      </p:sp>
      <p:sp>
        <p:nvSpPr>
          <p:cNvPr id="5" name="Bocadillo nube: nube 4">
            <a:extLst>
              <a:ext uri="{FF2B5EF4-FFF2-40B4-BE49-F238E27FC236}">
                <a16:creationId xmlns:a16="http://schemas.microsoft.com/office/drawing/2014/main" id="{9E55A7AD-D2BB-78A2-7C74-0EE92587C86C}"/>
              </a:ext>
            </a:extLst>
          </p:cNvPr>
          <p:cNvSpPr/>
          <p:nvPr/>
        </p:nvSpPr>
        <p:spPr>
          <a:xfrm>
            <a:off x="9321799" y="4710655"/>
            <a:ext cx="2193925" cy="1076003"/>
          </a:xfrm>
          <a:prstGeom prst="cloudCallout">
            <a:avLst>
              <a:gd name="adj1" fmla="val -63383"/>
              <a:gd name="adj2" fmla="val -19035"/>
            </a:avLst>
          </a:prstGeom>
          <a:ln w="28575">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sz="1400" dirty="0">
                <a:solidFill>
                  <a:schemeClr val="tx1"/>
                </a:solidFill>
              </a:rPr>
              <a:t>0 total (0/2/0/0/0/1/1/3/3/5/0)</a:t>
            </a:r>
            <a:endParaRPr lang="es-PE" sz="1400" dirty="0">
              <a:solidFill>
                <a:schemeClr val="tx1"/>
              </a:solidFill>
            </a:endParaRPr>
          </a:p>
        </p:txBody>
      </p:sp>
      <p:graphicFrame>
        <p:nvGraphicFramePr>
          <p:cNvPr id="6" name="Tabla 5">
            <a:extLst>
              <a:ext uri="{FF2B5EF4-FFF2-40B4-BE49-F238E27FC236}">
                <a16:creationId xmlns:a16="http://schemas.microsoft.com/office/drawing/2014/main" id="{7A1E3C9B-1922-2F33-DB7C-BE5BC2DDBA90}"/>
              </a:ext>
            </a:extLst>
          </p:cNvPr>
          <p:cNvGraphicFramePr>
            <a:graphicFrameLocks noGrp="1"/>
          </p:cNvGraphicFramePr>
          <p:nvPr>
            <p:extLst>
              <p:ext uri="{D42A27DB-BD31-4B8C-83A1-F6EECF244321}">
                <p14:modId xmlns:p14="http://schemas.microsoft.com/office/powerpoint/2010/main" val="1504583201"/>
              </p:ext>
            </p:extLst>
          </p:nvPr>
        </p:nvGraphicFramePr>
        <p:xfrm>
          <a:off x="2946400" y="1116590"/>
          <a:ext cx="5988049" cy="1164424"/>
        </p:xfrm>
        <a:graphic>
          <a:graphicData uri="http://schemas.openxmlformats.org/drawingml/2006/table">
            <a:tbl>
              <a:tblPr firstRow="1" firstCol="1" bandRow="1"/>
              <a:tblGrid>
                <a:gridCol w="1003584">
                  <a:extLst>
                    <a:ext uri="{9D8B030D-6E8A-4147-A177-3AD203B41FA5}">
                      <a16:colId xmlns:a16="http://schemas.microsoft.com/office/drawing/2014/main" val="3074884351"/>
                    </a:ext>
                  </a:extLst>
                </a:gridCol>
                <a:gridCol w="1321384">
                  <a:extLst>
                    <a:ext uri="{9D8B030D-6E8A-4147-A177-3AD203B41FA5}">
                      <a16:colId xmlns:a16="http://schemas.microsoft.com/office/drawing/2014/main" val="1526047758"/>
                    </a:ext>
                  </a:extLst>
                </a:gridCol>
                <a:gridCol w="1655913">
                  <a:extLst>
                    <a:ext uri="{9D8B030D-6E8A-4147-A177-3AD203B41FA5}">
                      <a16:colId xmlns:a16="http://schemas.microsoft.com/office/drawing/2014/main" val="436782002"/>
                    </a:ext>
                  </a:extLst>
                </a:gridCol>
                <a:gridCol w="1003584">
                  <a:extLst>
                    <a:ext uri="{9D8B030D-6E8A-4147-A177-3AD203B41FA5}">
                      <a16:colId xmlns:a16="http://schemas.microsoft.com/office/drawing/2014/main" val="2134817539"/>
                    </a:ext>
                  </a:extLst>
                </a:gridCol>
                <a:gridCol w="1003584">
                  <a:extLst>
                    <a:ext uri="{9D8B030D-6E8A-4147-A177-3AD203B41FA5}">
                      <a16:colId xmlns:a16="http://schemas.microsoft.com/office/drawing/2014/main" val="3157735613"/>
                    </a:ext>
                  </a:extLst>
                </a:gridCol>
              </a:tblGrid>
              <a:tr h="547964">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UUOO</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VENCIDO +9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8 MESES</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7 MESES</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extLst>
                  <a:ext uri="{0D108BD9-81ED-4DB2-BD59-A6C34878D82A}">
                    <a16:rowId xmlns:a16="http://schemas.microsoft.com/office/drawing/2014/main" val="2434845465"/>
                  </a:ext>
                </a:extLst>
              </a:tr>
              <a:tr h="308230">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DCCI</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ES" sz="1800" b="1" dirty="0">
                          <a:solidFill>
                            <a:schemeClr val="tx1"/>
                          </a:solidFill>
                          <a:effectLst/>
                          <a:latin typeface="+mj-lt"/>
                          <a:ea typeface="Calibri" panose="020F0502020204030204" pitchFamily="34" charset="0"/>
                        </a:rPr>
                        <a:t>13 (*)</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16544557"/>
                  </a:ext>
                </a:extLst>
              </a:tr>
              <a:tr h="308230">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DAP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2074556671"/>
                  </a:ext>
                </a:extLst>
              </a:tr>
            </a:tbl>
          </a:graphicData>
        </a:graphic>
      </p:graphicFrame>
      <p:graphicFrame>
        <p:nvGraphicFramePr>
          <p:cNvPr id="11" name="Tabla 10">
            <a:extLst>
              <a:ext uri="{FF2B5EF4-FFF2-40B4-BE49-F238E27FC236}">
                <a16:creationId xmlns:a16="http://schemas.microsoft.com/office/drawing/2014/main" id="{21873085-0F54-8216-09FC-126BB27871B1}"/>
              </a:ext>
            </a:extLst>
          </p:cNvPr>
          <p:cNvGraphicFramePr>
            <a:graphicFrameLocks noGrp="1"/>
          </p:cNvGraphicFramePr>
          <p:nvPr>
            <p:extLst>
              <p:ext uri="{D42A27DB-BD31-4B8C-83A1-F6EECF244321}">
                <p14:modId xmlns:p14="http://schemas.microsoft.com/office/powerpoint/2010/main" val="3760969137"/>
              </p:ext>
            </p:extLst>
          </p:nvPr>
        </p:nvGraphicFramePr>
        <p:xfrm>
          <a:off x="2946402" y="2856991"/>
          <a:ext cx="5988047" cy="1164421"/>
        </p:xfrm>
        <a:graphic>
          <a:graphicData uri="http://schemas.openxmlformats.org/drawingml/2006/table">
            <a:tbl>
              <a:tblPr firstRow="1" firstCol="1" bandRow="1"/>
              <a:tblGrid>
                <a:gridCol w="1003583">
                  <a:extLst>
                    <a:ext uri="{9D8B030D-6E8A-4147-A177-3AD203B41FA5}">
                      <a16:colId xmlns:a16="http://schemas.microsoft.com/office/drawing/2014/main" val="3114367696"/>
                    </a:ext>
                  </a:extLst>
                </a:gridCol>
                <a:gridCol w="1321385">
                  <a:extLst>
                    <a:ext uri="{9D8B030D-6E8A-4147-A177-3AD203B41FA5}">
                      <a16:colId xmlns:a16="http://schemas.microsoft.com/office/drawing/2014/main" val="4084865074"/>
                    </a:ext>
                  </a:extLst>
                </a:gridCol>
                <a:gridCol w="1655913">
                  <a:extLst>
                    <a:ext uri="{9D8B030D-6E8A-4147-A177-3AD203B41FA5}">
                      <a16:colId xmlns:a16="http://schemas.microsoft.com/office/drawing/2014/main" val="1706993894"/>
                    </a:ext>
                  </a:extLst>
                </a:gridCol>
                <a:gridCol w="1003583">
                  <a:extLst>
                    <a:ext uri="{9D8B030D-6E8A-4147-A177-3AD203B41FA5}">
                      <a16:colId xmlns:a16="http://schemas.microsoft.com/office/drawing/2014/main" val="871379910"/>
                    </a:ext>
                  </a:extLst>
                </a:gridCol>
                <a:gridCol w="1003583">
                  <a:extLst>
                    <a:ext uri="{9D8B030D-6E8A-4147-A177-3AD203B41FA5}">
                      <a16:colId xmlns:a16="http://schemas.microsoft.com/office/drawing/2014/main" val="1362448182"/>
                    </a:ext>
                  </a:extLst>
                </a:gridCol>
              </a:tblGrid>
              <a:tr h="527759">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UUOO</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VENCIDO +9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8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7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extLst>
                  <a:ext uri="{0D108BD9-81ED-4DB2-BD59-A6C34878D82A}">
                    <a16:rowId xmlns:a16="http://schemas.microsoft.com/office/drawing/2014/main" val="2637099436"/>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DCCII</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extLst>
                  <a:ext uri="{0D108BD9-81ED-4DB2-BD59-A6C34878D82A}">
                    <a16:rowId xmlns:a16="http://schemas.microsoft.com/office/drawing/2014/main" val="3189419138"/>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DAP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extLst>
                  <a:ext uri="{0D108BD9-81ED-4DB2-BD59-A6C34878D82A}">
                    <a16:rowId xmlns:a16="http://schemas.microsoft.com/office/drawing/2014/main" val="3621642096"/>
                  </a:ext>
                </a:extLst>
              </a:tr>
            </a:tbl>
          </a:graphicData>
        </a:graphic>
      </p:graphicFrame>
      <p:graphicFrame>
        <p:nvGraphicFramePr>
          <p:cNvPr id="12" name="Tabla 11">
            <a:extLst>
              <a:ext uri="{FF2B5EF4-FFF2-40B4-BE49-F238E27FC236}">
                <a16:creationId xmlns:a16="http://schemas.microsoft.com/office/drawing/2014/main" id="{7C375469-0EF9-D038-F02C-458E309B4E33}"/>
              </a:ext>
            </a:extLst>
          </p:cNvPr>
          <p:cNvGraphicFramePr>
            <a:graphicFrameLocks noGrp="1"/>
          </p:cNvGraphicFramePr>
          <p:nvPr>
            <p:extLst>
              <p:ext uri="{D42A27DB-BD31-4B8C-83A1-F6EECF244321}">
                <p14:modId xmlns:p14="http://schemas.microsoft.com/office/powerpoint/2010/main" val="3356755416"/>
              </p:ext>
            </p:extLst>
          </p:nvPr>
        </p:nvGraphicFramePr>
        <p:xfrm>
          <a:off x="2946400" y="4622237"/>
          <a:ext cx="5988047" cy="1164421"/>
        </p:xfrm>
        <a:graphic>
          <a:graphicData uri="http://schemas.openxmlformats.org/drawingml/2006/table">
            <a:tbl>
              <a:tblPr firstRow="1" firstCol="1" bandRow="1"/>
              <a:tblGrid>
                <a:gridCol w="1003583">
                  <a:extLst>
                    <a:ext uri="{9D8B030D-6E8A-4147-A177-3AD203B41FA5}">
                      <a16:colId xmlns:a16="http://schemas.microsoft.com/office/drawing/2014/main" val="3114367696"/>
                    </a:ext>
                  </a:extLst>
                </a:gridCol>
                <a:gridCol w="1321385">
                  <a:extLst>
                    <a:ext uri="{9D8B030D-6E8A-4147-A177-3AD203B41FA5}">
                      <a16:colId xmlns:a16="http://schemas.microsoft.com/office/drawing/2014/main" val="4084865074"/>
                    </a:ext>
                  </a:extLst>
                </a:gridCol>
                <a:gridCol w="1655913">
                  <a:extLst>
                    <a:ext uri="{9D8B030D-6E8A-4147-A177-3AD203B41FA5}">
                      <a16:colId xmlns:a16="http://schemas.microsoft.com/office/drawing/2014/main" val="1706993894"/>
                    </a:ext>
                  </a:extLst>
                </a:gridCol>
                <a:gridCol w="1003583">
                  <a:extLst>
                    <a:ext uri="{9D8B030D-6E8A-4147-A177-3AD203B41FA5}">
                      <a16:colId xmlns:a16="http://schemas.microsoft.com/office/drawing/2014/main" val="871379910"/>
                    </a:ext>
                  </a:extLst>
                </a:gridCol>
                <a:gridCol w="1003583">
                  <a:extLst>
                    <a:ext uri="{9D8B030D-6E8A-4147-A177-3AD203B41FA5}">
                      <a16:colId xmlns:a16="http://schemas.microsoft.com/office/drawing/2014/main" val="1362448182"/>
                    </a:ext>
                  </a:extLst>
                </a:gridCol>
              </a:tblGrid>
              <a:tr h="527759">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UUOO</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VENCIDO +9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9 MESES</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8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7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637099436"/>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DCP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extLst>
                  <a:ext uri="{0D108BD9-81ED-4DB2-BD59-A6C34878D82A}">
                    <a16:rowId xmlns:a16="http://schemas.microsoft.com/office/drawing/2014/main" val="3189419138"/>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DAP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PE" sz="1800" b="1" dirty="0">
                          <a:solidFill>
                            <a:schemeClr val="tx1"/>
                          </a:solidFill>
                          <a:effectLst/>
                          <a:latin typeface="Calibri Light" panose="020F0302020204030204" pitchFamily="34" charset="0"/>
                          <a:ea typeface="Calibri" panose="020F0502020204030204" pitchFamily="34" charset="0"/>
                        </a:rPr>
                        <a:t> 0</a:t>
                      </a:r>
                      <a:endParaRPr lang="es-PE" sz="14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621642096"/>
                  </a:ext>
                </a:extLst>
              </a:tr>
            </a:tbl>
          </a:graphicData>
        </a:graphic>
      </p:graphicFrame>
      <p:sp>
        <p:nvSpPr>
          <p:cNvPr id="7" name="CuadroTexto 6">
            <a:extLst>
              <a:ext uri="{FF2B5EF4-FFF2-40B4-BE49-F238E27FC236}">
                <a16:creationId xmlns:a16="http://schemas.microsoft.com/office/drawing/2014/main" id="{EFF59043-EB5A-0DD0-D3E1-3D34EAF24267}"/>
              </a:ext>
            </a:extLst>
          </p:cNvPr>
          <p:cNvSpPr txBox="1"/>
          <p:nvPr/>
        </p:nvSpPr>
        <p:spPr>
          <a:xfrm>
            <a:off x="2946399" y="2363659"/>
            <a:ext cx="5845175" cy="261610"/>
          </a:xfrm>
          <a:prstGeom prst="rect">
            <a:avLst/>
          </a:prstGeom>
          <a:noFill/>
        </p:spPr>
        <p:txBody>
          <a:bodyPr wrap="square" rtlCol="0">
            <a:spAutoFit/>
          </a:bodyPr>
          <a:lstStyle/>
          <a:p>
            <a:r>
              <a:rPr lang="es-ES" sz="1100" dirty="0"/>
              <a:t>(*) reingresados</a:t>
            </a:r>
            <a:endParaRPr lang="es-PE" sz="1100" dirty="0"/>
          </a:p>
        </p:txBody>
      </p:sp>
    </p:spTree>
    <p:extLst>
      <p:ext uri="{BB962C8B-B14F-4D97-AF65-F5344CB8AC3E}">
        <p14:creationId xmlns:p14="http://schemas.microsoft.com/office/powerpoint/2010/main" val="1854213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NO GESTIONABLE Y REINGRESADOS </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1285875" y="139746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1285875" y="3163517"/>
            <a:ext cx="1028700" cy="638174"/>
          </a:xfrm>
          <a:prstGeom prst="rightArrow">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graphicFrame>
        <p:nvGraphicFramePr>
          <p:cNvPr id="2" name="Tabla 1">
            <a:extLst>
              <a:ext uri="{FF2B5EF4-FFF2-40B4-BE49-F238E27FC236}">
                <a16:creationId xmlns:a16="http://schemas.microsoft.com/office/drawing/2014/main" id="{5D48A263-D39C-6FFA-07AD-924DAA71C7EB}"/>
              </a:ext>
            </a:extLst>
          </p:cNvPr>
          <p:cNvGraphicFramePr>
            <a:graphicFrameLocks noGrp="1"/>
          </p:cNvGraphicFramePr>
          <p:nvPr>
            <p:extLst>
              <p:ext uri="{D42A27DB-BD31-4B8C-83A1-F6EECF244321}">
                <p14:modId xmlns:p14="http://schemas.microsoft.com/office/powerpoint/2010/main" val="1008902428"/>
              </p:ext>
            </p:extLst>
          </p:nvPr>
        </p:nvGraphicFramePr>
        <p:xfrm>
          <a:off x="2766026" y="1152524"/>
          <a:ext cx="3190996" cy="1291141"/>
        </p:xfrm>
        <a:graphic>
          <a:graphicData uri="http://schemas.openxmlformats.org/drawingml/2006/table">
            <a:tbl>
              <a:tblPr/>
              <a:tblGrid>
                <a:gridCol w="1626299">
                  <a:extLst>
                    <a:ext uri="{9D8B030D-6E8A-4147-A177-3AD203B41FA5}">
                      <a16:colId xmlns:a16="http://schemas.microsoft.com/office/drawing/2014/main" val="303441847"/>
                    </a:ext>
                  </a:extLst>
                </a:gridCol>
                <a:gridCol w="1564697">
                  <a:extLst>
                    <a:ext uri="{9D8B030D-6E8A-4147-A177-3AD203B41FA5}">
                      <a16:colId xmlns:a16="http://schemas.microsoft.com/office/drawing/2014/main" val="1716151770"/>
                    </a:ext>
                  </a:extLst>
                </a:gridCol>
              </a:tblGrid>
              <a:tr h="349456">
                <a:tc gridSpan="2">
                  <a:txBody>
                    <a:bodyPr/>
                    <a:lstStyle/>
                    <a:p>
                      <a:pPr algn="ctr" fontAlgn="ctr"/>
                      <a:r>
                        <a:rPr lang="es-PE" sz="1400" b="1" i="0" u="none" strike="noStrike" dirty="0">
                          <a:solidFill>
                            <a:srgbClr val="000000"/>
                          </a:solidFill>
                          <a:effectLst/>
                          <a:latin typeface="+mn-lt"/>
                        </a:rPr>
                        <a:t>DCCI</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hMerge="1">
                  <a:txBody>
                    <a:bodyPr/>
                    <a:lstStyle/>
                    <a:p>
                      <a:endParaRPr lang="es-PE"/>
                    </a:p>
                  </a:txBody>
                  <a:tcPr/>
                </a:tc>
                <a:extLst>
                  <a:ext uri="{0D108BD9-81ED-4DB2-BD59-A6C34878D82A}">
                    <a16:rowId xmlns:a16="http://schemas.microsoft.com/office/drawing/2014/main" val="3528009855"/>
                  </a:ext>
                </a:extLst>
              </a:tr>
              <a:tr h="313895">
                <a:tc>
                  <a:txBody>
                    <a:bodyPr/>
                    <a:lstStyle/>
                    <a:p>
                      <a:pPr algn="l" fontAlgn="ctr"/>
                      <a:r>
                        <a:rPr lang="es-ES" sz="1400" b="1" i="0" u="none" strike="noStrike" dirty="0">
                          <a:solidFill>
                            <a:srgbClr val="000000"/>
                          </a:solidFill>
                          <a:effectLst/>
                          <a:latin typeface="+mn-lt"/>
                        </a:rPr>
                        <a:t>N</a:t>
                      </a:r>
                      <a:r>
                        <a:rPr lang="es-PE" sz="1400" b="1" i="0" u="none" strike="noStrike" dirty="0">
                          <a:solidFill>
                            <a:srgbClr val="000000"/>
                          </a:solidFill>
                          <a:effectLst/>
                          <a:latin typeface="+mn-lt"/>
                        </a:rPr>
                        <a:t>O GESTIONABLE</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mn-lt"/>
                        </a:rPr>
                        <a:t>1</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944027070"/>
                  </a:ext>
                </a:extLst>
              </a:tr>
              <a:tr h="313895">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fontAlgn="ctr"/>
                      <a:r>
                        <a:rPr lang="es-ES" sz="1400" b="1" i="0" u="none" strike="noStrike" dirty="0">
                          <a:solidFill>
                            <a:schemeClr val="tx1"/>
                          </a:solidFill>
                          <a:effectLst/>
                          <a:latin typeface="+mn-lt"/>
                        </a:rPr>
                        <a:t>125</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17716666"/>
                  </a:ext>
                </a:extLst>
              </a:tr>
              <a:tr h="313895">
                <a:tc>
                  <a:txBody>
                    <a:bodyPr/>
                    <a:lstStyle/>
                    <a:p>
                      <a:pPr algn="l" fontAlgn="ctr"/>
                      <a:r>
                        <a:rPr lang="es-ES" sz="1400" b="1" i="0" u="none" strike="noStrike" dirty="0">
                          <a:solidFill>
                            <a:srgbClr val="000000"/>
                          </a:solidFill>
                          <a:effectLst/>
                          <a:latin typeface="+mn-lt"/>
                        </a:rPr>
                        <a:t>R</a:t>
                      </a:r>
                      <a:r>
                        <a:rPr lang="es-PE" sz="1400" b="1" i="0" u="none" strike="noStrike" dirty="0">
                          <a:solidFill>
                            <a:srgbClr val="000000"/>
                          </a:solidFill>
                          <a:effectLst/>
                          <a:latin typeface="+mn-lt"/>
                        </a:rPr>
                        <a:t>EINGRESADOS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mn-lt"/>
                        </a:rPr>
                        <a:t>13</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331887893"/>
                  </a:ext>
                </a:extLst>
              </a:tr>
            </a:tbl>
          </a:graphicData>
        </a:graphic>
      </p:graphicFrame>
      <p:graphicFrame>
        <p:nvGraphicFramePr>
          <p:cNvPr id="6" name="Tabla 5">
            <a:extLst>
              <a:ext uri="{FF2B5EF4-FFF2-40B4-BE49-F238E27FC236}">
                <a16:creationId xmlns:a16="http://schemas.microsoft.com/office/drawing/2014/main" id="{7D8D1F39-161B-98DA-5982-C2CD772C41D2}"/>
              </a:ext>
            </a:extLst>
          </p:cNvPr>
          <p:cNvGraphicFramePr>
            <a:graphicFrameLocks noGrp="1"/>
          </p:cNvGraphicFramePr>
          <p:nvPr>
            <p:extLst>
              <p:ext uri="{D42A27DB-BD31-4B8C-83A1-F6EECF244321}">
                <p14:modId xmlns:p14="http://schemas.microsoft.com/office/powerpoint/2010/main" val="1408459357"/>
              </p:ext>
            </p:extLst>
          </p:nvPr>
        </p:nvGraphicFramePr>
        <p:xfrm>
          <a:off x="2766026" y="2837033"/>
          <a:ext cx="3190996" cy="1291141"/>
        </p:xfrm>
        <a:graphic>
          <a:graphicData uri="http://schemas.openxmlformats.org/drawingml/2006/table">
            <a:tbl>
              <a:tblPr/>
              <a:tblGrid>
                <a:gridCol w="1626299">
                  <a:extLst>
                    <a:ext uri="{9D8B030D-6E8A-4147-A177-3AD203B41FA5}">
                      <a16:colId xmlns:a16="http://schemas.microsoft.com/office/drawing/2014/main" val="303441847"/>
                    </a:ext>
                  </a:extLst>
                </a:gridCol>
                <a:gridCol w="1564697">
                  <a:extLst>
                    <a:ext uri="{9D8B030D-6E8A-4147-A177-3AD203B41FA5}">
                      <a16:colId xmlns:a16="http://schemas.microsoft.com/office/drawing/2014/main" val="1716151770"/>
                    </a:ext>
                  </a:extLst>
                </a:gridCol>
              </a:tblGrid>
              <a:tr h="349456">
                <a:tc gridSpan="2">
                  <a:txBody>
                    <a:bodyPr/>
                    <a:lstStyle/>
                    <a:p>
                      <a:pPr algn="ctr" fontAlgn="ctr"/>
                      <a:r>
                        <a:rPr lang="es-PE" sz="1400" b="1" i="0" u="none" strike="noStrike" dirty="0">
                          <a:solidFill>
                            <a:srgbClr val="000000"/>
                          </a:solidFill>
                          <a:effectLst/>
                          <a:latin typeface="+mn-lt"/>
                        </a:rPr>
                        <a:t>DCCII</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99FF"/>
                    </a:solidFill>
                  </a:tcPr>
                </a:tc>
                <a:tc hMerge="1">
                  <a:txBody>
                    <a:bodyPr/>
                    <a:lstStyle/>
                    <a:p>
                      <a:endParaRPr lang="es-PE"/>
                    </a:p>
                  </a:txBody>
                  <a:tcPr/>
                </a:tc>
                <a:extLst>
                  <a:ext uri="{0D108BD9-81ED-4DB2-BD59-A6C34878D82A}">
                    <a16:rowId xmlns:a16="http://schemas.microsoft.com/office/drawing/2014/main" val="3528009855"/>
                  </a:ext>
                </a:extLst>
              </a:tr>
              <a:tr h="313895">
                <a:tc>
                  <a:txBody>
                    <a:bodyPr/>
                    <a:lstStyle/>
                    <a:p>
                      <a:pPr algn="l" fontAlgn="ctr"/>
                      <a:r>
                        <a:rPr lang="es-ES" sz="1400" b="1" i="0" u="none" strike="noStrike" dirty="0">
                          <a:solidFill>
                            <a:srgbClr val="000000"/>
                          </a:solidFill>
                          <a:effectLst/>
                          <a:latin typeface="+mn-lt"/>
                        </a:rPr>
                        <a:t>N</a:t>
                      </a:r>
                      <a:r>
                        <a:rPr lang="es-PE" sz="1400" b="1" i="0" u="none" strike="noStrike" dirty="0">
                          <a:solidFill>
                            <a:srgbClr val="000000"/>
                          </a:solidFill>
                          <a:effectLst/>
                          <a:latin typeface="+mn-lt"/>
                        </a:rPr>
                        <a:t>O GESTIONABLE</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fontAlgn="ctr"/>
                      <a:r>
                        <a:rPr lang="es-ES" sz="1400" b="1" i="0" u="none" strike="noStrike" dirty="0">
                          <a:solidFill>
                            <a:schemeClr val="tx1"/>
                          </a:solidFill>
                          <a:effectLst/>
                          <a:latin typeface="+mn-lt"/>
                        </a:rPr>
                        <a:t>21</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extLst>
                  <a:ext uri="{0D108BD9-81ED-4DB2-BD59-A6C34878D82A}">
                    <a16:rowId xmlns:a16="http://schemas.microsoft.com/office/drawing/2014/main" val="2944027070"/>
                  </a:ext>
                </a:extLst>
              </a:tr>
              <a:tr h="313895">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fontAlgn="ctr"/>
                      <a:r>
                        <a:rPr lang="es-ES" sz="1400" b="1" i="0" u="none" strike="noStrike" dirty="0">
                          <a:solidFill>
                            <a:schemeClr val="tx1"/>
                          </a:solidFill>
                          <a:effectLst/>
                          <a:latin typeface="+mn-lt"/>
                        </a:rPr>
                        <a:t>0</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17716666"/>
                  </a:ext>
                </a:extLst>
              </a:tr>
              <a:tr h="313895">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400" b="1" i="0" u="none" strike="noStrike" dirty="0">
                          <a:solidFill>
                            <a:srgbClr val="000000"/>
                          </a:solidFill>
                          <a:effectLst/>
                          <a:latin typeface="+mn-lt"/>
                        </a:rPr>
                        <a:t>R</a:t>
                      </a:r>
                      <a:r>
                        <a:rPr lang="es-PE" sz="1400" b="1" i="0" u="none" strike="noStrike" dirty="0">
                          <a:solidFill>
                            <a:srgbClr val="000000"/>
                          </a:solidFill>
                          <a:effectLst/>
                          <a:latin typeface="+mn-lt"/>
                        </a:rPr>
                        <a:t>EINGRESADOS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fontAlgn="ctr"/>
                      <a:r>
                        <a:rPr lang="es-ES" sz="1400" b="1" i="0" u="none" strike="noStrike" dirty="0">
                          <a:solidFill>
                            <a:schemeClr val="tx1"/>
                          </a:solidFill>
                          <a:effectLst/>
                          <a:latin typeface="+mn-lt"/>
                        </a:rPr>
                        <a:t>4</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extLst>
                  <a:ext uri="{0D108BD9-81ED-4DB2-BD59-A6C34878D82A}">
                    <a16:rowId xmlns:a16="http://schemas.microsoft.com/office/drawing/2014/main" val="2331887893"/>
                  </a:ext>
                </a:extLst>
              </a:tr>
            </a:tbl>
          </a:graphicData>
        </a:graphic>
      </p:graphicFrame>
      <p:graphicFrame>
        <p:nvGraphicFramePr>
          <p:cNvPr id="7" name="Tabla 6">
            <a:extLst>
              <a:ext uri="{FF2B5EF4-FFF2-40B4-BE49-F238E27FC236}">
                <a16:creationId xmlns:a16="http://schemas.microsoft.com/office/drawing/2014/main" id="{0F487CDF-AEF2-6A89-6E62-3C2229D25977}"/>
              </a:ext>
            </a:extLst>
          </p:cNvPr>
          <p:cNvGraphicFramePr>
            <a:graphicFrameLocks noGrp="1"/>
          </p:cNvGraphicFramePr>
          <p:nvPr>
            <p:extLst>
              <p:ext uri="{D42A27DB-BD31-4B8C-83A1-F6EECF244321}">
                <p14:modId xmlns:p14="http://schemas.microsoft.com/office/powerpoint/2010/main" val="515642469"/>
              </p:ext>
            </p:extLst>
          </p:nvPr>
        </p:nvGraphicFramePr>
        <p:xfrm>
          <a:off x="2766026" y="4603086"/>
          <a:ext cx="3190996" cy="1291141"/>
        </p:xfrm>
        <a:graphic>
          <a:graphicData uri="http://schemas.openxmlformats.org/drawingml/2006/table">
            <a:tbl>
              <a:tblPr/>
              <a:tblGrid>
                <a:gridCol w="1626299">
                  <a:extLst>
                    <a:ext uri="{9D8B030D-6E8A-4147-A177-3AD203B41FA5}">
                      <a16:colId xmlns:a16="http://schemas.microsoft.com/office/drawing/2014/main" val="303441847"/>
                    </a:ext>
                  </a:extLst>
                </a:gridCol>
                <a:gridCol w="1564697">
                  <a:extLst>
                    <a:ext uri="{9D8B030D-6E8A-4147-A177-3AD203B41FA5}">
                      <a16:colId xmlns:a16="http://schemas.microsoft.com/office/drawing/2014/main" val="1716151770"/>
                    </a:ext>
                  </a:extLst>
                </a:gridCol>
              </a:tblGrid>
              <a:tr h="349456">
                <a:tc gridSpan="2">
                  <a:txBody>
                    <a:bodyPr/>
                    <a:lstStyle/>
                    <a:p>
                      <a:pPr algn="ctr" fontAlgn="ctr"/>
                      <a:r>
                        <a:rPr lang="es-PE" sz="1400" b="1" i="0" u="none" strike="noStrike" dirty="0">
                          <a:solidFill>
                            <a:srgbClr val="000000"/>
                          </a:solidFill>
                          <a:effectLst/>
                          <a:latin typeface="+mn-lt"/>
                        </a:rPr>
                        <a:t>DCP</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B050"/>
                    </a:solidFill>
                  </a:tcPr>
                </a:tc>
                <a:tc hMerge="1">
                  <a:txBody>
                    <a:bodyPr/>
                    <a:lstStyle/>
                    <a:p>
                      <a:endParaRPr lang="es-PE"/>
                    </a:p>
                  </a:txBody>
                  <a:tcPr/>
                </a:tc>
                <a:extLst>
                  <a:ext uri="{0D108BD9-81ED-4DB2-BD59-A6C34878D82A}">
                    <a16:rowId xmlns:a16="http://schemas.microsoft.com/office/drawing/2014/main" val="3528009855"/>
                  </a:ext>
                </a:extLst>
              </a:tr>
              <a:tr h="313895">
                <a:tc>
                  <a:txBody>
                    <a:bodyPr/>
                    <a:lstStyle/>
                    <a:p>
                      <a:pPr algn="l" fontAlgn="ctr"/>
                      <a:r>
                        <a:rPr lang="es-ES" sz="1400" b="1" i="0" u="none" strike="noStrike" dirty="0">
                          <a:solidFill>
                            <a:srgbClr val="000000"/>
                          </a:solidFill>
                          <a:effectLst/>
                          <a:latin typeface="+mn-lt"/>
                        </a:rPr>
                        <a:t>N</a:t>
                      </a:r>
                      <a:r>
                        <a:rPr lang="es-PE" sz="1400" b="1" i="0" u="none" strike="noStrike" dirty="0">
                          <a:solidFill>
                            <a:srgbClr val="000000"/>
                          </a:solidFill>
                          <a:effectLst/>
                          <a:latin typeface="+mn-lt"/>
                        </a:rPr>
                        <a:t>O GESTIONABLE</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fontAlgn="ctr"/>
                      <a:r>
                        <a:rPr lang="es-ES" sz="1400" b="1" i="0" u="none" strike="noStrike" dirty="0">
                          <a:solidFill>
                            <a:srgbClr val="000000"/>
                          </a:solidFill>
                          <a:effectLst/>
                          <a:latin typeface="+mn-lt"/>
                        </a:rPr>
                        <a:t>0</a:t>
                      </a:r>
                      <a:endParaRPr lang="es-PE" sz="1400" b="1" i="0" u="none" strike="noStrike" dirty="0">
                        <a:solidFill>
                          <a:srgbClr val="000000"/>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extLst>
                  <a:ext uri="{0D108BD9-81ED-4DB2-BD59-A6C34878D82A}">
                    <a16:rowId xmlns:a16="http://schemas.microsoft.com/office/drawing/2014/main" val="2944027070"/>
                  </a:ext>
                </a:extLst>
              </a:tr>
              <a:tr h="313895">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fontAlgn="ctr"/>
                      <a:r>
                        <a:rPr lang="es-ES" sz="1400" b="1" i="0" u="none" strike="noStrike" dirty="0">
                          <a:solidFill>
                            <a:schemeClr val="tx1"/>
                          </a:solidFill>
                          <a:effectLst/>
                          <a:latin typeface="+mn-lt"/>
                        </a:rPr>
                        <a:t>0</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17716666"/>
                  </a:ext>
                </a:extLst>
              </a:tr>
              <a:tr h="313895">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400" b="1" i="0" u="none" strike="noStrike" dirty="0">
                          <a:solidFill>
                            <a:srgbClr val="000000"/>
                          </a:solidFill>
                          <a:effectLst/>
                          <a:latin typeface="+mn-lt"/>
                        </a:rPr>
                        <a:t>R</a:t>
                      </a:r>
                      <a:r>
                        <a:rPr lang="es-PE" sz="1400" b="1" i="0" u="none" strike="noStrike" dirty="0">
                          <a:solidFill>
                            <a:srgbClr val="000000"/>
                          </a:solidFill>
                          <a:effectLst/>
                          <a:latin typeface="+mn-lt"/>
                        </a:rPr>
                        <a:t>EINGRESADOS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fontAlgn="ctr"/>
                      <a:r>
                        <a:rPr lang="es-ES" sz="1400" b="1" i="0" u="none" strike="noStrike" dirty="0">
                          <a:solidFill>
                            <a:schemeClr val="tx1"/>
                          </a:solidFill>
                          <a:effectLst/>
                          <a:latin typeface="+mn-lt"/>
                        </a:rPr>
                        <a:t>1</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extLst>
                  <a:ext uri="{0D108BD9-81ED-4DB2-BD59-A6C34878D82A}">
                    <a16:rowId xmlns:a16="http://schemas.microsoft.com/office/drawing/2014/main" val="2331887893"/>
                  </a:ext>
                </a:extLst>
              </a:tr>
            </a:tbl>
          </a:graphicData>
        </a:graphic>
      </p:graphicFrame>
      <p:sp>
        <p:nvSpPr>
          <p:cNvPr id="3" name="Flecha: a la derecha 2">
            <a:extLst>
              <a:ext uri="{FF2B5EF4-FFF2-40B4-BE49-F238E27FC236}">
                <a16:creationId xmlns:a16="http://schemas.microsoft.com/office/drawing/2014/main" id="{A7976BD3-E52B-5499-C044-AC7EC4328524}"/>
              </a:ext>
            </a:extLst>
          </p:cNvPr>
          <p:cNvSpPr/>
          <p:nvPr/>
        </p:nvSpPr>
        <p:spPr>
          <a:xfrm>
            <a:off x="1285875" y="4929569"/>
            <a:ext cx="1028700" cy="638174"/>
          </a:xfrm>
          <a:prstGeom prst="rightArrow">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r>
              <a:rPr lang="es-ES" dirty="0"/>
              <a:t>DCP</a:t>
            </a:r>
            <a:endParaRPr lang="es-PE" dirty="0"/>
          </a:p>
        </p:txBody>
      </p:sp>
    </p:spTree>
    <p:extLst>
      <p:ext uri="{BB962C8B-B14F-4D97-AF65-F5344CB8AC3E}">
        <p14:creationId xmlns:p14="http://schemas.microsoft.com/office/powerpoint/2010/main" val="2838625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ITOP REPORTADOS–2024</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D55D1268-DC29-7290-F4BC-4E91D0CD92F1}"/>
              </a:ext>
            </a:extLst>
          </p:cNvPr>
          <p:cNvGraphicFramePr>
            <a:graphicFrameLocks noGrp="1"/>
          </p:cNvGraphicFramePr>
          <p:nvPr>
            <p:extLst>
              <p:ext uri="{D42A27DB-BD31-4B8C-83A1-F6EECF244321}">
                <p14:modId xmlns:p14="http://schemas.microsoft.com/office/powerpoint/2010/main" val="1176273510"/>
              </p:ext>
            </p:extLst>
          </p:nvPr>
        </p:nvGraphicFramePr>
        <p:xfrm>
          <a:off x="1485901" y="1424085"/>
          <a:ext cx="9058276" cy="4509989"/>
        </p:xfrm>
        <a:graphic>
          <a:graphicData uri="http://schemas.openxmlformats.org/drawingml/2006/table">
            <a:tbl>
              <a:tblPr firstRow="1" firstCol="1" bandRow="1"/>
              <a:tblGrid>
                <a:gridCol w="1552367">
                  <a:extLst>
                    <a:ext uri="{9D8B030D-6E8A-4147-A177-3AD203B41FA5}">
                      <a16:colId xmlns:a16="http://schemas.microsoft.com/office/drawing/2014/main" val="1329933936"/>
                    </a:ext>
                  </a:extLst>
                </a:gridCol>
                <a:gridCol w="2036233">
                  <a:extLst>
                    <a:ext uri="{9D8B030D-6E8A-4147-A177-3AD203B41FA5}">
                      <a16:colId xmlns:a16="http://schemas.microsoft.com/office/drawing/2014/main" val="63170076"/>
                    </a:ext>
                  </a:extLst>
                </a:gridCol>
                <a:gridCol w="5469676">
                  <a:extLst>
                    <a:ext uri="{9D8B030D-6E8A-4147-A177-3AD203B41FA5}">
                      <a16:colId xmlns:a16="http://schemas.microsoft.com/office/drawing/2014/main" val="3005957556"/>
                    </a:ext>
                  </a:extLst>
                </a:gridCol>
              </a:tblGrid>
              <a:tr h="242071">
                <a:tc gridSpan="3">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ITOP REPORTADOS</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28575" cap="flat" cmpd="sng" algn="ctr">
                      <a:solidFill>
                        <a:srgbClr val="70AD47"/>
                      </a:solidFill>
                      <a:prstDash val="solid"/>
                      <a:round/>
                      <a:headEnd type="none" w="med" len="med"/>
                      <a:tailEnd type="none" w="med" len="med"/>
                    </a:lnB>
                  </a:tcPr>
                </a:tc>
                <a:tc hMerge="1">
                  <a:txBody>
                    <a:bodyPr/>
                    <a:lstStyle/>
                    <a:p>
                      <a:pPr algn="ct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tcPr>
                </a:tc>
                <a:tc hMerge="1">
                  <a:txBody>
                    <a:bodyPr/>
                    <a:lstStyle/>
                    <a:p>
                      <a:pPr algn="ct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tcPr>
                </a:tc>
                <a:extLst>
                  <a:ext uri="{0D108BD9-81ED-4DB2-BD59-A6C34878D82A}">
                    <a16:rowId xmlns:a16="http://schemas.microsoft.com/office/drawing/2014/main" val="1785700418"/>
                  </a:ext>
                </a:extLst>
              </a:tr>
              <a:tr h="242071">
                <a:tc>
                  <a:txBody>
                    <a:bodyPr/>
                    <a:lstStyle/>
                    <a:p>
                      <a:r>
                        <a:rPr lang="es-PE"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28575"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gridSpan="2">
                  <a:txBody>
                    <a:bodyPr/>
                    <a:lstStyle/>
                    <a:p>
                      <a:pPr algn="ctr"/>
                      <a:r>
                        <a:rPr lang="es-ES" sz="12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a:t>
                      </a:r>
                      <a:r>
                        <a:rPr lang="es-PE" sz="12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ICIEMBRE</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B w="12700" cap="flat" cmpd="sng" algn="ctr">
                      <a:solidFill>
                        <a:srgbClr val="70AD47"/>
                      </a:solidFill>
                      <a:prstDash val="solid"/>
                      <a:round/>
                      <a:headEnd type="none" w="med" len="med"/>
                      <a:tailEnd type="none" w="med" len="med"/>
                    </a:lnB>
                    <a:solidFill>
                      <a:srgbClr val="EBF1E9"/>
                    </a:solidFill>
                  </a:tcPr>
                </a:tc>
                <a:tc hMerge="1">
                  <a:txBody>
                    <a:bodyPr/>
                    <a:lstStyle/>
                    <a:p>
                      <a:pPr algn="ct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R w="12700" cap="flat" cmpd="sng" algn="ctr">
                      <a:solidFill>
                        <a:srgbClr val="70AD47"/>
                      </a:solidFill>
                      <a:prstDash val="solid"/>
                      <a:round/>
                      <a:headEnd type="none" w="med" len="med"/>
                      <a:tailEnd type="none" w="med" len="med"/>
                    </a:lnR>
                    <a:lnB w="12700" cap="flat" cmpd="sng" algn="ctr">
                      <a:solidFill>
                        <a:srgbClr val="70AD47"/>
                      </a:solidFill>
                      <a:prstDash val="solid"/>
                      <a:round/>
                      <a:headEnd type="none" w="med" len="med"/>
                      <a:tailEnd type="none" w="med" len="med"/>
                    </a:lnB>
                    <a:solidFill>
                      <a:srgbClr val="EBF1E9"/>
                    </a:solidFill>
                  </a:tcPr>
                </a:tc>
                <a:extLst>
                  <a:ext uri="{0D108BD9-81ED-4DB2-BD59-A6C34878D82A}">
                    <a16:rowId xmlns:a16="http://schemas.microsoft.com/office/drawing/2014/main" val="1129546492"/>
                  </a:ext>
                </a:extLst>
              </a:tr>
              <a:tr h="472272">
                <a:tc>
                  <a:txBody>
                    <a:bodyPr/>
                    <a:lstStyle/>
                    <a:p>
                      <a:r>
                        <a:rPr lang="es-PE" sz="1200" b="1">
                          <a:effectLst/>
                          <a:latin typeface="Calibri" panose="020F0502020204030204" pitchFamily="34" charset="0"/>
                          <a:ea typeface="Calibri" panose="020F0502020204030204" pitchFamily="34" charset="0"/>
                          <a:cs typeface="Times New Roman" panose="02020603050405020304" pitchFamily="18" charset="0"/>
                        </a:rPr>
                        <a:t>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200" b="1" dirty="0" err="1">
                          <a:effectLst/>
                          <a:latin typeface="Calibri" panose="020F0502020204030204" pitchFamily="34" charset="0"/>
                          <a:ea typeface="Calibri" panose="020F0502020204030204" pitchFamily="34" charset="0"/>
                          <a:cs typeface="Times New Roman" panose="02020603050405020304" pitchFamily="18" charset="0"/>
                        </a:rPr>
                        <a:t>N°</a:t>
                      </a:r>
                      <a:r>
                        <a:rPr lang="es-PE" sz="1200" b="1" dirty="0">
                          <a:effectLst/>
                          <a:latin typeface="Calibri" panose="020F0502020204030204" pitchFamily="34" charset="0"/>
                          <a:ea typeface="Calibri" panose="020F0502020204030204" pitchFamily="34" charset="0"/>
                          <a:cs typeface="Times New Roman" panose="02020603050405020304" pitchFamily="18" charset="0"/>
                        </a:rPr>
                        <a:t> ITOP</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200" b="1" dirty="0">
                          <a:effectLst/>
                          <a:latin typeface="Calibri" panose="020F0502020204030204" pitchFamily="34" charset="0"/>
                          <a:ea typeface="Calibri" panose="020F0502020204030204" pitchFamily="34" charset="0"/>
                          <a:cs typeface="Times New Roman" panose="02020603050405020304" pitchFamily="18" charset="0"/>
                        </a:rPr>
                        <a:t> ASUNTO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1393214133"/>
                  </a:ext>
                </a:extLst>
              </a:tr>
              <a:tr h="449590">
                <a:tc>
                  <a:txBody>
                    <a:bodyPr/>
                    <a:lstStyle/>
                    <a:p>
                      <a:r>
                        <a:rPr lang="es-PE"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DCCI</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2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0</a:t>
                      </a:r>
                      <a:endParaRPr lang="es-PE" sz="12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pPr algn="l"/>
                      <a:endParaRPr lang="es-PE" sz="1200" u="none" kern="1200" dirty="0">
                        <a:solidFill>
                          <a:schemeClr val="tx1"/>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extLst>
                  <a:ext uri="{0D108BD9-81ED-4DB2-BD59-A6C34878D82A}">
                    <a16:rowId xmlns:a16="http://schemas.microsoft.com/office/drawing/2014/main" val="2877909416"/>
                  </a:ext>
                </a:extLst>
              </a:tr>
              <a:tr h="1288348">
                <a:tc>
                  <a:txBody>
                    <a:bodyPr/>
                    <a:lstStyle/>
                    <a:p>
                      <a:r>
                        <a:rPr lang="es-ES" sz="12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DCCII</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ctr"/>
                      <a:r>
                        <a:rPr lang="es-E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0</a:t>
                      </a:r>
                      <a:endParaRPr lang="es-PE"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pt-BR" sz="1200" dirty="0">
                        <a:solidFill>
                          <a:schemeClr val="tx1"/>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1707347665"/>
                  </a:ext>
                </a:extLst>
              </a:tr>
              <a:tr h="1573566">
                <a:tc>
                  <a:txBody>
                    <a:bodyPr/>
                    <a:lstStyle/>
                    <a:p>
                      <a:r>
                        <a:rPr lang="es-PE" sz="12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DCP</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pPr algn="ctr"/>
                      <a:r>
                        <a:rPr lang="es-PE" sz="1200" b="1" dirty="0">
                          <a:effectLst/>
                          <a:latin typeface="Calibri" panose="020F0502020204030204" pitchFamily="34" charset="0"/>
                          <a:ea typeface="Calibri" panose="020F0502020204030204" pitchFamily="34" charset="0"/>
                          <a:cs typeface="Times New Roman" panose="02020603050405020304" pitchFamily="18" charset="0"/>
                        </a:rPr>
                        <a:t>3</a:t>
                      </a:r>
                    </a:p>
                    <a:p>
                      <a:pPr algn="ctr"/>
                      <a:endParaRPr lang="es-PE"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r>
                        <a:rPr lang="es-ES" sz="1200" dirty="0">
                          <a:effectLst/>
                          <a:latin typeface="Calibri" panose="020F0502020204030204" pitchFamily="34" charset="0"/>
                          <a:ea typeface="Calibri" panose="020F0502020204030204" pitchFamily="34" charset="0"/>
                          <a:cs typeface="Times New Roman" panose="02020603050405020304" pitchFamily="18" charset="0"/>
                        </a:rPr>
                        <a:t>I-980806: Se generó ticket en virtud a que de la acumulación de 03 expedientes SIGERI el sistema no actualiza los intereses de los Expedientes acumulados, solamente actualiza intereses del SIGERI básico. </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I-902560: Se solicitó verificar pago anulado en el RSIRAT al momento de calificar valor.</a:t>
                      </a:r>
                    </a:p>
                    <a:p>
                      <a:r>
                        <a:rPr lang="es-ES" sz="1200" dirty="0">
                          <a:effectLst/>
                          <a:latin typeface="Calibri" panose="020F0502020204030204" pitchFamily="34" charset="0"/>
                          <a:ea typeface="Calibri" panose="020F0502020204030204" pitchFamily="34" charset="0"/>
                          <a:cs typeface="Times New Roman" panose="02020603050405020304" pitchFamily="18" charset="0"/>
                        </a:rPr>
                        <a:t>I-1011110: Actualiza a resultado de L/C.</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extLst>
                  <a:ext uri="{0D108BD9-81ED-4DB2-BD59-A6C34878D82A}">
                    <a16:rowId xmlns:a16="http://schemas.microsoft.com/office/drawing/2014/main" val="476787184"/>
                  </a:ext>
                </a:extLst>
              </a:tr>
              <a:tr h="242071">
                <a:tc>
                  <a:txBody>
                    <a:bodyPr/>
                    <a:lstStyle/>
                    <a:p>
                      <a:r>
                        <a:rPr lang="es-PE" sz="1200" b="1">
                          <a:effectLst/>
                          <a:latin typeface="Calibri" panose="020F0502020204030204" pitchFamily="34" charset="0"/>
                          <a:ea typeface="Calibri" panose="020F0502020204030204" pitchFamily="34" charset="0"/>
                          <a:cs typeface="Times New Roman" panose="02020603050405020304" pitchFamily="18" charset="0"/>
                        </a:rPr>
                        <a:t>TOTAL</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ctr"/>
                      <a:r>
                        <a:rPr lang="es-ES" sz="1200" b="1" dirty="0">
                          <a:effectLst/>
                          <a:latin typeface="Calibri" panose="020F0502020204030204" pitchFamily="34" charset="0"/>
                          <a:ea typeface="Calibri" panose="020F0502020204030204" pitchFamily="34" charset="0"/>
                          <a:cs typeface="Times New Roman" panose="02020603050405020304" pitchFamily="18" charset="0"/>
                        </a:rPr>
                        <a:t>3</a:t>
                      </a:r>
                      <a:endParaRPr lang="es-PE"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1168371186"/>
                  </a:ext>
                </a:extLst>
              </a:tr>
            </a:tbl>
          </a:graphicData>
        </a:graphic>
      </p:graphicFrame>
    </p:spTree>
    <p:extLst>
      <p:ext uri="{BB962C8B-B14F-4D97-AF65-F5344CB8AC3E}">
        <p14:creationId xmlns:p14="http://schemas.microsoft.com/office/powerpoint/2010/main" val="27286710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800" b="1" dirty="0">
                <a:latin typeface="Arial" panose="020B0604020202020204" pitchFamily="34" charset="0"/>
                <a:cs typeface="Arial" panose="020B0604020202020204" pitchFamily="34" charset="0"/>
              </a:rPr>
              <a:t>RESULTADOS DE RECLAMO - 2024</a:t>
            </a:r>
            <a:br>
              <a:rPr lang="es-ES" sz="2800" b="1" dirty="0">
                <a:latin typeface="Arial" panose="020B0604020202020204" pitchFamily="34" charset="0"/>
                <a:cs typeface="Arial" panose="020B0604020202020204" pitchFamily="34" charset="0"/>
              </a:rPr>
            </a:br>
            <a:endParaRPr lang="es-PE" sz="2800" b="1" dirty="0">
              <a:latin typeface="Arial" panose="020B0604020202020204" pitchFamily="34" charset="0"/>
              <a:cs typeface="Arial" panose="020B0604020202020204" pitchFamily="34" charset="0"/>
            </a:endParaRPr>
          </a:p>
        </p:txBody>
      </p:sp>
      <p:graphicFrame>
        <p:nvGraphicFramePr>
          <p:cNvPr id="6" name="Tabla 5">
            <a:extLst>
              <a:ext uri="{FF2B5EF4-FFF2-40B4-BE49-F238E27FC236}">
                <a16:creationId xmlns:a16="http://schemas.microsoft.com/office/drawing/2014/main" id="{5C1F8767-F3D1-FC7C-4DC5-DC221001CBFC}"/>
              </a:ext>
            </a:extLst>
          </p:cNvPr>
          <p:cNvGraphicFramePr>
            <a:graphicFrameLocks noGrp="1"/>
          </p:cNvGraphicFramePr>
          <p:nvPr>
            <p:extLst>
              <p:ext uri="{D42A27DB-BD31-4B8C-83A1-F6EECF244321}">
                <p14:modId xmlns:p14="http://schemas.microsoft.com/office/powerpoint/2010/main" val="3810984051"/>
              </p:ext>
            </p:extLst>
          </p:nvPr>
        </p:nvGraphicFramePr>
        <p:xfrm>
          <a:off x="240312" y="1342636"/>
          <a:ext cx="11381702" cy="4713852"/>
        </p:xfrm>
        <a:graphic>
          <a:graphicData uri="http://schemas.openxmlformats.org/drawingml/2006/table">
            <a:tbl>
              <a:tblPr/>
              <a:tblGrid>
                <a:gridCol w="599102">
                  <a:extLst>
                    <a:ext uri="{9D8B030D-6E8A-4147-A177-3AD203B41FA5}">
                      <a16:colId xmlns:a16="http://schemas.microsoft.com/office/drawing/2014/main" val="1830478753"/>
                    </a:ext>
                  </a:extLst>
                </a:gridCol>
                <a:gridCol w="269578">
                  <a:extLst>
                    <a:ext uri="{9D8B030D-6E8A-4147-A177-3AD203B41FA5}">
                      <a16:colId xmlns:a16="http://schemas.microsoft.com/office/drawing/2014/main" val="976110479"/>
                    </a:ext>
                  </a:extLst>
                </a:gridCol>
                <a:gridCol w="313833">
                  <a:extLst>
                    <a:ext uri="{9D8B030D-6E8A-4147-A177-3AD203B41FA5}">
                      <a16:colId xmlns:a16="http://schemas.microsoft.com/office/drawing/2014/main" val="2657161292"/>
                    </a:ext>
                  </a:extLst>
                </a:gridCol>
                <a:gridCol w="443443">
                  <a:extLst>
                    <a:ext uri="{9D8B030D-6E8A-4147-A177-3AD203B41FA5}">
                      <a16:colId xmlns:a16="http://schemas.microsoft.com/office/drawing/2014/main" val="2571861186"/>
                    </a:ext>
                  </a:extLst>
                </a:gridCol>
                <a:gridCol w="443443">
                  <a:extLst>
                    <a:ext uri="{9D8B030D-6E8A-4147-A177-3AD203B41FA5}">
                      <a16:colId xmlns:a16="http://schemas.microsoft.com/office/drawing/2014/main" val="3123508407"/>
                    </a:ext>
                  </a:extLst>
                </a:gridCol>
                <a:gridCol w="443443">
                  <a:extLst>
                    <a:ext uri="{9D8B030D-6E8A-4147-A177-3AD203B41FA5}">
                      <a16:colId xmlns:a16="http://schemas.microsoft.com/office/drawing/2014/main" val="1761037411"/>
                    </a:ext>
                  </a:extLst>
                </a:gridCol>
                <a:gridCol w="443443">
                  <a:extLst>
                    <a:ext uri="{9D8B030D-6E8A-4147-A177-3AD203B41FA5}">
                      <a16:colId xmlns:a16="http://schemas.microsoft.com/office/drawing/2014/main" val="4069715718"/>
                    </a:ext>
                  </a:extLst>
                </a:gridCol>
                <a:gridCol w="443443">
                  <a:extLst>
                    <a:ext uri="{9D8B030D-6E8A-4147-A177-3AD203B41FA5}">
                      <a16:colId xmlns:a16="http://schemas.microsoft.com/office/drawing/2014/main" val="2827311752"/>
                    </a:ext>
                  </a:extLst>
                </a:gridCol>
                <a:gridCol w="443443">
                  <a:extLst>
                    <a:ext uri="{9D8B030D-6E8A-4147-A177-3AD203B41FA5}">
                      <a16:colId xmlns:a16="http://schemas.microsoft.com/office/drawing/2014/main" val="3158204159"/>
                    </a:ext>
                  </a:extLst>
                </a:gridCol>
                <a:gridCol w="443443">
                  <a:extLst>
                    <a:ext uri="{9D8B030D-6E8A-4147-A177-3AD203B41FA5}">
                      <a16:colId xmlns:a16="http://schemas.microsoft.com/office/drawing/2014/main" val="1845870146"/>
                    </a:ext>
                  </a:extLst>
                </a:gridCol>
                <a:gridCol w="443443">
                  <a:extLst>
                    <a:ext uri="{9D8B030D-6E8A-4147-A177-3AD203B41FA5}">
                      <a16:colId xmlns:a16="http://schemas.microsoft.com/office/drawing/2014/main" val="2669878163"/>
                    </a:ext>
                  </a:extLst>
                </a:gridCol>
                <a:gridCol w="443443">
                  <a:extLst>
                    <a:ext uri="{9D8B030D-6E8A-4147-A177-3AD203B41FA5}">
                      <a16:colId xmlns:a16="http://schemas.microsoft.com/office/drawing/2014/main" val="3086343668"/>
                    </a:ext>
                  </a:extLst>
                </a:gridCol>
                <a:gridCol w="443443">
                  <a:extLst>
                    <a:ext uri="{9D8B030D-6E8A-4147-A177-3AD203B41FA5}">
                      <a16:colId xmlns:a16="http://schemas.microsoft.com/office/drawing/2014/main" val="607963361"/>
                    </a:ext>
                  </a:extLst>
                </a:gridCol>
                <a:gridCol w="443443">
                  <a:extLst>
                    <a:ext uri="{9D8B030D-6E8A-4147-A177-3AD203B41FA5}">
                      <a16:colId xmlns:a16="http://schemas.microsoft.com/office/drawing/2014/main" val="1278804772"/>
                    </a:ext>
                  </a:extLst>
                </a:gridCol>
                <a:gridCol w="443443">
                  <a:extLst>
                    <a:ext uri="{9D8B030D-6E8A-4147-A177-3AD203B41FA5}">
                      <a16:colId xmlns:a16="http://schemas.microsoft.com/office/drawing/2014/main" val="1600247373"/>
                    </a:ext>
                  </a:extLst>
                </a:gridCol>
                <a:gridCol w="443443">
                  <a:extLst>
                    <a:ext uri="{9D8B030D-6E8A-4147-A177-3AD203B41FA5}">
                      <a16:colId xmlns:a16="http://schemas.microsoft.com/office/drawing/2014/main" val="3939462712"/>
                    </a:ext>
                  </a:extLst>
                </a:gridCol>
                <a:gridCol w="443443">
                  <a:extLst>
                    <a:ext uri="{9D8B030D-6E8A-4147-A177-3AD203B41FA5}">
                      <a16:colId xmlns:a16="http://schemas.microsoft.com/office/drawing/2014/main" val="3411044468"/>
                    </a:ext>
                  </a:extLst>
                </a:gridCol>
                <a:gridCol w="443443">
                  <a:extLst>
                    <a:ext uri="{9D8B030D-6E8A-4147-A177-3AD203B41FA5}">
                      <a16:colId xmlns:a16="http://schemas.microsoft.com/office/drawing/2014/main" val="1748629549"/>
                    </a:ext>
                  </a:extLst>
                </a:gridCol>
                <a:gridCol w="443443">
                  <a:extLst>
                    <a:ext uri="{9D8B030D-6E8A-4147-A177-3AD203B41FA5}">
                      <a16:colId xmlns:a16="http://schemas.microsoft.com/office/drawing/2014/main" val="4080195774"/>
                    </a:ext>
                  </a:extLst>
                </a:gridCol>
                <a:gridCol w="443443">
                  <a:extLst>
                    <a:ext uri="{9D8B030D-6E8A-4147-A177-3AD203B41FA5}">
                      <a16:colId xmlns:a16="http://schemas.microsoft.com/office/drawing/2014/main" val="1084681730"/>
                    </a:ext>
                  </a:extLst>
                </a:gridCol>
                <a:gridCol w="443443">
                  <a:extLst>
                    <a:ext uri="{9D8B030D-6E8A-4147-A177-3AD203B41FA5}">
                      <a16:colId xmlns:a16="http://schemas.microsoft.com/office/drawing/2014/main" val="3831191514"/>
                    </a:ext>
                  </a:extLst>
                </a:gridCol>
                <a:gridCol w="443443">
                  <a:extLst>
                    <a:ext uri="{9D8B030D-6E8A-4147-A177-3AD203B41FA5}">
                      <a16:colId xmlns:a16="http://schemas.microsoft.com/office/drawing/2014/main" val="4158780859"/>
                    </a:ext>
                  </a:extLst>
                </a:gridCol>
                <a:gridCol w="443443">
                  <a:extLst>
                    <a:ext uri="{9D8B030D-6E8A-4147-A177-3AD203B41FA5}">
                      <a16:colId xmlns:a16="http://schemas.microsoft.com/office/drawing/2014/main" val="2173230293"/>
                    </a:ext>
                  </a:extLst>
                </a:gridCol>
                <a:gridCol w="443443">
                  <a:extLst>
                    <a:ext uri="{9D8B030D-6E8A-4147-A177-3AD203B41FA5}">
                      <a16:colId xmlns:a16="http://schemas.microsoft.com/office/drawing/2014/main" val="2901737243"/>
                    </a:ext>
                  </a:extLst>
                </a:gridCol>
                <a:gridCol w="443443">
                  <a:extLst>
                    <a:ext uri="{9D8B030D-6E8A-4147-A177-3AD203B41FA5}">
                      <a16:colId xmlns:a16="http://schemas.microsoft.com/office/drawing/2014/main" val="3609415000"/>
                    </a:ext>
                  </a:extLst>
                </a:gridCol>
                <a:gridCol w="443443">
                  <a:extLst>
                    <a:ext uri="{9D8B030D-6E8A-4147-A177-3AD203B41FA5}">
                      <a16:colId xmlns:a16="http://schemas.microsoft.com/office/drawing/2014/main" val="345460417"/>
                    </a:ext>
                  </a:extLst>
                </a:gridCol>
              </a:tblGrid>
              <a:tr h="288544">
                <a:tc rowSpan="2">
                  <a:txBody>
                    <a:bodyPr/>
                    <a:lstStyle/>
                    <a:p>
                      <a:pPr algn="ctr" fontAlgn="b"/>
                      <a:r>
                        <a:rPr lang="es-PE" sz="1200" b="0" i="0" u="none" strike="noStrike" dirty="0">
                          <a:solidFill>
                            <a:srgbClr val="000000"/>
                          </a:solidFill>
                          <a:effectLst/>
                          <a:latin typeface="Times New Roman" panose="02020603050405020304" pitchFamily="18" charset="0"/>
                        </a:rPr>
                        <a:t> </a:t>
                      </a:r>
                    </a:p>
                  </a:txBody>
                  <a:tcPr marL="6350" marR="6350" marT="6350" marB="0" anchor="ctr">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gridSpan="3">
                  <a:txBody>
                    <a:bodyPr/>
                    <a:lstStyle/>
                    <a:p>
                      <a:pPr algn="ctr" fontAlgn="ctr"/>
                      <a:r>
                        <a:rPr lang="es-PE" sz="1200" b="0" i="0" u="none" strike="noStrike">
                          <a:solidFill>
                            <a:srgbClr val="000000"/>
                          </a:solidFill>
                          <a:effectLst/>
                          <a:latin typeface="Calibri" panose="020F0502020204030204" pitchFamily="34" charset="0"/>
                        </a:rPr>
                        <a:t>ENERO</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PE"/>
                    </a:p>
                  </a:txBody>
                  <a:tcPr/>
                </a:tc>
                <a:tc hMerge="1">
                  <a:txBody>
                    <a:bodyPr/>
                    <a:lstStyle/>
                    <a:p>
                      <a:endParaRPr lang="es-PE"/>
                    </a:p>
                  </a:txBody>
                  <a:tcPr/>
                </a:tc>
                <a:tc gridSpan="3">
                  <a:txBody>
                    <a:bodyPr/>
                    <a:lstStyle/>
                    <a:p>
                      <a:pPr algn="ctr" fontAlgn="ctr"/>
                      <a:r>
                        <a:rPr lang="es-ES" sz="1200" b="0" i="0" u="none" strike="noStrike" dirty="0">
                          <a:solidFill>
                            <a:srgbClr val="000000"/>
                          </a:solidFill>
                          <a:effectLst/>
                          <a:latin typeface="Calibri" panose="020F0502020204030204" pitchFamily="34" charset="0"/>
                        </a:rPr>
                        <a:t>FEBRERO</a:t>
                      </a:r>
                      <a:endParaRPr lang="es-PE" sz="12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1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1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fontAlgn="ctr"/>
                      <a:r>
                        <a:rPr lang="es-ES" sz="1200" b="0" i="0" u="none" strike="noStrike" dirty="0">
                          <a:solidFill>
                            <a:srgbClr val="000000"/>
                          </a:solidFill>
                          <a:effectLst/>
                          <a:latin typeface="Calibri" panose="020F0502020204030204" pitchFamily="34" charset="0"/>
                        </a:rPr>
                        <a:t>MARZO</a:t>
                      </a:r>
                      <a:endParaRPr lang="es-PE" sz="12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fontAlgn="ctr"/>
                      <a:r>
                        <a:rPr lang="es-ES" sz="1200" b="0" i="0" u="none" strike="noStrike" dirty="0">
                          <a:solidFill>
                            <a:srgbClr val="000000"/>
                          </a:solidFill>
                          <a:effectLst/>
                          <a:latin typeface="Calibri" panose="020F0502020204030204" pitchFamily="34" charset="0"/>
                        </a:rPr>
                        <a:t>ABRIL</a:t>
                      </a:r>
                      <a:endParaRPr lang="es-PE" sz="12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fontAlgn="ctr"/>
                      <a:r>
                        <a:rPr lang="es-ES" sz="1200" b="0" i="0" u="none" strike="noStrike" dirty="0">
                          <a:solidFill>
                            <a:srgbClr val="000000"/>
                          </a:solidFill>
                          <a:effectLst/>
                          <a:latin typeface="Calibri" panose="020F0502020204030204" pitchFamily="34" charset="0"/>
                        </a:rPr>
                        <a:t>MAYO</a:t>
                      </a:r>
                      <a:endParaRPr lang="es-PE" sz="12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fontAlgn="ctr"/>
                      <a:r>
                        <a:rPr lang="es-ES" sz="1200" b="0" i="0" u="none" strike="noStrike" dirty="0">
                          <a:solidFill>
                            <a:srgbClr val="000000"/>
                          </a:solidFill>
                          <a:effectLst/>
                          <a:latin typeface="Calibri" panose="020F0502020204030204" pitchFamily="34" charset="0"/>
                        </a:rPr>
                        <a:t>JUNIO</a:t>
                      </a:r>
                      <a:endParaRPr lang="es-PE" sz="12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4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4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fontAlgn="ctr"/>
                      <a:r>
                        <a:rPr lang="es-ES" sz="1200" b="0" i="0" u="none" strike="noStrike" dirty="0">
                          <a:solidFill>
                            <a:srgbClr val="000000"/>
                          </a:solidFill>
                          <a:effectLst/>
                          <a:latin typeface="Calibri" panose="020F0502020204030204" pitchFamily="34" charset="0"/>
                        </a:rPr>
                        <a:t>JULIO</a:t>
                      </a:r>
                      <a:endParaRPr lang="es-PE" sz="12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4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4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fontAlgn="ctr"/>
                      <a:r>
                        <a:rPr lang="es-ES" sz="1200" b="0" i="0" u="none" strike="noStrike" dirty="0">
                          <a:solidFill>
                            <a:srgbClr val="000000"/>
                          </a:solidFill>
                          <a:effectLst/>
                          <a:latin typeface="Calibri" panose="020F0502020204030204" pitchFamily="34" charset="0"/>
                        </a:rPr>
                        <a:t>AGOSTO</a:t>
                      </a:r>
                      <a:endParaRPr lang="es-PE" sz="12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2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2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s-PE" sz="12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5952588"/>
                  </a:ext>
                </a:extLst>
              </a:tr>
              <a:tr h="525273">
                <a:tc vMerge="1">
                  <a:txBody>
                    <a:bodyPr/>
                    <a:lstStyle/>
                    <a:p>
                      <a:endParaRPr lang="es-PE"/>
                    </a:p>
                  </a:txBody>
                  <a:tcPr/>
                </a:tc>
                <a:tc>
                  <a:txBody>
                    <a:bodyPr/>
                    <a:lstStyle/>
                    <a:p>
                      <a:pPr algn="ctr" fontAlgn="ctr"/>
                      <a:r>
                        <a:rPr lang="es-PE" sz="12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DCCIII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2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ES" sz="1200" b="1" i="0" u="none" strike="noStrike" dirty="0">
                          <a:solidFill>
                            <a:srgbClr val="FFFFFF"/>
                          </a:solidFill>
                          <a:effectLst/>
                          <a:latin typeface="Calibri Light" panose="020F0302020204030204" pitchFamily="34" charset="0"/>
                        </a:rPr>
                        <a:t>DCCI</a:t>
                      </a:r>
                      <a:endParaRPr lang="es-PE" sz="1200" b="1" i="0" u="none" strike="noStrike" dirty="0">
                        <a:solidFill>
                          <a:srgbClr val="FFFFFF"/>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ES" sz="1200" b="1" i="0" u="none" strike="noStrike" dirty="0">
                          <a:solidFill>
                            <a:srgbClr val="FFFFFF"/>
                          </a:solidFill>
                          <a:effectLst/>
                          <a:latin typeface="Calibri Light" panose="020F0302020204030204" pitchFamily="34" charset="0"/>
                        </a:rPr>
                        <a:t>DCCII</a:t>
                      </a:r>
                      <a:endParaRPr lang="es-PE" sz="1200" b="1" i="0" u="none" strike="noStrike" dirty="0">
                        <a:solidFill>
                          <a:srgbClr val="FFFFFF"/>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ES" sz="1200" b="1" i="0" u="none" strike="noStrike" dirty="0">
                          <a:solidFill>
                            <a:srgbClr val="FFFFFF"/>
                          </a:solidFill>
                          <a:effectLst/>
                          <a:latin typeface="Calibri Light" panose="020F0302020204030204" pitchFamily="34" charset="0"/>
                        </a:rPr>
                        <a:t>DCP</a:t>
                      </a:r>
                      <a:endParaRPr lang="es-PE" sz="1200" b="1" i="0" u="none" strike="noStrike" dirty="0">
                        <a:solidFill>
                          <a:srgbClr val="FFFFFF"/>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ES" sz="1200" b="1" i="0" u="none" strike="noStrike" dirty="0">
                          <a:solidFill>
                            <a:srgbClr val="FFFFFF"/>
                          </a:solidFill>
                          <a:effectLst/>
                          <a:latin typeface="Calibri Light" panose="020F0302020204030204" pitchFamily="34" charset="0"/>
                        </a:rPr>
                        <a:t>DCCI</a:t>
                      </a:r>
                      <a:endParaRPr lang="es-PE" sz="1200" b="1" i="0" u="none" strike="noStrike" dirty="0">
                        <a:solidFill>
                          <a:srgbClr val="FFFFFF"/>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ES" sz="1200" b="1" i="0" u="none" strike="noStrike" dirty="0">
                          <a:solidFill>
                            <a:srgbClr val="FFFFFF"/>
                          </a:solidFill>
                          <a:effectLst/>
                          <a:latin typeface="Calibri Light" panose="020F0302020204030204" pitchFamily="34" charset="0"/>
                        </a:rPr>
                        <a:t>DCCII</a:t>
                      </a:r>
                      <a:endParaRPr lang="es-PE" sz="1200" b="1" i="0" u="none" strike="noStrike" dirty="0">
                        <a:solidFill>
                          <a:srgbClr val="FFFFFF"/>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ES" sz="1200" b="1" i="0" u="none" strike="noStrike" dirty="0">
                          <a:solidFill>
                            <a:srgbClr val="FFFFFF"/>
                          </a:solidFill>
                          <a:effectLst/>
                          <a:latin typeface="Calibri Light" panose="020F0302020204030204" pitchFamily="34" charset="0"/>
                        </a:rPr>
                        <a:t>DCP</a:t>
                      </a:r>
                      <a:endParaRPr lang="es-PE" sz="1200" b="1" i="0" u="none" strike="noStrike" dirty="0">
                        <a:solidFill>
                          <a:srgbClr val="FFFFFF"/>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ES" sz="1200" b="1" i="0" u="none" strike="noStrike" dirty="0">
                          <a:solidFill>
                            <a:srgbClr val="FFFFFF"/>
                          </a:solidFill>
                          <a:effectLst/>
                          <a:latin typeface="Calibri Light" panose="020F0302020204030204" pitchFamily="34" charset="0"/>
                        </a:rPr>
                        <a:t>DCCI</a:t>
                      </a:r>
                      <a:endParaRPr lang="es-PE" sz="1200" b="1" i="0" u="none" strike="noStrike" dirty="0">
                        <a:solidFill>
                          <a:srgbClr val="FFFFFF"/>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ES" sz="1200" b="1" i="0" u="none" strike="noStrike" dirty="0">
                          <a:solidFill>
                            <a:srgbClr val="FFFFFF"/>
                          </a:solidFill>
                          <a:effectLst/>
                          <a:latin typeface="Calibri Light" panose="020F0302020204030204" pitchFamily="34" charset="0"/>
                        </a:rPr>
                        <a:t>DCCII</a:t>
                      </a:r>
                      <a:endParaRPr lang="es-PE" sz="1200" b="1" i="0" u="none" strike="noStrike" dirty="0">
                        <a:solidFill>
                          <a:srgbClr val="FFFFFF"/>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ES" sz="1200" b="1" i="0" u="none" strike="noStrike" dirty="0">
                          <a:solidFill>
                            <a:srgbClr val="FFFFFF"/>
                          </a:solidFill>
                          <a:effectLst/>
                          <a:latin typeface="Calibri Light" panose="020F0302020204030204" pitchFamily="34" charset="0"/>
                        </a:rPr>
                        <a:t>DCP</a:t>
                      </a:r>
                      <a:endParaRPr lang="es-PE" sz="1200" b="1" i="0" u="none" strike="noStrike" dirty="0">
                        <a:solidFill>
                          <a:srgbClr val="FFFFFF"/>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ES" sz="1200" b="1" i="0" u="none" strike="noStrike" dirty="0">
                          <a:solidFill>
                            <a:srgbClr val="FFFFFF"/>
                          </a:solidFill>
                          <a:effectLst/>
                          <a:latin typeface="Calibri Light" panose="020F0302020204030204" pitchFamily="34" charset="0"/>
                        </a:rPr>
                        <a:t>TOTAL</a:t>
                      </a:r>
                      <a:endParaRPr lang="es-PE" sz="1200" b="1" i="0" u="none" strike="noStrike" dirty="0">
                        <a:solidFill>
                          <a:srgbClr val="FFFFFF"/>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extLst>
                  <a:ext uri="{0D108BD9-81ED-4DB2-BD59-A6C34878D82A}">
                    <a16:rowId xmlns:a16="http://schemas.microsoft.com/office/drawing/2014/main" val="3661435629"/>
                  </a:ext>
                </a:extLst>
              </a:tr>
              <a:tr h="559473">
                <a:tc>
                  <a:txBody>
                    <a:bodyPr/>
                    <a:lstStyle/>
                    <a:p>
                      <a:pPr algn="ctr" fontAlgn="ctr"/>
                      <a:r>
                        <a:rPr lang="es-PE" sz="1200" b="1" i="0" u="none" strike="noStrike" dirty="0">
                          <a:solidFill>
                            <a:srgbClr val="FFFFFF"/>
                          </a:solidFill>
                          <a:effectLst/>
                          <a:latin typeface="Calibri Light" panose="020F0302020204030204" pitchFamily="34" charset="0"/>
                        </a:rPr>
                        <a:t>Infundado</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255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 75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 14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236</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s-ES" sz="600" b="1" i="0" u="none" strike="noStrike" kern="1200" dirty="0">
                        <a:solidFill>
                          <a:schemeClr val="tx1"/>
                        </a:solidFill>
                        <a:effectLst/>
                        <a:latin typeface="Calibri Light" panose="020F0302020204030204" pitchFamily="34" charset="0"/>
                        <a:ea typeface="+mn-ea"/>
                        <a:cs typeface="+mn-cs"/>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s-ES" sz="1200" b="1" i="0" u="none" strike="noStrike" kern="1200" dirty="0">
                          <a:solidFill>
                            <a:schemeClr val="tx1"/>
                          </a:solidFill>
                          <a:effectLst/>
                          <a:latin typeface="Calibri Light" panose="020F0302020204030204" pitchFamily="34" charset="0"/>
                          <a:ea typeface="+mn-ea"/>
                          <a:cs typeface="+mn-cs"/>
                        </a:rPr>
                        <a:t>78</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200" b="1" i="0" u="none" strike="noStrike" kern="1200" dirty="0">
                          <a:solidFill>
                            <a:schemeClr val="tx1"/>
                          </a:solidFill>
                          <a:effectLst/>
                          <a:latin typeface="Calibri Light" panose="020F0302020204030204" pitchFamily="34" charset="0"/>
                          <a:ea typeface="+mn-ea"/>
                          <a:cs typeface="+mn-cs"/>
                        </a:rPr>
                        <a:t>17</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200" b="1" i="0" u="none" strike="noStrike" kern="1200" dirty="0">
                          <a:solidFill>
                            <a:srgbClr val="000000"/>
                          </a:solidFill>
                          <a:effectLst/>
                          <a:latin typeface="Calibri Light" panose="020F0302020204030204" pitchFamily="34" charset="0"/>
                          <a:ea typeface="+mn-ea"/>
                          <a:cs typeface="+mn-cs"/>
                        </a:rPr>
                        <a:t>206</a:t>
                      </a:r>
                      <a:endParaRPr lang="es-PE" sz="12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70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18</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204</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83</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16</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234</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88</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12</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193</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104</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11</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240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58</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22</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204</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84</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26</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rgbClr val="833C0C"/>
                          </a:solidFill>
                          <a:effectLst/>
                          <a:latin typeface="Calibri Light" panose="020F0302020204030204" pitchFamily="34" charset="0"/>
                        </a:rPr>
                        <a:t>2548</a:t>
                      </a:r>
                      <a:endParaRPr lang="es-PE" sz="12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2595509009"/>
                  </a:ext>
                </a:extLst>
              </a:tr>
              <a:tr h="711565">
                <a:tc>
                  <a:txBody>
                    <a:bodyPr/>
                    <a:lstStyle/>
                    <a:p>
                      <a:pPr algn="ctr" fontAlgn="ctr"/>
                      <a:r>
                        <a:rPr lang="es-PE" sz="1200" b="1" i="0" u="none" strike="noStrike" dirty="0">
                          <a:solidFill>
                            <a:srgbClr val="FFFFFF"/>
                          </a:solidFill>
                          <a:effectLst/>
                          <a:latin typeface="Calibri Light" panose="020F0302020204030204" pitchFamily="34" charset="0"/>
                        </a:rPr>
                        <a:t>Fundado / F.P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 2</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16</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0</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200" b="1" i="0" u="none" strike="noStrike" kern="1200" dirty="0">
                          <a:solidFill>
                            <a:schemeClr val="tx1"/>
                          </a:solidFill>
                          <a:effectLst/>
                          <a:latin typeface="Calibri Light" panose="020F0302020204030204" pitchFamily="34" charset="0"/>
                          <a:ea typeface="+mn-ea"/>
                          <a:cs typeface="+mn-cs"/>
                        </a:rPr>
                        <a:t>2</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200" b="1" i="0" u="none" strike="noStrike" kern="1200" dirty="0">
                          <a:solidFill>
                            <a:srgbClr val="000000"/>
                          </a:solidFill>
                          <a:effectLst/>
                          <a:latin typeface="Calibri Light" panose="020F0302020204030204" pitchFamily="34" charset="0"/>
                          <a:ea typeface="+mn-ea"/>
                          <a:cs typeface="+mn-cs"/>
                        </a:rPr>
                        <a:t>4</a:t>
                      </a:r>
                      <a:endParaRPr lang="es-PE" sz="12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11</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1</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1</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13</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1</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0</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12</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0</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3</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14</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0</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0</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19</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4</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algn="ctr" defTabSz="914400" rtl="0" eaLnBrk="1" fontAlgn="ctr" latinLnBrk="0" hangingPunct="1"/>
                      <a:r>
                        <a:rPr lang="es-ES" sz="1200" b="1" i="0" u="none" strike="noStrike" kern="1200" dirty="0">
                          <a:solidFill>
                            <a:schemeClr val="tx1"/>
                          </a:solidFill>
                          <a:effectLst/>
                          <a:latin typeface="Calibri Light" panose="020F0302020204030204" pitchFamily="34" charset="0"/>
                          <a:ea typeface="+mn-ea"/>
                          <a:cs typeface="+mn-cs"/>
                        </a:rPr>
                        <a:t>0</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s-ES" sz="1200" b="1" i="0" u="none" strike="noStrike" dirty="0">
                          <a:solidFill>
                            <a:srgbClr val="833C0C"/>
                          </a:solidFill>
                          <a:effectLst/>
                          <a:latin typeface="Calibri Light" panose="020F0302020204030204" pitchFamily="34" charset="0"/>
                        </a:rPr>
                        <a:t>108</a:t>
                      </a:r>
                      <a:endParaRPr lang="es-PE" sz="12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423245537"/>
                  </a:ext>
                </a:extLst>
              </a:tr>
              <a:tr h="360526">
                <a:tc>
                  <a:txBody>
                    <a:bodyPr/>
                    <a:lstStyle/>
                    <a:p>
                      <a:pPr algn="ctr" fontAlgn="ctr"/>
                      <a:r>
                        <a:rPr lang="es-PE" sz="1200" b="1" i="0" u="none" strike="noStrike">
                          <a:solidFill>
                            <a:srgbClr val="FFFFFF"/>
                          </a:solidFill>
                          <a:effectLst/>
                          <a:latin typeface="Calibri Light" panose="020F0302020204030204" pitchFamily="34" charset="0"/>
                        </a:rPr>
                        <a:t>Nulidad</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16</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 3</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9</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2</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200" b="1" i="0" u="none" strike="noStrike" kern="1200" dirty="0">
                          <a:solidFill>
                            <a:schemeClr val="tx1"/>
                          </a:solidFill>
                          <a:effectLst/>
                          <a:latin typeface="Calibri Light" panose="020F0302020204030204" pitchFamily="34" charset="0"/>
                          <a:ea typeface="+mn-ea"/>
                          <a:cs typeface="+mn-cs"/>
                        </a:rPr>
                        <a:t>0</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200" b="1" i="0" u="none" strike="noStrike" kern="1200" dirty="0">
                          <a:solidFill>
                            <a:srgbClr val="000000"/>
                          </a:solidFill>
                          <a:effectLst/>
                          <a:latin typeface="Calibri Light" panose="020F0302020204030204" pitchFamily="34" charset="0"/>
                          <a:ea typeface="+mn-ea"/>
                          <a:cs typeface="+mn-cs"/>
                        </a:rPr>
                        <a:t>25</a:t>
                      </a:r>
                      <a:endParaRPr lang="es-PE" sz="12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200" b="1" i="0" u="none" strike="noStrike">
                          <a:solidFill>
                            <a:srgbClr val="000000"/>
                          </a:solidFill>
                          <a:effectLst/>
                          <a:latin typeface="Calibri Light" panose="020F0302020204030204" pitchFamily="34" charset="0"/>
                        </a:rPr>
                        <a:t>3</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2</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41</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5</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21</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5</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27</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7</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3</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23</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3</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15</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rgbClr val="833C0C"/>
                          </a:solidFill>
                          <a:effectLst/>
                          <a:latin typeface="Calibri Light" panose="020F0302020204030204" pitchFamily="34" charset="0"/>
                        </a:rPr>
                        <a:t>223</a:t>
                      </a:r>
                      <a:endParaRPr lang="es-PE" sz="12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3848495558"/>
                  </a:ext>
                </a:extLst>
              </a:tr>
              <a:tr h="835854">
                <a:tc>
                  <a:txBody>
                    <a:bodyPr/>
                    <a:lstStyle/>
                    <a:p>
                      <a:pPr algn="ctr" fontAlgn="ctr"/>
                      <a:r>
                        <a:rPr lang="es-PE" sz="1200" b="1" i="0" u="none" strike="noStrike">
                          <a:solidFill>
                            <a:srgbClr val="FFFFFF"/>
                          </a:solidFill>
                          <a:effectLst/>
                          <a:latin typeface="Calibri Light" panose="020F0302020204030204" pitchFamily="34" charset="0"/>
                        </a:rPr>
                        <a:t>Improcedente</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0</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0</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200" b="1" i="0" u="none" strike="noStrike" kern="1200" dirty="0">
                          <a:solidFill>
                            <a:schemeClr val="tx1"/>
                          </a:solidFill>
                          <a:effectLst/>
                          <a:latin typeface="Calibri Light" panose="020F0302020204030204" pitchFamily="34" charset="0"/>
                          <a:ea typeface="+mn-ea"/>
                          <a:cs typeface="+mn-cs"/>
                        </a:rPr>
                        <a:t>0</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200" b="1" i="0" u="none" strike="noStrike" kern="1200" dirty="0">
                          <a:solidFill>
                            <a:srgbClr val="000000"/>
                          </a:solidFill>
                          <a:effectLst/>
                          <a:latin typeface="Calibri Light" panose="020F0302020204030204" pitchFamily="34" charset="0"/>
                          <a:ea typeface="+mn-ea"/>
                          <a:cs typeface="+mn-cs"/>
                        </a:rPr>
                        <a:t>0</a:t>
                      </a:r>
                      <a:endParaRPr lang="es-PE" sz="12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2</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rgbClr val="833C0C"/>
                          </a:solidFill>
                          <a:effectLst/>
                          <a:latin typeface="Calibri Light" panose="020F0302020204030204" pitchFamily="34" charset="0"/>
                        </a:rPr>
                        <a:t>2</a:t>
                      </a:r>
                      <a:endParaRPr lang="es-PE" sz="12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2611323000"/>
                  </a:ext>
                </a:extLst>
              </a:tr>
              <a:tr h="711565">
                <a:tc>
                  <a:txBody>
                    <a:bodyPr/>
                    <a:lstStyle/>
                    <a:p>
                      <a:pPr algn="ctr" fontAlgn="ctr"/>
                      <a:r>
                        <a:rPr lang="es-PE" sz="1200" b="1" i="0" u="none" strike="noStrike">
                          <a:solidFill>
                            <a:srgbClr val="FFFFFF"/>
                          </a:solidFill>
                          <a:effectLst/>
                          <a:latin typeface="Calibri Light" panose="020F0302020204030204" pitchFamily="34" charset="0"/>
                        </a:rPr>
                        <a:t>Desistimiento </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0</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1</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200" b="1" i="0" u="none" strike="noStrike" kern="1200" dirty="0">
                          <a:solidFill>
                            <a:schemeClr val="tx1"/>
                          </a:solidFill>
                          <a:effectLst/>
                          <a:latin typeface="Calibri Light" panose="020F0302020204030204" pitchFamily="34" charset="0"/>
                          <a:ea typeface="+mn-ea"/>
                          <a:cs typeface="+mn-cs"/>
                        </a:rPr>
                        <a:t>0</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200" b="1" i="0" u="none" strike="noStrike" kern="1200" dirty="0">
                          <a:solidFill>
                            <a:srgbClr val="000000"/>
                          </a:solidFill>
                          <a:effectLst/>
                          <a:latin typeface="Calibri Light" panose="020F0302020204030204" pitchFamily="34" charset="0"/>
                          <a:ea typeface="+mn-ea"/>
                          <a:cs typeface="+mn-cs"/>
                        </a:rPr>
                        <a:t>0</a:t>
                      </a:r>
                      <a:endParaRPr lang="es-PE" sz="12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rgbClr val="833C0C"/>
                          </a:solidFill>
                          <a:effectLst/>
                          <a:latin typeface="Calibri Light" panose="020F0302020204030204" pitchFamily="34" charset="0"/>
                        </a:rPr>
                        <a:t>1</a:t>
                      </a:r>
                      <a:endParaRPr lang="es-PE" sz="12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1532965810"/>
                  </a:ext>
                </a:extLst>
              </a:tr>
              <a:tr h="360526">
                <a:tc>
                  <a:txBody>
                    <a:bodyPr/>
                    <a:lstStyle/>
                    <a:p>
                      <a:pPr algn="ctr" fontAlgn="ctr"/>
                      <a:r>
                        <a:rPr lang="es-PE" sz="1200" b="1" i="0" u="none" strike="noStrike">
                          <a:solidFill>
                            <a:srgbClr val="FFFFFF"/>
                          </a:solidFill>
                          <a:effectLst/>
                          <a:latin typeface="Calibri Light" panose="020F0302020204030204" pitchFamily="34" charset="0"/>
                        </a:rPr>
                        <a:t>Otros </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 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1</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2</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200" b="1" i="0" u="none" strike="noStrike" kern="1200" dirty="0">
                          <a:solidFill>
                            <a:schemeClr val="tx1"/>
                          </a:solidFill>
                          <a:effectLst/>
                          <a:latin typeface="Calibri Light" panose="020F0302020204030204" pitchFamily="34" charset="0"/>
                          <a:ea typeface="+mn-ea"/>
                          <a:cs typeface="+mn-cs"/>
                        </a:rPr>
                        <a:t>0</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200" b="1" i="0" u="none" strike="noStrike" kern="1200" dirty="0">
                          <a:solidFill>
                            <a:srgbClr val="000000"/>
                          </a:solidFill>
                          <a:effectLst/>
                          <a:latin typeface="Calibri Light" panose="020F0302020204030204" pitchFamily="34" charset="0"/>
                          <a:ea typeface="+mn-ea"/>
                          <a:cs typeface="+mn-cs"/>
                        </a:rPr>
                        <a:t>1</a:t>
                      </a:r>
                      <a:endParaRPr lang="es-PE" sz="12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PE" sz="1200" b="1" i="0" u="none" strike="noStrike" dirty="0">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1</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rtl="0" fontAlgn="ctr"/>
                      <a:r>
                        <a:rPr lang="es-ES" sz="1200" b="1" i="0" u="none" strike="noStrike" dirty="0">
                          <a:solidFill>
                            <a:srgbClr val="000000"/>
                          </a:solidFill>
                          <a:effectLst/>
                          <a:latin typeface="Calibri Light" panose="020F0302020204030204" pitchFamily="34" charset="0"/>
                        </a:rPr>
                        <a:t>0</a:t>
                      </a:r>
                      <a:endParaRPr lang="es-PE" sz="1200" b="1" i="0" u="none" strike="noStrike" dirty="0">
                        <a:solidFill>
                          <a:srgbClr val="000000"/>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rgbClr val="833C0C"/>
                          </a:solidFill>
                          <a:effectLst/>
                          <a:latin typeface="Calibri Light" panose="020F0302020204030204" pitchFamily="34" charset="0"/>
                        </a:rPr>
                        <a:t>24</a:t>
                      </a:r>
                      <a:endParaRPr lang="es-PE" sz="12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358868893"/>
                  </a:ext>
                </a:extLst>
              </a:tr>
              <a:tr h="360526">
                <a:tc>
                  <a:txBody>
                    <a:bodyPr/>
                    <a:lstStyle/>
                    <a:p>
                      <a:pPr algn="ctr" fontAlgn="ctr"/>
                      <a:r>
                        <a:rPr lang="es-PE" sz="1200" b="1" i="0" u="none" strike="noStrike">
                          <a:solidFill>
                            <a:srgbClr val="FFFFFF"/>
                          </a:solidFill>
                          <a:effectLst/>
                          <a:latin typeface="Calibri Light" panose="020F0302020204030204" pitchFamily="34" charset="0"/>
                        </a:rPr>
                        <a:t>TOTAL</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285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 79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PE" sz="1200" b="1" i="0" u="none" strike="noStrike" kern="1200" dirty="0">
                          <a:solidFill>
                            <a:schemeClr val="tx1"/>
                          </a:solidFill>
                          <a:effectLst/>
                          <a:latin typeface="Calibri Light" panose="020F0302020204030204" pitchFamily="34" charset="0"/>
                          <a:ea typeface="+mn-ea"/>
                          <a:cs typeface="+mn-cs"/>
                        </a:rPr>
                        <a:t> 19*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262</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83</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 sz="1200" b="1" i="0" u="none" strike="noStrike" kern="1200" dirty="0">
                          <a:solidFill>
                            <a:schemeClr val="tx1"/>
                          </a:solidFill>
                          <a:effectLst/>
                          <a:latin typeface="Calibri Light" panose="020F0302020204030204" pitchFamily="34" charset="0"/>
                          <a:ea typeface="+mn-ea"/>
                          <a:cs typeface="+mn-cs"/>
                        </a:rPr>
                        <a:t>19</a:t>
                      </a:r>
                      <a:endParaRPr lang="es-PE" sz="1200" b="1" i="0" u="none" strike="noStrike" kern="1200" dirty="0">
                        <a:solidFill>
                          <a:schemeClr val="tx1"/>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algn="ctr" defTabSz="914400" rtl="0" eaLnBrk="1" fontAlgn="ctr" latinLnBrk="0" hangingPunct="1"/>
                      <a:r>
                        <a:rPr lang="es-ES" sz="1200" b="1" i="0" u="none" strike="noStrike" kern="1200" dirty="0">
                          <a:solidFill>
                            <a:srgbClr val="000000"/>
                          </a:solidFill>
                          <a:effectLst/>
                          <a:latin typeface="Calibri Light" panose="020F0302020204030204" pitchFamily="34" charset="0"/>
                          <a:ea typeface="+mn-ea"/>
                          <a:cs typeface="+mn-cs"/>
                        </a:rPr>
                        <a:t>236</a:t>
                      </a:r>
                      <a:endParaRPr lang="es-PE" sz="1200" b="1" i="0" u="none" strike="noStrike" kern="1200" dirty="0">
                        <a:solidFill>
                          <a:srgbClr val="000000"/>
                        </a:solidFill>
                        <a:effectLst/>
                        <a:latin typeface="Calibri Light" panose="020F0302020204030204" pitchFamily="34" charset="0"/>
                        <a:ea typeface="+mn-ea"/>
                        <a:cs typeface="+mn-cs"/>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77</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20</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256</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89</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18</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268</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97</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12</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232</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111</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15(*)</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265</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62</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23</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246</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91</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chemeClr val="tx1"/>
                          </a:solidFill>
                          <a:effectLst/>
                          <a:latin typeface="Calibri Light" panose="020F0302020204030204" pitchFamily="34" charset="0"/>
                        </a:rPr>
                        <a:t>41</a:t>
                      </a:r>
                      <a:endParaRPr lang="es-PE" sz="12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200" b="1" i="0" u="none" strike="noStrike" dirty="0">
                          <a:solidFill>
                            <a:srgbClr val="833C0C"/>
                          </a:solidFill>
                          <a:effectLst/>
                          <a:latin typeface="Calibri Light" panose="020F0302020204030204" pitchFamily="34" charset="0"/>
                        </a:rPr>
                        <a:t>2906</a:t>
                      </a:r>
                      <a:endParaRPr lang="es-PE" sz="12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544681814"/>
                  </a:ext>
                </a:extLst>
              </a:tr>
            </a:tbl>
          </a:graphicData>
        </a:graphic>
      </p:graphicFrame>
    </p:spTree>
    <p:extLst>
      <p:ext uri="{BB962C8B-B14F-4D97-AF65-F5344CB8AC3E}">
        <p14:creationId xmlns:p14="http://schemas.microsoft.com/office/powerpoint/2010/main" val="33940854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000" b="1" dirty="0">
                <a:latin typeface="Arial" panose="020B0604020202020204" pitchFamily="34" charset="0"/>
                <a:cs typeface="Arial" panose="020B0604020202020204" pitchFamily="34" charset="0"/>
              </a:rPr>
              <a:t>SUMILLAS DE NULIDADES DECLARADAS POR LA GAFA-DCCI</a:t>
            </a:r>
            <a:endParaRPr lang="es-PE" sz="20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0292B81D-2BA6-D1C0-77A3-F606AD3EF966}"/>
              </a:ext>
            </a:extLst>
          </p:cNvPr>
          <p:cNvGraphicFramePr>
            <a:graphicFrameLocks noGrp="1"/>
          </p:cNvGraphicFramePr>
          <p:nvPr>
            <p:extLst>
              <p:ext uri="{D42A27DB-BD31-4B8C-83A1-F6EECF244321}">
                <p14:modId xmlns:p14="http://schemas.microsoft.com/office/powerpoint/2010/main" val="3755363832"/>
              </p:ext>
            </p:extLst>
          </p:nvPr>
        </p:nvGraphicFramePr>
        <p:xfrm>
          <a:off x="240312" y="1007057"/>
          <a:ext cx="11627838" cy="5850955"/>
        </p:xfrm>
        <a:graphic>
          <a:graphicData uri="http://schemas.openxmlformats.org/drawingml/2006/table">
            <a:tbl>
              <a:tblPr/>
              <a:tblGrid>
                <a:gridCol w="1040855">
                  <a:extLst>
                    <a:ext uri="{9D8B030D-6E8A-4147-A177-3AD203B41FA5}">
                      <a16:colId xmlns:a16="http://schemas.microsoft.com/office/drawing/2014/main" val="2498170772"/>
                    </a:ext>
                  </a:extLst>
                </a:gridCol>
                <a:gridCol w="1323372">
                  <a:extLst>
                    <a:ext uri="{9D8B030D-6E8A-4147-A177-3AD203B41FA5}">
                      <a16:colId xmlns:a16="http://schemas.microsoft.com/office/drawing/2014/main" val="2930349263"/>
                    </a:ext>
                  </a:extLst>
                </a:gridCol>
                <a:gridCol w="1338242">
                  <a:extLst>
                    <a:ext uri="{9D8B030D-6E8A-4147-A177-3AD203B41FA5}">
                      <a16:colId xmlns:a16="http://schemas.microsoft.com/office/drawing/2014/main" val="3520965053"/>
                    </a:ext>
                  </a:extLst>
                </a:gridCol>
                <a:gridCol w="1858671">
                  <a:extLst>
                    <a:ext uri="{9D8B030D-6E8A-4147-A177-3AD203B41FA5}">
                      <a16:colId xmlns:a16="http://schemas.microsoft.com/office/drawing/2014/main" val="2483100132"/>
                    </a:ext>
                  </a:extLst>
                </a:gridCol>
                <a:gridCol w="6066698">
                  <a:extLst>
                    <a:ext uri="{9D8B030D-6E8A-4147-A177-3AD203B41FA5}">
                      <a16:colId xmlns:a16="http://schemas.microsoft.com/office/drawing/2014/main" val="53058590"/>
                    </a:ext>
                  </a:extLst>
                </a:gridCol>
              </a:tblGrid>
              <a:tr h="114944">
                <a:tc>
                  <a:txBody>
                    <a:bodyPr/>
                    <a:lstStyle/>
                    <a:p>
                      <a:pPr algn="ctr" fontAlgn="b"/>
                      <a:r>
                        <a:rPr lang="es-PE" sz="700" b="1" i="0" u="none" strike="noStrike">
                          <a:solidFill>
                            <a:srgbClr val="000000"/>
                          </a:solidFill>
                          <a:effectLst/>
                          <a:latin typeface="Calibri" panose="020F0502020204030204" pitchFamily="34" charset="0"/>
                        </a:rPr>
                        <a:t>DEPENDENCIA</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r>
                        <a:rPr lang="es-PE" sz="700" b="1" i="0" u="none" strike="noStrike">
                          <a:solidFill>
                            <a:srgbClr val="000000"/>
                          </a:solidFill>
                          <a:effectLst/>
                          <a:latin typeface="Calibri" panose="020F0502020204030204" pitchFamily="34" charset="0"/>
                        </a:rPr>
                        <a:t>FECHA</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r>
                        <a:rPr lang="es-PE" sz="700" b="1" i="0" u="none" strike="noStrike">
                          <a:solidFill>
                            <a:srgbClr val="000000"/>
                          </a:solidFill>
                          <a:effectLst/>
                          <a:latin typeface="Calibri" panose="020F0502020204030204" pitchFamily="34" charset="0"/>
                        </a:rPr>
                        <a:t>RD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b"/>
                      <a:r>
                        <a:rPr lang="es-PE" sz="700" b="1" i="0" u="none" strike="noStrike">
                          <a:solidFill>
                            <a:srgbClr val="000000"/>
                          </a:solidFill>
                          <a:effectLst/>
                          <a:latin typeface="Calibri" panose="020F0502020204030204" pitchFamily="34" charset="0"/>
                        </a:rPr>
                        <a:t>Resultado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t"/>
                      <a:r>
                        <a:rPr lang="es-PE" sz="700" b="1" i="0" u="none" strike="noStrike">
                          <a:solidFill>
                            <a:srgbClr val="000000"/>
                          </a:solidFill>
                          <a:effectLst/>
                          <a:latin typeface="Calibri" panose="020F0502020204030204" pitchFamily="34" charset="0"/>
                        </a:rPr>
                        <a:t>Sumilla</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231485306"/>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4090140009279</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FUNDADO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FUNDADO:No se tomo en cuenta la suspension del plazo para la regularización.</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9818665"/>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4090140009293</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NULIDAD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NULIDAD:No ha sido merituado un expediente presentado antes de la emisión de la RD impugnada </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5161446"/>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4090140009287</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FUNDADO EN PARTE</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FUNDADO EN PARTE: recurrente presentó mejores referencias de valor para la aplicación del Tercer Método </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4216903"/>
                  </a:ext>
                </a:extLst>
              </a:tr>
              <a:tr h="339373">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4090140009295</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FUNDADO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FUNDADO: La referencia empleada por la Administración Aduanera en el Informe de Determinación del Valor se encuentra fuera de los rangos permitidos en la Norma Técnica Peruana NTP 231.410 2013 (que recoge los criterios de la Norma Técnica ASTM D 3887-96 de la American Society for Testing Materials) encontrándose fuera del rango de tolerancia + / - 5%; por lo que no es una referencia válida</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6037508"/>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4090140009333</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FUNDADO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FUNDADO:Referencia no es idónea, excede del margen de tolerancia</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5482195"/>
                  </a:ext>
                </a:extLst>
              </a:tr>
              <a:tr h="11849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4090140009360</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NULIDAD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NULIDAD:No se advierte información mínima necesaria del Estudio de Valor que tendría que brindar la Administración  - falta de motivación</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1755785"/>
                  </a:ext>
                </a:extLst>
              </a:tr>
              <a:tr h="227158">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4090140009367</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NULIDAD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NULIDAD:Omisión de justificar las razones por las que inaplica la Resolución de Superintendencia Nacional Adjunta de Aduanas N° 006-2020-SUNAT/300000</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98579167"/>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4090140009379</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FUNDADO EN PARTE</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FUNDADO EN PARTE: Recurrente presentó mejores referencias de valor para la aplicación del Tercer Método </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23451186"/>
                  </a:ext>
                </a:extLst>
              </a:tr>
              <a:tr h="227158">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4090140009409</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FUNDADO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FUNDADO:TLC PERU - CHINA en el C.O se consigna las Facturas emitidas por la empresa del país/región no Parte del Acuerdo Comercial Perú - China), (campo 5)</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34566576"/>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4090140009400</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NULIDAD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NULIDAD:la Administración no evaluó el expediente presentado</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4849580"/>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4090140009397</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NULIDAD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NULIDAD:la Administración no evaluó el expediente presentado</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5490718"/>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4090140009433</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NULIDAD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NULIDAD:La Administracion no evaluó la documentación presentada </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26543136"/>
                  </a:ext>
                </a:extLst>
              </a:tr>
              <a:tr h="11849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4090140009419</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FUNDADO EN PARTE</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FUNDADO EN PARTE:El recurrente presentó mejores referencias de valor para la aplicación del Tercer Método de Valoración </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07122936"/>
                  </a:ext>
                </a:extLst>
              </a:tr>
              <a:tr h="227158">
                <a:tc>
                  <a:txBody>
                    <a:bodyPr/>
                    <a:lstStyle/>
                    <a:p>
                      <a:pPr algn="ctr" fontAlgn="ctr"/>
                      <a:r>
                        <a:rPr lang="es-PE" sz="700" b="0" i="0" u="none" strike="noStrike">
                          <a:solidFill>
                            <a:srgbClr val="000000"/>
                          </a:solidFill>
                          <a:effectLst/>
                          <a:latin typeface="Calibri" panose="020F0502020204030204" pitchFamily="34" charset="0"/>
                        </a:rPr>
                        <a:t>IAMC</a:t>
                      </a:r>
                    </a:p>
                  </a:txBody>
                  <a:tcPr marL="2965" marR="2965" marT="29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700" b="0" i="0" u="none" strike="noStrike">
                          <a:solidFill>
                            <a:srgbClr val="000000"/>
                          </a:solidFill>
                          <a:effectLst/>
                          <a:latin typeface="Calibri" panose="020F0502020204030204" pitchFamily="34" charset="0"/>
                        </a:rPr>
                        <a:t>AGOSTO</a:t>
                      </a:r>
                    </a:p>
                  </a:txBody>
                  <a:tcPr marL="2965" marR="2965" marT="29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700" b="0" i="0" u="none" strike="noStrike">
                          <a:solidFill>
                            <a:srgbClr val="000000"/>
                          </a:solidFill>
                          <a:effectLst/>
                          <a:latin typeface="Calibri" panose="020F0502020204030204" pitchFamily="34" charset="0"/>
                        </a:rPr>
                        <a:t>4090140009442</a:t>
                      </a:r>
                    </a:p>
                  </a:txBody>
                  <a:tcPr marL="2965" marR="2965" marT="29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PE" sz="700" b="0" i="0" u="none" strike="noStrike">
                          <a:solidFill>
                            <a:srgbClr val="000000"/>
                          </a:solidFill>
                          <a:effectLst/>
                          <a:latin typeface="Calibri" panose="020F0502020204030204" pitchFamily="34" charset="0"/>
                        </a:rPr>
                        <a:t>NULIDAD</a:t>
                      </a:r>
                    </a:p>
                  </a:txBody>
                  <a:tcPr marL="2965" marR="2965" marT="29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PE" sz="700" b="0" i="0" u="none" strike="noStrike">
                          <a:solidFill>
                            <a:srgbClr val="000000"/>
                          </a:solidFill>
                          <a:effectLst/>
                          <a:latin typeface="Calibri" panose="020F0502020204030204" pitchFamily="34" charset="0"/>
                        </a:rPr>
                        <a:t>NULIDAD:No se analizo expediente presentando referencias.</a:t>
                      </a:r>
                      <a:br>
                        <a:rPr lang="es-PE" sz="700" b="0" i="0" u="none" strike="noStrike">
                          <a:solidFill>
                            <a:srgbClr val="000000"/>
                          </a:solidFill>
                          <a:effectLst/>
                          <a:latin typeface="Calibri" panose="020F0502020204030204" pitchFamily="34" charset="0"/>
                        </a:rPr>
                      </a:br>
                      <a:endParaRPr lang="es-PE" sz="700" b="0" i="0" u="none" strike="noStrike">
                        <a:solidFill>
                          <a:srgbClr val="000000"/>
                        </a:solidFill>
                        <a:effectLst/>
                        <a:latin typeface="Calibri" panose="020F0502020204030204" pitchFamily="34" charset="0"/>
                      </a:endParaRPr>
                    </a:p>
                  </a:txBody>
                  <a:tcPr marL="2965" marR="2965" marT="29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48316490"/>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4090140009496</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NULIDAD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NULIDAD:No ha sido merituado un expediente presentado antes de la emisión de la RD impugnada </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15232747"/>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4090140009473</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FUNDADO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FUNDADO:Se presentó swift consignando la Factura de la transacción.</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98175974"/>
                  </a:ext>
                </a:extLst>
              </a:tr>
              <a:tr h="227158">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4090140009492</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FUNDADO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FUNDADO:La recurrente ha cumplido con subsanar la observación efectuada respecto a la falta de presentación del Swift bancario, el cual constituye la constancia del medio de pago utilizado para la transacción de la DAM bajo análisis</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5725146"/>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4090140009481</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FUNDADO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700" b="0" i="0" u="none" strike="noStrike">
                          <a:solidFill>
                            <a:srgbClr val="000000"/>
                          </a:solidFill>
                          <a:effectLst/>
                          <a:latin typeface="Calibri" panose="020F0502020204030204" pitchFamily="34" charset="0"/>
                        </a:rPr>
                        <a:t>FUNDADO: el importador presentó refeencias mas idoneas.  </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6442320"/>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4090140009475</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NULIDAD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NULIDAD:No ha sido merituado un expediente presentado antes de la emisión de la RD impugnada </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7594772"/>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4090140009495</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NULIDAD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NULIDAD:No ha sido merituado un expediente presentado antes de la emisión de la RD impugnada </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65998181"/>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4090140009497</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NULIDAD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NULIDAD:No ha sido merituado un expediente presentado antes de la emisión de la RD impugnada </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30091320"/>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4090140009528</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NULIDAD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NULIDAD: Falta de Motivación no se analizo documentación</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0531507"/>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4090140009533</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NULIDAD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700" b="0" i="0" u="none" strike="noStrike">
                          <a:solidFill>
                            <a:srgbClr val="000000"/>
                          </a:solidFill>
                          <a:effectLst/>
                          <a:latin typeface="Calibri" panose="020F0502020204030204" pitchFamily="34" charset="0"/>
                        </a:rPr>
                        <a:t>NULIDAD: Incorrecta consignacion de lC, conllevo a que no se admitiera a trámite pedido de devolución.</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50751835"/>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4090140009562</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NULIDAD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NULIDAD: Falta de Motivación no se analizó expediente</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1972262"/>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4090140009540</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NULIDAD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700" b="0" i="0" u="none" strike="noStrike">
                          <a:solidFill>
                            <a:srgbClr val="000000"/>
                          </a:solidFill>
                          <a:effectLst/>
                          <a:latin typeface="Calibri" panose="020F0502020204030204" pitchFamily="34" charset="0"/>
                        </a:rPr>
                        <a:t>NULIDAD:las referencias de valor presentadas no estabna ajustadas.</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4543171"/>
                  </a:ext>
                </a:extLst>
              </a:tr>
              <a:tr h="227158">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4090140009589</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NULIDAD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NULIDAD:La resolución impugnada no se encuentra debidamente motivada al no contener un pronunciamiento respecto a todas las cuestiones planteadas por el solicitante</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1445124"/>
                  </a:ext>
                </a:extLst>
              </a:tr>
              <a:tr h="11849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4090140009590</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FUNDADO EN PARTE</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FUNDADO EN PARTE:La recurrente presentó mejores referencias de valor para la aplicación del Tercer Método de Valoración.</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60099507"/>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4090140009606</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FUNDADO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700" b="0" i="0" u="none" strike="noStrike">
                          <a:solidFill>
                            <a:srgbClr val="000000"/>
                          </a:solidFill>
                          <a:effectLst/>
                          <a:latin typeface="Calibri" panose="020F0502020204030204" pitchFamily="34" charset="0"/>
                        </a:rPr>
                        <a:t>FUNDADO: Presentó documentacion bancaria.</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86509968"/>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4090140009561</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FUNDADO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700" b="0" i="0" u="none" strike="noStrike">
                          <a:solidFill>
                            <a:srgbClr val="000000"/>
                          </a:solidFill>
                          <a:effectLst/>
                          <a:latin typeface="Calibri" panose="020F0502020204030204" pitchFamily="34" charset="0"/>
                        </a:rPr>
                        <a:t>FUNDADO: referencia mas idonea del importador </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7950692"/>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4090140009705</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FUNDADO EN PARTE</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FUNDADO EN PARTE: referencia de la Administracion excede en gramaje</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29809776"/>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4090140009657</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FUNDADO EN PARTE</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700" b="0" i="0" u="none" strike="noStrike">
                          <a:solidFill>
                            <a:srgbClr val="000000"/>
                          </a:solidFill>
                          <a:effectLst/>
                          <a:latin typeface="Calibri" panose="020F0502020204030204" pitchFamily="34" charset="0"/>
                        </a:rPr>
                        <a:t>FUNDADO EN PARTE: referencias del importador mas idoneas</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6348120"/>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4090140009614</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NULIDAD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NULIDAD:La referencia utilizada por la Admnistración era distinta a la mercancia analizada </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75077264"/>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4090140009706</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NULIDAD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NULIDAD:La Administracion no evaluó la documentación presentada </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6033295"/>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4090140009692</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NULIDAD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NULIDAD:La Administración no cumlió con analizar las referencias del importador</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2596571"/>
                  </a:ext>
                </a:extLst>
              </a:tr>
              <a:tr h="114944">
                <a:tc>
                  <a:txBody>
                    <a:bodyPr/>
                    <a:lstStyle/>
                    <a:p>
                      <a:pPr algn="ctr" fontAlgn="ctr"/>
                      <a:r>
                        <a:rPr lang="es-PE" sz="700" b="0" i="0" u="none" strike="noStrike">
                          <a:solidFill>
                            <a:srgbClr val="000000"/>
                          </a:solidFill>
                          <a:effectLst/>
                          <a:latin typeface="Calibri" panose="020F0502020204030204" pitchFamily="34" charset="0"/>
                        </a:rPr>
                        <a:t>IAMC</a:t>
                      </a:r>
                    </a:p>
                  </a:txBody>
                  <a:tcPr marL="2965" marR="2965" marT="29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700" b="0" i="0" u="none" strike="noStrike">
                          <a:solidFill>
                            <a:srgbClr val="000000"/>
                          </a:solidFill>
                          <a:effectLst/>
                          <a:latin typeface="Calibri" panose="020F0502020204030204" pitchFamily="34" charset="0"/>
                        </a:rPr>
                        <a:t>AGOSTO</a:t>
                      </a:r>
                    </a:p>
                  </a:txBody>
                  <a:tcPr marL="2965" marR="2965" marT="29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700" b="0" i="0" u="none" strike="noStrike">
                          <a:solidFill>
                            <a:srgbClr val="000000"/>
                          </a:solidFill>
                          <a:effectLst/>
                          <a:latin typeface="Calibri" panose="020F0502020204030204" pitchFamily="34" charset="0"/>
                        </a:rPr>
                        <a:t>4090140009696</a:t>
                      </a:r>
                    </a:p>
                  </a:txBody>
                  <a:tcPr marL="2965" marR="2965" marT="29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PE" sz="700" b="0" i="0" u="none" strike="noStrike">
                          <a:solidFill>
                            <a:srgbClr val="000000"/>
                          </a:solidFill>
                          <a:effectLst/>
                          <a:latin typeface="Calibri" panose="020F0502020204030204" pitchFamily="34" charset="0"/>
                        </a:rPr>
                        <a:t>FUNDADO</a:t>
                      </a:r>
                    </a:p>
                  </a:txBody>
                  <a:tcPr marL="2965" marR="2965" marT="29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s-ES" sz="700" b="0" i="0" u="none" strike="noStrike">
                          <a:solidFill>
                            <a:srgbClr val="000000"/>
                          </a:solidFill>
                          <a:effectLst/>
                          <a:latin typeface="Calibri" panose="020F0502020204030204" pitchFamily="34" charset="0"/>
                        </a:rPr>
                        <a:t>FUNDADO: Autorización Sanitaria emitida por R. Directoral para la importación de mercancía restringida</a:t>
                      </a:r>
                    </a:p>
                  </a:txBody>
                  <a:tcPr marL="2965" marR="2965" marT="29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2405169"/>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4090140009645</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NULIDAD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NULIDAD: Falta de Motivación no se analizo documentación</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05829176"/>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4090140009639</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NULIDAD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NULIDAD: La Administración no cumlió con analizar las referencias del importador</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8986731"/>
                  </a:ext>
                </a:extLst>
              </a:tr>
              <a:tr h="227158">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4090140009683</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FUNDADO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dirty="0" err="1">
                          <a:solidFill>
                            <a:srgbClr val="000000"/>
                          </a:solidFill>
                          <a:effectLst/>
                          <a:latin typeface="Calibri" panose="020F0502020204030204" pitchFamily="34" charset="0"/>
                        </a:rPr>
                        <a:t>FUNDADO:El</a:t>
                      </a:r>
                      <a:r>
                        <a:rPr lang="es-ES" sz="700" b="0" i="0" u="none" strike="noStrike" dirty="0">
                          <a:solidFill>
                            <a:srgbClr val="000000"/>
                          </a:solidFill>
                          <a:effectLst/>
                          <a:latin typeface="Calibri" panose="020F0502020204030204" pitchFamily="34" charset="0"/>
                        </a:rPr>
                        <a:t> supuesto de hecho del presente caso constituye un error de transcripción no sancionable acorde a lo previsto en el artículo 193° de la LGA</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3326406"/>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4090140009643</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FUNDADO EN PARTE</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FUNDADO EN PARTE: Canceló la deuda y presentó referencia más idónea</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4712816"/>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4090140009617</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NULIDAD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a:solidFill>
                            <a:srgbClr val="000000"/>
                          </a:solidFill>
                          <a:effectLst/>
                          <a:latin typeface="Calibri" panose="020F0502020204030204" pitchFamily="34" charset="0"/>
                        </a:rPr>
                        <a:t>NULIDAD: Incorrecta aplicación de procedimiento derogado.</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262448"/>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4090140009595</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FUNDADO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700" b="0" i="0" u="none" strike="noStrike">
                          <a:solidFill>
                            <a:srgbClr val="000000"/>
                          </a:solidFill>
                          <a:effectLst/>
                          <a:latin typeface="Calibri" panose="020F0502020204030204" pitchFamily="34" charset="0"/>
                        </a:rPr>
                        <a:t>FUNDADO: No existe compraventa para aplicar el articulo 3-A del TUO de M</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1320375"/>
                  </a:ext>
                </a:extLst>
              </a:tr>
              <a:tr h="114944">
                <a:tc>
                  <a:txBody>
                    <a:bodyPr/>
                    <a:lstStyle/>
                    <a:p>
                      <a:pPr algn="ctr" fontAlgn="b"/>
                      <a:r>
                        <a:rPr lang="es-PE" sz="700" b="0" i="0" u="none" strike="noStrike">
                          <a:solidFill>
                            <a:srgbClr val="000000"/>
                          </a:solidFill>
                          <a:effectLst/>
                          <a:latin typeface="Calibri" panose="020F0502020204030204" pitchFamily="34" charset="0"/>
                        </a:rPr>
                        <a:t>IAMC</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AGOSTO</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700" b="0" i="0" u="none" strike="noStrike">
                          <a:solidFill>
                            <a:srgbClr val="000000"/>
                          </a:solidFill>
                          <a:effectLst/>
                          <a:latin typeface="Calibri" panose="020F0502020204030204" pitchFamily="34" charset="0"/>
                        </a:rPr>
                        <a:t>4090140009306</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700" b="0" i="0" u="none" strike="noStrike">
                          <a:solidFill>
                            <a:srgbClr val="000000"/>
                          </a:solidFill>
                          <a:effectLst/>
                          <a:latin typeface="Calibri" panose="020F0502020204030204" pitchFamily="34" charset="0"/>
                        </a:rPr>
                        <a:t>NULIDAD</a:t>
                      </a:r>
                    </a:p>
                  </a:txBody>
                  <a:tcPr marL="2965" marR="2965" marT="296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ES" sz="700" b="0" i="0" u="none" strike="noStrike" dirty="0">
                          <a:solidFill>
                            <a:srgbClr val="000000"/>
                          </a:solidFill>
                          <a:effectLst/>
                          <a:latin typeface="Calibri" panose="020F0502020204030204" pitchFamily="34" charset="0"/>
                        </a:rPr>
                        <a:t>NULIDAD: La Administración no </a:t>
                      </a:r>
                      <a:r>
                        <a:rPr lang="es-ES" sz="700" b="0" i="0" u="none" strike="noStrike" dirty="0" err="1">
                          <a:solidFill>
                            <a:srgbClr val="000000"/>
                          </a:solidFill>
                          <a:effectLst/>
                          <a:latin typeface="Calibri" panose="020F0502020204030204" pitchFamily="34" charset="0"/>
                        </a:rPr>
                        <a:t>cumlió</a:t>
                      </a:r>
                      <a:r>
                        <a:rPr lang="es-ES" sz="700" b="0" i="0" u="none" strike="noStrike" dirty="0">
                          <a:solidFill>
                            <a:srgbClr val="000000"/>
                          </a:solidFill>
                          <a:effectLst/>
                          <a:latin typeface="Calibri" panose="020F0502020204030204" pitchFamily="34" charset="0"/>
                        </a:rPr>
                        <a:t> con analizar los </a:t>
                      </a:r>
                      <a:r>
                        <a:rPr lang="es-ES" sz="700" b="0" i="0" u="none" strike="noStrike" dirty="0" err="1">
                          <a:solidFill>
                            <a:srgbClr val="000000"/>
                          </a:solidFill>
                          <a:effectLst/>
                          <a:latin typeface="Calibri" panose="020F0502020204030204" pitchFamily="34" charset="0"/>
                        </a:rPr>
                        <a:t>dctos</a:t>
                      </a:r>
                      <a:r>
                        <a:rPr lang="es-ES" sz="700" b="0" i="0" u="none" strike="noStrike" dirty="0">
                          <a:solidFill>
                            <a:srgbClr val="000000"/>
                          </a:solidFill>
                          <a:effectLst/>
                          <a:latin typeface="Calibri" panose="020F0502020204030204" pitchFamily="34" charset="0"/>
                        </a:rPr>
                        <a:t>. Contables</a:t>
                      </a:r>
                    </a:p>
                  </a:txBody>
                  <a:tcPr marL="2965" marR="2965" marT="296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1647172"/>
                  </a:ext>
                </a:extLst>
              </a:tr>
            </a:tbl>
          </a:graphicData>
        </a:graphic>
      </p:graphicFrame>
    </p:spTree>
    <p:extLst>
      <p:ext uri="{BB962C8B-B14F-4D97-AF65-F5344CB8AC3E}">
        <p14:creationId xmlns:p14="http://schemas.microsoft.com/office/powerpoint/2010/main" val="41017426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000" b="1" dirty="0">
                <a:latin typeface="Arial" panose="020B0604020202020204" pitchFamily="34" charset="0"/>
                <a:cs typeface="Arial" panose="020B0604020202020204" pitchFamily="34" charset="0"/>
              </a:rPr>
              <a:t>SUMILLAS DE NULIDADES DECLARADAS POR LA GAFA-DCCII</a:t>
            </a:r>
            <a:endParaRPr lang="es-PE" sz="2000" b="1" dirty="0">
              <a:latin typeface="Arial" panose="020B0604020202020204" pitchFamily="34" charset="0"/>
              <a:cs typeface="Arial" panose="020B0604020202020204" pitchFamily="34" charset="0"/>
            </a:endParaRPr>
          </a:p>
        </p:txBody>
      </p:sp>
      <p:graphicFrame>
        <p:nvGraphicFramePr>
          <p:cNvPr id="3" name="Tabla 2">
            <a:extLst>
              <a:ext uri="{FF2B5EF4-FFF2-40B4-BE49-F238E27FC236}">
                <a16:creationId xmlns:a16="http://schemas.microsoft.com/office/drawing/2014/main" id="{7F487DAD-A7D8-665B-F74F-FB131EE810B2}"/>
              </a:ext>
            </a:extLst>
          </p:cNvPr>
          <p:cNvGraphicFramePr>
            <a:graphicFrameLocks noGrp="1"/>
          </p:cNvGraphicFramePr>
          <p:nvPr>
            <p:extLst>
              <p:ext uri="{D42A27DB-BD31-4B8C-83A1-F6EECF244321}">
                <p14:modId xmlns:p14="http://schemas.microsoft.com/office/powerpoint/2010/main" val="3982571224"/>
              </p:ext>
            </p:extLst>
          </p:nvPr>
        </p:nvGraphicFramePr>
        <p:xfrm>
          <a:off x="542926" y="1487228"/>
          <a:ext cx="10906124" cy="4169011"/>
        </p:xfrm>
        <a:graphic>
          <a:graphicData uri="http://schemas.openxmlformats.org/drawingml/2006/table">
            <a:tbl>
              <a:tblPr/>
              <a:tblGrid>
                <a:gridCol w="2130667">
                  <a:extLst>
                    <a:ext uri="{9D8B030D-6E8A-4147-A177-3AD203B41FA5}">
                      <a16:colId xmlns:a16="http://schemas.microsoft.com/office/drawing/2014/main" val="1060956304"/>
                    </a:ext>
                  </a:extLst>
                </a:gridCol>
                <a:gridCol w="1588971">
                  <a:extLst>
                    <a:ext uri="{9D8B030D-6E8A-4147-A177-3AD203B41FA5}">
                      <a16:colId xmlns:a16="http://schemas.microsoft.com/office/drawing/2014/main" val="2881082454"/>
                    </a:ext>
                  </a:extLst>
                </a:gridCol>
                <a:gridCol w="1607028">
                  <a:extLst>
                    <a:ext uri="{9D8B030D-6E8A-4147-A177-3AD203B41FA5}">
                      <a16:colId xmlns:a16="http://schemas.microsoft.com/office/drawing/2014/main" val="1401394664"/>
                    </a:ext>
                  </a:extLst>
                </a:gridCol>
                <a:gridCol w="5579458">
                  <a:extLst>
                    <a:ext uri="{9D8B030D-6E8A-4147-A177-3AD203B41FA5}">
                      <a16:colId xmlns:a16="http://schemas.microsoft.com/office/drawing/2014/main" val="3297336629"/>
                    </a:ext>
                  </a:extLst>
                </a:gridCol>
              </a:tblGrid>
              <a:tr h="215089">
                <a:tc>
                  <a:txBody>
                    <a:bodyPr/>
                    <a:lstStyle/>
                    <a:p>
                      <a:pPr algn="ctr" fontAlgn="b"/>
                      <a:r>
                        <a:rPr lang="es-PE" sz="1400" b="1" i="0" u="none" strike="noStrike">
                          <a:solidFill>
                            <a:srgbClr val="000000"/>
                          </a:solidFill>
                          <a:effectLst/>
                          <a:latin typeface="Calibri" panose="020F0502020204030204" pitchFamily="34" charset="0"/>
                        </a:rPr>
                        <a:t>DEPENDENCIA</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fontAlgn="b"/>
                      <a:r>
                        <a:rPr lang="es-PE" sz="1400" b="1" i="0" u="none" strike="noStrike">
                          <a:solidFill>
                            <a:srgbClr val="000000"/>
                          </a:solidFill>
                          <a:effectLst/>
                          <a:latin typeface="Calibri" panose="020F0502020204030204" pitchFamily="34" charset="0"/>
                        </a:rPr>
                        <a:t>MES</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fontAlgn="b"/>
                      <a:r>
                        <a:rPr lang="es-PE" sz="1400" b="1" i="0" u="none" strike="noStrike">
                          <a:solidFill>
                            <a:srgbClr val="000000"/>
                          </a:solidFill>
                          <a:effectLst/>
                          <a:latin typeface="Calibri" panose="020F0502020204030204" pitchFamily="34" charset="0"/>
                        </a:rPr>
                        <a:t>N° RD</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tc>
                  <a:txBody>
                    <a:bodyPr/>
                    <a:lstStyle/>
                    <a:p>
                      <a:pPr algn="ctr" fontAlgn="b"/>
                      <a:r>
                        <a:rPr lang="es-PE" sz="1400" b="1" i="0" u="none" strike="noStrike">
                          <a:solidFill>
                            <a:srgbClr val="000000"/>
                          </a:solidFill>
                          <a:effectLst/>
                          <a:latin typeface="Calibri" panose="020F0502020204030204" pitchFamily="34" charset="0"/>
                        </a:rPr>
                        <a:t>SUMILLA MOTIVO REVOCA/NULA</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FF"/>
                    </a:solidFill>
                  </a:tcPr>
                </a:tc>
                <a:extLst>
                  <a:ext uri="{0D108BD9-81ED-4DB2-BD59-A6C34878D82A}">
                    <a16:rowId xmlns:a16="http://schemas.microsoft.com/office/drawing/2014/main" val="3475912781"/>
                  </a:ext>
                </a:extLst>
              </a:tr>
              <a:tr h="620153">
                <a:tc>
                  <a:txBody>
                    <a:bodyPr/>
                    <a:lstStyle/>
                    <a:p>
                      <a:pPr algn="l" fontAlgn="ctr"/>
                      <a:r>
                        <a:rPr lang="es-PE" sz="1400" b="0" i="0" u="none" strike="noStrike">
                          <a:solidFill>
                            <a:srgbClr val="000000"/>
                          </a:solidFill>
                          <a:effectLst/>
                          <a:latin typeface="Calibri" panose="020F0502020204030204" pitchFamily="34" charset="0"/>
                        </a:rPr>
                        <a:t>PUERTO MALDONADO</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Agosto</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s-PE" sz="1400" b="0" i="0" u="none" strike="noStrike">
                          <a:solidFill>
                            <a:srgbClr val="000000"/>
                          </a:solidFill>
                          <a:effectLst/>
                          <a:latin typeface="Calibri" panose="020F0502020204030204" pitchFamily="34" charset="0"/>
                        </a:rPr>
                        <a:t>4090140009583</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fontAlgn="t"/>
                      <a:r>
                        <a:rPr lang="es-ES" sz="1400" b="0" i="0" u="none" strike="noStrike">
                          <a:solidFill>
                            <a:srgbClr val="000000"/>
                          </a:solidFill>
                          <a:effectLst/>
                          <a:latin typeface="Calibri" panose="020F0502020204030204" pitchFamily="34" charset="0"/>
                        </a:rPr>
                        <a:t>Fundado: No se configuró infracción debido a un error en el cómputo de plazo (se consideró diía inhábil y feriado)</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3454165"/>
                  </a:ext>
                </a:extLst>
              </a:tr>
              <a:tr h="824840">
                <a:tc>
                  <a:txBody>
                    <a:bodyPr/>
                    <a:lstStyle/>
                    <a:p>
                      <a:pPr algn="l" fontAlgn="ctr"/>
                      <a:r>
                        <a:rPr lang="es-PE" sz="1400" b="0" i="0" u="none" strike="noStrike">
                          <a:solidFill>
                            <a:srgbClr val="000000"/>
                          </a:solidFill>
                          <a:effectLst/>
                          <a:latin typeface="Calibri" panose="020F0502020204030204" pitchFamily="34" charset="0"/>
                        </a:rPr>
                        <a:t>AEREA Y POSTAL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Agosto</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s-PE" sz="1400" b="0" i="0" u="none" strike="noStrike">
                          <a:solidFill>
                            <a:srgbClr val="000000"/>
                          </a:solidFill>
                          <a:effectLst/>
                          <a:latin typeface="Calibri" panose="020F0502020204030204" pitchFamily="34" charset="0"/>
                        </a:rPr>
                        <a:t>4090140009269</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fontAlgn="t"/>
                      <a:r>
                        <a:rPr lang="es-ES" sz="1400" b="0" i="0" u="none" strike="noStrike">
                          <a:solidFill>
                            <a:srgbClr val="000000"/>
                          </a:solidFill>
                          <a:effectLst/>
                          <a:latin typeface="Calibri" panose="020F0502020204030204" pitchFamily="34" charset="0"/>
                        </a:rPr>
                        <a:t>Fundado: No se evidencia que el reclamante tenga vinculación con la mercancía comisada; no se le debe considerar como infractor; el comiso queda consentido.</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8005353"/>
                  </a:ext>
                </a:extLst>
              </a:tr>
              <a:tr h="620153">
                <a:tc>
                  <a:txBody>
                    <a:bodyPr/>
                    <a:lstStyle/>
                    <a:p>
                      <a:pPr algn="l" fontAlgn="ctr"/>
                      <a:r>
                        <a:rPr lang="es-PE" sz="1400" b="0" i="0" u="none" strike="noStrike">
                          <a:solidFill>
                            <a:srgbClr val="000000"/>
                          </a:solidFill>
                          <a:effectLst/>
                          <a:latin typeface="Calibri" panose="020F0502020204030204" pitchFamily="34" charset="0"/>
                        </a:rPr>
                        <a:t>ILO </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Agosto</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s-PE" sz="1400" b="0" i="0" u="none" strike="noStrike">
                          <a:solidFill>
                            <a:srgbClr val="000000"/>
                          </a:solidFill>
                          <a:effectLst/>
                          <a:latin typeface="Calibri" panose="020F0502020204030204" pitchFamily="34" charset="0"/>
                        </a:rPr>
                        <a:t>4090140009470</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fontAlgn="t"/>
                      <a:r>
                        <a:rPr lang="es-ES" sz="1400" b="0" i="0" u="none" strike="noStrike">
                          <a:solidFill>
                            <a:srgbClr val="000000"/>
                          </a:solidFill>
                          <a:effectLst/>
                          <a:latin typeface="Calibri" panose="020F0502020204030204" pitchFamily="34" charset="0"/>
                        </a:rPr>
                        <a:t>Fundado: No se configura infracción porque el sancionado actuó debido a un mandato por representación y no por hecho propio  </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6678462"/>
                  </a:ext>
                </a:extLst>
              </a:tr>
              <a:tr h="620153">
                <a:tc>
                  <a:txBody>
                    <a:bodyPr/>
                    <a:lstStyle/>
                    <a:p>
                      <a:pPr algn="l" fontAlgn="ctr"/>
                      <a:r>
                        <a:rPr lang="es-PE" sz="1400" b="0" i="0" u="none" strike="noStrike">
                          <a:solidFill>
                            <a:srgbClr val="000000"/>
                          </a:solidFill>
                          <a:effectLst/>
                          <a:latin typeface="Calibri" panose="020F0502020204030204" pitchFamily="34" charset="0"/>
                        </a:rPr>
                        <a:t>ILO</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Agosto</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s-PE" sz="1400" b="0" i="0" u="none" strike="noStrike">
                          <a:solidFill>
                            <a:srgbClr val="000000"/>
                          </a:solidFill>
                          <a:effectLst/>
                          <a:latin typeface="Calibri" panose="020F0502020204030204" pitchFamily="34" charset="0"/>
                        </a:rPr>
                        <a:t>4090140009469</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fontAlgn="t"/>
                      <a:r>
                        <a:rPr lang="es-ES" sz="1400" b="0" i="0" u="none" strike="noStrike">
                          <a:solidFill>
                            <a:srgbClr val="000000"/>
                          </a:solidFill>
                          <a:effectLst/>
                          <a:latin typeface="Calibri" panose="020F0502020204030204" pitchFamily="34" charset="0"/>
                        </a:rPr>
                        <a:t>Fundado: No se configura infracción porque el sancionado actuó debido a un mandato por representación y no por hecho propio  </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7391138"/>
                  </a:ext>
                </a:extLst>
              </a:tr>
              <a:tr h="423961">
                <a:tc>
                  <a:txBody>
                    <a:bodyPr/>
                    <a:lstStyle/>
                    <a:p>
                      <a:pPr algn="l" fontAlgn="ctr"/>
                      <a:r>
                        <a:rPr lang="es-PE" sz="1400" b="0" i="0" u="none" strike="noStrike">
                          <a:solidFill>
                            <a:srgbClr val="000000"/>
                          </a:solidFill>
                          <a:effectLst/>
                          <a:latin typeface="Calibri" panose="020F0502020204030204" pitchFamily="34" charset="0"/>
                        </a:rPr>
                        <a:t>AEREA Y POSTAL</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Agosto</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s-PE" sz="1400" b="0" i="0" u="none" strike="noStrike">
                          <a:solidFill>
                            <a:srgbClr val="000000"/>
                          </a:solidFill>
                          <a:effectLst/>
                          <a:latin typeface="Calibri" panose="020F0502020204030204" pitchFamily="34" charset="0"/>
                        </a:rPr>
                        <a:t>4090140009587</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fontAlgn="t"/>
                      <a:r>
                        <a:rPr lang="es-ES" sz="1400" b="0" i="0" u="none" strike="noStrike">
                          <a:solidFill>
                            <a:srgbClr val="000000"/>
                          </a:solidFill>
                          <a:effectLst/>
                          <a:latin typeface="Calibri" panose="020F0502020204030204" pitchFamily="34" charset="0"/>
                        </a:rPr>
                        <a:t>Nulidad: No se verifica la generación de la ACE y su depósito en el buzón SOL de OCE</a:t>
                      </a: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3293291"/>
                  </a:ext>
                </a:extLst>
              </a:tr>
              <a:tr h="415466">
                <a:tc>
                  <a:txBody>
                    <a:bodyPr/>
                    <a:lstStyle/>
                    <a:p>
                      <a:pPr algn="l" fontAlgn="ctr"/>
                      <a:r>
                        <a:rPr lang="es-PE" sz="1400" b="0" i="0" u="none" strike="noStrike">
                          <a:solidFill>
                            <a:srgbClr val="000000"/>
                          </a:solidFill>
                          <a:effectLst/>
                          <a:latin typeface="Calibri" panose="020F0502020204030204" pitchFamily="34" charset="0"/>
                        </a:rPr>
                        <a:t>TACNA</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Agosto</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s-PE" sz="1400" b="0" i="0" u="none" strike="noStrike">
                          <a:solidFill>
                            <a:srgbClr val="000000"/>
                          </a:solidFill>
                          <a:effectLst/>
                          <a:latin typeface="Calibri" panose="020F0502020204030204" pitchFamily="34" charset="0"/>
                        </a:rPr>
                        <a:t>4090140009521</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s-ES" sz="1400" b="0" i="0" u="none" strike="noStrike">
                          <a:solidFill>
                            <a:srgbClr val="000000"/>
                          </a:solidFill>
                          <a:effectLst/>
                          <a:latin typeface="Calibri" panose="020F0502020204030204" pitchFamily="34" charset="0"/>
                        </a:rPr>
                        <a:t>Nulidad: Falta de motivación respecto de la infracción atribuída</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738086"/>
                  </a:ext>
                </a:extLst>
              </a:tr>
              <a:tr h="415466">
                <a:tc>
                  <a:txBody>
                    <a:bodyPr/>
                    <a:lstStyle/>
                    <a:p>
                      <a:pPr algn="l" fontAlgn="ctr"/>
                      <a:r>
                        <a:rPr lang="es-PE" sz="1400" b="0" i="0" u="none" strike="noStrike">
                          <a:solidFill>
                            <a:srgbClr val="000000"/>
                          </a:solidFill>
                          <a:effectLst/>
                          <a:latin typeface="Calibri" panose="020F0502020204030204" pitchFamily="34" charset="0"/>
                        </a:rPr>
                        <a:t>TACNA</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s-PE" sz="1400" b="0" i="0" u="none" strike="noStrike">
                          <a:solidFill>
                            <a:srgbClr val="000000"/>
                          </a:solidFill>
                          <a:effectLst/>
                          <a:latin typeface="Calibri" panose="020F0502020204030204" pitchFamily="34" charset="0"/>
                        </a:rPr>
                        <a:t>Agosto</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s-PE" sz="1400" b="0" i="0" u="none" strike="noStrike">
                          <a:solidFill>
                            <a:srgbClr val="000000"/>
                          </a:solidFill>
                          <a:effectLst/>
                          <a:latin typeface="Calibri" panose="020F0502020204030204" pitchFamily="34" charset="0"/>
                        </a:rPr>
                        <a:t>4090140009520</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s-ES" sz="1400" b="0" i="0" u="none" strike="noStrike" dirty="0">
                          <a:solidFill>
                            <a:srgbClr val="000000"/>
                          </a:solidFill>
                          <a:effectLst/>
                          <a:latin typeface="Calibri" panose="020F0502020204030204" pitchFamily="34" charset="0"/>
                        </a:rPr>
                        <a:t>Nulidad: Falta de motivación respecto de la infracción </a:t>
                      </a:r>
                      <a:r>
                        <a:rPr lang="es-ES" sz="1400" b="0" i="0" u="none" strike="noStrike" dirty="0" err="1">
                          <a:solidFill>
                            <a:srgbClr val="000000"/>
                          </a:solidFill>
                          <a:effectLst/>
                          <a:latin typeface="Calibri" panose="020F0502020204030204" pitchFamily="34" charset="0"/>
                        </a:rPr>
                        <a:t>atribuída</a:t>
                      </a:r>
                      <a:endParaRPr lang="es-ES" sz="1400" b="0" i="0" u="none" strike="noStrike"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5323812"/>
                  </a:ext>
                </a:extLst>
              </a:tr>
            </a:tbl>
          </a:graphicData>
        </a:graphic>
      </p:graphicFrame>
    </p:spTree>
    <p:extLst>
      <p:ext uri="{BB962C8B-B14F-4D97-AF65-F5344CB8AC3E}">
        <p14:creationId xmlns:p14="http://schemas.microsoft.com/office/powerpoint/2010/main" val="1051700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8" name="Título 94">
            <a:extLst>
              <a:ext uri="{FF2B5EF4-FFF2-40B4-BE49-F238E27FC236}">
                <a16:creationId xmlns:a16="http://schemas.microsoft.com/office/drawing/2014/main" id="{1EB64A6E-130E-BC7D-B2AF-91C94A288A85}"/>
              </a:ext>
            </a:extLst>
          </p:cNvPr>
          <p:cNvSpPr>
            <a:spLocks noGrp="1"/>
          </p:cNvSpPr>
          <p:nvPr>
            <p:ph type="title"/>
          </p:nvPr>
        </p:nvSpPr>
        <p:spPr>
          <a:xfrm>
            <a:off x="239713" y="338138"/>
            <a:ext cx="10515600" cy="849312"/>
          </a:xfrm>
        </p:spPr>
        <p:txBody>
          <a:bodyPr>
            <a:noAutofit/>
          </a:bodyPr>
          <a:lstStyle/>
          <a:p>
            <a:r>
              <a:rPr lang="es-ES" sz="2400" b="1" dirty="0">
                <a:latin typeface="Arial" panose="020B0604020202020204" pitchFamily="34" charset="0"/>
                <a:cs typeface="Arial" panose="020B0604020202020204" pitchFamily="34" charset="0"/>
              </a:rPr>
              <a:t>SUMILLAS DE NULIDADES DECLARADAS POR LA GAFA-DCP</a:t>
            </a:r>
            <a:endParaRPr lang="es-PE" sz="24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DA29F2C0-EA94-4601-B22B-6BC446D721A5}"/>
              </a:ext>
            </a:extLst>
          </p:cNvPr>
          <p:cNvGraphicFramePr>
            <a:graphicFrameLocks noGrp="1"/>
          </p:cNvGraphicFramePr>
          <p:nvPr>
            <p:extLst>
              <p:ext uri="{D42A27DB-BD31-4B8C-83A1-F6EECF244321}">
                <p14:modId xmlns:p14="http://schemas.microsoft.com/office/powerpoint/2010/main" val="991125115"/>
              </p:ext>
            </p:extLst>
          </p:nvPr>
        </p:nvGraphicFramePr>
        <p:xfrm>
          <a:off x="432522" y="1329144"/>
          <a:ext cx="11049000" cy="4801840"/>
        </p:xfrm>
        <a:graphic>
          <a:graphicData uri="http://schemas.openxmlformats.org/drawingml/2006/table">
            <a:tbl>
              <a:tblPr/>
              <a:tblGrid>
                <a:gridCol w="1479269">
                  <a:extLst>
                    <a:ext uri="{9D8B030D-6E8A-4147-A177-3AD203B41FA5}">
                      <a16:colId xmlns:a16="http://schemas.microsoft.com/office/drawing/2014/main" val="321012963"/>
                    </a:ext>
                  </a:extLst>
                </a:gridCol>
                <a:gridCol w="728255">
                  <a:extLst>
                    <a:ext uri="{9D8B030D-6E8A-4147-A177-3AD203B41FA5}">
                      <a16:colId xmlns:a16="http://schemas.microsoft.com/office/drawing/2014/main" val="25218928"/>
                    </a:ext>
                  </a:extLst>
                </a:gridCol>
                <a:gridCol w="1365478">
                  <a:extLst>
                    <a:ext uri="{9D8B030D-6E8A-4147-A177-3AD203B41FA5}">
                      <a16:colId xmlns:a16="http://schemas.microsoft.com/office/drawing/2014/main" val="995683116"/>
                    </a:ext>
                  </a:extLst>
                </a:gridCol>
                <a:gridCol w="7475998">
                  <a:extLst>
                    <a:ext uri="{9D8B030D-6E8A-4147-A177-3AD203B41FA5}">
                      <a16:colId xmlns:a16="http://schemas.microsoft.com/office/drawing/2014/main" val="3685765613"/>
                    </a:ext>
                  </a:extLst>
                </a:gridCol>
              </a:tblGrid>
              <a:tr h="104891">
                <a:tc>
                  <a:txBody>
                    <a:bodyPr/>
                    <a:lstStyle/>
                    <a:p>
                      <a:pPr algn="ctr" fontAlgn="b"/>
                      <a:r>
                        <a:rPr lang="es-PE" sz="1000" b="1" i="0" u="none" strike="noStrike" dirty="0">
                          <a:solidFill>
                            <a:srgbClr val="000000"/>
                          </a:solidFill>
                          <a:effectLst/>
                          <a:latin typeface="Calibri" panose="020F0502020204030204" pitchFamily="34" charset="0"/>
                        </a:rPr>
                        <a:t>DEPENDENCIA</a:t>
                      </a:r>
                    </a:p>
                  </a:txBody>
                  <a:tcPr marL="4840" marR="4840" marT="484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b"/>
                      <a:r>
                        <a:rPr lang="es-PE" sz="1000" b="1" i="0" u="none" strike="noStrike" dirty="0">
                          <a:solidFill>
                            <a:srgbClr val="000000"/>
                          </a:solidFill>
                          <a:effectLst/>
                          <a:latin typeface="Calibri" panose="020F0502020204030204" pitchFamily="34" charset="0"/>
                        </a:rPr>
                        <a:t>MES</a:t>
                      </a:r>
                    </a:p>
                  </a:txBody>
                  <a:tcPr marL="4840" marR="4840" marT="484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b"/>
                      <a:r>
                        <a:rPr lang="es-PE" sz="1000" b="1" i="0" u="none" strike="noStrike" dirty="0" err="1">
                          <a:solidFill>
                            <a:srgbClr val="000000"/>
                          </a:solidFill>
                          <a:effectLst/>
                          <a:latin typeface="Calibri" panose="020F0502020204030204" pitchFamily="34" charset="0"/>
                        </a:rPr>
                        <a:t>N°</a:t>
                      </a:r>
                      <a:r>
                        <a:rPr lang="es-PE" sz="1000" b="1" i="0" u="none" strike="noStrike" dirty="0">
                          <a:solidFill>
                            <a:srgbClr val="000000"/>
                          </a:solidFill>
                          <a:effectLst/>
                          <a:latin typeface="Calibri" panose="020F0502020204030204" pitchFamily="34" charset="0"/>
                        </a:rPr>
                        <a:t> RI</a:t>
                      </a:r>
                    </a:p>
                  </a:txBody>
                  <a:tcPr marL="4840" marR="4840" marT="484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b"/>
                      <a:r>
                        <a:rPr lang="es-PE" sz="1000" b="1" i="0" u="none" strike="noStrike" dirty="0">
                          <a:solidFill>
                            <a:srgbClr val="000000"/>
                          </a:solidFill>
                          <a:effectLst/>
                          <a:latin typeface="Calibri" panose="020F0502020204030204" pitchFamily="34" charset="0"/>
                        </a:rPr>
                        <a:t>SUMILLA MOTIVO REVOCA/NULA</a:t>
                      </a:r>
                    </a:p>
                  </a:txBody>
                  <a:tcPr marL="4840" marR="4840" marT="484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884681527"/>
                  </a:ext>
                </a:extLst>
              </a:tr>
              <a:tr h="303622">
                <a:tc>
                  <a:txBody>
                    <a:bodyPr/>
                    <a:lstStyle/>
                    <a:p>
                      <a:pPr algn="l" fontAlgn="ctr"/>
                      <a:r>
                        <a:rPr lang="es-PE" sz="1000" b="0" i="0" u="none" strike="noStrike">
                          <a:solidFill>
                            <a:srgbClr val="000000"/>
                          </a:solidFill>
                          <a:effectLst/>
                          <a:latin typeface="Calibri" panose="020F0502020204030204" pitchFamily="34" charset="0"/>
                        </a:rPr>
                        <a:t>SEDE CENTRAL - CHUCUITO </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Agosto</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4090140009377</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PE" sz="1000" b="0" i="0" u="none" strike="noStrike">
                          <a:solidFill>
                            <a:srgbClr val="000000"/>
                          </a:solidFill>
                          <a:effectLst/>
                          <a:latin typeface="Calibri" panose="020F0502020204030204" pitchFamily="34" charset="0"/>
                        </a:rPr>
                        <a:t>Se declara nula RM considerando que al momento de emitir resultado de requerimiento final, no se evaluó expediente presentado por la empresa en etapa de fiscalización.</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7408373"/>
                  </a:ext>
                </a:extLst>
              </a:tr>
              <a:tr h="303622">
                <a:tc>
                  <a:txBody>
                    <a:bodyPr/>
                    <a:lstStyle/>
                    <a:p>
                      <a:pPr algn="l" fontAlgn="ctr"/>
                      <a:r>
                        <a:rPr lang="es-PE" sz="1000" b="0" i="0" u="none" strike="noStrike">
                          <a:solidFill>
                            <a:srgbClr val="000000"/>
                          </a:solidFill>
                          <a:effectLst/>
                          <a:latin typeface="Calibri" panose="020F0502020204030204" pitchFamily="34" charset="0"/>
                        </a:rPr>
                        <a:t>SEDE CENTRAL - CHUCUITO </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Agosto</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1000" b="0" i="0" u="none" strike="noStrike">
                          <a:solidFill>
                            <a:srgbClr val="000000"/>
                          </a:solidFill>
                          <a:effectLst/>
                          <a:latin typeface="Calibri" panose="020F0502020204030204" pitchFamily="34" charset="0"/>
                        </a:rPr>
                        <a:t>4090140009378</a:t>
                      </a:r>
                    </a:p>
                  </a:txBody>
                  <a:tcPr marL="4840" marR="4840" marT="484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PE" sz="1000" b="0" i="0" u="none" strike="noStrike">
                          <a:solidFill>
                            <a:srgbClr val="000000"/>
                          </a:solidFill>
                          <a:effectLst/>
                          <a:latin typeface="Calibri" panose="020F0502020204030204" pitchFamily="34" charset="0"/>
                        </a:rPr>
                        <a:t>Se declara nula RM considerando que al momento de emitir resultado de requerimiento final, no se evaluó expediente presentado por la empresa en etapa de fiscalización.</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0966037"/>
                  </a:ext>
                </a:extLst>
              </a:tr>
              <a:tr h="303622">
                <a:tc>
                  <a:txBody>
                    <a:bodyPr/>
                    <a:lstStyle/>
                    <a:p>
                      <a:pPr algn="l" fontAlgn="ctr"/>
                      <a:r>
                        <a:rPr lang="es-PE" sz="1000" b="0" i="0" u="none" strike="noStrike">
                          <a:solidFill>
                            <a:srgbClr val="000000"/>
                          </a:solidFill>
                          <a:effectLst/>
                          <a:latin typeface="Calibri" panose="020F0502020204030204" pitchFamily="34" charset="0"/>
                        </a:rPr>
                        <a:t>SEDE CENTRAL - CHUCUITO </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Agosto</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1000" b="0" i="0" u="none" strike="noStrike">
                          <a:solidFill>
                            <a:srgbClr val="000000"/>
                          </a:solidFill>
                          <a:effectLst/>
                          <a:latin typeface="Calibri" panose="020F0502020204030204" pitchFamily="34" charset="0"/>
                        </a:rPr>
                        <a:t>4090140009380</a:t>
                      </a:r>
                    </a:p>
                  </a:txBody>
                  <a:tcPr marL="4840" marR="4840" marT="484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PE" sz="1000" b="0" i="0" u="none" strike="noStrike">
                          <a:solidFill>
                            <a:srgbClr val="000000"/>
                          </a:solidFill>
                          <a:effectLst/>
                          <a:latin typeface="Calibri" panose="020F0502020204030204" pitchFamily="34" charset="0"/>
                        </a:rPr>
                        <a:t>Se declara nula RM considerando que al momento de emitir resultado de requerimiento final, no se evaluó expediente presentado por la empresa en etapa de fiscalización.</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0177620"/>
                  </a:ext>
                </a:extLst>
              </a:tr>
              <a:tr h="303622">
                <a:tc>
                  <a:txBody>
                    <a:bodyPr/>
                    <a:lstStyle/>
                    <a:p>
                      <a:pPr algn="l" fontAlgn="ctr"/>
                      <a:r>
                        <a:rPr lang="es-PE" sz="1000" b="0" i="0" u="none" strike="noStrike">
                          <a:solidFill>
                            <a:srgbClr val="000000"/>
                          </a:solidFill>
                          <a:effectLst/>
                          <a:latin typeface="Calibri" panose="020F0502020204030204" pitchFamily="34" charset="0"/>
                        </a:rPr>
                        <a:t>SEDE CENTRAL - CHUCUITO </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Agosto</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PE" sz="1000" b="0" i="0" u="none" strike="noStrike">
                          <a:solidFill>
                            <a:srgbClr val="000000"/>
                          </a:solidFill>
                          <a:effectLst/>
                          <a:latin typeface="Calibri" panose="020F0502020204030204" pitchFamily="34" charset="0"/>
                        </a:rPr>
                        <a:t>4090140009381</a:t>
                      </a:r>
                    </a:p>
                  </a:txBody>
                  <a:tcPr marL="4840" marR="4840" marT="484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PE" sz="1000" b="0" i="0" u="none" strike="noStrike">
                          <a:solidFill>
                            <a:srgbClr val="000000"/>
                          </a:solidFill>
                          <a:effectLst/>
                          <a:latin typeface="Calibri" panose="020F0502020204030204" pitchFamily="34" charset="0"/>
                        </a:rPr>
                        <a:t>Se declara nula RM considerando que al momento de emitir resultado de requerimiento final, no se evaluó expediente presentado por la empresa en etapa de fiscalización.</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5424968"/>
                  </a:ext>
                </a:extLst>
              </a:tr>
              <a:tr h="303622">
                <a:tc>
                  <a:txBody>
                    <a:bodyPr/>
                    <a:lstStyle/>
                    <a:p>
                      <a:pPr algn="l" fontAlgn="ctr"/>
                      <a:r>
                        <a:rPr lang="es-PE" sz="1000" b="0" i="0" u="none" strike="noStrike">
                          <a:solidFill>
                            <a:srgbClr val="000000"/>
                          </a:solidFill>
                          <a:effectLst/>
                          <a:latin typeface="Calibri" panose="020F0502020204030204" pitchFamily="34" charset="0"/>
                        </a:rPr>
                        <a:t>SEDE CENTRAL - CHUCUITO </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Agosto</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4090140009382</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PE" sz="1000" b="0" i="0" u="none" strike="noStrike">
                          <a:solidFill>
                            <a:srgbClr val="000000"/>
                          </a:solidFill>
                          <a:effectLst/>
                          <a:latin typeface="Calibri" panose="020F0502020204030204" pitchFamily="34" charset="0"/>
                        </a:rPr>
                        <a:t>Se declara nula RM considerando que al momento de emitir resultado de requerimiento final, no se evaluó expediente presentado por la empresa en etapa de fiscalización.</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0022542"/>
                  </a:ext>
                </a:extLst>
              </a:tr>
              <a:tr h="303622">
                <a:tc>
                  <a:txBody>
                    <a:bodyPr/>
                    <a:lstStyle/>
                    <a:p>
                      <a:pPr algn="l" fontAlgn="ctr"/>
                      <a:r>
                        <a:rPr lang="es-PE" sz="1000" b="0" i="0" u="none" strike="noStrike">
                          <a:solidFill>
                            <a:srgbClr val="000000"/>
                          </a:solidFill>
                          <a:effectLst/>
                          <a:latin typeface="Calibri" panose="020F0502020204030204" pitchFamily="34" charset="0"/>
                        </a:rPr>
                        <a:t>SEDE CENTRAL - CHUCUITO </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Agosto</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4090140009413</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PE" sz="1000" b="0" i="0" u="none" strike="noStrike">
                          <a:solidFill>
                            <a:srgbClr val="000000"/>
                          </a:solidFill>
                          <a:effectLst/>
                          <a:latin typeface="Calibri" panose="020F0502020204030204" pitchFamily="34" charset="0"/>
                        </a:rPr>
                        <a:t>Se declara nula RM considerando que al momento de emitir resultado de requerimiento final, no se evaluó expediente presentado por la empresa en etapa de fiscalización.</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545267"/>
                  </a:ext>
                </a:extLst>
              </a:tr>
              <a:tr h="303622">
                <a:tc>
                  <a:txBody>
                    <a:bodyPr/>
                    <a:lstStyle/>
                    <a:p>
                      <a:pPr algn="l" fontAlgn="ctr"/>
                      <a:r>
                        <a:rPr lang="es-PE" sz="1000" b="0" i="0" u="none" strike="noStrike">
                          <a:solidFill>
                            <a:srgbClr val="000000"/>
                          </a:solidFill>
                          <a:effectLst/>
                          <a:latin typeface="Calibri" panose="020F0502020204030204" pitchFamily="34" charset="0"/>
                        </a:rPr>
                        <a:t>SEDE CENTRAL - CHUCUITO </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Agosto</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4090140009414</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PE" sz="1000" b="0" i="0" u="none" strike="noStrike" dirty="0">
                          <a:solidFill>
                            <a:srgbClr val="000000"/>
                          </a:solidFill>
                          <a:effectLst/>
                          <a:latin typeface="Calibri" panose="020F0502020204030204" pitchFamily="34" charset="0"/>
                        </a:rPr>
                        <a:t>Se declara nula RM considerando que al momento de emitir resultado de requerimiento final, no se evaluó expediente presentado por la empresa en etapa de fiscalización.</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2252158"/>
                  </a:ext>
                </a:extLst>
              </a:tr>
              <a:tr h="303622">
                <a:tc>
                  <a:txBody>
                    <a:bodyPr/>
                    <a:lstStyle/>
                    <a:p>
                      <a:pPr algn="l" fontAlgn="ctr"/>
                      <a:r>
                        <a:rPr lang="es-PE" sz="1000" b="0" i="0" u="none" strike="noStrike">
                          <a:solidFill>
                            <a:srgbClr val="000000"/>
                          </a:solidFill>
                          <a:effectLst/>
                          <a:latin typeface="Calibri" panose="020F0502020204030204" pitchFamily="34" charset="0"/>
                        </a:rPr>
                        <a:t>SEDE CENTRAL - CHUCUITO </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Agosto</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4090140009415</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PE" sz="1000" b="0" i="0" u="none" strike="noStrike">
                          <a:solidFill>
                            <a:srgbClr val="000000"/>
                          </a:solidFill>
                          <a:effectLst/>
                          <a:latin typeface="Calibri" panose="020F0502020204030204" pitchFamily="34" charset="0"/>
                        </a:rPr>
                        <a:t>Se declara nula RM considerando que al momento de emitir resultado de requerimiento final, no se evaluó expediente presentado por la empresa en etapa de fiscalización.</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91222655"/>
                  </a:ext>
                </a:extLst>
              </a:tr>
              <a:tr h="303622">
                <a:tc>
                  <a:txBody>
                    <a:bodyPr/>
                    <a:lstStyle/>
                    <a:p>
                      <a:pPr algn="l" fontAlgn="ctr"/>
                      <a:r>
                        <a:rPr lang="es-PE" sz="1000" b="0" i="0" u="none" strike="noStrike">
                          <a:solidFill>
                            <a:srgbClr val="000000"/>
                          </a:solidFill>
                          <a:effectLst/>
                          <a:latin typeface="Calibri" panose="020F0502020204030204" pitchFamily="34" charset="0"/>
                        </a:rPr>
                        <a:t>SEDE CENTRAL - CHUCUITO </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Agosto</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4090140009416</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PE" sz="1000" b="0" i="0" u="none" strike="noStrike">
                          <a:solidFill>
                            <a:srgbClr val="000000"/>
                          </a:solidFill>
                          <a:effectLst/>
                          <a:latin typeface="Calibri" panose="020F0502020204030204" pitchFamily="34" charset="0"/>
                        </a:rPr>
                        <a:t>Se declara nula RM considerando que al momento de emitir resultado de requerimiento final, no se evaluó expediente presentado por la empresa en etapa de fiscalización.</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7377171"/>
                  </a:ext>
                </a:extLst>
              </a:tr>
              <a:tr h="303622">
                <a:tc>
                  <a:txBody>
                    <a:bodyPr/>
                    <a:lstStyle/>
                    <a:p>
                      <a:pPr algn="l" fontAlgn="ctr"/>
                      <a:r>
                        <a:rPr lang="es-PE" sz="1000" b="0" i="0" u="none" strike="noStrike">
                          <a:solidFill>
                            <a:srgbClr val="000000"/>
                          </a:solidFill>
                          <a:effectLst/>
                          <a:latin typeface="Calibri" panose="020F0502020204030204" pitchFamily="34" charset="0"/>
                        </a:rPr>
                        <a:t>SEDE CENTRAL - CHUCUITO </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Agosto</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4090140009417</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PE" sz="1000" b="0" i="0" u="none" strike="noStrike">
                          <a:solidFill>
                            <a:srgbClr val="000000"/>
                          </a:solidFill>
                          <a:effectLst/>
                          <a:latin typeface="Calibri" panose="020F0502020204030204" pitchFamily="34" charset="0"/>
                        </a:rPr>
                        <a:t>Se declara nula RM considerando que al momento de emitir resultado de requerimiento final, no se evaluó expediente presentado por la empresa en etapa de fiscalización.</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2236531"/>
                  </a:ext>
                </a:extLst>
              </a:tr>
              <a:tr h="303622">
                <a:tc>
                  <a:txBody>
                    <a:bodyPr/>
                    <a:lstStyle/>
                    <a:p>
                      <a:pPr algn="l" fontAlgn="ctr"/>
                      <a:r>
                        <a:rPr lang="es-PE" sz="1000" b="0" i="0" u="none" strike="noStrike">
                          <a:solidFill>
                            <a:srgbClr val="000000"/>
                          </a:solidFill>
                          <a:effectLst/>
                          <a:latin typeface="Calibri" panose="020F0502020204030204" pitchFamily="34" charset="0"/>
                        </a:rPr>
                        <a:t>SEDE CENTRAL - CHUCUITO </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Agosto</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4090140009428</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PE" sz="1000" b="0" i="0" u="none" strike="noStrike">
                          <a:solidFill>
                            <a:srgbClr val="000000"/>
                          </a:solidFill>
                          <a:effectLst/>
                          <a:latin typeface="Calibri" panose="020F0502020204030204" pitchFamily="34" charset="0"/>
                        </a:rPr>
                        <a:t>Se declara nula RM considerando que al momento de emitir resultado de requerimiento final, no se evaluó expediente presentado por la empresa en etapa de fiscalización.</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1138796"/>
                  </a:ext>
                </a:extLst>
              </a:tr>
              <a:tr h="303622">
                <a:tc>
                  <a:txBody>
                    <a:bodyPr/>
                    <a:lstStyle/>
                    <a:p>
                      <a:pPr algn="l" fontAlgn="ctr"/>
                      <a:r>
                        <a:rPr lang="es-PE" sz="1000" b="0" i="0" u="none" strike="noStrike">
                          <a:solidFill>
                            <a:srgbClr val="000000"/>
                          </a:solidFill>
                          <a:effectLst/>
                          <a:latin typeface="Calibri" panose="020F0502020204030204" pitchFamily="34" charset="0"/>
                        </a:rPr>
                        <a:t>SEDE CENTRAL - CHUCUITO </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Agosto</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4090140009429</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PE" sz="1000" b="0" i="0" u="none" strike="noStrike">
                          <a:solidFill>
                            <a:srgbClr val="000000"/>
                          </a:solidFill>
                          <a:effectLst/>
                          <a:latin typeface="Calibri" panose="020F0502020204030204" pitchFamily="34" charset="0"/>
                        </a:rPr>
                        <a:t>Se declara nula RM considerando que al momento de emitir resultado de requerimiento final, no se evaluó expediente presentado por la empresa en etapa de fiscalización.</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6467306"/>
                  </a:ext>
                </a:extLst>
              </a:tr>
              <a:tr h="303622">
                <a:tc>
                  <a:txBody>
                    <a:bodyPr/>
                    <a:lstStyle/>
                    <a:p>
                      <a:pPr algn="l" fontAlgn="ctr"/>
                      <a:r>
                        <a:rPr lang="es-PE" sz="1000" b="0" i="0" u="none" strike="noStrike">
                          <a:solidFill>
                            <a:srgbClr val="000000"/>
                          </a:solidFill>
                          <a:effectLst/>
                          <a:latin typeface="Calibri" panose="020F0502020204030204" pitchFamily="34" charset="0"/>
                        </a:rPr>
                        <a:t>SEDE CENTRAL - CHUCUITO </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Agosto</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4090140009430</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PE" sz="1000" b="0" i="0" u="none" strike="noStrike">
                          <a:solidFill>
                            <a:srgbClr val="000000"/>
                          </a:solidFill>
                          <a:effectLst/>
                          <a:latin typeface="Calibri" panose="020F0502020204030204" pitchFamily="34" charset="0"/>
                        </a:rPr>
                        <a:t>Se declara nula RM considerando que al momento de emitir resultado de requerimiento final, no se evaluó expediente presentado por la empresa en etapa de fiscalización.</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194959"/>
                  </a:ext>
                </a:extLst>
              </a:tr>
              <a:tr h="303622">
                <a:tc>
                  <a:txBody>
                    <a:bodyPr/>
                    <a:lstStyle/>
                    <a:p>
                      <a:pPr algn="l" fontAlgn="ctr"/>
                      <a:r>
                        <a:rPr lang="es-PE" sz="1000" b="0" i="0" u="none" strike="noStrike">
                          <a:solidFill>
                            <a:srgbClr val="000000"/>
                          </a:solidFill>
                          <a:effectLst/>
                          <a:latin typeface="Calibri" panose="020F0502020204030204" pitchFamily="34" charset="0"/>
                        </a:rPr>
                        <a:t>SEDE CENTRAL - CHUCUITO </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Agosto</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4090140009431</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PE" sz="1000" b="0" i="0" u="none" strike="noStrike">
                          <a:solidFill>
                            <a:srgbClr val="000000"/>
                          </a:solidFill>
                          <a:effectLst/>
                          <a:latin typeface="Calibri" panose="020F0502020204030204" pitchFamily="34" charset="0"/>
                        </a:rPr>
                        <a:t>Se declara nula RM considerando que al momento de emitir resultado de requerimiento final, no se evaluó expediente presentado por la empresa en etapa de fiscalización.</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12109720"/>
                  </a:ext>
                </a:extLst>
              </a:tr>
              <a:tr h="303622">
                <a:tc>
                  <a:txBody>
                    <a:bodyPr/>
                    <a:lstStyle/>
                    <a:p>
                      <a:pPr algn="l" fontAlgn="ctr"/>
                      <a:r>
                        <a:rPr lang="es-PE" sz="1000" b="0" i="0" u="none" strike="noStrike">
                          <a:solidFill>
                            <a:srgbClr val="000000"/>
                          </a:solidFill>
                          <a:effectLst/>
                          <a:latin typeface="Calibri" panose="020F0502020204030204" pitchFamily="34" charset="0"/>
                        </a:rPr>
                        <a:t>SEDE CENTRAL - CHUCUITO </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Agosto</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000" b="0" i="0" u="none" strike="noStrike">
                          <a:solidFill>
                            <a:srgbClr val="000000"/>
                          </a:solidFill>
                          <a:effectLst/>
                          <a:latin typeface="Calibri" panose="020F0502020204030204" pitchFamily="34" charset="0"/>
                        </a:rPr>
                        <a:t>4090140009432</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PE" sz="1000" b="0" i="0" u="none" strike="noStrike" dirty="0">
                          <a:solidFill>
                            <a:srgbClr val="000000"/>
                          </a:solidFill>
                          <a:effectLst/>
                          <a:latin typeface="Calibri" panose="020F0502020204030204" pitchFamily="34" charset="0"/>
                        </a:rPr>
                        <a:t>Se declara nula RM considerando que al momento de emitir resultado de requerimiento final, no se evaluó expediente presentado por la empresa en etapa de fiscalización.</a:t>
                      </a:r>
                    </a:p>
                  </a:txBody>
                  <a:tcPr marL="4840" marR="4840" marT="484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9686375"/>
                  </a:ext>
                </a:extLst>
              </a:tr>
            </a:tbl>
          </a:graphicData>
        </a:graphic>
      </p:graphicFrame>
    </p:spTree>
    <p:extLst>
      <p:ext uri="{BB962C8B-B14F-4D97-AF65-F5344CB8AC3E}">
        <p14:creationId xmlns:p14="http://schemas.microsoft.com/office/powerpoint/2010/main" val="9916034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800" b="1" dirty="0">
                <a:latin typeface="Arial" panose="020B0604020202020204" pitchFamily="34" charset="0"/>
                <a:cs typeface="Arial" panose="020B0604020202020204" pitchFamily="34" charset="0"/>
              </a:rPr>
              <a:t>OPORTUNIDAD DE MEJORA</a:t>
            </a:r>
            <a:br>
              <a:rPr lang="es-ES" sz="2800" b="1" dirty="0">
                <a:latin typeface="Arial" panose="020B0604020202020204" pitchFamily="34" charset="0"/>
                <a:cs typeface="Arial" panose="020B0604020202020204" pitchFamily="34" charset="0"/>
              </a:rPr>
            </a:br>
            <a:endParaRPr lang="es-PE" sz="2800" b="1" dirty="0">
              <a:latin typeface="Arial" panose="020B0604020202020204" pitchFamily="34" charset="0"/>
              <a:cs typeface="Arial" panose="020B0604020202020204" pitchFamily="34" charset="0"/>
            </a:endParaRPr>
          </a:p>
        </p:txBody>
      </p:sp>
      <p:graphicFrame>
        <p:nvGraphicFramePr>
          <p:cNvPr id="4" name="Gráfico 3">
            <a:extLst>
              <a:ext uri="{FF2B5EF4-FFF2-40B4-BE49-F238E27FC236}">
                <a16:creationId xmlns:a16="http://schemas.microsoft.com/office/drawing/2014/main" id="{B31EA813-B8F6-C57D-8F96-0686A481EB8B}"/>
              </a:ext>
            </a:extLst>
          </p:cNvPr>
          <p:cNvGraphicFramePr>
            <a:graphicFrameLocks/>
          </p:cNvGraphicFramePr>
          <p:nvPr>
            <p:extLst>
              <p:ext uri="{D42A27DB-BD31-4B8C-83A1-F6EECF244321}">
                <p14:modId xmlns:p14="http://schemas.microsoft.com/office/powerpoint/2010/main" val="3977856105"/>
              </p:ext>
            </p:extLst>
          </p:nvPr>
        </p:nvGraphicFramePr>
        <p:xfrm>
          <a:off x="567336" y="1187962"/>
          <a:ext cx="10239375" cy="324349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Tabla 5">
            <a:extLst>
              <a:ext uri="{FF2B5EF4-FFF2-40B4-BE49-F238E27FC236}">
                <a16:creationId xmlns:a16="http://schemas.microsoft.com/office/drawing/2014/main" id="{645F0F7F-91F6-E1DE-93C2-205FAFF61B12}"/>
              </a:ext>
            </a:extLst>
          </p:cNvPr>
          <p:cNvGraphicFramePr>
            <a:graphicFrameLocks noGrp="1"/>
          </p:cNvGraphicFramePr>
          <p:nvPr>
            <p:extLst>
              <p:ext uri="{D42A27DB-BD31-4B8C-83A1-F6EECF244321}">
                <p14:modId xmlns:p14="http://schemas.microsoft.com/office/powerpoint/2010/main" val="1473467996"/>
              </p:ext>
            </p:extLst>
          </p:nvPr>
        </p:nvGraphicFramePr>
        <p:xfrm>
          <a:off x="4163023" y="4618231"/>
          <a:ext cx="3048000" cy="1927758"/>
        </p:xfrm>
        <a:graphic>
          <a:graphicData uri="http://schemas.openxmlformats.org/drawingml/2006/table">
            <a:tbl>
              <a:tblPr>
                <a:tableStyleId>{5DA37D80-6434-44D0-A028-1B22A696006F}</a:tableStyleId>
              </a:tblPr>
              <a:tblGrid>
                <a:gridCol w="1294356">
                  <a:extLst>
                    <a:ext uri="{9D8B030D-6E8A-4147-A177-3AD203B41FA5}">
                      <a16:colId xmlns:a16="http://schemas.microsoft.com/office/drawing/2014/main" val="4122274139"/>
                    </a:ext>
                  </a:extLst>
                </a:gridCol>
                <a:gridCol w="876822">
                  <a:extLst>
                    <a:ext uri="{9D8B030D-6E8A-4147-A177-3AD203B41FA5}">
                      <a16:colId xmlns:a16="http://schemas.microsoft.com/office/drawing/2014/main" val="1382003201"/>
                    </a:ext>
                  </a:extLst>
                </a:gridCol>
                <a:gridCol w="876822">
                  <a:extLst>
                    <a:ext uri="{9D8B030D-6E8A-4147-A177-3AD203B41FA5}">
                      <a16:colId xmlns:a16="http://schemas.microsoft.com/office/drawing/2014/main" val="587845490"/>
                    </a:ext>
                  </a:extLst>
                </a:gridCol>
              </a:tblGrid>
              <a:tr h="189605">
                <a:tc>
                  <a:txBody>
                    <a:bodyPr/>
                    <a:lstStyle/>
                    <a:p>
                      <a:pPr algn="ctr" fontAlgn="ctr"/>
                      <a:r>
                        <a:rPr lang="es-PE" sz="1400" b="1" u="none" strike="noStrike" dirty="0">
                          <a:solidFill>
                            <a:sysClr val="windowText" lastClr="000000"/>
                          </a:solidFill>
                          <a:effectLst/>
                        </a:rPr>
                        <a:t>ESTADO</a:t>
                      </a:r>
                      <a:endParaRPr lang="es-PE" sz="1400" b="1" i="0" u="none" strike="noStrike" dirty="0">
                        <a:solidFill>
                          <a:sysClr val="windowText" lastClr="000000"/>
                        </a:solidFill>
                        <a:effectLst/>
                        <a:latin typeface="Calibri Light" panose="020F0302020204030204" pitchFamily="34" charset="0"/>
                      </a:endParaRPr>
                    </a:p>
                  </a:txBody>
                  <a:tcPr marL="0" marR="0" marT="0" marB="0" anchor="ctr">
                    <a:solidFill>
                      <a:schemeClr val="accent2">
                        <a:lumMod val="60000"/>
                        <a:lumOff val="40000"/>
                      </a:schemeClr>
                    </a:solidFill>
                  </a:tcPr>
                </a:tc>
                <a:tc>
                  <a:txBody>
                    <a:bodyPr/>
                    <a:lstStyle/>
                    <a:p>
                      <a:pPr algn="ctr" fontAlgn="ctr"/>
                      <a:r>
                        <a:rPr lang="es-PE" sz="1400" b="1" u="none" strike="noStrike" dirty="0">
                          <a:solidFill>
                            <a:sysClr val="windowText" lastClr="000000"/>
                          </a:solidFill>
                          <a:effectLst/>
                        </a:rPr>
                        <a:t>Total</a:t>
                      </a:r>
                      <a:endParaRPr lang="es-PE" sz="1400" b="1" i="0" u="none" strike="noStrike" dirty="0">
                        <a:solidFill>
                          <a:sysClr val="windowText" lastClr="000000"/>
                        </a:solidFill>
                        <a:effectLst/>
                        <a:latin typeface="Calibri Light" panose="020F0302020204030204" pitchFamily="34" charset="0"/>
                      </a:endParaRPr>
                    </a:p>
                  </a:txBody>
                  <a:tcPr marL="0" marR="0" marT="0" marB="0" anchor="ctr">
                    <a:solidFill>
                      <a:schemeClr val="accent2">
                        <a:lumMod val="60000"/>
                        <a:lumOff val="40000"/>
                      </a:schemeClr>
                    </a:solidFill>
                  </a:tcPr>
                </a:tc>
                <a:tc>
                  <a:txBody>
                    <a:bodyPr/>
                    <a:lstStyle/>
                    <a:p>
                      <a:pPr algn="ctr" fontAlgn="ctr"/>
                      <a:r>
                        <a:rPr lang="es-PE" sz="1400" b="1" u="none" strike="noStrike" dirty="0">
                          <a:solidFill>
                            <a:sysClr val="windowText" lastClr="000000"/>
                          </a:solidFill>
                          <a:effectLst/>
                        </a:rPr>
                        <a:t>Porcentaje</a:t>
                      </a:r>
                      <a:endParaRPr lang="es-PE" sz="1400" b="1" i="0" u="none" strike="noStrike" dirty="0">
                        <a:solidFill>
                          <a:sysClr val="windowText" lastClr="000000"/>
                        </a:solidFill>
                        <a:effectLst/>
                        <a:latin typeface="Calibri Light" panose="020F0302020204030204" pitchFamily="34" charset="0"/>
                      </a:endParaRPr>
                    </a:p>
                  </a:txBody>
                  <a:tcPr marL="0" marR="0" marT="0" marB="0" anchor="ctr">
                    <a:solidFill>
                      <a:schemeClr val="accent2">
                        <a:lumMod val="60000"/>
                        <a:lumOff val="40000"/>
                      </a:schemeClr>
                    </a:solidFill>
                  </a:tcPr>
                </a:tc>
                <a:extLst>
                  <a:ext uri="{0D108BD9-81ED-4DB2-BD59-A6C34878D82A}">
                    <a16:rowId xmlns:a16="http://schemas.microsoft.com/office/drawing/2014/main" val="2309498888"/>
                  </a:ext>
                </a:extLst>
              </a:tr>
              <a:tr h="250173">
                <a:tc>
                  <a:txBody>
                    <a:bodyPr/>
                    <a:lstStyle/>
                    <a:p>
                      <a:pPr algn="l" fontAlgn="ctr"/>
                      <a:r>
                        <a:rPr lang="es-PE" sz="1600" b="1" u="none" strike="noStrike">
                          <a:solidFill>
                            <a:srgbClr val="000000"/>
                          </a:solidFill>
                          <a:effectLst/>
                        </a:rPr>
                        <a:t>Infundado</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4740</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87.24%</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227574320"/>
                  </a:ext>
                </a:extLst>
              </a:tr>
              <a:tr h="250173">
                <a:tc>
                  <a:txBody>
                    <a:bodyPr/>
                    <a:lstStyle/>
                    <a:p>
                      <a:pPr algn="l" fontAlgn="ctr"/>
                      <a:r>
                        <a:rPr lang="es-PE" sz="1600" b="1" u="none" strike="noStrike">
                          <a:solidFill>
                            <a:srgbClr val="000000"/>
                          </a:solidFill>
                          <a:effectLst/>
                        </a:rPr>
                        <a:t>Fundado/F.P</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211</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3.88%</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317111707"/>
                  </a:ext>
                </a:extLst>
              </a:tr>
              <a:tr h="250173">
                <a:tc>
                  <a:txBody>
                    <a:bodyPr/>
                    <a:lstStyle/>
                    <a:p>
                      <a:pPr algn="l" fontAlgn="ctr"/>
                      <a:r>
                        <a:rPr lang="es-PE" sz="1600" b="1" u="none" strike="noStrike">
                          <a:solidFill>
                            <a:srgbClr val="000000"/>
                          </a:solidFill>
                          <a:effectLst/>
                        </a:rPr>
                        <a:t>Nulidad</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404</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7.44%</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359762901"/>
                  </a:ext>
                </a:extLst>
              </a:tr>
              <a:tr h="250173">
                <a:tc>
                  <a:txBody>
                    <a:bodyPr/>
                    <a:lstStyle/>
                    <a:p>
                      <a:pPr algn="l" fontAlgn="ctr"/>
                      <a:r>
                        <a:rPr lang="es-PE" sz="1600" b="1" u="none" strike="noStrike">
                          <a:solidFill>
                            <a:srgbClr val="000000"/>
                          </a:solidFill>
                          <a:effectLst/>
                        </a:rPr>
                        <a:t>Improcedente</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dirty="0">
                          <a:solidFill>
                            <a:srgbClr val="000000"/>
                          </a:solidFill>
                          <a:effectLst/>
                        </a:rPr>
                        <a:t>8</a:t>
                      </a:r>
                      <a:endParaRPr lang="es-PE" sz="1400" b="1" i="0" u="none" strike="noStrike" dirty="0">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0.15%</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91319216"/>
                  </a:ext>
                </a:extLst>
              </a:tr>
              <a:tr h="250173">
                <a:tc>
                  <a:txBody>
                    <a:bodyPr/>
                    <a:lstStyle/>
                    <a:p>
                      <a:pPr algn="l" fontAlgn="ctr"/>
                      <a:r>
                        <a:rPr lang="es-PE" sz="1600" b="1" u="none" strike="noStrike">
                          <a:solidFill>
                            <a:srgbClr val="000000"/>
                          </a:solidFill>
                          <a:effectLst/>
                        </a:rPr>
                        <a:t>Desistimiento</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4</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0.07%</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196137711"/>
                  </a:ext>
                </a:extLst>
              </a:tr>
              <a:tr h="250173">
                <a:tc>
                  <a:txBody>
                    <a:bodyPr/>
                    <a:lstStyle/>
                    <a:p>
                      <a:pPr algn="l" fontAlgn="ctr"/>
                      <a:r>
                        <a:rPr lang="es-PE" sz="1600" b="1" u="none" strike="noStrike">
                          <a:solidFill>
                            <a:srgbClr val="000000"/>
                          </a:solidFill>
                          <a:effectLst/>
                        </a:rPr>
                        <a:t>Otros</a:t>
                      </a:r>
                      <a:endParaRPr lang="es-PE" sz="16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66</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a:solidFill>
                            <a:srgbClr val="000000"/>
                          </a:solidFill>
                          <a:effectLst/>
                        </a:rPr>
                        <a:t>1.21%</a:t>
                      </a:r>
                      <a:endParaRPr lang="es-PE" sz="12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72302321"/>
                  </a:ext>
                </a:extLst>
              </a:tr>
              <a:tr h="210672">
                <a:tc>
                  <a:txBody>
                    <a:bodyPr/>
                    <a:lstStyle/>
                    <a:p>
                      <a:pPr algn="l" fontAlgn="ctr"/>
                      <a:r>
                        <a:rPr lang="es-PE" sz="1400" b="1" u="none" strike="noStrike">
                          <a:solidFill>
                            <a:srgbClr val="000000"/>
                          </a:solidFill>
                          <a:effectLst/>
                        </a:rPr>
                        <a:t>Total</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400" b="1" u="none" strike="noStrike">
                          <a:solidFill>
                            <a:srgbClr val="000000"/>
                          </a:solidFill>
                          <a:effectLst/>
                        </a:rPr>
                        <a:t>5433</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200" b="0" u="none" strike="noStrike" dirty="0">
                          <a:solidFill>
                            <a:srgbClr val="000000"/>
                          </a:solidFill>
                          <a:effectLst/>
                        </a:rPr>
                        <a:t>100.00%</a:t>
                      </a:r>
                      <a:endParaRPr lang="es-PE" sz="12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1610975"/>
                  </a:ext>
                </a:extLst>
              </a:tr>
            </a:tbl>
          </a:graphicData>
        </a:graphic>
      </p:graphicFrame>
    </p:spTree>
    <p:extLst>
      <p:ext uri="{BB962C8B-B14F-4D97-AF65-F5344CB8AC3E}">
        <p14:creationId xmlns:p14="http://schemas.microsoft.com/office/powerpoint/2010/main" val="988800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800" b="1" dirty="0">
                <a:latin typeface="Arial" panose="020B0604020202020204" pitchFamily="34" charset="0"/>
                <a:cs typeface="Arial" panose="020B0604020202020204" pitchFamily="34" charset="0"/>
              </a:rPr>
              <a:t>OPORTUNIDAD DE MEJORA</a:t>
            </a:r>
            <a:br>
              <a:rPr lang="es-ES" sz="2800" b="1" dirty="0">
                <a:latin typeface="Arial" panose="020B0604020202020204" pitchFamily="34" charset="0"/>
                <a:cs typeface="Arial" panose="020B0604020202020204" pitchFamily="34" charset="0"/>
              </a:rPr>
            </a:br>
            <a:endParaRPr lang="es-PE" sz="2800" b="1" dirty="0">
              <a:latin typeface="Arial" panose="020B0604020202020204" pitchFamily="34" charset="0"/>
              <a:cs typeface="Arial" panose="020B0604020202020204" pitchFamily="34" charset="0"/>
            </a:endParaRPr>
          </a:p>
        </p:txBody>
      </p:sp>
      <p:graphicFrame>
        <p:nvGraphicFramePr>
          <p:cNvPr id="2" name="Gráfico 1">
            <a:extLst>
              <a:ext uri="{FF2B5EF4-FFF2-40B4-BE49-F238E27FC236}">
                <a16:creationId xmlns:a16="http://schemas.microsoft.com/office/drawing/2014/main" id="{63324CF6-22F2-DDF0-1806-8EAD87496C1B}"/>
              </a:ext>
            </a:extLst>
          </p:cNvPr>
          <p:cNvGraphicFramePr>
            <a:graphicFrameLocks/>
          </p:cNvGraphicFramePr>
          <p:nvPr>
            <p:extLst>
              <p:ext uri="{D42A27DB-BD31-4B8C-83A1-F6EECF244321}">
                <p14:modId xmlns:p14="http://schemas.microsoft.com/office/powerpoint/2010/main" val="1647297093"/>
              </p:ext>
            </p:extLst>
          </p:nvPr>
        </p:nvGraphicFramePr>
        <p:xfrm>
          <a:off x="714376" y="1085850"/>
          <a:ext cx="10258424" cy="320039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Tabla 4">
            <a:extLst>
              <a:ext uri="{FF2B5EF4-FFF2-40B4-BE49-F238E27FC236}">
                <a16:creationId xmlns:a16="http://schemas.microsoft.com/office/drawing/2014/main" id="{694E2C90-6100-890D-0923-FEDE814AEB31}"/>
              </a:ext>
            </a:extLst>
          </p:cNvPr>
          <p:cNvGraphicFramePr>
            <a:graphicFrameLocks noGrp="1"/>
          </p:cNvGraphicFramePr>
          <p:nvPr>
            <p:extLst>
              <p:ext uri="{D42A27DB-BD31-4B8C-83A1-F6EECF244321}">
                <p14:modId xmlns:p14="http://schemas.microsoft.com/office/powerpoint/2010/main" val="2779409447"/>
              </p:ext>
            </p:extLst>
          </p:nvPr>
        </p:nvGraphicFramePr>
        <p:xfrm>
          <a:off x="4351619" y="4464843"/>
          <a:ext cx="2477805" cy="2135978"/>
        </p:xfrm>
        <a:graphic>
          <a:graphicData uri="http://schemas.openxmlformats.org/drawingml/2006/table">
            <a:tbl>
              <a:tblPr firstRow="1" firstCol="1" bandRow="1"/>
              <a:tblGrid>
                <a:gridCol w="830967">
                  <a:extLst>
                    <a:ext uri="{9D8B030D-6E8A-4147-A177-3AD203B41FA5}">
                      <a16:colId xmlns:a16="http://schemas.microsoft.com/office/drawing/2014/main" val="1852388121"/>
                    </a:ext>
                  </a:extLst>
                </a:gridCol>
                <a:gridCol w="823419">
                  <a:extLst>
                    <a:ext uri="{9D8B030D-6E8A-4147-A177-3AD203B41FA5}">
                      <a16:colId xmlns:a16="http://schemas.microsoft.com/office/drawing/2014/main" val="2500043890"/>
                    </a:ext>
                  </a:extLst>
                </a:gridCol>
                <a:gridCol w="823419">
                  <a:extLst>
                    <a:ext uri="{9D8B030D-6E8A-4147-A177-3AD203B41FA5}">
                      <a16:colId xmlns:a16="http://schemas.microsoft.com/office/drawing/2014/main" val="1117758728"/>
                    </a:ext>
                  </a:extLst>
                </a:gridCol>
              </a:tblGrid>
              <a:tr h="218881">
                <a:tc>
                  <a:txBody>
                    <a:bodyPr/>
                    <a:lstStyle/>
                    <a:p>
                      <a:pPr algn="ctr"/>
                      <a:r>
                        <a:rPr lang="es-PE" sz="1000" b="1">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ESTADO</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100" b="1">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Total</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200" b="1" dirty="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Porcentaje</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extLst>
                  <a:ext uri="{0D108BD9-81ED-4DB2-BD59-A6C34878D82A}">
                    <a16:rowId xmlns:a16="http://schemas.microsoft.com/office/drawing/2014/main" val="4165554273"/>
                  </a:ext>
                </a:extLst>
              </a:tr>
              <a:tr h="218881">
                <a:tc>
                  <a:txBody>
                    <a:bodyPr/>
                    <a:lstStyle/>
                    <a:p>
                      <a:pPr algn="ctr"/>
                      <a:r>
                        <a:rPr lang="es-PE" sz="9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Infundado</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9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2548</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87.68%</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3881474895"/>
                  </a:ext>
                </a:extLst>
              </a:tr>
              <a:tr h="347191">
                <a:tc>
                  <a:txBody>
                    <a:bodyPr/>
                    <a:lstStyle/>
                    <a:p>
                      <a:pPr algn="ctr"/>
                      <a:r>
                        <a:rPr lang="es-PE" sz="9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Fundado / F.P</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9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108</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9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3.72%</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2766214033"/>
                  </a:ext>
                </a:extLst>
              </a:tr>
              <a:tr h="218881">
                <a:tc>
                  <a:txBody>
                    <a:bodyPr/>
                    <a:lstStyle/>
                    <a:p>
                      <a:pPr algn="ctr"/>
                      <a:r>
                        <a:rPr lang="es-PE" sz="9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Nulidad</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223</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7.67%</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2355344144"/>
                  </a:ext>
                </a:extLst>
              </a:tr>
              <a:tr h="347191">
                <a:tc>
                  <a:txBody>
                    <a:bodyPr/>
                    <a:lstStyle/>
                    <a:p>
                      <a:pPr algn="ctr"/>
                      <a:r>
                        <a:rPr lang="es-PE" sz="9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Improcedente</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9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0.07%</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1558625750"/>
                  </a:ext>
                </a:extLst>
              </a:tr>
              <a:tr h="347191">
                <a:tc>
                  <a:txBody>
                    <a:bodyPr/>
                    <a:lstStyle/>
                    <a:p>
                      <a:pPr algn="ctr"/>
                      <a:r>
                        <a:rPr lang="es-PE" sz="9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Desistimiento </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9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0.03%</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4009437403"/>
                  </a:ext>
                </a:extLst>
              </a:tr>
              <a:tr h="218881">
                <a:tc>
                  <a:txBody>
                    <a:bodyPr/>
                    <a:lstStyle/>
                    <a:p>
                      <a:pPr algn="ctr"/>
                      <a:r>
                        <a:rPr lang="es-PE" sz="9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Otros </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24</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9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0.83%</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2746525126"/>
                  </a:ext>
                </a:extLst>
              </a:tr>
              <a:tr h="218881">
                <a:tc>
                  <a:txBody>
                    <a:bodyPr/>
                    <a:lstStyle/>
                    <a:p>
                      <a:pPr algn="ctr"/>
                      <a:r>
                        <a:rPr lang="es-PE" sz="9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TOTAL</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9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2906</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9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100.00%</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798954568"/>
                  </a:ext>
                </a:extLst>
              </a:tr>
            </a:tbl>
          </a:graphicData>
        </a:graphic>
      </p:graphicFrame>
    </p:spTree>
    <p:extLst>
      <p:ext uri="{BB962C8B-B14F-4D97-AF65-F5344CB8AC3E}">
        <p14:creationId xmlns:p14="http://schemas.microsoft.com/office/powerpoint/2010/main" val="26596909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772892"/>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highlight>
                  <a:srgbClr val="FFFF00"/>
                </a:highlight>
                <a:latin typeface="Arial" panose="020B0604020202020204" pitchFamily="34" charset="0"/>
                <a:cs typeface="Arial" panose="020B0604020202020204" pitchFamily="34" charset="0"/>
              </a:rPr>
              <a:t>DESAFIOS/PROPUESTAS </a:t>
            </a:r>
            <a:endParaRPr lang="es-PE" sz="2800" b="1" dirty="0">
              <a:highlight>
                <a:srgbClr val="FFFF00"/>
              </a:highlight>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024E81CA-E15C-F5EE-DC7A-2237FDCAEE51}"/>
              </a:ext>
            </a:extLst>
          </p:cNvPr>
          <p:cNvGraphicFramePr>
            <a:graphicFrameLocks noGrp="1"/>
          </p:cNvGraphicFramePr>
          <p:nvPr>
            <p:extLst>
              <p:ext uri="{D42A27DB-BD31-4B8C-83A1-F6EECF244321}">
                <p14:modId xmlns:p14="http://schemas.microsoft.com/office/powerpoint/2010/main" val="231332822"/>
              </p:ext>
            </p:extLst>
          </p:nvPr>
        </p:nvGraphicFramePr>
        <p:xfrm>
          <a:off x="338927" y="788611"/>
          <a:ext cx="11514146" cy="6341469"/>
        </p:xfrm>
        <a:graphic>
          <a:graphicData uri="http://schemas.openxmlformats.org/drawingml/2006/table">
            <a:tbl>
              <a:tblPr firstRow="1" firstCol="1" bandRow="1"/>
              <a:tblGrid>
                <a:gridCol w="3028182">
                  <a:extLst>
                    <a:ext uri="{9D8B030D-6E8A-4147-A177-3AD203B41FA5}">
                      <a16:colId xmlns:a16="http://schemas.microsoft.com/office/drawing/2014/main" val="4249395483"/>
                    </a:ext>
                  </a:extLst>
                </a:gridCol>
                <a:gridCol w="4460839">
                  <a:extLst>
                    <a:ext uri="{9D8B030D-6E8A-4147-A177-3AD203B41FA5}">
                      <a16:colId xmlns:a16="http://schemas.microsoft.com/office/drawing/2014/main" val="972088636"/>
                    </a:ext>
                  </a:extLst>
                </a:gridCol>
                <a:gridCol w="4025125">
                  <a:extLst>
                    <a:ext uri="{9D8B030D-6E8A-4147-A177-3AD203B41FA5}">
                      <a16:colId xmlns:a16="http://schemas.microsoft.com/office/drawing/2014/main" val="2022867340"/>
                    </a:ext>
                  </a:extLst>
                </a:gridCol>
              </a:tblGrid>
              <a:tr h="327125">
                <a:tc>
                  <a:txBody>
                    <a:bodyPr/>
                    <a:lstStyle/>
                    <a:p>
                      <a:pPr algn="ctr"/>
                      <a:r>
                        <a:rPr lang="es-PE" sz="1400" b="1" dirty="0">
                          <a:solidFill>
                            <a:srgbClr val="000000"/>
                          </a:solidFill>
                          <a:effectLst/>
                          <a:latin typeface="Calibri" panose="020F0502020204030204" pitchFamily="34" charset="0"/>
                          <a:ea typeface="Calibri" panose="020F0502020204030204" pitchFamily="34" charset="0"/>
                        </a:rPr>
                        <a:t>PROBLEMAS/DESAFIO.</a:t>
                      </a:r>
                      <a:endParaRPr lang="es-PE" sz="14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ctr"/>
                      <a:r>
                        <a:rPr lang="es-PE" sz="1400" b="1" dirty="0">
                          <a:solidFill>
                            <a:srgbClr val="000000"/>
                          </a:solidFill>
                          <a:effectLst/>
                          <a:latin typeface="Calibri" panose="020F0502020204030204" pitchFamily="34" charset="0"/>
                          <a:ea typeface="Calibri" panose="020F0502020204030204" pitchFamily="34" charset="0"/>
                        </a:rPr>
                        <a:t>SOLUCIONES</a:t>
                      </a:r>
                      <a:endParaRPr lang="es-PE" sz="1400" dirty="0">
                        <a:effectLst/>
                        <a:latin typeface="Calibri" panose="020F0502020204030204" pitchFamily="34" charset="0"/>
                        <a:ea typeface="Calibri" panose="020F0502020204030204" pitchFamily="34" charset="0"/>
                      </a:endParaRPr>
                    </a:p>
                  </a:txBody>
                  <a:tcPr marL="31325" marR="31325" marT="4351"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ctr"/>
                      <a:r>
                        <a:rPr lang="es-PE" sz="1400" b="1" dirty="0">
                          <a:solidFill>
                            <a:srgbClr val="000000"/>
                          </a:solidFill>
                          <a:effectLst/>
                          <a:latin typeface="Calibri" panose="020F0502020204030204" pitchFamily="34" charset="0"/>
                          <a:ea typeface="Calibri" panose="020F0502020204030204" pitchFamily="34" charset="0"/>
                        </a:rPr>
                        <a:t>PROPUESTA</a:t>
                      </a:r>
                      <a:endParaRPr lang="es-PE" sz="1400" dirty="0">
                        <a:effectLst/>
                        <a:latin typeface="Calibri" panose="020F0502020204030204" pitchFamily="34" charset="0"/>
                        <a:ea typeface="Calibri" panose="020F0502020204030204" pitchFamily="34" charset="0"/>
                      </a:endParaRPr>
                    </a:p>
                  </a:txBody>
                  <a:tcPr marL="31325" marR="31325" marT="4351"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2399955915"/>
                  </a:ext>
                </a:extLst>
              </a:tr>
              <a:tr h="1006344">
                <a:tc>
                  <a:txBody>
                    <a:bodyPr/>
                    <a:lstStyle/>
                    <a:p>
                      <a:r>
                        <a:rPr lang="es-PE" sz="1200" b="1" dirty="0">
                          <a:solidFill>
                            <a:schemeClr val="bg1"/>
                          </a:solidFill>
                          <a:effectLst/>
                          <a:latin typeface="Calibri" panose="020F0502020204030204" pitchFamily="34" charset="0"/>
                          <a:ea typeface="Calibri" panose="020F0502020204030204" pitchFamily="34" charset="0"/>
                        </a:rPr>
                        <a:t>INDICADOR PNC - TLT 6 MESES – META 98%. Revisión de ficha 2024 e Indicadores internos complementarios.</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Reunión semanal de coordinación y control de gestión GAFA-DAP-GENGI </a:t>
                      </a:r>
                      <a:r>
                        <a:rPr lang="es-ES" sz="1200" dirty="0" err="1">
                          <a:solidFill>
                            <a:srgbClr val="000000"/>
                          </a:solidFill>
                          <a:effectLst/>
                          <a:latin typeface="Calibri" panose="020F0502020204030204" pitchFamily="34" charset="0"/>
                          <a:ea typeface="Calibri" panose="020F0502020204030204" pitchFamily="34" charset="0"/>
                        </a:rPr>
                        <a:t>ica</a:t>
                      </a:r>
                      <a:r>
                        <a:rPr lang="es-ES" sz="1200" dirty="0">
                          <a:solidFill>
                            <a:srgbClr val="000000"/>
                          </a:solidFill>
                          <a:effectLst/>
                          <a:latin typeface="Calibri" panose="020F0502020204030204" pitchFamily="34" charset="0"/>
                          <a:ea typeface="Calibri" panose="020F0502020204030204" pitchFamily="34" charset="0"/>
                        </a:rPr>
                        <a:t>).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Tiempo de atención: TLT 125 días y TLT 58 </a:t>
                      </a:r>
                      <a:r>
                        <a:rPr lang="es-ES" sz="1200" b="1" dirty="0" err="1">
                          <a:solidFill>
                            <a:srgbClr val="000000"/>
                          </a:solidFill>
                          <a:effectLst/>
                          <a:latin typeface="Calibri" panose="020F0502020204030204" pitchFamily="34" charset="0"/>
                          <a:ea typeface="Calibri" panose="020F0502020204030204" pitchFamily="34" charset="0"/>
                        </a:rPr>
                        <a:t>OEAs</a:t>
                      </a:r>
                      <a:r>
                        <a:rPr lang="es-ES" sz="1200" b="1" dirty="0">
                          <a:solidFill>
                            <a:srgbClr val="000000"/>
                          </a:solidFill>
                          <a:effectLst/>
                          <a:latin typeface="Calibri" panose="020F0502020204030204" pitchFamily="34" charset="0"/>
                          <a:ea typeface="Calibri" panose="020F0502020204030204" pitchFamily="34" charset="0"/>
                        </a:rPr>
                        <a:t>. </a:t>
                      </a:r>
                    </a:p>
                    <a:p>
                      <a:r>
                        <a:rPr lang="es-ES" sz="1200" b="1" dirty="0">
                          <a:solidFill>
                            <a:srgbClr val="000000"/>
                          </a:solidFill>
                          <a:effectLst/>
                          <a:latin typeface="Calibri" panose="020F0502020204030204" pitchFamily="34" charset="0"/>
                          <a:ea typeface="Calibri" panose="020F0502020204030204" pitchFamily="34" charset="0"/>
                        </a:rPr>
                        <a:t>Vencimiento </a:t>
                      </a:r>
                      <a:r>
                        <a:rPr lang="es-ES" sz="1200" b="1" dirty="0" err="1">
                          <a:solidFill>
                            <a:srgbClr val="000000"/>
                          </a:solidFill>
                          <a:effectLst/>
                          <a:latin typeface="Calibri" panose="020F0502020204030204" pitchFamily="34" charset="0"/>
                          <a:ea typeface="Calibri" panose="020F0502020204030204" pitchFamily="34" charset="0"/>
                        </a:rPr>
                        <a:t>OEAs</a:t>
                      </a:r>
                      <a:r>
                        <a:rPr lang="es-ES" sz="1200" b="1" dirty="0">
                          <a:solidFill>
                            <a:srgbClr val="000000"/>
                          </a:solidFill>
                          <a:effectLst/>
                          <a:latin typeface="Calibri" panose="020F0502020204030204" pitchFamily="34" charset="0"/>
                          <a:ea typeface="Calibri" panose="020F0502020204030204" pitchFamily="34" charset="0"/>
                        </a:rPr>
                        <a:t> </a:t>
                      </a:r>
                      <a:r>
                        <a:rPr lang="es-ES" sz="1200" dirty="0">
                          <a:solidFill>
                            <a:srgbClr val="000000"/>
                          </a:solidFill>
                          <a:effectLst/>
                          <a:latin typeface="Calibri" panose="020F0502020204030204" pitchFamily="34" charset="0"/>
                          <a:ea typeface="Calibri" panose="020F0502020204030204" pitchFamily="34" charset="0"/>
                        </a:rPr>
                        <a:t>de reclamo (30 días hábiles), bandejas CERO y apelaciones (15 días calendarios para pedir actuados). Excluir el OEA de la ficha si lo monitorea PNGCA.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241051180"/>
                  </a:ext>
                </a:extLst>
              </a:tr>
              <a:tr h="1006344">
                <a:tc>
                  <a:txBody>
                    <a:bodyPr/>
                    <a:lstStyle/>
                    <a:p>
                      <a:r>
                        <a:rPr lang="es-PE" sz="1200" b="1" dirty="0">
                          <a:solidFill>
                            <a:schemeClr val="bg1"/>
                          </a:solidFill>
                          <a:effectLst/>
                          <a:latin typeface="Calibri" panose="020F0502020204030204" pitchFamily="34" charset="0"/>
                          <a:ea typeface="Calibri" panose="020F0502020204030204" pitchFamily="34" charset="0"/>
                        </a:rPr>
                        <a:t>Propuesta de mejora DCCI RD y RTF. Registro, Criterios, Instructivos y otros. DCCII Registro manual de data de reclamos, LC actualización y remisión de actuados. DCP retroalimentación INCA.  PASIVO TF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Marzo </a:t>
                      </a:r>
                    </a:p>
                    <a:p>
                      <a:r>
                        <a:rPr lang="es-ES" sz="1200" dirty="0">
                          <a:solidFill>
                            <a:srgbClr val="000000"/>
                          </a:solidFill>
                          <a:effectLst/>
                          <a:latin typeface="Calibri" panose="020F0502020204030204" pitchFamily="34" charset="0"/>
                          <a:ea typeface="Calibri" panose="020F0502020204030204" pitchFamily="34" charset="0"/>
                        </a:rPr>
                        <a:t>DCCI-DCCII-DCP: retroalimentación </a:t>
                      </a:r>
                      <a:r>
                        <a:rPr lang="es-ES" sz="1200" dirty="0" err="1">
                          <a:solidFill>
                            <a:srgbClr val="000000"/>
                          </a:solidFill>
                          <a:effectLst/>
                          <a:latin typeface="Calibri" panose="020F0502020204030204" pitchFamily="34" charset="0"/>
                          <a:ea typeface="Calibri" panose="020F0502020204030204" pitchFamily="34" charset="0"/>
                        </a:rPr>
                        <a:t>one</a:t>
                      </a:r>
                      <a:r>
                        <a:rPr lang="es-ES" sz="1200" dirty="0">
                          <a:solidFill>
                            <a:srgbClr val="000000"/>
                          </a:solidFill>
                          <a:effectLst/>
                          <a:latin typeface="Calibri" panose="020F0502020204030204" pitchFamily="34" charset="0"/>
                          <a:ea typeface="Calibri" panose="020F0502020204030204" pitchFamily="34" charset="0"/>
                        </a:rPr>
                        <a:t> </a:t>
                      </a:r>
                      <a:r>
                        <a:rPr lang="es-ES" sz="1200" dirty="0" err="1">
                          <a:solidFill>
                            <a:srgbClr val="000000"/>
                          </a:solidFill>
                          <a:effectLst/>
                          <a:latin typeface="Calibri" panose="020F0502020204030204" pitchFamily="34" charset="0"/>
                          <a:ea typeface="Calibri" panose="020F0502020204030204" pitchFamily="34" charset="0"/>
                        </a:rPr>
                        <a:t>to</a:t>
                      </a:r>
                      <a:r>
                        <a:rPr lang="es-ES" sz="1200" dirty="0">
                          <a:solidFill>
                            <a:srgbClr val="000000"/>
                          </a:solidFill>
                          <a:effectLst/>
                          <a:latin typeface="Calibri" panose="020F0502020204030204" pitchFamily="34" charset="0"/>
                          <a:ea typeface="Calibri" panose="020F0502020204030204" pitchFamily="34" charset="0"/>
                        </a:rPr>
                        <a:t> </a:t>
                      </a:r>
                      <a:r>
                        <a:rPr lang="es-ES" sz="1200" dirty="0" err="1">
                          <a:solidFill>
                            <a:srgbClr val="000000"/>
                          </a:solidFill>
                          <a:effectLst/>
                          <a:latin typeface="Calibri" panose="020F0502020204030204" pitchFamily="34" charset="0"/>
                          <a:ea typeface="Calibri" panose="020F0502020204030204" pitchFamily="34" charset="0"/>
                        </a:rPr>
                        <a:t>one</a:t>
                      </a:r>
                      <a:r>
                        <a:rPr lang="es-ES" sz="1200" dirty="0">
                          <a:solidFill>
                            <a:srgbClr val="000000"/>
                          </a:solidFill>
                          <a:effectLst/>
                          <a:latin typeface="Calibri" panose="020F0502020204030204" pitchFamily="34" charset="0"/>
                          <a:ea typeface="Calibri" panose="020F0502020204030204" pitchFamily="34" charset="0"/>
                        </a:rPr>
                        <a:t>. (F/N)</a:t>
                      </a:r>
                    </a:p>
                    <a:p>
                      <a:r>
                        <a:rPr lang="es-ES" sz="1200" dirty="0">
                          <a:solidFill>
                            <a:srgbClr val="000000"/>
                          </a:solidFill>
                          <a:effectLst/>
                          <a:latin typeface="Calibri" panose="020F0502020204030204" pitchFamily="34" charset="0"/>
                          <a:ea typeface="Calibri" panose="020F0502020204030204" pitchFamily="34" charset="0"/>
                        </a:rPr>
                        <a:t>Abril</a:t>
                      </a:r>
                    </a:p>
                    <a:p>
                      <a:r>
                        <a:rPr lang="es-ES" sz="1200" dirty="0">
                          <a:solidFill>
                            <a:srgbClr val="000000"/>
                          </a:solidFill>
                          <a:effectLst/>
                          <a:latin typeface="Calibri" panose="020F0502020204030204" pitchFamily="34" charset="0"/>
                          <a:ea typeface="Calibri" panose="020F0502020204030204" pitchFamily="34" charset="0"/>
                        </a:rPr>
                        <a:t>DCCI – oportunidad de mejora 11 personas.</a:t>
                      </a:r>
                    </a:p>
                    <a:p>
                      <a:endParaRPr lang="es-ES" sz="1200" dirty="0">
                        <a:solidFill>
                          <a:srgbClr val="000000"/>
                        </a:solidFill>
                        <a:effectLst/>
                        <a:latin typeface="Calibri" panose="020F0502020204030204" pitchFamily="34" charset="0"/>
                        <a:ea typeface="Calibri" panose="020F0502020204030204" pitchFamily="34" charset="0"/>
                      </a:endParaRPr>
                    </a:p>
                    <a:p>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Mejorar resultados y retroalimentación interna en fondo y en  Admisibilidad, a la IAMC, a las IAAP y Aduanas de provincia, y la INCA.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3879781516"/>
                  </a:ext>
                </a:extLst>
              </a:tr>
              <a:tr h="1006344">
                <a:tc>
                  <a:txBody>
                    <a:bodyPr/>
                    <a:lstStyle/>
                    <a:p>
                      <a:r>
                        <a:rPr lang="es-PE" sz="1200" b="1" dirty="0">
                          <a:solidFill>
                            <a:schemeClr val="bg1"/>
                          </a:solidFill>
                          <a:effectLst/>
                          <a:latin typeface="Calibri" panose="020F0502020204030204" pitchFamily="34" charset="0"/>
                          <a:ea typeface="Calibri" panose="020F0502020204030204" pitchFamily="34" charset="0"/>
                        </a:rPr>
                        <a:t>Control de Gestión para mejora del proceso de recursos impugnatorios: </a:t>
                      </a:r>
                    </a:p>
                    <a:p>
                      <a:r>
                        <a:rPr lang="es-PE" sz="1200" b="1" dirty="0">
                          <a:solidFill>
                            <a:schemeClr val="bg1"/>
                          </a:solidFill>
                          <a:effectLst/>
                          <a:latin typeface="Calibri" panose="020F0502020204030204" pitchFamily="34" charset="0"/>
                          <a:ea typeface="Calibri" panose="020F0502020204030204" pitchFamily="34" charset="0"/>
                        </a:rPr>
                        <a:t>Reunión con supervisores – Trimestral </a:t>
                      </a:r>
                    </a:p>
                    <a:p>
                      <a:r>
                        <a:rPr lang="es-PE" sz="1200" b="1" dirty="0">
                          <a:solidFill>
                            <a:schemeClr val="bg1"/>
                          </a:solidFill>
                          <a:effectLst/>
                          <a:latin typeface="Calibri" panose="020F0502020204030204" pitchFamily="34" charset="0"/>
                          <a:ea typeface="Calibri" panose="020F0502020204030204" pitchFamily="34" charset="0"/>
                        </a:rPr>
                        <a:t>Reunión con jefaturas – mensual </a:t>
                      </a:r>
                    </a:p>
                    <a:p>
                      <a:r>
                        <a:rPr lang="es-PE" sz="1200" b="1" dirty="0">
                          <a:solidFill>
                            <a:schemeClr val="bg1"/>
                          </a:solidFill>
                          <a:effectLst/>
                          <a:latin typeface="Calibri" panose="020F0502020204030204" pitchFamily="34" charset="0"/>
                          <a:ea typeface="Calibri" panose="020F0502020204030204" pitchFamily="34" charset="0"/>
                        </a:rPr>
                        <a:t>Reunión con S5 – semanal</a:t>
                      </a:r>
                    </a:p>
                    <a:p>
                      <a:r>
                        <a:rPr lang="es-PE" sz="1200" b="1" dirty="0">
                          <a:solidFill>
                            <a:schemeClr val="bg1"/>
                          </a:solidFill>
                          <a:effectLst/>
                          <a:latin typeface="Calibri" panose="020F0502020204030204" pitchFamily="34" charset="0"/>
                          <a:ea typeface="Calibri" panose="020F0502020204030204" pitchFamily="34" charset="0"/>
                        </a:rPr>
                        <a:t>MAPEO DE PROCESO Y CAPACITACIÓN.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2024 </a:t>
                      </a: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Tiempo de atención:</a:t>
                      </a:r>
                      <a:r>
                        <a:rPr lang="es-ES" sz="1200" dirty="0">
                          <a:solidFill>
                            <a:srgbClr val="000000"/>
                          </a:solidFill>
                          <a:effectLst/>
                          <a:latin typeface="Calibri" panose="020F0502020204030204" pitchFamily="34" charset="0"/>
                          <a:ea typeface="Calibri" panose="020F0502020204030204" pitchFamily="34" charset="0"/>
                        </a:rPr>
                        <a:t> en todas las actividades del flujo de los recursos impugnatorios (reclamos y apelaciones). </a:t>
                      </a:r>
                    </a:p>
                    <a:p>
                      <a:r>
                        <a:rPr lang="es-ES" sz="1200" b="1" dirty="0">
                          <a:solidFill>
                            <a:srgbClr val="FF0000"/>
                          </a:solidFill>
                          <a:effectLst/>
                          <a:latin typeface="Calibri" panose="020F0502020204030204" pitchFamily="34" charset="0"/>
                          <a:ea typeface="Calibri" panose="020F0502020204030204" pitchFamily="34" charset="0"/>
                        </a:rPr>
                        <a:t>PROPUESTA: </a:t>
                      </a:r>
                      <a:r>
                        <a:rPr lang="es-ES" sz="1200" dirty="0">
                          <a:solidFill>
                            <a:srgbClr val="000000"/>
                          </a:solidFill>
                          <a:effectLst/>
                          <a:latin typeface="Calibri" panose="020F0502020204030204" pitchFamily="34" charset="0"/>
                          <a:ea typeface="Calibri" panose="020F0502020204030204" pitchFamily="34" charset="0"/>
                        </a:rPr>
                        <a:t>Diseño del flujo de información. Control de gestión de la información del proceso.</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3376611657"/>
                  </a:ext>
                </a:extLst>
              </a:tr>
              <a:tr h="605712">
                <a:tc>
                  <a:txBody>
                    <a:bodyPr/>
                    <a:lstStyle/>
                    <a:p>
                      <a:r>
                        <a:rPr lang="es-PE" sz="1200" b="1" dirty="0">
                          <a:solidFill>
                            <a:schemeClr val="bg1"/>
                          </a:solidFill>
                          <a:effectLst/>
                          <a:latin typeface="Calibri" panose="020F0502020204030204" pitchFamily="34" charset="0"/>
                          <a:ea typeface="Calibri" panose="020F0502020204030204" pitchFamily="34" charset="0"/>
                        </a:rPr>
                        <a:t>BANDEJA CERO: </a:t>
                      </a:r>
                    </a:p>
                    <a:p>
                      <a:r>
                        <a:rPr lang="es-PE" sz="1200" b="1" dirty="0">
                          <a:solidFill>
                            <a:schemeClr val="bg1"/>
                          </a:solidFill>
                          <a:effectLst/>
                          <a:latin typeface="Calibri" panose="020F0502020204030204" pitchFamily="34" charset="0"/>
                          <a:ea typeface="Calibri" panose="020F0502020204030204" pitchFamily="34" charset="0"/>
                        </a:rPr>
                        <a:t>Pasivo admisibilidad  13 casos del 2023 (77). DCCI 25 y DCCII 8. </a:t>
                      </a:r>
                    </a:p>
                    <a:p>
                      <a:r>
                        <a:rPr lang="es-PE" sz="1200" b="1" dirty="0">
                          <a:solidFill>
                            <a:schemeClr val="bg1"/>
                          </a:solidFill>
                          <a:effectLst/>
                          <a:latin typeface="Calibri" panose="020F0502020204030204" pitchFamily="34" charset="0"/>
                          <a:ea typeface="Calibri" panose="020F0502020204030204" pitchFamily="34" charset="0"/>
                        </a:rPr>
                        <a:t>BANDEJA DE INGRESADOS 5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Revisión diaria a cargo de las asistentes y maratones.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BANDEJA CERO</a:t>
                      </a:r>
                      <a:r>
                        <a:rPr lang="es-ES" sz="1200" dirty="0">
                          <a:solidFill>
                            <a:srgbClr val="000000"/>
                          </a:solidFill>
                          <a:effectLst/>
                          <a:latin typeface="Calibri" panose="020F0502020204030204" pitchFamily="34" charset="0"/>
                          <a:ea typeface="Calibri" panose="020F0502020204030204" pitchFamily="34" charset="0"/>
                        </a:rPr>
                        <a:t> de admisibilidad (E-</a:t>
                      </a:r>
                      <a:r>
                        <a:rPr lang="es-ES" sz="1200" dirty="0" err="1">
                          <a:solidFill>
                            <a:srgbClr val="000000"/>
                          </a:solidFill>
                          <a:effectLst/>
                          <a:latin typeface="Calibri" panose="020F0502020204030204" pitchFamily="34" charset="0"/>
                          <a:ea typeface="Calibri" panose="020F0502020204030204" pitchFamily="34" charset="0"/>
                        </a:rPr>
                        <a:t>chaski</a:t>
                      </a:r>
                      <a:r>
                        <a:rPr lang="es-ES" sz="1200" dirty="0">
                          <a:solidFill>
                            <a:srgbClr val="000000"/>
                          </a:solidFill>
                          <a:effectLst/>
                          <a:latin typeface="Calibri" panose="020F0502020204030204" pitchFamily="34" charset="0"/>
                          <a:ea typeface="Calibri" panose="020F0502020204030204" pitchFamily="34" charset="0"/>
                        </a:rPr>
                        <a:t>, SIGERI ingresado y no asignado y físico, SIGED y Memo interno. </a:t>
                      </a:r>
                      <a:endParaRPr lang="es-PE" sz="1200" b="1"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2303611654"/>
                  </a:ext>
                </a:extLst>
              </a:tr>
              <a:tr h="1150116">
                <a:tc>
                  <a:txBody>
                    <a:bodyPr/>
                    <a:lstStyle/>
                    <a:p>
                      <a:r>
                        <a:rPr lang="es-PE" sz="1200" b="1" dirty="0">
                          <a:solidFill>
                            <a:schemeClr val="bg1"/>
                          </a:solidFill>
                          <a:effectLst/>
                          <a:latin typeface="Calibri" panose="020F0502020204030204" pitchFamily="34" charset="0"/>
                          <a:ea typeface="Calibri" panose="020F0502020204030204" pitchFamily="34" charset="0"/>
                        </a:rPr>
                        <a:t>Admisibilidad: devolución por evaluación incorrecta y remisión de </a:t>
                      </a:r>
                      <a:r>
                        <a:rPr lang="es-PE" sz="1200" b="1" dirty="0" err="1">
                          <a:solidFill>
                            <a:schemeClr val="bg1"/>
                          </a:solidFill>
                          <a:effectLst/>
                          <a:latin typeface="Calibri" panose="020F0502020204030204" pitchFamily="34" charset="0"/>
                          <a:ea typeface="Calibri" panose="020F0502020204030204" pitchFamily="34" charset="0"/>
                        </a:rPr>
                        <a:t>exp</a:t>
                      </a:r>
                      <a:r>
                        <a:rPr lang="es-PE" sz="1200" b="1" dirty="0">
                          <a:solidFill>
                            <a:schemeClr val="bg1"/>
                          </a:solidFill>
                          <a:effectLst/>
                          <a:latin typeface="Calibri" panose="020F0502020204030204" pitchFamily="34" charset="0"/>
                          <a:ea typeface="Calibri" panose="020F0502020204030204" pitchFamily="34" charset="0"/>
                        </a:rPr>
                        <a:t>.  (RD </a:t>
                      </a:r>
                      <a:r>
                        <a:rPr lang="es-PE" sz="1200" b="1" dirty="0" err="1">
                          <a:solidFill>
                            <a:schemeClr val="bg1"/>
                          </a:solidFill>
                          <a:effectLst/>
                          <a:latin typeface="Calibri" panose="020F0502020204030204" pitchFamily="34" charset="0"/>
                          <a:ea typeface="Calibri" panose="020F0502020204030204" pitchFamily="34" charset="0"/>
                        </a:rPr>
                        <a:t>complem</a:t>
                      </a:r>
                      <a:r>
                        <a:rPr lang="es-PE" sz="1200" b="1" dirty="0">
                          <a:solidFill>
                            <a:schemeClr val="bg1"/>
                          </a:solidFill>
                          <a:effectLst/>
                          <a:latin typeface="Calibri" panose="020F0502020204030204" pitchFamily="34" charset="0"/>
                          <a:ea typeface="Calibri" panose="020F0502020204030204" pitchFamily="34" charset="0"/>
                        </a:rPr>
                        <a:t>)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PE" sz="1200" b="1" dirty="0">
                          <a:solidFill>
                            <a:srgbClr val="000000"/>
                          </a:solidFill>
                          <a:effectLst/>
                          <a:latin typeface="Calibri" panose="020F0502020204030204" pitchFamily="34" charset="0"/>
                          <a:ea typeface="Calibri" panose="020F0502020204030204" pitchFamily="34" charset="0"/>
                        </a:rPr>
                        <a:t>Primera etapa </a:t>
                      </a:r>
                      <a:r>
                        <a:rPr lang="es-PE" sz="1200" dirty="0">
                          <a:solidFill>
                            <a:srgbClr val="000000"/>
                          </a:solidFill>
                          <a:effectLst/>
                          <a:latin typeface="Calibri" panose="020F0502020204030204" pitchFamily="34" charset="0"/>
                          <a:ea typeface="Calibri" panose="020F0502020204030204" pitchFamily="34" charset="0"/>
                        </a:rPr>
                        <a:t>Coordinación previa con la DAP para reconfirmar la devolución del SIGERI, y remisión de correo electrónico para seguimiento y atención inmediata (límite del vencimiento). </a:t>
                      </a:r>
                    </a:p>
                    <a:p>
                      <a:r>
                        <a:rPr lang="es-PE" sz="1200" dirty="0">
                          <a:solidFill>
                            <a:srgbClr val="000000"/>
                          </a:solidFill>
                          <a:effectLst/>
                          <a:latin typeface="Calibri" panose="020F0502020204030204" pitchFamily="34" charset="0"/>
                          <a:ea typeface="Calibri" panose="020F0502020204030204" pitchFamily="34" charset="0"/>
                        </a:rPr>
                        <a:t>Validación con GENGI ( </a:t>
                      </a:r>
                      <a:r>
                        <a:rPr lang="es-PE" sz="1200" dirty="0" err="1">
                          <a:solidFill>
                            <a:srgbClr val="000000"/>
                          </a:solidFill>
                          <a:effectLst/>
                          <a:latin typeface="Calibri" panose="020F0502020204030204" pitchFamily="34" charset="0"/>
                          <a:ea typeface="Calibri" panose="020F0502020204030204" pitchFamily="34" charset="0"/>
                        </a:rPr>
                        <a:t>CPf</a:t>
                      </a:r>
                      <a:r>
                        <a:rPr lang="es-PE" sz="1200" dirty="0">
                          <a:solidFill>
                            <a:srgbClr val="000000"/>
                          </a:solidFill>
                          <a:effectLst/>
                          <a:latin typeface="Calibri" panose="020F0502020204030204" pitchFamily="34" charset="0"/>
                          <a:ea typeface="Calibri" panose="020F0502020204030204" pitchFamily="34" charset="0"/>
                        </a:rPr>
                        <a:t>)</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PE" sz="1200" b="1" dirty="0">
                          <a:solidFill>
                            <a:srgbClr val="000000"/>
                          </a:solidFill>
                          <a:effectLst/>
                          <a:latin typeface="Calibri" panose="020F0502020204030204" pitchFamily="34" charset="0"/>
                          <a:ea typeface="Calibri" panose="020F0502020204030204" pitchFamily="34" charset="0"/>
                        </a:rPr>
                        <a:t>Segunda etapa: revisión de GENGI. Unificar criterio.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842478686"/>
                  </a:ext>
                </a:extLst>
              </a:tr>
              <a:tr h="806028">
                <a:tc>
                  <a:txBody>
                    <a:bodyPr/>
                    <a:lstStyle/>
                    <a:p>
                      <a:r>
                        <a:rPr lang="es-PE" sz="1200" b="1" dirty="0">
                          <a:solidFill>
                            <a:schemeClr val="bg1"/>
                          </a:solidFill>
                          <a:effectLst/>
                          <a:latin typeface="Calibri" panose="020F0502020204030204" pitchFamily="34" charset="0"/>
                          <a:ea typeface="Calibri" panose="020F0502020204030204" pitchFamily="34" charset="0"/>
                        </a:rPr>
                        <a:t>Actuados físicos reclamos: falta flujo, falta de remisión oportuna y derivación tardía de expedientes.  </a:t>
                      </a:r>
                    </a:p>
                    <a:p>
                      <a:r>
                        <a:rPr lang="es-PE" sz="1200" b="1" dirty="0">
                          <a:solidFill>
                            <a:schemeClr val="bg1"/>
                          </a:solidFill>
                          <a:effectLst/>
                          <a:latin typeface="Calibri" panose="020F0502020204030204" pitchFamily="34" charset="0"/>
                          <a:ea typeface="Calibri" panose="020F0502020204030204" pitchFamily="34" charset="0"/>
                        </a:rPr>
                        <a:t>Actuados físicos apelaciones: pasivo por coordinar FONDO-ADM. Conformación</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PE" sz="1200" dirty="0">
                          <a:solidFill>
                            <a:srgbClr val="000000"/>
                          </a:solidFill>
                          <a:effectLst/>
                          <a:latin typeface="Calibri" panose="020F0502020204030204" pitchFamily="34" charset="0"/>
                          <a:ea typeface="Calibri" panose="020F0502020204030204" pitchFamily="34" charset="0"/>
                        </a:rPr>
                        <a:t>Apoyo de Sara búsqueda de actuados y generar </a:t>
                      </a:r>
                      <a:r>
                        <a:rPr lang="es-PE" sz="1200" dirty="0" err="1">
                          <a:solidFill>
                            <a:srgbClr val="000000"/>
                          </a:solidFill>
                          <a:effectLst/>
                          <a:latin typeface="Calibri" panose="020F0502020204030204" pitchFamily="34" charset="0"/>
                          <a:ea typeface="Calibri" panose="020F0502020204030204" pitchFamily="34" charset="0"/>
                        </a:rPr>
                        <a:t>Chasky</a:t>
                      </a:r>
                      <a:r>
                        <a:rPr lang="es-PE" sz="1200" dirty="0">
                          <a:solidFill>
                            <a:srgbClr val="000000"/>
                          </a:solidFill>
                          <a:effectLst/>
                          <a:latin typeface="Calibri" panose="020F0502020204030204" pitchFamily="34" charset="0"/>
                          <a:ea typeface="Calibri" panose="020F0502020204030204" pitchFamily="34" charset="0"/>
                        </a:rPr>
                        <a:t> (indicador).</a:t>
                      </a:r>
                      <a:endParaRPr lang="es-PE" sz="1200" dirty="0">
                        <a:effectLst/>
                        <a:latin typeface="Calibri" panose="020F0502020204030204" pitchFamily="34" charset="0"/>
                        <a:ea typeface="Calibri" panose="020F0502020204030204" pitchFamily="34" charset="0"/>
                      </a:endParaRPr>
                    </a:p>
                    <a:p>
                      <a:r>
                        <a:rPr lang="es-PE" sz="1200" dirty="0">
                          <a:solidFill>
                            <a:srgbClr val="000000"/>
                          </a:solidFill>
                          <a:effectLst/>
                          <a:latin typeface="Calibri" panose="020F0502020204030204" pitchFamily="34" charset="0"/>
                          <a:ea typeface="Calibri" panose="020F0502020204030204" pitchFamily="34" charset="0"/>
                        </a:rPr>
                        <a:t>- Divisiones de Fondo apoyan a la DAP en revisión de admisibilidad de reclamo y apelaciones. </a:t>
                      </a:r>
                      <a:endParaRPr lang="es-PE" sz="1200" dirty="0">
                        <a:effectLst/>
                        <a:latin typeface="Calibri" panose="020F0502020204030204" pitchFamily="34" charset="0"/>
                        <a:ea typeface="Calibri" panose="020F0502020204030204" pitchFamily="34" charset="0"/>
                      </a:endParaRPr>
                    </a:p>
                    <a:p>
                      <a:r>
                        <a:rPr lang="es-419" sz="1200" dirty="0">
                          <a:solidFill>
                            <a:srgbClr val="000000"/>
                          </a:solidFill>
                          <a:effectLst/>
                          <a:latin typeface="Calibri" panose="020F0502020204030204" pitchFamily="34" charset="0"/>
                          <a:ea typeface="Calibri" panose="020F0502020204030204" pitchFamily="34" charset="0"/>
                        </a:rPr>
                        <a:t>- Se solicitó la implementación de alertas TLT 6 m. a fondo y DAP.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PE" sz="1200" b="1" dirty="0">
                          <a:solidFill>
                            <a:srgbClr val="000000"/>
                          </a:solidFill>
                          <a:effectLst/>
                          <a:latin typeface="Calibri" panose="020F0502020204030204" pitchFamily="34" charset="0"/>
                          <a:ea typeface="Calibri" panose="020F0502020204030204" pitchFamily="34" charset="0"/>
                        </a:rPr>
                        <a:t>Coordinación con IAMC. </a:t>
                      </a:r>
                      <a:r>
                        <a:rPr lang="es-PE" sz="1200" dirty="0">
                          <a:solidFill>
                            <a:srgbClr val="000000"/>
                          </a:solidFill>
                          <a:effectLst/>
                          <a:latin typeface="Calibri" panose="020F0502020204030204" pitchFamily="34" charset="0"/>
                          <a:ea typeface="Calibri" panose="020F0502020204030204" pitchFamily="34" charset="0"/>
                        </a:rPr>
                        <a:t>Conformar equipo y atender oportunamente. Permitirá mejorar el control de las áreas de origen y las áreas de reclamo fondo.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321348042"/>
                  </a:ext>
                </a:extLst>
              </a:tr>
            </a:tbl>
          </a:graphicData>
        </a:graphic>
      </p:graphicFrame>
    </p:spTree>
    <p:extLst>
      <p:ext uri="{BB962C8B-B14F-4D97-AF65-F5344CB8AC3E}">
        <p14:creationId xmlns:p14="http://schemas.microsoft.com/office/powerpoint/2010/main" val="3084003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REQUERIMIENTO</a:t>
            </a:r>
            <a:r>
              <a:rPr lang="es-ES" sz="3600" b="1" dirty="0"/>
              <a:t>: </a:t>
            </a:r>
            <a:r>
              <a:rPr lang="es-ES" sz="2800" b="1" dirty="0">
                <a:latin typeface="Arial" panose="020B0604020202020204" pitchFamily="34" charset="0"/>
                <a:cs typeface="Arial" panose="020B0604020202020204" pitchFamily="34" charset="0"/>
              </a:rPr>
              <a:t>REPORTES DE GESTIÓN</a:t>
            </a:r>
            <a:endParaRPr lang="es-PE" sz="2800" b="1" dirty="0">
              <a:latin typeface="Arial" panose="020B0604020202020204" pitchFamily="34" charset="0"/>
              <a:cs typeface="Arial" panose="020B0604020202020204" pitchFamily="34" charset="0"/>
            </a:endParaRPr>
          </a:p>
        </p:txBody>
      </p:sp>
      <p:sp>
        <p:nvSpPr>
          <p:cNvPr id="8" name="CuadroTexto 7">
            <a:extLst>
              <a:ext uri="{FF2B5EF4-FFF2-40B4-BE49-F238E27FC236}">
                <a16:creationId xmlns:a16="http://schemas.microsoft.com/office/drawing/2014/main" id="{CC6DFF1E-FD88-4ACA-93F2-AF985B10E39F}"/>
              </a:ext>
            </a:extLst>
          </p:cNvPr>
          <p:cNvSpPr txBox="1"/>
          <p:nvPr/>
        </p:nvSpPr>
        <p:spPr>
          <a:xfrm>
            <a:off x="56284" y="1001498"/>
            <a:ext cx="12040466" cy="5706883"/>
          </a:xfrm>
          <a:prstGeom prst="rect">
            <a:avLst/>
          </a:prstGeom>
          <a:noFill/>
        </p:spPr>
        <p:txBody>
          <a:bodyPr wrap="square">
            <a:spAutoFit/>
          </a:bodyPr>
          <a:lstStyle/>
          <a:p>
            <a:pPr marL="342900" lvl="0" indent="-342900">
              <a:lnSpc>
                <a:spcPct val="115000"/>
              </a:lnSpc>
              <a:buFont typeface="+mj-lt"/>
              <a:buAutoNum type="arabicPeriod"/>
            </a:pPr>
            <a:r>
              <a:rPr lang="es-PE" sz="2000" dirty="0">
                <a:effectLst/>
                <a:latin typeface="Arial" panose="020B0604020202020204" pitchFamily="34" charset="0"/>
                <a:ea typeface="Calibri" panose="020F0502020204030204" pitchFamily="34" charset="0"/>
                <a:cs typeface="Arial" panose="020B0604020202020204" pitchFamily="34" charset="0"/>
              </a:rPr>
              <a:t>Reporte de gestión – NETO TLT (125) OEA (3 meses) y fictas (2 meses). BRUTO – reportado o contrastado por fondo). Reporte NETO: </a:t>
            </a:r>
            <a:r>
              <a:rPr lang="es-PE" sz="2000" dirty="0">
                <a:latin typeface="Arial" panose="020B0604020202020204" pitchFamily="34" charset="0"/>
                <a:ea typeface="Calibri" panose="020F0502020204030204" pitchFamily="34" charset="0"/>
                <a:cs typeface="Arial" panose="020B0604020202020204" pitchFamily="34" charset="0"/>
              </a:rPr>
              <a:t>F</a:t>
            </a:r>
            <a:r>
              <a:rPr lang="es-PE" sz="2000" dirty="0">
                <a:effectLst/>
                <a:latin typeface="Arial" panose="020B0604020202020204" pitchFamily="34" charset="0"/>
                <a:ea typeface="Calibri" panose="020F0502020204030204" pitchFamily="34" charset="0"/>
                <a:cs typeface="Arial" panose="020B0604020202020204" pitchFamily="34" charset="0"/>
              </a:rPr>
              <a:t>ondo y Admisibilidad. </a:t>
            </a:r>
          </a:p>
          <a:p>
            <a:pPr marL="342900" lvl="0" indent="-342900">
              <a:lnSpc>
                <a:spcPct val="115000"/>
              </a:lnSpc>
              <a:buFont typeface="+mj-lt"/>
              <a:buAutoNum type="arabicPeriod"/>
            </a:pPr>
            <a:r>
              <a:rPr lang="es-ES" sz="2000" dirty="0">
                <a:effectLst/>
                <a:latin typeface="Arial" panose="020B0604020202020204" pitchFamily="34" charset="0"/>
                <a:ea typeface="Calibri" panose="020F0502020204030204" pitchFamily="34" charset="0"/>
                <a:cs typeface="Arial" panose="020B0604020202020204" pitchFamily="34" charset="0"/>
              </a:rPr>
              <a:t>Registro de montos de los reclamos y resultado de los reclamos (infundado, fundado, nulos </a:t>
            </a:r>
            <a:r>
              <a:rPr lang="es-ES" sz="2000" dirty="0" err="1">
                <a:effectLst/>
                <a:latin typeface="Arial" panose="020B0604020202020204" pitchFamily="34" charset="0"/>
                <a:ea typeface="Calibri" panose="020F0502020204030204" pitchFamily="34" charset="0"/>
                <a:cs typeface="Arial" panose="020B0604020202020204" pitchFamily="34" charset="0"/>
              </a:rPr>
              <a:t>etc</a:t>
            </a:r>
            <a:r>
              <a:rPr lang="es-ES" sz="2000" dirty="0">
                <a:effectLst/>
                <a:latin typeface="Arial" panose="020B0604020202020204" pitchFamily="34" charset="0"/>
                <a:ea typeface="Calibri" panose="020F0502020204030204" pitchFamily="34" charset="0"/>
                <a:cs typeface="Arial" panose="020B0604020202020204" pitchFamily="34" charset="0"/>
              </a:rPr>
              <a:t>) y montos. Pendiente vinculación modulo LC. </a:t>
            </a:r>
            <a:endParaRPr lang="es-PE" sz="20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rabicPeriod"/>
            </a:pPr>
            <a:r>
              <a:rPr lang="es-ES" sz="2000" dirty="0">
                <a:effectLst/>
                <a:latin typeface="Arial" panose="020B0604020202020204" pitchFamily="34" charset="0"/>
                <a:ea typeface="Calibri" panose="020F0502020204030204" pitchFamily="34" charset="0"/>
                <a:cs typeface="Arial" panose="020B0604020202020204" pitchFamily="34" charset="0"/>
              </a:rPr>
              <a:t>Resultados de apelaciones – RTF(</a:t>
            </a:r>
            <a:r>
              <a:rPr lang="es-PE" sz="2000" dirty="0">
                <a:effectLst/>
                <a:latin typeface="Arial" panose="020B0604020202020204" pitchFamily="34" charset="0"/>
                <a:ea typeface="Calibri" panose="020F0502020204030204" pitchFamily="34" charset="0"/>
                <a:cs typeface="Arial" panose="020B0604020202020204" pitchFamily="34" charset="0"/>
              </a:rPr>
              <a:t>Dependencia /</a:t>
            </a:r>
            <a:r>
              <a:rPr lang="es-PE" sz="2000" dirty="0" err="1">
                <a:effectLst/>
                <a:latin typeface="Arial" panose="020B0604020202020204" pitchFamily="34" charset="0"/>
                <a:ea typeface="Calibri" panose="020F0502020204030204" pitchFamily="34" charset="0"/>
                <a:cs typeface="Arial" panose="020B0604020202020204" pitchFamily="34" charset="0"/>
              </a:rPr>
              <a:t>exp</a:t>
            </a:r>
            <a:r>
              <a:rPr lang="es-PE" sz="2000" dirty="0">
                <a:effectLst/>
                <a:latin typeface="Arial" panose="020B0604020202020204" pitchFamily="34" charset="0"/>
                <a:ea typeface="Calibri" panose="020F0502020204030204" pitchFamily="34" charset="0"/>
                <a:cs typeface="Arial" panose="020B0604020202020204" pitchFamily="34" charset="0"/>
              </a:rPr>
              <a:t>. /fecha de ingreso/ usuario/resolución vinculada/ </a:t>
            </a:r>
            <a:r>
              <a:rPr lang="es-ES" sz="2000" dirty="0">
                <a:effectLst/>
                <a:latin typeface="Arial" panose="020B0604020202020204" pitchFamily="34" charset="0"/>
                <a:ea typeface="Calibri" panose="020F0502020204030204" pitchFamily="34" charset="0"/>
                <a:cs typeface="Arial" panose="020B0604020202020204" pitchFamily="34" charset="0"/>
              </a:rPr>
              <a:t>materia /DAM vinculada/Liquidación de Cobranza - montos). </a:t>
            </a:r>
            <a:r>
              <a:rPr lang="es-ES" sz="2000" dirty="0">
                <a:latin typeface="Arial" panose="020B0604020202020204" pitchFamily="34" charset="0"/>
                <a:ea typeface="Calibri" panose="020F0502020204030204" pitchFamily="34" charset="0"/>
                <a:cs typeface="Arial" panose="020B0604020202020204" pitchFamily="34" charset="0"/>
              </a:rPr>
              <a:t>Pendiente </a:t>
            </a:r>
            <a:r>
              <a:rPr lang="es-ES" sz="2000" dirty="0">
                <a:effectLst/>
                <a:latin typeface="Arial" panose="020B0604020202020204" pitchFamily="34" charset="0"/>
                <a:ea typeface="Calibri" panose="020F0502020204030204" pitchFamily="34" charset="0"/>
                <a:cs typeface="Arial" panose="020B0604020202020204" pitchFamily="34" charset="0"/>
              </a:rPr>
              <a:t>informe (periodicidad).</a:t>
            </a:r>
            <a:endParaRPr lang="es-PE" sz="20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rabicPeriod"/>
            </a:pPr>
            <a:r>
              <a:rPr lang="es-PE" sz="2000" dirty="0">
                <a:effectLst/>
                <a:latin typeface="Arial" panose="020B0604020202020204" pitchFamily="34" charset="0"/>
                <a:ea typeface="Calibri" panose="020F0502020204030204" pitchFamily="34" charset="0"/>
                <a:cs typeface="Arial" panose="020B0604020202020204" pitchFamily="34" charset="0"/>
              </a:rPr>
              <a:t>SIGERI</a:t>
            </a:r>
          </a:p>
          <a:p>
            <a:pPr marL="342900" lvl="0" indent="-342900">
              <a:lnSpc>
                <a:spcPct val="115000"/>
              </a:lnSpc>
              <a:buFont typeface="Arial" panose="020B0604020202020204" pitchFamily="34" charset="0"/>
              <a:buChar char="•"/>
            </a:pPr>
            <a:r>
              <a:rPr lang="es-PE" sz="2000" b="1" dirty="0">
                <a:effectLst/>
                <a:latin typeface="Arial" panose="020B0604020202020204" pitchFamily="34" charset="0"/>
                <a:ea typeface="Calibri" panose="020F0502020204030204" pitchFamily="34" charset="0"/>
                <a:cs typeface="Arial" panose="020B0604020202020204" pitchFamily="34" charset="0"/>
              </a:rPr>
              <a:t>Vinculaciones</a:t>
            </a:r>
            <a:r>
              <a:rPr lang="es-PE" sz="2000" dirty="0">
                <a:effectLst/>
                <a:latin typeface="Arial" panose="020B0604020202020204" pitchFamily="34" charset="0"/>
                <a:ea typeface="Calibri" panose="020F0502020204030204" pitchFamily="34" charset="0"/>
                <a:cs typeface="Arial" panose="020B0604020202020204" pitchFamily="34" charset="0"/>
              </a:rPr>
              <a:t>: </a:t>
            </a:r>
            <a:r>
              <a:rPr lang="es-PE" sz="2000" dirty="0">
                <a:latin typeface="Arial" panose="020B0604020202020204" pitchFamily="34" charset="0"/>
                <a:ea typeface="Calibri" panose="020F0502020204030204" pitchFamily="34" charset="0"/>
                <a:cs typeface="Arial" panose="020B0604020202020204" pitchFamily="34" charset="0"/>
              </a:rPr>
              <a:t>no actualiza el resultado de reclamo en el módulo de LC – DCCII.</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Distribución</a:t>
            </a:r>
            <a:r>
              <a:rPr lang="es-PE" sz="2000" dirty="0">
                <a:latin typeface="Arial" panose="020B0604020202020204" pitchFamily="34" charset="0"/>
                <a:ea typeface="Calibri" panose="020F0502020204030204" pitchFamily="34" charset="0"/>
                <a:cs typeface="Arial" panose="020B0604020202020204" pitchFamily="34" charset="0"/>
              </a:rPr>
              <a:t>. Copia a las </a:t>
            </a:r>
            <a:r>
              <a:rPr lang="es-PE" sz="2000" dirty="0">
                <a:latin typeface="Arial" panose="020B0604020202020204" pitchFamily="34" charset="0"/>
                <a:cs typeface="Arial" panose="020B0604020202020204" pitchFamily="34" charset="0"/>
              </a:rPr>
              <a:t>partes involucradas cuando ha sido revertido, admisibilidad errada, baja de expedientes y no permite derivar a las áreas generadoras (control manual). </a:t>
            </a:r>
          </a:p>
          <a:p>
            <a:pPr marL="342900" lvl="0" indent="-342900">
              <a:lnSpc>
                <a:spcPct val="115000"/>
              </a:lnSpc>
              <a:buFont typeface="Arial" panose="020B0604020202020204" pitchFamily="34" charset="0"/>
              <a:buChar char="•"/>
            </a:pPr>
            <a:r>
              <a:rPr lang="es-PE" sz="2000" b="1" dirty="0">
                <a:effectLst/>
                <a:latin typeface="Arial" panose="020B0604020202020204" pitchFamily="34" charset="0"/>
                <a:ea typeface="Calibri" panose="020F0502020204030204" pitchFamily="34" charset="0"/>
                <a:cs typeface="Arial" panose="020B0604020202020204" pitchFamily="34" charset="0"/>
              </a:rPr>
              <a:t>Reportes</a:t>
            </a:r>
            <a:r>
              <a:rPr lang="es-PE" sz="2000" dirty="0">
                <a:effectLst/>
                <a:latin typeface="Arial" panose="020B0604020202020204" pitchFamily="34" charset="0"/>
                <a:ea typeface="Calibri" panose="020F0502020204030204" pitchFamily="34" charset="0"/>
                <a:cs typeface="Arial" panose="020B0604020202020204" pitchFamily="34" charset="0"/>
              </a:rPr>
              <a:t>: inconsistencia entre reporte de consulta y el reporte manual.</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Acumulación</a:t>
            </a:r>
            <a:r>
              <a:rPr lang="es-PE" sz="2000" dirty="0">
                <a:latin typeface="Arial" panose="020B0604020202020204" pitchFamily="34" charset="0"/>
                <a:ea typeface="Calibri" panose="020F0502020204030204" pitchFamily="34" charset="0"/>
                <a:cs typeface="Arial" panose="020B0604020202020204" pitchFamily="34" charset="0"/>
              </a:rPr>
              <a:t>: no te permite acumular expedientes de reclamo. IMPLEMENTADO.</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Alertas</a:t>
            </a:r>
            <a:r>
              <a:rPr lang="es-PE" sz="2000" dirty="0">
                <a:latin typeface="Arial" panose="020B0604020202020204" pitchFamily="34" charset="0"/>
                <a:ea typeface="Calibri" panose="020F0502020204030204" pitchFamily="34" charset="0"/>
                <a:cs typeface="Arial" panose="020B0604020202020204" pitchFamily="34" charset="0"/>
              </a:rPr>
              <a:t>: requerimientos pendiente cuando ya están atendidos y se solicita alerta de reporte de vencimiento de expedientes a cada resolutor. IMPLEMENTADO CON ERROR (resolvió y sigue)</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Estandarización</a:t>
            </a:r>
            <a:r>
              <a:rPr lang="es-PE" sz="2000" dirty="0">
                <a:latin typeface="Arial" panose="020B0604020202020204" pitchFamily="34" charset="0"/>
                <a:ea typeface="Calibri" panose="020F0502020204030204" pitchFamily="34" charset="0"/>
                <a:cs typeface="Arial" panose="020B0604020202020204" pitchFamily="34" charset="0"/>
              </a:rPr>
              <a:t> de carga de </a:t>
            </a:r>
            <a:r>
              <a:rPr lang="es-PE" sz="2000" dirty="0">
                <a:effectLst/>
                <a:latin typeface="Arial" panose="020B0604020202020204" pitchFamily="34" charset="0"/>
                <a:ea typeface="Calibri" panose="020F0502020204030204" pitchFamily="34" charset="0"/>
                <a:cs typeface="Arial" panose="020B0604020202020204" pitchFamily="34" charset="0"/>
              </a:rPr>
              <a:t>documentos digitalizados.</a:t>
            </a:r>
          </a:p>
          <a:p>
            <a:pPr lvl="0">
              <a:lnSpc>
                <a:spcPct val="107000"/>
              </a:lnSpc>
              <a:spcAft>
                <a:spcPts val="800"/>
              </a:spcAft>
            </a:pPr>
            <a:endParaRPr lang="es-PE"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4284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1106401" y="3287432"/>
            <a:ext cx="10515600" cy="636373"/>
          </a:xfrm>
        </p:spPr>
        <p:txBody>
          <a:bodyPr>
            <a:noAutofit/>
          </a:bodyPr>
          <a:lstStyle/>
          <a:p>
            <a:pPr algn="ctr"/>
            <a:r>
              <a:rPr lang="es-ES" sz="3800" b="1" dirty="0">
                <a:latin typeface="Arial" panose="020B0604020202020204" pitchFamily="34" charset="0"/>
                <a:cs typeface="Arial" panose="020B0604020202020204" pitchFamily="34" charset="0"/>
              </a:rPr>
              <a:t>GRACIAS </a:t>
            </a:r>
            <a:endParaRPr lang="es-PE" sz="3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11775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863A6AE8B7E4A2449C903AFD2456BD74" ma:contentTypeVersion="4" ma:contentTypeDescription="Crear nuevo documento." ma:contentTypeScope="" ma:versionID="ddec260070336827ee8c328f02272273">
  <xsd:schema xmlns:xsd="http://www.w3.org/2001/XMLSchema" xmlns:xs="http://www.w3.org/2001/XMLSchema" xmlns:p="http://schemas.microsoft.com/office/2006/metadata/properties" xmlns:ns2="c4795172-acc8-41fc-abdb-af5ed44f61af" targetNamespace="http://schemas.microsoft.com/office/2006/metadata/properties" ma:root="true" ma:fieldsID="590a657cbc5fcb450edb0ba38c295f5b" ns2:_="">
    <xsd:import namespace="c4795172-acc8-41fc-abdb-af5ed44f61a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795172-acc8-41fc-abdb-af5ed44f61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B46BAFA-2F9B-4087-8513-62DF106E5AD1}">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6DBBC13-F4EB-4002-8FE6-52E95F53F330}">
  <ds:schemaRefs>
    <ds:schemaRef ds:uri="http://schemas.microsoft.com/sharepoint/v3/contenttype/forms"/>
  </ds:schemaRefs>
</ds:datastoreItem>
</file>

<file path=customXml/itemProps3.xml><?xml version="1.0" encoding="utf-8"?>
<ds:datastoreItem xmlns:ds="http://schemas.openxmlformats.org/officeDocument/2006/customXml" ds:itemID="{B0E3FC6E-C786-4B40-A82C-E0D87CC2D0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795172-acc8-41fc-abdb-af5ed44f61a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25879</TotalTime>
  <Words>4161</Words>
  <Application>Microsoft Office PowerPoint</Application>
  <PresentationFormat>Panorámica</PresentationFormat>
  <Paragraphs>1673</Paragraphs>
  <Slides>23</Slides>
  <Notes>23</Notes>
  <HiddenSlides>0</HiddenSlides>
  <MMClips>0</MMClips>
  <ScaleCrop>false</ScaleCrop>
  <HeadingPairs>
    <vt:vector size="4" baseType="variant">
      <vt:variant>
        <vt:lpstr>Tema</vt:lpstr>
      </vt:variant>
      <vt:variant>
        <vt:i4>1</vt:i4>
      </vt:variant>
      <vt:variant>
        <vt:lpstr>Títulos de diapositiva</vt:lpstr>
      </vt:variant>
      <vt:variant>
        <vt:i4>23</vt:i4>
      </vt:variant>
    </vt:vector>
  </HeadingPairs>
  <TitlesOfParts>
    <vt:vector size="24" baseType="lpstr">
      <vt:lpstr>Tema de Office</vt:lpstr>
      <vt:lpstr>Presentación de PowerPoint</vt:lpstr>
      <vt:lpstr>INGRESOS Y SALIDAS DE RECLAMACIONES 2019-2024*</vt:lpstr>
      <vt:lpstr>STOCK DE DOCUMENTOS– 2024</vt:lpstr>
      <vt:lpstr>PRODUCTIVIDAD RECLAMOS – 2022 - 2024</vt:lpstr>
      <vt:lpstr>PRODUCTIVIDAD AGOSTO 2024</vt:lpstr>
      <vt:lpstr>PROGRAMACIÓN Y PRODUCCIÓN– 2023 - 2024</vt:lpstr>
      <vt:lpstr>PRODUCTIVIDAD POR SUPERVISIÓN</vt:lpstr>
      <vt:lpstr>PROYECTADO Y NO APLICADO </vt:lpstr>
      <vt:lpstr>PRODUCCIÓN POR RESOLUTOR-DCCI</vt:lpstr>
      <vt:lpstr>PRODUCCIÓN POR RESOLUTOR-DCCII</vt:lpstr>
      <vt:lpstr>PRODUCCIÓN POR RESOLUTOR-DCP</vt:lpstr>
      <vt:lpstr>STOCK VENCIDOS</vt:lpstr>
      <vt:lpstr>NO GESTIONABLE Y REINGRESADOS </vt:lpstr>
      <vt:lpstr>ITOP REPORTADOS–2024</vt:lpstr>
      <vt:lpstr>RESULTADOS DE RECLAMO - 2024 </vt:lpstr>
      <vt:lpstr>SUMILLAS DE NULIDADES DECLARADAS POR LA GAFA-DCCI</vt:lpstr>
      <vt:lpstr>SUMILLAS DE NULIDADES DECLARADAS POR LA GAFA-DCCII</vt:lpstr>
      <vt:lpstr>SUMILLAS DE NULIDADES DECLARADAS POR LA GAFA-DCP</vt:lpstr>
      <vt:lpstr>OPORTUNIDAD DE MEJORA </vt:lpstr>
      <vt:lpstr>OPORTUNIDAD DE MEJORA </vt:lpstr>
      <vt:lpstr>DESAFIOS/PROPUESTAS </vt:lpstr>
      <vt:lpstr>REQUERIMIENTO: REPORTES DE GESTIÓN</vt:lpstr>
      <vt:lpstr>GRACIAS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Rondon Malaga Johanna Karelle</dc:creator>
  <cp:lastModifiedBy>Gonzales Estrada Sara Stephany</cp:lastModifiedBy>
  <cp:revision>746</cp:revision>
  <cp:lastPrinted>2023-01-10T23:55:26Z</cp:lastPrinted>
  <dcterms:created xsi:type="dcterms:W3CDTF">2022-11-02T14:55:38Z</dcterms:created>
  <dcterms:modified xsi:type="dcterms:W3CDTF">2024-09-04T19:39:28Z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0x010100863A6AE8B7E4A2449C903AFD2456BD74</vt:lpwstr>
  </property>
</Properties>
</file>